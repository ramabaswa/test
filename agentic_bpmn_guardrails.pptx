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0986"/>
  </p:normalViewPr>
  <p:slideViewPr>
    <p:cSldViewPr snapToGrid="0" snapToObjects="1">
      <p:cViewPr varScale="1">
        <p:scale>
          <a:sx n="112" d="100"/>
          <a:sy n="112" d="100"/>
        </p:scale>
        <p:origin x="48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2407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and welcome to our executive briefing on Orchestrating Agentic BPMN Workflows.</a:t>
            </a:r>
          </a:p>
          <a:p>
            <a:endParaRPr/>
          </a:p>
          <a:p>
            <a:r>
              <a:t>As we transition from standalone chatbots to highly collaborative, multi-agent systems, enterprise IT architectures must resolve how to govern probabilistic AI behaviors inside deterministic corporate processes.</a:t>
            </a:r>
          </a:p>
          <a:p>
            <a:endParaRPr/>
          </a:p>
          <a:p>
            <a:r>
              <a:t>Today, we will detail how we combine Business Process Model and Notation (BPMN) with the Model Context Protocol (MCP) to enforce zero-trust security, absolute regulatory compliance, and rigid human-in-the-loop control boundaries.</a:t>
            </a:r>
          </a:p>
          <a:p>
            <a:endParaRPr/>
          </a:p>
          <a:p>
            <a:r>
              <a:t>By orchestrating these agents through enterprise platforms like Camunda, Cohere Health, or Dapr, we achieve a scalable and auditable automation framework.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architecture breaks down into three distinct tiers: the Orchestration Layer, the Transport Layer, and the Execution Layer.</a:t>
            </a:r>
          </a:p>
          <a:p>
            <a:endParaRPr/>
          </a:p>
          <a:p>
            <a:r>
              <a:t>First, at the Orchestration Layer, engines like Camunda, Cohere Health, or Dapr act as the state machines. They control the workflow lifecycle using BPMN 2.0. This ensures we have a fully mapped, visualized, and deterministic path.</a:t>
            </a:r>
          </a:p>
          <a:p>
            <a:endParaRPr/>
          </a:p>
          <a:p>
            <a:r>
              <a:t>Second, the Transport Layer utilizes Anthropic's Model Context Protocol (MCP) or standardized CLIs. MCP allows us to decouple the orchestrator from the LLM engine. By using Dapr sidecars, we ensure secure, encrypted mutual TLS transports between microservices.</a:t>
            </a:r>
          </a:p>
          <a:p>
            <a:endParaRPr/>
          </a:p>
          <a:p>
            <a:r>
              <a:t>Third, the Execution Layer hosts specialized, task-bound agents that consume input tokens, evaluate tools, and return structured output schema payloads back to Camunda.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do we prevent 'shadow' or unverified agents from sneaking into our BPMN pipelines? We enforce a strict, cryptographic Agent Registry.</a:t>
            </a:r>
          </a:p>
          <a:p>
            <a:endParaRPr/>
          </a:p>
          <a:p>
            <a:r>
              <a:t>Every agent must be registered with an 'Agent Card'—which is transitionable to the upcoming 'Open Agent Specification'. The Agent Card acts as an immutable software contract. It specifies who the agent is, its secure endpoint, the precise scopes and database tables it has permission to query, and a list of approved tools.</a:t>
            </a:r>
          </a:p>
          <a:p>
            <a:endParaRPr/>
          </a:p>
          <a:p>
            <a:r>
              <a:t>Crucially, the orchestrator executes a lookup at runtime. If a BPMN task attempts to route data to an agent whose cryptographic signature is invalid or whose scopes are not explicitly authorized, the workflow engine instantly halts the token and routes it to an admin security incident handler.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let's address the 'HOW' part of security. We cannot simply trust an agent because its code compiles. We assume breach.</a:t>
            </a:r>
          </a:p>
          <a:p>
            <a:endParaRPr dirty="0"/>
          </a:p>
          <a:p>
            <a:r>
              <a:rPr dirty="0"/>
              <a:t>First, we isolate execution. Every MCP server operates inside an unprivileged sandbox like </a:t>
            </a:r>
            <a:r>
              <a:rPr lang="en-US" dirty="0" err="1"/>
              <a:t>microvm</a:t>
            </a:r>
            <a:r>
              <a:rPr lang="en-US" dirty="0"/>
              <a:t>/firecracker</a:t>
            </a:r>
            <a:r>
              <a:rPr dirty="0"/>
              <a:t>. If an LLM gets exploited and tries to execute bash code, it meets a rigid, virtualized sandbox boundary that has zero root access.</a:t>
            </a:r>
          </a:p>
          <a:p>
            <a:endParaRPr dirty="0"/>
          </a:p>
          <a:p>
            <a:r>
              <a:rPr dirty="0"/>
              <a:t>Second, for network transit, </a:t>
            </a:r>
            <a:r>
              <a:rPr dirty="0" err="1"/>
              <a:t>Dapr</a:t>
            </a:r>
            <a:r>
              <a:rPr dirty="0"/>
              <a:t> handles the heavy lifting. All service-to-service calls utilize </a:t>
            </a:r>
            <a:r>
              <a:rPr dirty="0" err="1"/>
              <a:t>mTLS</a:t>
            </a:r>
            <a:r>
              <a:rPr dirty="0"/>
              <a:t> with dynamic, cryptographic identities. No agent can execute a peer tool call without proving its mutual TLS certificate is valid.</a:t>
            </a:r>
          </a:p>
          <a:p>
            <a:endParaRPr dirty="0"/>
          </a:p>
          <a:p>
            <a:r>
              <a:rPr dirty="0"/>
              <a:t>Third, the MCP Gateway intercepts payloads to perform strict JSON Schema validation, and routes outputs through real-time content filtering proxies like Llama Guard to block adversarial content before it reaches the orchestrator.</a:t>
            </a:r>
          </a:p>
          <a:p>
            <a:endParaRPr dirty="0"/>
          </a:p>
          <a:p>
            <a:r>
              <a:rPr dirty="0"/>
              <a:t>Finally, network policies enforce strict egress blocks: agents cannot call out to unapproved third-party APIs.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Compliance in regulated sectors requires robust auditability. If an automated workflow approves or rejects an application, we must show exactly *why* that happened.</a:t>
            </a:r>
          </a:p>
          <a:p>
            <a:endParaRPr/>
          </a:p>
          <a:p>
            <a:r>
              <a:t>To achieve this, the BPMN engine and the MCP Gateway collaborate. The BPMN engine registers the parent process flow, while the MCP Gateway captures the full JSON-RPC payload stream.</a:t>
            </a:r>
          </a:p>
          <a:p>
            <a:endParaRPr/>
          </a:p>
          <a:p>
            <a:r>
              <a:t>This stream contains the exact system prompt, raw tools payloads, database records ingested, and the final structured output. We write this raw log into an immutable write-once, read-many (WORM) cloud storage bucket. We calculate and sign a SHA-256 hash for every session. This creates an audited, glass-box trail that allows third-party forensic compliance inspectors to trace decisions back to their data origins.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do we prevent agents from spending real money, writing to production databases, or altering patient metrics without supervision? We establish BPMN Risk Gateways.</a:t>
            </a:r>
          </a:p>
          <a:p>
            <a:endParaRPr/>
          </a:p>
          <a:p>
            <a:r>
              <a:t>We write rules directly into the BPMN diagram. Prior to running any destructive write API task, the state engine checks a preceding assessment task. If the parsed risk score exceeds our parameters, the engine shifts the state token from the autonomous agent loop to a structured human task in Camunda.</a:t>
            </a:r>
          </a:p>
          <a:p>
            <a:endParaRPr/>
          </a:p>
          <a:p>
            <a:r>
              <a:t>A human reviewer evaluates the proposed action using a visual interface. If they approve, the engine issues a temporary cryptographic key. Without this key, the downstream microservice or MCP tool server will instantly reject the call, ensuring strict human authority over autonomous actions.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our end-to-end blueprint sequence, mapping out how process tokens flow through our guardrails.</a:t>
            </a:r>
          </a:p>
          <a:p>
            <a:endParaRPr/>
          </a:p>
          <a:p>
            <a:r>
              <a:t>In Step 1, Camunda initiates a workflow task. Instead of communicating directly with a hard-coded API, it checks our registry. It verifies the cryptographic sign-off of our target Agent Card.</a:t>
            </a:r>
          </a:p>
          <a:p>
            <a:endParaRPr/>
          </a:p>
          <a:p>
            <a:r>
              <a:t>In Step 2, our Dapr microservices intercept the payload. The MCP Gateway checks the JSON schema for injections, guaranteeing structural validity.</a:t>
            </a:r>
          </a:p>
          <a:p>
            <a:endParaRPr/>
          </a:p>
          <a:p>
            <a:r>
              <a:t>In Step 3, the agent executes within a microVM sandbox. Full logs are parsed and sent to compliance stores.</a:t>
            </a:r>
          </a:p>
          <a:p>
            <a:endParaRPr/>
          </a:p>
          <a:p>
            <a:r>
              <a:t>In Step 4, we evaluate the generated output. The BPMN engine dynamically processes risk rules. Safe responses flow cleanly to the database, while high-risk decisions are routed to manual review in the Camunda Tasklist.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let us review our phased roadmap to full production rollout.</a:t>
            </a:r>
          </a:p>
          <a:p>
            <a:endParaRPr/>
          </a:p>
          <a:p>
            <a:r>
              <a:t>We recommend a three-phased transition to manage technical risk and project complexity.</a:t>
            </a:r>
          </a:p>
          <a:p>
            <a:endParaRPr/>
          </a:p>
          <a:p>
            <a:r>
              <a:t>In Phase 1, we establish our localized plumbing. We connect agents inside Camunda using local MCP streams and baseline JSON-schema controls.</a:t>
            </a:r>
          </a:p>
          <a:p>
            <a:endParaRPr/>
          </a:p>
          <a:p>
            <a:r>
              <a:t>In Phase 2, we introduce central governance, setting up Mutual TLS sidecars via Dapr and deploying compliance-logged storage containers. We stand up our central Agent Registry catalog.</a:t>
            </a:r>
          </a:p>
          <a:p>
            <a:endParaRPr/>
          </a:p>
          <a:p>
            <a:r>
              <a:t>In Phase 3, we achieve our zero-trust mesh. We transition Agent Cards to the Open Agent Specification, enforce hypervisor-level sandboxing, and configure automated anomaly alert containment across distributed cloud infrastructure.</a:t>
            </a:r>
          </a:p>
          <a:p>
            <a:endParaRPr/>
          </a:p>
          <a:p>
            <a:r>
              <a:t>This linear roadmap ensures our systems scale securely and maintain alignment with both security and engineering capabilities.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32720" cy="3200400"/>
          </a:xfrm>
          <a:prstGeom prst="rect">
            <a:avLst/>
          </a:prstGeom>
          <a:noFill/>
        </p:spPr>
        <p:txBody>
          <a:bodyPr wrap="square">
            <a:spAutoFit/>
          </a:bodyPr>
          <a:lstStyle/>
          <a:p>
            <a:pPr>
              <a:spcAft>
                <a:spcPts val="1200"/>
              </a:spcAft>
              <a:defRPr sz="4000" b="1">
                <a:solidFill>
                  <a:srgbClr val="FFFFFF"/>
                </a:solidFill>
                <a:latin typeface="Arial"/>
              </a:defRPr>
            </a:pPr>
            <a:r>
              <a:t>Orchestrating Agentic BPMN Workflows</a:t>
            </a:r>
          </a:p>
          <a:p>
            <a:pPr>
              <a:spcAft>
                <a:spcPts val="4000"/>
              </a:spcAft>
              <a:defRPr sz="1800">
                <a:solidFill>
                  <a:srgbClr val="0D9488"/>
                </a:solidFill>
                <a:latin typeface="Arial"/>
              </a:defRPr>
            </a:pPr>
            <a:r>
              <a:t>BPMN-Driven AI Orchestration: Enterprise Security, Governance, and Guardrails</a:t>
            </a:r>
          </a:p>
          <a:p>
            <a:pPr>
              <a:defRPr sz="1100">
                <a:solidFill>
                  <a:srgbClr val="94A3B8"/>
                </a:solidFill>
                <a:latin typeface="Arial"/>
              </a:defRPr>
            </a:pPr>
            <a:r>
              <a:t>Prepared for: Executive Leadership Team</a:t>
            </a:r>
            <a:br/>
            <a:r>
              <a:t>Focus: Secure Integration using MCP, Camunda, and Dapr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D9488"/>
                </a:solidFill>
                <a:latin typeface="Arial"/>
              </a:defRPr>
            </a:pPr>
            <a:r>
              <a:t>01. ARCHITECTURE &amp; WORKFLOW</a:t>
            </a:r>
          </a:p>
        </p:txBody>
      </p:sp>
      <p:sp>
        <p:nvSpPr>
          <p:cNvPr id="3" name="TextBox 2"/>
          <p:cNvSpPr txBox="1"/>
          <p:nvPr/>
        </p:nvSpPr>
        <p:spPr>
          <a:xfrm>
            <a:off x="731520" y="548640"/>
            <a:ext cx="10698480" cy="731520"/>
          </a:xfrm>
          <a:prstGeom prst="rect">
            <a:avLst/>
          </a:prstGeom>
          <a:noFill/>
        </p:spPr>
        <p:txBody>
          <a:bodyPr wrap="square">
            <a:spAutoFit/>
          </a:bodyPr>
          <a:lstStyle/>
          <a:p>
            <a:pPr>
              <a:defRPr sz="2400" b="1">
                <a:solidFill>
                  <a:srgbClr val="0F172A"/>
                </a:solidFill>
                <a:latin typeface="Arial"/>
              </a:defRPr>
            </a:pPr>
            <a:r>
              <a:t>The Architecture: Agentic BPMN &amp; Orchestration Platforms</a:t>
            </a:r>
          </a:p>
        </p:txBody>
      </p:sp>
      <p:sp>
        <p:nvSpPr>
          <p:cNvPr id="4" name="Rounded Rectangle 3"/>
          <p:cNvSpPr/>
          <p:nvPr/>
        </p:nvSpPr>
        <p:spPr>
          <a:xfrm>
            <a:off x="731520" y="164592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5" name="TextBox 4"/>
          <p:cNvSpPr txBox="1"/>
          <p:nvPr/>
        </p:nvSpPr>
        <p:spPr>
          <a:xfrm>
            <a:off x="822960" y="1737360"/>
            <a:ext cx="3108960" cy="3431709"/>
          </a:xfrm>
          <a:prstGeom prst="rect">
            <a:avLst/>
          </a:prstGeom>
          <a:noFill/>
        </p:spPr>
        <p:txBody>
          <a:bodyPr wrap="square">
            <a:spAutoFit/>
          </a:bodyPr>
          <a:lstStyle/>
          <a:p>
            <a:pPr>
              <a:spcAft>
                <a:spcPts val="1000"/>
              </a:spcAft>
              <a:defRPr sz="1400" b="1">
                <a:solidFill>
                  <a:srgbClr val="2B6CB0"/>
                </a:solidFill>
                <a:latin typeface="Arial"/>
              </a:defRPr>
            </a:pPr>
            <a:r>
              <a:rPr sz="1600" dirty="0"/>
              <a:t>Orchestration Layer</a:t>
            </a:r>
          </a:p>
          <a:p>
            <a:pPr>
              <a:spcAft>
                <a:spcPts val="800"/>
              </a:spcAft>
              <a:defRPr sz="1100" b="1">
                <a:solidFill>
                  <a:srgbClr val="0F172A"/>
                </a:solidFill>
                <a:latin typeface="Arial"/>
              </a:defRPr>
            </a:pPr>
            <a:r>
              <a:rPr sz="1600" dirty="0"/>
              <a:t>How it acts as the cerebral cortex:</a:t>
            </a:r>
          </a:p>
          <a:p>
            <a:pPr>
              <a:spcAft>
                <a:spcPts val="600"/>
              </a:spcAft>
              <a:defRPr sz="1100" b="0">
                <a:solidFill>
                  <a:srgbClr val="334155"/>
                </a:solidFill>
                <a:latin typeface="Arial"/>
              </a:defRPr>
            </a:pPr>
            <a:r>
              <a:rPr sz="1600" dirty="0"/>
              <a:t>• Camunda / Cohere / </a:t>
            </a:r>
            <a:r>
              <a:rPr sz="1600" dirty="0" err="1"/>
              <a:t>Dapr</a:t>
            </a:r>
            <a:r>
              <a:rPr sz="1600" dirty="0"/>
              <a:t>: Acts as the central orchestrator, executing BPMN 2.0 workflows.</a:t>
            </a:r>
          </a:p>
          <a:p>
            <a:pPr>
              <a:spcAft>
                <a:spcPts val="600"/>
              </a:spcAft>
              <a:defRPr sz="1100" b="0">
                <a:solidFill>
                  <a:srgbClr val="334155"/>
                </a:solidFill>
                <a:latin typeface="Arial"/>
              </a:defRPr>
            </a:pPr>
            <a:r>
              <a:rPr sz="1600" dirty="0"/>
              <a:t>• State Machine: Manages task persistence, routing, and execution retry logic.</a:t>
            </a:r>
          </a:p>
          <a:p>
            <a:pPr>
              <a:spcAft>
                <a:spcPts val="600"/>
              </a:spcAft>
              <a:defRPr sz="1100" b="0">
                <a:solidFill>
                  <a:srgbClr val="334155"/>
                </a:solidFill>
                <a:latin typeface="Arial"/>
              </a:defRPr>
            </a:pPr>
            <a:r>
              <a:rPr sz="1600" dirty="0"/>
              <a:t>• Dynamic Routing: Connects BPMN Service Tasks directly to designated agent endpoints.</a:t>
            </a:r>
          </a:p>
        </p:txBody>
      </p:sp>
      <p:sp>
        <p:nvSpPr>
          <p:cNvPr id="6" name="Rounded Rectangle 5"/>
          <p:cNvSpPr/>
          <p:nvPr/>
        </p:nvSpPr>
        <p:spPr>
          <a:xfrm>
            <a:off x="4389120" y="164592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7" name="TextBox 6"/>
          <p:cNvSpPr txBox="1"/>
          <p:nvPr/>
        </p:nvSpPr>
        <p:spPr>
          <a:xfrm>
            <a:off x="4480560" y="1737360"/>
            <a:ext cx="3108960" cy="4170372"/>
          </a:xfrm>
          <a:prstGeom prst="rect">
            <a:avLst/>
          </a:prstGeom>
          <a:noFill/>
        </p:spPr>
        <p:txBody>
          <a:bodyPr wrap="square">
            <a:spAutoFit/>
          </a:bodyPr>
          <a:lstStyle/>
          <a:p>
            <a:pPr>
              <a:spcAft>
                <a:spcPts val="1000"/>
              </a:spcAft>
              <a:defRPr sz="1400" b="1">
                <a:solidFill>
                  <a:srgbClr val="0D9488"/>
                </a:solidFill>
                <a:latin typeface="Arial"/>
              </a:defRPr>
            </a:pPr>
            <a:r>
              <a:rPr sz="1600"/>
              <a:t>Transport &amp; Delivery</a:t>
            </a:r>
          </a:p>
          <a:p>
            <a:pPr>
              <a:spcAft>
                <a:spcPts val="800"/>
              </a:spcAft>
              <a:defRPr sz="1100" b="1">
                <a:solidFill>
                  <a:srgbClr val="0F172A"/>
                </a:solidFill>
                <a:latin typeface="Arial"/>
              </a:defRPr>
            </a:pPr>
            <a:r>
              <a:rPr sz="1600"/>
              <a:t>How communication is established:</a:t>
            </a:r>
          </a:p>
          <a:p>
            <a:pPr>
              <a:spcAft>
                <a:spcPts val="600"/>
              </a:spcAft>
              <a:defRPr sz="1100" b="0">
                <a:solidFill>
                  <a:srgbClr val="334155"/>
                </a:solidFill>
                <a:latin typeface="Arial"/>
              </a:defRPr>
            </a:pPr>
            <a:r>
              <a:rPr sz="1600"/>
              <a:t>• Model Context Protocol (MCP): Establishes a standard JSON-RPC protocol over local stdio or Server-Sent Events (SSE).</a:t>
            </a:r>
          </a:p>
          <a:p>
            <a:pPr>
              <a:spcAft>
                <a:spcPts val="600"/>
              </a:spcAft>
              <a:defRPr sz="1100" b="0">
                <a:solidFill>
                  <a:srgbClr val="334155"/>
                </a:solidFill>
                <a:latin typeface="Arial"/>
              </a:defRPr>
            </a:pPr>
            <a:r>
              <a:rPr sz="1600"/>
              <a:t>• CLI Interfacing: Integrates legacy command-line wrappers inside deterministic tasks.</a:t>
            </a:r>
          </a:p>
          <a:p>
            <a:pPr>
              <a:spcAft>
                <a:spcPts val="600"/>
              </a:spcAft>
              <a:defRPr sz="1100" b="0">
                <a:solidFill>
                  <a:srgbClr val="334155"/>
                </a:solidFill>
                <a:latin typeface="Arial"/>
              </a:defRPr>
            </a:pPr>
            <a:r>
              <a:rPr sz="1600"/>
              <a:t>• Dapr Sidecars: Handles service discovery, distributed pub/sub, and encrypted communication channels.</a:t>
            </a:r>
          </a:p>
        </p:txBody>
      </p:sp>
      <p:sp>
        <p:nvSpPr>
          <p:cNvPr id="8" name="Rounded Rectangle 7"/>
          <p:cNvSpPr/>
          <p:nvPr/>
        </p:nvSpPr>
        <p:spPr>
          <a:xfrm>
            <a:off x="8046720" y="164592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9" name="TextBox 8"/>
          <p:cNvSpPr txBox="1"/>
          <p:nvPr/>
        </p:nvSpPr>
        <p:spPr>
          <a:xfrm>
            <a:off x="8138160" y="1737360"/>
            <a:ext cx="3108960" cy="3924151"/>
          </a:xfrm>
          <a:prstGeom prst="rect">
            <a:avLst/>
          </a:prstGeom>
          <a:noFill/>
        </p:spPr>
        <p:txBody>
          <a:bodyPr wrap="square">
            <a:spAutoFit/>
          </a:bodyPr>
          <a:lstStyle/>
          <a:p>
            <a:pPr>
              <a:spcAft>
                <a:spcPts val="1000"/>
              </a:spcAft>
              <a:defRPr sz="1400" b="1">
                <a:solidFill>
                  <a:srgbClr val="0F172A"/>
                </a:solidFill>
                <a:latin typeface="Arial"/>
              </a:defRPr>
            </a:pPr>
            <a:r>
              <a:rPr sz="1600"/>
              <a:t>Distributed Agents</a:t>
            </a:r>
          </a:p>
          <a:p>
            <a:pPr>
              <a:spcAft>
                <a:spcPts val="800"/>
              </a:spcAft>
              <a:defRPr sz="1100" b="1">
                <a:solidFill>
                  <a:srgbClr val="0F172A"/>
                </a:solidFill>
                <a:latin typeface="Arial"/>
              </a:defRPr>
            </a:pPr>
            <a:r>
              <a:rPr sz="1600"/>
              <a:t>How agents operate in sandboxes:</a:t>
            </a:r>
          </a:p>
          <a:p>
            <a:pPr>
              <a:spcAft>
                <a:spcPts val="600"/>
              </a:spcAft>
              <a:defRPr sz="1100" b="0">
                <a:solidFill>
                  <a:srgbClr val="334155"/>
                </a:solidFill>
                <a:latin typeface="Arial"/>
              </a:defRPr>
            </a:pPr>
            <a:r>
              <a:rPr sz="1600"/>
              <a:t>• Specialized LLMs: Domain-specific agents trained/prompted to parse specific data nodes.</a:t>
            </a:r>
          </a:p>
          <a:p>
            <a:pPr>
              <a:spcAft>
                <a:spcPts val="600"/>
              </a:spcAft>
              <a:defRPr sz="1100" b="0">
                <a:solidFill>
                  <a:srgbClr val="334155"/>
                </a:solidFill>
                <a:latin typeface="Arial"/>
              </a:defRPr>
            </a:pPr>
            <a:r>
              <a:rPr sz="1600"/>
              <a:t>• Tool Attachments: Secure local database and API connectors exposed strictly via MCP schemas.</a:t>
            </a:r>
          </a:p>
          <a:p>
            <a:pPr>
              <a:spcAft>
                <a:spcPts val="600"/>
              </a:spcAft>
              <a:defRPr sz="1100" b="0">
                <a:solidFill>
                  <a:srgbClr val="334155"/>
                </a:solidFill>
                <a:latin typeface="Arial"/>
              </a:defRPr>
            </a:pPr>
            <a:r>
              <a:rPr sz="1600"/>
              <a:t>• Autonomy Bound: Constrained entirely to task contexts pushed by Camunda execution threads.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D9488"/>
                </a:solidFill>
                <a:latin typeface="Arial"/>
              </a:defRPr>
            </a:pPr>
            <a:r>
              <a:t>02. GOVERNANCE &amp; METADATA</a:t>
            </a:r>
          </a:p>
        </p:txBody>
      </p:sp>
      <p:sp>
        <p:nvSpPr>
          <p:cNvPr id="3" name="TextBox 2"/>
          <p:cNvSpPr txBox="1"/>
          <p:nvPr/>
        </p:nvSpPr>
        <p:spPr>
          <a:xfrm>
            <a:off x="731520" y="548640"/>
            <a:ext cx="10698480" cy="731520"/>
          </a:xfrm>
          <a:prstGeom prst="rect">
            <a:avLst/>
          </a:prstGeom>
          <a:noFill/>
        </p:spPr>
        <p:txBody>
          <a:bodyPr wrap="square">
            <a:spAutoFit/>
          </a:bodyPr>
          <a:lstStyle/>
          <a:p>
            <a:pPr>
              <a:defRPr sz="2400" b="1">
                <a:solidFill>
                  <a:srgbClr val="0F172A"/>
                </a:solidFill>
                <a:latin typeface="Arial"/>
              </a:defRPr>
            </a:pPr>
            <a:r>
              <a:t>Agent Registry: Discovery, Metadata, and Specifications</a:t>
            </a:r>
          </a:p>
        </p:txBody>
      </p:sp>
      <p:sp>
        <p:nvSpPr>
          <p:cNvPr id="4" name="TextBox 3"/>
          <p:cNvSpPr txBox="1"/>
          <p:nvPr/>
        </p:nvSpPr>
        <p:spPr>
          <a:xfrm>
            <a:off x="731520" y="1645920"/>
            <a:ext cx="4754880" cy="4349909"/>
          </a:xfrm>
          <a:prstGeom prst="rect">
            <a:avLst/>
          </a:prstGeom>
          <a:noFill/>
        </p:spPr>
        <p:txBody>
          <a:bodyPr wrap="square">
            <a:spAutoFit/>
          </a:bodyPr>
          <a:lstStyle/>
          <a:p>
            <a:pPr>
              <a:spcAft>
                <a:spcPts val="1200"/>
              </a:spcAft>
              <a:defRPr sz="1600" b="1">
                <a:solidFill>
                  <a:srgbClr val="2B6CB0"/>
                </a:solidFill>
                <a:latin typeface="Arial"/>
              </a:defRPr>
            </a:pPr>
            <a:r>
              <a:rPr dirty="0"/>
              <a:t>Preventing 'Shadow' Agents</a:t>
            </a:r>
          </a:p>
          <a:p>
            <a:pPr>
              <a:spcAft>
                <a:spcPts val="1200"/>
              </a:spcAft>
              <a:defRPr sz="1100" b="0">
                <a:solidFill>
                  <a:srgbClr val="334155"/>
                </a:solidFill>
                <a:latin typeface="Arial"/>
              </a:defRPr>
            </a:pPr>
            <a:r>
              <a:rPr sz="1600" dirty="0"/>
              <a:t>As multi-agent environments scale, we must enforce a central registry to discover, authorize, and track agent dependencies. Without registry constraints, uncertified local agents can introduce severe security exploits.</a:t>
            </a:r>
          </a:p>
          <a:p>
            <a:pPr>
              <a:spcAft>
                <a:spcPts val="800"/>
              </a:spcAft>
              <a:defRPr sz="1100" b="1">
                <a:solidFill>
                  <a:srgbClr val="0F172A"/>
                </a:solidFill>
                <a:latin typeface="Arial"/>
              </a:defRPr>
            </a:pPr>
            <a:r>
              <a:rPr sz="1600" dirty="0"/>
              <a:t>Key Integration Vectors:</a:t>
            </a:r>
          </a:p>
          <a:p>
            <a:pPr>
              <a:spcAft>
                <a:spcPts val="600"/>
              </a:spcAft>
              <a:defRPr sz="1100" b="0">
                <a:solidFill>
                  <a:srgbClr val="334155"/>
                </a:solidFill>
                <a:latin typeface="Arial"/>
              </a:defRPr>
            </a:pPr>
            <a:r>
              <a:rPr sz="1600" dirty="0"/>
              <a:t>• Registry Core: A central catalogue mapping Agent IDs, active endpoints, and cryptographic signatures.</a:t>
            </a:r>
          </a:p>
          <a:p>
            <a:pPr>
              <a:spcAft>
                <a:spcPts val="600"/>
              </a:spcAft>
              <a:defRPr sz="1100" b="0">
                <a:solidFill>
                  <a:srgbClr val="334155"/>
                </a:solidFill>
                <a:latin typeface="Arial"/>
              </a:defRPr>
            </a:pPr>
            <a:r>
              <a:rPr sz="1600" dirty="0"/>
              <a:t>• Validation: Orchestrator checks the registry dynamically at runtime before delegating any process token.</a:t>
            </a:r>
          </a:p>
          <a:p>
            <a:pPr>
              <a:spcAft>
                <a:spcPts val="600"/>
              </a:spcAft>
              <a:defRPr sz="1100" b="0">
                <a:solidFill>
                  <a:srgbClr val="334155"/>
                </a:solidFill>
                <a:latin typeface="Arial"/>
              </a:defRPr>
            </a:pPr>
            <a:r>
              <a:rPr sz="1600" dirty="0"/>
              <a:t>• Version Control: Tracks agent upgrades and deprecations to prevent runtime schema drift.</a:t>
            </a:r>
          </a:p>
        </p:txBody>
      </p:sp>
      <p:sp>
        <p:nvSpPr>
          <p:cNvPr id="5" name="Rounded Rectangle 4"/>
          <p:cNvSpPr/>
          <p:nvPr/>
        </p:nvSpPr>
        <p:spPr>
          <a:xfrm>
            <a:off x="5943600" y="1645920"/>
            <a:ext cx="613791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6" name="TextBox 5"/>
          <p:cNvSpPr txBox="1"/>
          <p:nvPr/>
        </p:nvSpPr>
        <p:spPr>
          <a:xfrm>
            <a:off x="6126480" y="1828800"/>
            <a:ext cx="5955030" cy="3483005"/>
          </a:xfrm>
          <a:prstGeom prst="rect">
            <a:avLst/>
          </a:prstGeom>
          <a:noFill/>
        </p:spPr>
        <p:txBody>
          <a:bodyPr wrap="square">
            <a:spAutoFit/>
          </a:bodyPr>
          <a:lstStyle/>
          <a:p>
            <a:pPr>
              <a:spcAft>
                <a:spcPts val="1200"/>
              </a:spcAft>
              <a:defRPr sz="1000" b="1">
                <a:solidFill>
                  <a:srgbClr val="0D9488"/>
                </a:solidFill>
                <a:latin typeface="Arial"/>
              </a:defRPr>
            </a:pPr>
            <a:r>
              <a:rPr sz="1600" dirty="0"/>
              <a:t>STANDARD REGISTRY ARTIFACT: THE AGENT CARD</a:t>
            </a:r>
          </a:p>
          <a:p>
            <a:pPr>
              <a:spcAft>
                <a:spcPts val="800"/>
              </a:spcAft>
              <a:defRPr sz="1400" b="1">
                <a:solidFill>
                  <a:srgbClr val="0F172A"/>
                </a:solidFill>
                <a:latin typeface="Arial"/>
              </a:defRPr>
            </a:pPr>
            <a:r>
              <a:rPr sz="1600" dirty="0"/>
              <a:t>Agent Identity: Secure-Underwriter-09</a:t>
            </a:r>
          </a:p>
          <a:p>
            <a:pPr>
              <a:spcAft>
                <a:spcPts val="800"/>
              </a:spcAft>
              <a:defRPr sz="1000" b="0">
                <a:solidFill>
                  <a:srgbClr val="E2E8F0"/>
                </a:solidFill>
                <a:latin typeface="Arial"/>
              </a:defRPr>
            </a:pPr>
            <a:r>
              <a:rPr sz="1200" dirty="0"/>
              <a:t>--------------------------------------------------------</a:t>
            </a:r>
          </a:p>
          <a:p>
            <a:pPr>
              <a:spcAft>
                <a:spcPts val="600"/>
              </a:spcAft>
              <a:defRPr sz="1100" b="0">
                <a:solidFill>
                  <a:srgbClr val="334155"/>
                </a:solidFill>
                <a:latin typeface="Arial"/>
              </a:defRPr>
            </a:pPr>
            <a:r>
              <a:rPr sz="1600" dirty="0"/>
              <a:t>• Protocol Transport: MCP Server v1.2 (via </a:t>
            </a:r>
            <a:r>
              <a:rPr sz="1600" dirty="0" err="1"/>
              <a:t>Dapr</a:t>
            </a:r>
            <a:r>
              <a:rPr sz="1600" dirty="0"/>
              <a:t> SSE sidecar)</a:t>
            </a:r>
          </a:p>
          <a:p>
            <a:pPr>
              <a:spcAft>
                <a:spcPts val="600"/>
              </a:spcAft>
              <a:defRPr sz="1100" b="0">
                <a:solidFill>
                  <a:srgbClr val="334155"/>
                </a:solidFill>
                <a:latin typeface="Arial"/>
              </a:defRPr>
            </a:pPr>
            <a:r>
              <a:rPr sz="1600" dirty="0"/>
              <a:t>• Declared Capabilities: Financial Risk Analysis, OCR extraction, DB-read</a:t>
            </a:r>
          </a:p>
          <a:p>
            <a:pPr>
              <a:spcAft>
                <a:spcPts val="600"/>
              </a:spcAft>
              <a:defRPr sz="1100" b="0">
                <a:solidFill>
                  <a:srgbClr val="334155"/>
                </a:solidFill>
                <a:latin typeface="Arial"/>
              </a:defRPr>
            </a:pPr>
            <a:r>
              <a:rPr sz="1600" dirty="0"/>
              <a:t>• Authorized Scopes: [</a:t>
            </a:r>
            <a:r>
              <a:rPr sz="1600" dirty="0" err="1"/>
              <a:t>read:underwriting_data</a:t>
            </a:r>
            <a:r>
              <a:rPr sz="1600" dirty="0"/>
              <a:t>, </a:t>
            </a:r>
            <a:r>
              <a:rPr sz="1600" dirty="0" err="1"/>
              <a:t>read:mcp_schemas</a:t>
            </a:r>
            <a:r>
              <a:rPr sz="1600" dirty="0"/>
              <a:t>]</a:t>
            </a:r>
          </a:p>
          <a:p>
            <a:pPr>
              <a:spcAft>
                <a:spcPts val="600"/>
              </a:spcAft>
              <a:defRPr sz="1100" b="0">
                <a:solidFill>
                  <a:srgbClr val="334155"/>
                </a:solidFill>
                <a:latin typeface="Arial"/>
              </a:defRPr>
            </a:pPr>
            <a:r>
              <a:rPr sz="1600" dirty="0"/>
              <a:t>• Allowed Tools: </a:t>
            </a:r>
            <a:r>
              <a:rPr sz="1600" dirty="0" err="1"/>
              <a:t>DB_Query_Customer</a:t>
            </a:r>
            <a:r>
              <a:rPr sz="1600" dirty="0"/>
              <a:t>, Calculator_v2, </a:t>
            </a:r>
            <a:r>
              <a:rPr sz="1600" dirty="0" err="1"/>
              <a:t>LLM_Call</a:t>
            </a:r>
            <a:endParaRPr sz="1600" dirty="0"/>
          </a:p>
          <a:p>
            <a:pPr>
              <a:spcAft>
                <a:spcPts val="600"/>
              </a:spcAft>
              <a:defRPr sz="1100" b="0">
                <a:solidFill>
                  <a:srgbClr val="334155"/>
                </a:solidFill>
                <a:latin typeface="Arial"/>
              </a:defRPr>
            </a:pPr>
            <a:r>
              <a:rPr sz="1600" dirty="0"/>
              <a:t>• Human Escapes: Enforced if </a:t>
            </a:r>
            <a:r>
              <a:rPr sz="1600" dirty="0" err="1"/>
              <a:t>risk_score</a:t>
            </a:r>
            <a:r>
              <a:rPr sz="1600" dirty="0"/>
              <a:t> &gt; 0.7 or validation fails</a:t>
            </a:r>
          </a:p>
          <a:p>
            <a:pPr>
              <a:spcAft>
                <a:spcPts val="600"/>
              </a:spcAft>
              <a:defRPr sz="1100" b="1">
                <a:solidFill>
                  <a:srgbClr val="2B6CB0"/>
                </a:solidFill>
                <a:latin typeface="Arial"/>
              </a:defRPr>
            </a:pPr>
            <a:r>
              <a:rPr sz="1600" dirty="0"/>
              <a:t>• Compliance Signature: [Signed: SecOps-CA-2026-X509]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D9488"/>
                </a:solidFill>
                <a:latin typeface="Arial"/>
              </a:defRPr>
            </a:pPr>
            <a:r>
              <a:t>03. TECHNICAL GUARDRAILS</a:t>
            </a:r>
          </a:p>
        </p:txBody>
      </p:sp>
      <p:sp>
        <p:nvSpPr>
          <p:cNvPr id="3" name="TextBox 2"/>
          <p:cNvSpPr txBox="1"/>
          <p:nvPr/>
        </p:nvSpPr>
        <p:spPr>
          <a:xfrm>
            <a:off x="731520" y="548640"/>
            <a:ext cx="10698480" cy="731520"/>
          </a:xfrm>
          <a:prstGeom prst="rect">
            <a:avLst/>
          </a:prstGeom>
          <a:noFill/>
        </p:spPr>
        <p:txBody>
          <a:bodyPr wrap="square">
            <a:spAutoFit/>
          </a:bodyPr>
          <a:lstStyle/>
          <a:p>
            <a:pPr>
              <a:defRPr sz="2400" b="1">
                <a:solidFill>
                  <a:srgbClr val="0F172A"/>
                </a:solidFill>
                <a:latin typeface="Arial"/>
              </a:defRPr>
            </a:pPr>
            <a:r>
              <a:t>Security Guardrails: Sandboxing, mTLS &amp; Payload Filtering</a:t>
            </a:r>
          </a:p>
        </p:txBody>
      </p:sp>
      <p:sp>
        <p:nvSpPr>
          <p:cNvPr id="4" name="Rounded Rectangle 3"/>
          <p:cNvSpPr/>
          <p:nvPr/>
        </p:nvSpPr>
        <p:spPr>
          <a:xfrm>
            <a:off x="731520" y="1348740"/>
            <a:ext cx="5120640" cy="226728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5" name="TextBox 4"/>
          <p:cNvSpPr txBox="1"/>
          <p:nvPr/>
        </p:nvSpPr>
        <p:spPr>
          <a:xfrm>
            <a:off x="822960" y="1371600"/>
            <a:ext cx="4937760" cy="2051844"/>
          </a:xfrm>
          <a:prstGeom prst="rect">
            <a:avLst/>
          </a:prstGeom>
          <a:noFill/>
        </p:spPr>
        <p:txBody>
          <a:bodyPr wrap="square">
            <a:spAutoFit/>
          </a:bodyPr>
          <a:lstStyle/>
          <a:p>
            <a:pPr>
              <a:spcAft>
                <a:spcPts val="800"/>
              </a:spcAft>
              <a:defRPr sz="1300" b="1">
                <a:solidFill>
                  <a:srgbClr val="2B6CB0"/>
                </a:solidFill>
                <a:latin typeface="Arial"/>
              </a:defRPr>
            </a:pPr>
            <a:r>
              <a:rPr sz="1600" dirty="0"/>
              <a:t>1. Isolation &amp; Sandbox Execution (HOW)</a:t>
            </a:r>
          </a:p>
          <a:p>
            <a:pPr>
              <a:spcAft>
                <a:spcPts val="400"/>
              </a:spcAft>
              <a:defRPr sz="1100" b="0">
                <a:solidFill>
                  <a:srgbClr val="334155"/>
                </a:solidFill>
                <a:latin typeface="Arial"/>
              </a:defRPr>
            </a:pPr>
            <a:r>
              <a:rPr sz="1400" dirty="0"/>
              <a:t>• How: Host each MCP/CLI server in a separate, unprivileged Linux namespace or container (e.g., </a:t>
            </a:r>
            <a:r>
              <a:rPr sz="1400" dirty="0" err="1"/>
              <a:t>gVisor</a:t>
            </a:r>
            <a:r>
              <a:rPr sz="1400" dirty="0"/>
              <a:t> or </a:t>
            </a:r>
            <a:r>
              <a:rPr sz="1400" dirty="0" err="1"/>
              <a:t>microVMs</a:t>
            </a:r>
            <a:r>
              <a:rPr sz="1400" dirty="0"/>
              <a:t>).</a:t>
            </a:r>
          </a:p>
          <a:p>
            <a:pPr>
              <a:spcAft>
                <a:spcPts val="400"/>
              </a:spcAft>
              <a:defRPr sz="1100" b="0">
                <a:solidFill>
                  <a:srgbClr val="334155"/>
                </a:solidFill>
                <a:latin typeface="Arial"/>
              </a:defRPr>
            </a:pPr>
            <a:r>
              <a:rPr sz="1400" dirty="0"/>
              <a:t>• Limit: Apply CPU, memory, and filesystem read-only locks via Docker/Kubernetes settings.</a:t>
            </a:r>
          </a:p>
          <a:p>
            <a:pPr>
              <a:spcAft>
                <a:spcPts val="400"/>
              </a:spcAft>
              <a:defRPr sz="1100" b="0">
                <a:solidFill>
                  <a:srgbClr val="334155"/>
                </a:solidFill>
                <a:latin typeface="Arial"/>
              </a:defRPr>
            </a:pPr>
            <a:r>
              <a:rPr sz="1400" dirty="0"/>
              <a:t>• Risk Mitigated: Prevents sandbox escape exploits and unauthorized file system manipulation.</a:t>
            </a:r>
          </a:p>
        </p:txBody>
      </p:sp>
      <p:sp>
        <p:nvSpPr>
          <p:cNvPr id="6" name="Rounded Rectangle 5"/>
          <p:cNvSpPr/>
          <p:nvPr/>
        </p:nvSpPr>
        <p:spPr>
          <a:xfrm>
            <a:off x="6217920" y="1348740"/>
            <a:ext cx="5120640" cy="226728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7" name="TextBox 6"/>
          <p:cNvSpPr txBox="1"/>
          <p:nvPr/>
        </p:nvSpPr>
        <p:spPr>
          <a:xfrm>
            <a:off x="6309360" y="1371600"/>
            <a:ext cx="4937760" cy="2267287"/>
          </a:xfrm>
          <a:prstGeom prst="rect">
            <a:avLst/>
          </a:prstGeom>
          <a:noFill/>
        </p:spPr>
        <p:txBody>
          <a:bodyPr wrap="square">
            <a:spAutoFit/>
          </a:bodyPr>
          <a:lstStyle/>
          <a:p>
            <a:pPr>
              <a:spcAft>
                <a:spcPts val="800"/>
              </a:spcAft>
              <a:defRPr sz="1300" b="1">
                <a:solidFill>
                  <a:srgbClr val="2B6CB0"/>
                </a:solidFill>
                <a:latin typeface="Arial"/>
              </a:defRPr>
            </a:pPr>
            <a:r>
              <a:rPr sz="1600" dirty="0"/>
              <a:t>2. Cryptographic Transport &amp; Zero-Trust (HOW)</a:t>
            </a:r>
          </a:p>
          <a:p>
            <a:pPr>
              <a:spcAft>
                <a:spcPts val="400"/>
              </a:spcAft>
              <a:defRPr sz="1100" b="0">
                <a:solidFill>
                  <a:srgbClr val="334155"/>
                </a:solidFill>
                <a:latin typeface="Arial"/>
              </a:defRPr>
            </a:pPr>
            <a:r>
              <a:rPr sz="1400" dirty="0"/>
              <a:t>• How: Route all agent communication through </a:t>
            </a:r>
            <a:r>
              <a:rPr sz="1400" dirty="0" err="1"/>
              <a:t>Dapr</a:t>
            </a:r>
            <a:r>
              <a:rPr sz="1400" dirty="0"/>
              <a:t> or Envoy sidecars, enforcing SPIFFE/SPIRE-backed Mutual TLS (</a:t>
            </a:r>
            <a:r>
              <a:rPr sz="1400" dirty="0" err="1"/>
              <a:t>mTLS</a:t>
            </a:r>
            <a:r>
              <a:rPr sz="1400" dirty="0"/>
              <a:t>).</a:t>
            </a:r>
          </a:p>
          <a:p>
            <a:pPr>
              <a:spcAft>
                <a:spcPts val="400"/>
              </a:spcAft>
              <a:defRPr sz="1100" b="0">
                <a:solidFill>
                  <a:srgbClr val="334155"/>
                </a:solidFill>
                <a:latin typeface="Arial"/>
              </a:defRPr>
            </a:pPr>
            <a:r>
              <a:rPr sz="1400" dirty="0"/>
              <a:t>• Control: Implement rigid Token-Based Auth and access control lists (ACLs) directly within the MCP Gateway proxy layer.</a:t>
            </a:r>
          </a:p>
          <a:p>
            <a:pPr>
              <a:spcAft>
                <a:spcPts val="400"/>
              </a:spcAft>
              <a:defRPr sz="1100" b="0">
                <a:solidFill>
                  <a:srgbClr val="334155"/>
                </a:solidFill>
                <a:latin typeface="Arial"/>
              </a:defRPr>
            </a:pPr>
            <a:r>
              <a:rPr sz="1400" dirty="0"/>
              <a:t>• Risk Mitigated: Blocks man-in-the-middle attacks and prevents unauthenticated agent injections.</a:t>
            </a:r>
          </a:p>
        </p:txBody>
      </p:sp>
      <p:sp>
        <p:nvSpPr>
          <p:cNvPr id="8" name="Rounded Rectangle 7"/>
          <p:cNvSpPr/>
          <p:nvPr/>
        </p:nvSpPr>
        <p:spPr>
          <a:xfrm>
            <a:off x="731520" y="3931920"/>
            <a:ext cx="5120640" cy="226728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9" name="TextBox 8"/>
          <p:cNvSpPr txBox="1"/>
          <p:nvPr/>
        </p:nvSpPr>
        <p:spPr>
          <a:xfrm>
            <a:off x="822960" y="4023360"/>
            <a:ext cx="4937760" cy="2051844"/>
          </a:xfrm>
          <a:prstGeom prst="rect">
            <a:avLst/>
          </a:prstGeom>
          <a:noFill/>
        </p:spPr>
        <p:txBody>
          <a:bodyPr wrap="square">
            <a:spAutoFit/>
          </a:bodyPr>
          <a:lstStyle/>
          <a:p>
            <a:pPr>
              <a:spcAft>
                <a:spcPts val="800"/>
              </a:spcAft>
              <a:defRPr sz="1300" b="1">
                <a:solidFill>
                  <a:srgbClr val="0D9488"/>
                </a:solidFill>
                <a:latin typeface="Arial"/>
              </a:defRPr>
            </a:pPr>
            <a:r>
              <a:rPr sz="1600"/>
              <a:t>3. Input Schema &amp; Prompt Validation (HOW)</a:t>
            </a:r>
          </a:p>
          <a:p>
            <a:pPr>
              <a:spcAft>
                <a:spcPts val="400"/>
              </a:spcAft>
              <a:defRPr sz="1100" b="0">
                <a:solidFill>
                  <a:srgbClr val="334155"/>
                </a:solidFill>
                <a:latin typeface="Arial"/>
              </a:defRPr>
            </a:pPr>
            <a:r>
              <a:rPr sz="1400"/>
              <a:t>• How: Run strict JSON-schema validation at the MCP Gateway boundary using libraries like AJV.</a:t>
            </a:r>
          </a:p>
          <a:p>
            <a:pPr>
              <a:spcAft>
                <a:spcPts val="400"/>
              </a:spcAft>
              <a:defRPr sz="1100" b="0">
                <a:solidFill>
                  <a:srgbClr val="334155"/>
                </a:solidFill>
                <a:latin typeface="Arial"/>
              </a:defRPr>
            </a:pPr>
            <a:r>
              <a:rPr sz="1400"/>
              <a:t>• Filter: Use intermediate guardrails (e.g., Llama Guard or guardrails-ai) to analyze system prompts and output payloads.</a:t>
            </a:r>
          </a:p>
          <a:p>
            <a:pPr>
              <a:spcAft>
                <a:spcPts val="400"/>
              </a:spcAft>
              <a:defRPr sz="1100" b="0">
                <a:solidFill>
                  <a:srgbClr val="334155"/>
                </a:solidFill>
                <a:latin typeface="Arial"/>
              </a:defRPr>
            </a:pPr>
            <a:r>
              <a:rPr sz="1400"/>
              <a:t>• Risk Mitigated: Stops indirect prompt injections and malicious system prompt overwrites.</a:t>
            </a:r>
          </a:p>
        </p:txBody>
      </p:sp>
      <p:sp>
        <p:nvSpPr>
          <p:cNvPr id="10" name="Rounded Rectangle 9"/>
          <p:cNvSpPr/>
          <p:nvPr/>
        </p:nvSpPr>
        <p:spPr>
          <a:xfrm>
            <a:off x="6217920" y="3931920"/>
            <a:ext cx="5120640" cy="226728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11" name="TextBox 10"/>
          <p:cNvSpPr txBox="1"/>
          <p:nvPr/>
        </p:nvSpPr>
        <p:spPr>
          <a:xfrm>
            <a:off x="6309360" y="4023360"/>
            <a:ext cx="4937760" cy="2051844"/>
          </a:xfrm>
          <a:prstGeom prst="rect">
            <a:avLst/>
          </a:prstGeom>
          <a:noFill/>
        </p:spPr>
        <p:txBody>
          <a:bodyPr wrap="square">
            <a:spAutoFit/>
          </a:bodyPr>
          <a:lstStyle/>
          <a:p>
            <a:pPr>
              <a:spcAft>
                <a:spcPts val="800"/>
              </a:spcAft>
              <a:defRPr sz="1300" b="1">
                <a:solidFill>
                  <a:srgbClr val="0F172A"/>
                </a:solidFill>
                <a:latin typeface="Arial"/>
              </a:defRPr>
            </a:pPr>
            <a:r>
              <a:rPr sz="1600"/>
              <a:t>4. Outbound Egress Controls (HOW)</a:t>
            </a:r>
          </a:p>
          <a:p>
            <a:pPr>
              <a:spcAft>
                <a:spcPts val="400"/>
              </a:spcAft>
              <a:defRPr sz="1100" b="0">
                <a:solidFill>
                  <a:srgbClr val="334155"/>
                </a:solidFill>
                <a:latin typeface="Arial"/>
              </a:defRPr>
            </a:pPr>
            <a:r>
              <a:rPr sz="1400"/>
              <a:t>• How: Configure Istio service mesh network policies to completely block public internet egress from internal MCP servers.</a:t>
            </a:r>
          </a:p>
          <a:p>
            <a:pPr>
              <a:spcAft>
                <a:spcPts val="400"/>
              </a:spcAft>
              <a:defRPr sz="1100" b="0">
                <a:solidFill>
                  <a:srgbClr val="334155"/>
                </a:solidFill>
                <a:latin typeface="Arial"/>
              </a:defRPr>
            </a:pPr>
            <a:r>
              <a:rPr sz="1400"/>
              <a:t>• Exception: Whitelist specific domain URLs dynamically at the API proxy layer if agents require search capabilities.</a:t>
            </a:r>
          </a:p>
          <a:p>
            <a:pPr>
              <a:spcAft>
                <a:spcPts val="400"/>
              </a:spcAft>
              <a:defRPr sz="1100" b="0">
                <a:solidFill>
                  <a:srgbClr val="334155"/>
                </a:solidFill>
                <a:latin typeface="Arial"/>
              </a:defRPr>
            </a:pPr>
            <a:r>
              <a:rPr sz="1400"/>
              <a:t>• Risk Mitigated: Prevents proprietary model data leakage to unapproved external endpoints.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D9488"/>
                </a:solidFill>
                <a:latin typeface="Arial"/>
              </a:defRPr>
            </a:pPr>
            <a:r>
              <a:t>04. COMPLIANCE &amp; AUDITABILITY</a:t>
            </a:r>
          </a:p>
        </p:txBody>
      </p:sp>
      <p:sp>
        <p:nvSpPr>
          <p:cNvPr id="3" name="TextBox 2"/>
          <p:cNvSpPr txBox="1"/>
          <p:nvPr/>
        </p:nvSpPr>
        <p:spPr>
          <a:xfrm>
            <a:off x="731520" y="548640"/>
            <a:ext cx="10698480" cy="731520"/>
          </a:xfrm>
          <a:prstGeom prst="rect">
            <a:avLst/>
          </a:prstGeom>
          <a:noFill/>
        </p:spPr>
        <p:txBody>
          <a:bodyPr wrap="square">
            <a:spAutoFit/>
          </a:bodyPr>
          <a:lstStyle/>
          <a:p>
            <a:pPr>
              <a:defRPr sz="2400" b="1">
                <a:solidFill>
                  <a:srgbClr val="0F172A"/>
                </a:solidFill>
                <a:latin typeface="Arial"/>
              </a:defRPr>
            </a:pPr>
            <a:r>
              <a:t>Compliance Guardrails: Ledger Audit &amp; Explanations</a:t>
            </a:r>
          </a:p>
        </p:txBody>
      </p:sp>
      <p:sp>
        <p:nvSpPr>
          <p:cNvPr id="4" name="TextBox 3"/>
          <p:cNvSpPr txBox="1"/>
          <p:nvPr/>
        </p:nvSpPr>
        <p:spPr>
          <a:xfrm>
            <a:off x="731520" y="1645920"/>
            <a:ext cx="5029200" cy="4596130"/>
          </a:xfrm>
          <a:prstGeom prst="rect">
            <a:avLst/>
          </a:prstGeom>
          <a:noFill/>
        </p:spPr>
        <p:txBody>
          <a:bodyPr wrap="square">
            <a:spAutoFit/>
          </a:bodyPr>
          <a:lstStyle/>
          <a:p>
            <a:pPr>
              <a:spcAft>
                <a:spcPts val="1200"/>
              </a:spcAft>
              <a:defRPr sz="1600" b="1">
                <a:solidFill>
                  <a:srgbClr val="2B6CB0"/>
                </a:solidFill>
                <a:latin typeface="Arial"/>
              </a:defRPr>
            </a:pPr>
            <a:r>
              <a:rPr dirty="0"/>
              <a:t>Achieving Traceable Glass-Box Auditing</a:t>
            </a:r>
          </a:p>
          <a:p>
            <a:pPr>
              <a:spcAft>
                <a:spcPts val="1200"/>
              </a:spcAft>
              <a:defRPr sz="1100" b="0">
                <a:solidFill>
                  <a:srgbClr val="334155"/>
                </a:solidFill>
                <a:latin typeface="Arial"/>
              </a:defRPr>
            </a:pPr>
            <a:r>
              <a:rPr sz="1600" dirty="0"/>
              <a:t>For heavily regulated environments like healthcare (Cohere Health) or finance, the AI's logic cannot remain a black box. We must prove the exact lineage of every system state change.</a:t>
            </a:r>
          </a:p>
          <a:p>
            <a:pPr>
              <a:spcAft>
                <a:spcPts val="800"/>
              </a:spcAft>
              <a:defRPr sz="1100" b="1">
                <a:solidFill>
                  <a:srgbClr val="0F172A"/>
                </a:solidFill>
                <a:latin typeface="Arial"/>
              </a:defRPr>
            </a:pPr>
            <a:r>
              <a:rPr sz="1600" dirty="0"/>
              <a:t>HOW we ensure Compliance:</a:t>
            </a:r>
          </a:p>
          <a:p>
            <a:pPr>
              <a:spcAft>
                <a:spcPts val="600"/>
              </a:spcAft>
              <a:defRPr sz="1100" b="0">
                <a:solidFill>
                  <a:srgbClr val="334155"/>
                </a:solidFill>
                <a:latin typeface="Arial"/>
              </a:defRPr>
            </a:pPr>
            <a:r>
              <a:rPr sz="1600" dirty="0"/>
              <a:t>• Transaction Ledger: The BPMN engine captures the parent workflow token execution history.</a:t>
            </a:r>
          </a:p>
          <a:p>
            <a:pPr>
              <a:spcAft>
                <a:spcPts val="600"/>
              </a:spcAft>
              <a:defRPr sz="1100" b="0">
                <a:solidFill>
                  <a:srgbClr val="334155"/>
                </a:solidFill>
                <a:latin typeface="Arial"/>
              </a:defRPr>
            </a:pPr>
            <a:r>
              <a:rPr sz="1600" dirty="0"/>
              <a:t>• JSON-RPC Payloads: MCP Gateway intercepts and saves the complete, exact schema exchange (prompt inputs, tool parameters, raw system contexts) into an immutable, append-only log store (e.g., AWS S3 with Object Lock).</a:t>
            </a:r>
          </a:p>
          <a:p>
            <a:pPr>
              <a:spcAft>
                <a:spcPts val="600"/>
              </a:spcAft>
              <a:defRPr sz="1100" b="0">
                <a:solidFill>
                  <a:srgbClr val="334155"/>
                </a:solidFill>
                <a:latin typeface="Arial"/>
              </a:defRPr>
            </a:pPr>
            <a:r>
              <a:rPr sz="1600" dirty="0"/>
              <a:t>• Context Replay: Developers can replicate and replay the exact network state using mock testing to troubleshoot any regulatory discrepancies.</a:t>
            </a:r>
          </a:p>
        </p:txBody>
      </p:sp>
      <p:sp>
        <p:nvSpPr>
          <p:cNvPr id="5" name="Rounded Rectangle 4"/>
          <p:cNvSpPr/>
          <p:nvPr/>
        </p:nvSpPr>
        <p:spPr>
          <a:xfrm>
            <a:off x="62179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6" name="TextBox 5"/>
          <p:cNvSpPr txBox="1"/>
          <p:nvPr/>
        </p:nvSpPr>
        <p:spPr>
          <a:xfrm>
            <a:off x="6400800" y="1828800"/>
            <a:ext cx="4846320" cy="4088299"/>
          </a:xfrm>
          <a:prstGeom prst="rect">
            <a:avLst/>
          </a:prstGeom>
          <a:noFill/>
        </p:spPr>
        <p:txBody>
          <a:bodyPr wrap="square">
            <a:spAutoFit/>
          </a:bodyPr>
          <a:lstStyle/>
          <a:p>
            <a:pPr>
              <a:spcAft>
                <a:spcPts val="1200"/>
              </a:spcAft>
              <a:defRPr sz="1000" b="1">
                <a:solidFill>
                  <a:srgbClr val="0D9488"/>
                </a:solidFill>
                <a:latin typeface="Arial"/>
              </a:defRPr>
            </a:pPr>
            <a:r>
              <a:rPr sz="1200" dirty="0"/>
              <a:t>AUDIT RECORD FOR REGULATORY INSPECTION (HIPAA/FINRA)</a:t>
            </a:r>
          </a:p>
          <a:p>
            <a:pPr>
              <a:spcAft>
                <a:spcPts val="600"/>
              </a:spcAft>
              <a:defRPr sz="1100" b="0">
                <a:solidFill>
                  <a:srgbClr val="334155"/>
                </a:solidFill>
                <a:latin typeface="Arial"/>
              </a:defRPr>
            </a:pPr>
            <a:r>
              <a:rPr sz="1600" dirty="0"/>
              <a:t>• BPMN Process Instance ID: c</a:t>
            </a:r>
            <a:r>
              <a:rPr lang="en-US" sz="1600" dirty="0"/>
              <a:t>oherehealth</a:t>
            </a:r>
            <a:r>
              <a:rPr sz="1600" dirty="0"/>
              <a:t>-bf03a42d</a:t>
            </a:r>
          </a:p>
          <a:p>
            <a:pPr>
              <a:spcAft>
                <a:spcPts val="600"/>
              </a:spcAft>
              <a:defRPr sz="1100" b="0">
                <a:solidFill>
                  <a:srgbClr val="334155"/>
                </a:solidFill>
                <a:latin typeface="Arial"/>
              </a:defRPr>
            </a:pPr>
            <a:r>
              <a:rPr sz="1600" dirty="0"/>
              <a:t>• Triggering Context: Patient Clinical Summary Request</a:t>
            </a:r>
          </a:p>
          <a:p>
            <a:pPr>
              <a:spcAft>
                <a:spcPts val="400"/>
              </a:spcAft>
              <a:defRPr sz="1100" b="1">
                <a:solidFill>
                  <a:srgbClr val="0F172A"/>
                </a:solidFill>
                <a:latin typeface="Arial"/>
              </a:defRPr>
            </a:pPr>
            <a:r>
              <a:rPr sz="1600" dirty="0"/>
              <a:t>• Intercepted Payload Logs:</a:t>
            </a:r>
          </a:p>
          <a:p>
            <a:pPr>
              <a:spcAft>
                <a:spcPts val="1000"/>
              </a:spcAft>
              <a:defRPr sz="900" b="0">
                <a:solidFill>
                  <a:srgbClr val="334155"/>
                </a:solidFill>
                <a:latin typeface="Arial"/>
              </a:defRPr>
            </a:pPr>
            <a:r>
              <a:rPr sz="1100" dirty="0"/>
              <a:t>   - GET_DATA: Requested patient records (ID: 99823)</a:t>
            </a:r>
            <a:br>
              <a:rPr sz="1100" dirty="0"/>
            </a:br>
            <a:r>
              <a:rPr sz="1100" dirty="0"/>
              <a:t>   - EXPOSURE CHECK: Verified no PHI leak occurred in tool call</a:t>
            </a:r>
            <a:br>
              <a:rPr sz="1100" dirty="0"/>
            </a:br>
            <a:r>
              <a:rPr sz="1100" dirty="0"/>
              <a:t>   - LLM INFERENCE: Extracted diagnostic recommendations</a:t>
            </a:r>
            <a:br>
              <a:rPr sz="1100" dirty="0"/>
            </a:br>
            <a:r>
              <a:rPr sz="1100" dirty="0"/>
              <a:t>   - REASONING LINEAGE: 'Used Doctor Note #3, verified against dosage protocol'</a:t>
            </a:r>
          </a:p>
          <a:p>
            <a:pPr>
              <a:spcAft>
                <a:spcPts val="600"/>
              </a:spcAft>
              <a:defRPr sz="1100" b="0">
                <a:solidFill>
                  <a:srgbClr val="334155"/>
                </a:solidFill>
                <a:latin typeface="Arial"/>
              </a:defRPr>
            </a:pPr>
            <a:r>
              <a:rPr sz="1600" dirty="0"/>
              <a:t>• Immutable Storage Target: s3://compliance-vault/2026/07/</a:t>
            </a:r>
          </a:p>
          <a:p>
            <a:pPr>
              <a:spcAft>
                <a:spcPts val="600"/>
              </a:spcAft>
              <a:defRPr sz="1100" b="1">
                <a:solidFill>
                  <a:srgbClr val="2B6CB0"/>
                </a:solidFill>
                <a:latin typeface="Arial"/>
              </a:defRPr>
            </a:pPr>
            <a:r>
              <a:rPr sz="1600" dirty="0"/>
              <a:t>• Hash Integrity Proof: SHA-256 [0x7f23a7...a81e3]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D9488"/>
                </a:solidFill>
                <a:latin typeface="Arial"/>
              </a:defRPr>
            </a:pPr>
            <a:r>
              <a:t>05. WORKFLOW GOVERNANCE</a:t>
            </a:r>
          </a:p>
        </p:txBody>
      </p:sp>
      <p:sp>
        <p:nvSpPr>
          <p:cNvPr id="3" name="TextBox 2"/>
          <p:cNvSpPr txBox="1"/>
          <p:nvPr/>
        </p:nvSpPr>
        <p:spPr>
          <a:xfrm>
            <a:off x="731520" y="548640"/>
            <a:ext cx="10698480" cy="731520"/>
          </a:xfrm>
          <a:prstGeom prst="rect">
            <a:avLst/>
          </a:prstGeom>
          <a:noFill/>
        </p:spPr>
        <p:txBody>
          <a:bodyPr wrap="square">
            <a:spAutoFit/>
          </a:bodyPr>
          <a:lstStyle/>
          <a:p>
            <a:pPr>
              <a:defRPr sz="2400" b="1">
                <a:solidFill>
                  <a:srgbClr val="0F172A"/>
                </a:solidFill>
                <a:latin typeface="Arial"/>
              </a:defRPr>
            </a:pPr>
            <a:r>
              <a:t>Governance Guardrails: Enforcing Human-in-the-Loop Policies</a:t>
            </a:r>
          </a:p>
        </p:txBody>
      </p:sp>
      <p:sp>
        <p:nvSpPr>
          <p:cNvPr id="4" name="Rounded Rectangle 3"/>
          <p:cNvSpPr/>
          <p:nvPr/>
        </p:nvSpPr>
        <p:spPr>
          <a:xfrm>
            <a:off x="731520" y="1645920"/>
            <a:ext cx="493776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5" name="TextBox 4"/>
          <p:cNvSpPr txBox="1"/>
          <p:nvPr/>
        </p:nvSpPr>
        <p:spPr>
          <a:xfrm>
            <a:off x="914400" y="1828800"/>
            <a:ext cx="4572000" cy="4023360"/>
          </a:xfrm>
          <a:prstGeom prst="rect">
            <a:avLst/>
          </a:prstGeom>
          <a:noFill/>
        </p:spPr>
        <p:txBody>
          <a:bodyPr wrap="square">
            <a:spAutoFit/>
          </a:bodyPr>
          <a:lstStyle/>
          <a:p>
            <a:pPr>
              <a:spcAft>
                <a:spcPts val="1200"/>
              </a:spcAft>
              <a:defRPr sz="1000" b="1">
                <a:solidFill>
                  <a:srgbClr val="0D9488"/>
                </a:solidFill>
                <a:latin typeface="Arial"/>
              </a:defRPr>
            </a:pPr>
            <a:r>
              <a:t>BPMN GATEWAY DECISION TOPOLOGY</a:t>
            </a:r>
          </a:p>
          <a:p>
            <a:pPr>
              <a:spcAft>
                <a:spcPts val="1200"/>
              </a:spcAft>
              <a:defRPr sz="1200" b="1">
                <a:solidFill>
                  <a:srgbClr val="334155"/>
                </a:solidFill>
                <a:latin typeface="Arial"/>
              </a:defRPr>
            </a:pPr>
            <a:r>
              <a:t>[ Agent Tool Action ]</a:t>
            </a:r>
            <a:br/>
            <a:r>
              <a:t>            │</a:t>
            </a:r>
            <a:br/>
            <a:r>
              <a:t>            ▼</a:t>
            </a:r>
            <a:br/>
            <a:r>
              <a:t>[ Calculate Risk Metric ] (Automatic Check Task)</a:t>
            </a:r>
            <a:br/>
            <a:r>
              <a:t>            │</a:t>
            </a:r>
            <a:br/>
            <a:r>
              <a:t>            ├─► Risk &lt; Threshold: Auto-Execute Task</a:t>
            </a:r>
            <a:br/>
            <a:r>
              <a:t>            │</a:t>
            </a:r>
            <a:br/>
            <a:r>
              <a:t>            └─► Risk &gt;= Threshold: Escalate Task</a:t>
            </a:r>
            <a:br/>
            <a:r>
              <a:t>            │</a:t>
            </a:r>
            <a:br/>
            <a:r>
              <a:t>            ▼</a:t>
            </a:r>
            <a:br/>
            <a:r>
              <a:t>[ BPMN Human User Task ] (Camunda Tasklist UI)</a:t>
            </a:r>
            <a:br/>
            <a:r>
              <a:t>            │</a:t>
            </a:r>
            <a:br/>
            <a:r>
              <a:t>            ├─► Human APPROVE: Proceed to final tool API</a:t>
            </a:r>
            <a:br/>
            <a:r>
              <a:t>            │</a:t>
            </a:r>
            <a:br/>
            <a:r>
              <a:t>            └─► Human REJECT: Halt token &amp; log override</a:t>
            </a:r>
          </a:p>
        </p:txBody>
      </p:sp>
      <p:sp>
        <p:nvSpPr>
          <p:cNvPr id="6" name="TextBox 5"/>
          <p:cNvSpPr txBox="1"/>
          <p:nvPr/>
        </p:nvSpPr>
        <p:spPr>
          <a:xfrm>
            <a:off x="6035040" y="1645920"/>
            <a:ext cx="5394960" cy="4349909"/>
          </a:xfrm>
          <a:prstGeom prst="rect">
            <a:avLst/>
          </a:prstGeom>
          <a:noFill/>
        </p:spPr>
        <p:txBody>
          <a:bodyPr wrap="square">
            <a:spAutoFit/>
          </a:bodyPr>
          <a:lstStyle/>
          <a:p>
            <a:pPr>
              <a:spcAft>
                <a:spcPts val="1200"/>
              </a:spcAft>
              <a:defRPr sz="1600" b="1">
                <a:solidFill>
                  <a:srgbClr val="2B6CB0"/>
                </a:solidFill>
                <a:latin typeface="Arial"/>
              </a:defRPr>
            </a:pPr>
            <a:r>
              <a:rPr dirty="0"/>
              <a:t>Operational Risk Gateways</a:t>
            </a:r>
          </a:p>
          <a:p>
            <a:pPr>
              <a:spcAft>
                <a:spcPts val="1200"/>
              </a:spcAft>
              <a:defRPr sz="1100" b="0">
                <a:solidFill>
                  <a:srgbClr val="334155"/>
                </a:solidFill>
                <a:latin typeface="Arial"/>
              </a:defRPr>
            </a:pPr>
            <a:r>
              <a:rPr sz="1600" dirty="0"/>
              <a:t>We must systematically prevent unchecked agents from calling high-risk write tools. We enforce this through dynamic risk grading inside the BPMN workflow.</a:t>
            </a:r>
          </a:p>
          <a:p>
            <a:pPr>
              <a:spcAft>
                <a:spcPts val="800"/>
              </a:spcAft>
              <a:defRPr sz="1100" b="1">
                <a:solidFill>
                  <a:srgbClr val="0F172A"/>
                </a:solidFill>
                <a:latin typeface="Arial"/>
              </a:defRPr>
            </a:pPr>
            <a:r>
              <a:rPr sz="1600" dirty="0"/>
              <a:t>HOW we govern execution:</a:t>
            </a:r>
          </a:p>
          <a:p>
            <a:pPr>
              <a:spcAft>
                <a:spcPts val="600"/>
              </a:spcAft>
              <a:defRPr sz="1100" b="0">
                <a:solidFill>
                  <a:srgbClr val="334155"/>
                </a:solidFill>
                <a:latin typeface="Arial"/>
              </a:defRPr>
            </a:pPr>
            <a:r>
              <a:rPr sz="1600" dirty="0"/>
              <a:t>• Risk Grading Task: Before any high-risk action (e.g., executing transactions, writing medical diagnostic advice), a distinct BPMN evaluation service task calculates a risk score based on context sensitivity.</a:t>
            </a:r>
          </a:p>
          <a:p>
            <a:pPr>
              <a:spcAft>
                <a:spcPts val="600"/>
              </a:spcAft>
              <a:defRPr sz="1100" b="0">
                <a:solidFill>
                  <a:srgbClr val="334155"/>
                </a:solidFill>
                <a:latin typeface="Arial"/>
              </a:defRPr>
            </a:pPr>
            <a:r>
              <a:rPr sz="1600" dirty="0"/>
              <a:t>• Dynamic Escalation Gateways: If the score exceeds configured thresholds, BPMN redirects the token to a Camunda Human User Task.</a:t>
            </a:r>
          </a:p>
          <a:p>
            <a:pPr>
              <a:spcAft>
                <a:spcPts val="600"/>
              </a:spcAft>
              <a:defRPr sz="1100" b="0">
                <a:solidFill>
                  <a:srgbClr val="334155"/>
                </a:solidFill>
                <a:latin typeface="Arial"/>
              </a:defRPr>
            </a:pPr>
            <a:r>
              <a:rPr sz="1600" dirty="0"/>
              <a:t>• Hard Lock Controls: Human approval injects an authorized, short-lived security token required to unblock the final write tool call.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D9488"/>
                </a:solidFill>
                <a:latin typeface="Arial"/>
              </a:defRPr>
            </a:pPr>
            <a:r>
              <a:t>06. TECHNICAL BLUEPRINT</a:t>
            </a:r>
          </a:p>
        </p:txBody>
      </p:sp>
      <p:sp>
        <p:nvSpPr>
          <p:cNvPr id="3" name="TextBox 2"/>
          <p:cNvSpPr txBox="1"/>
          <p:nvPr/>
        </p:nvSpPr>
        <p:spPr>
          <a:xfrm>
            <a:off x="731520" y="548640"/>
            <a:ext cx="10698480" cy="731520"/>
          </a:xfrm>
          <a:prstGeom prst="rect">
            <a:avLst/>
          </a:prstGeom>
          <a:noFill/>
        </p:spPr>
        <p:txBody>
          <a:bodyPr wrap="square">
            <a:spAutoFit/>
          </a:bodyPr>
          <a:lstStyle/>
          <a:p>
            <a:pPr>
              <a:defRPr sz="2400" b="1">
                <a:solidFill>
                  <a:srgbClr val="0F172A"/>
                </a:solidFill>
                <a:latin typeface="Arial"/>
              </a:defRPr>
            </a:pPr>
            <a:r>
              <a:t>Blueprint: End-to-End Orchestration &amp; Guardrail Sequence</a:t>
            </a:r>
          </a:p>
        </p:txBody>
      </p:sp>
      <p:sp>
        <p:nvSpPr>
          <p:cNvPr id="4" name="Rounded Rectangle 3"/>
          <p:cNvSpPr/>
          <p:nvPr/>
        </p:nvSpPr>
        <p:spPr>
          <a:xfrm>
            <a:off x="731520" y="1588770"/>
            <a:ext cx="1069848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sz="2000"/>
          </a:p>
        </p:txBody>
      </p:sp>
      <p:sp>
        <p:nvSpPr>
          <p:cNvPr id="5" name="TextBox 4"/>
          <p:cNvSpPr txBox="1"/>
          <p:nvPr/>
        </p:nvSpPr>
        <p:spPr>
          <a:xfrm>
            <a:off x="914400" y="1680210"/>
            <a:ext cx="10332720" cy="728405"/>
          </a:xfrm>
          <a:prstGeom prst="rect">
            <a:avLst/>
          </a:prstGeom>
          <a:noFill/>
        </p:spPr>
        <p:txBody>
          <a:bodyPr wrap="square">
            <a:spAutoFit/>
          </a:bodyPr>
          <a:lstStyle/>
          <a:p>
            <a:pPr>
              <a:spcAft>
                <a:spcPts val="400"/>
              </a:spcAft>
              <a:defRPr sz="1200" b="1">
                <a:solidFill>
                  <a:srgbClr val="2B6CB0"/>
                </a:solidFill>
                <a:latin typeface="Arial"/>
              </a:defRPr>
            </a:pPr>
            <a:r>
              <a:rPr sz="1400" dirty="0"/>
              <a:t>STEP 1: BPMN Initiation &amp; Registry Lookup</a:t>
            </a:r>
          </a:p>
          <a:p>
            <a:pPr>
              <a:spcAft>
                <a:spcPts val="200"/>
              </a:spcAft>
              <a:defRPr sz="1000" b="0">
                <a:solidFill>
                  <a:srgbClr val="334155"/>
                </a:solidFill>
                <a:latin typeface="Arial"/>
              </a:defRPr>
            </a:pPr>
            <a:r>
              <a:rPr sz="1200" dirty="0"/>
              <a:t>Camunda kicks off the process -&gt; Resolves agent endpoint dynamically by searching the Agent Registry via the secure </a:t>
            </a:r>
            <a:r>
              <a:rPr sz="1200" dirty="0" err="1"/>
              <a:t>Dapr</a:t>
            </a:r>
            <a:r>
              <a:rPr sz="1200" dirty="0"/>
              <a:t> interface -&gt; Verifies cryptographically signed Agent Card properties.</a:t>
            </a:r>
          </a:p>
        </p:txBody>
      </p:sp>
      <p:sp>
        <p:nvSpPr>
          <p:cNvPr id="6" name="Rounded Rectangle 5"/>
          <p:cNvSpPr/>
          <p:nvPr/>
        </p:nvSpPr>
        <p:spPr>
          <a:xfrm>
            <a:off x="731520" y="2777490"/>
            <a:ext cx="1069848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sz="2000"/>
          </a:p>
        </p:txBody>
      </p:sp>
      <p:sp>
        <p:nvSpPr>
          <p:cNvPr id="7" name="TextBox 6"/>
          <p:cNvSpPr txBox="1"/>
          <p:nvPr/>
        </p:nvSpPr>
        <p:spPr>
          <a:xfrm>
            <a:off x="914400" y="2868930"/>
            <a:ext cx="10332720" cy="728405"/>
          </a:xfrm>
          <a:prstGeom prst="rect">
            <a:avLst/>
          </a:prstGeom>
          <a:noFill/>
        </p:spPr>
        <p:txBody>
          <a:bodyPr wrap="square">
            <a:spAutoFit/>
          </a:bodyPr>
          <a:lstStyle/>
          <a:p>
            <a:pPr>
              <a:spcAft>
                <a:spcPts val="400"/>
              </a:spcAft>
              <a:defRPr sz="1200" b="1">
                <a:solidFill>
                  <a:srgbClr val="2B6CB0"/>
                </a:solidFill>
                <a:latin typeface="Arial"/>
              </a:defRPr>
            </a:pPr>
            <a:r>
              <a:rPr sz="1400" dirty="0"/>
              <a:t>STEP 2: Execution &amp; MCP Payload Interception</a:t>
            </a:r>
          </a:p>
          <a:p>
            <a:pPr>
              <a:spcAft>
                <a:spcPts val="200"/>
              </a:spcAft>
              <a:defRPr sz="1000" b="0">
                <a:solidFill>
                  <a:srgbClr val="334155"/>
                </a:solidFill>
                <a:latin typeface="Arial"/>
              </a:defRPr>
            </a:pPr>
            <a:r>
              <a:rPr sz="1200" dirty="0"/>
              <a:t>Camunda pushes process tokens via </a:t>
            </a:r>
            <a:r>
              <a:rPr sz="1200" dirty="0" err="1"/>
              <a:t>Dapr</a:t>
            </a:r>
            <a:r>
              <a:rPr sz="1200" dirty="0"/>
              <a:t> to the MCP proxy -&gt; MCP Gateway translates calls to standard JSON-RPC packets -&gt; Intercepts payloads for strict validation and prompt injection checks.</a:t>
            </a:r>
          </a:p>
        </p:txBody>
      </p:sp>
      <p:sp>
        <p:nvSpPr>
          <p:cNvPr id="8" name="Rounded Rectangle 7"/>
          <p:cNvSpPr/>
          <p:nvPr/>
        </p:nvSpPr>
        <p:spPr>
          <a:xfrm>
            <a:off x="731520" y="3966210"/>
            <a:ext cx="1069848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sz="2000"/>
          </a:p>
        </p:txBody>
      </p:sp>
      <p:sp>
        <p:nvSpPr>
          <p:cNvPr id="9" name="TextBox 8"/>
          <p:cNvSpPr txBox="1"/>
          <p:nvPr/>
        </p:nvSpPr>
        <p:spPr>
          <a:xfrm>
            <a:off x="914400" y="4057650"/>
            <a:ext cx="10332720" cy="728405"/>
          </a:xfrm>
          <a:prstGeom prst="rect">
            <a:avLst/>
          </a:prstGeom>
          <a:noFill/>
        </p:spPr>
        <p:txBody>
          <a:bodyPr wrap="square">
            <a:spAutoFit/>
          </a:bodyPr>
          <a:lstStyle/>
          <a:p>
            <a:pPr>
              <a:spcAft>
                <a:spcPts val="400"/>
              </a:spcAft>
              <a:defRPr sz="1200" b="1">
                <a:solidFill>
                  <a:srgbClr val="0D9488"/>
                </a:solidFill>
                <a:latin typeface="Arial"/>
              </a:defRPr>
            </a:pPr>
            <a:r>
              <a:rPr sz="1400" dirty="0"/>
              <a:t>STEP 3: Sandboxed Action &amp; Audit Logging</a:t>
            </a:r>
          </a:p>
          <a:p>
            <a:pPr>
              <a:spcAft>
                <a:spcPts val="200"/>
              </a:spcAft>
              <a:defRPr sz="1000" b="0">
                <a:solidFill>
                  <a:srgbClr val="334155"/>
                </a:solidFill>
                <a:latin typeface="Arial"/>
              </a:defRPr>
            </a:pPr>
            <a:r>
              <a:rPr sz="1200" dirty="0"/>
              <a:t>The validated agent runs its execution loop inside an isolated </a:t>
            </a:r>
            <a:r>
              <a:rPr sz="1200" dirty="0" err="1"/>
              <a:t>gVisor</a:t>
            </a:r>
            <a:r>
              <a:rPr sz="1200" dirty="0"/>
              <a:t> sandbox container -&gt; Generates complete JSON execution logs and registers SHA-256 lineage metadata directly into compliance ledger.</a:t>
            </a:r>
          </a:p>
        </p:txBody>
      </p:sp>
      <p:sp>
        <p:nvSpPr>
          <p:cNvPr id="10" name="Rounded Rectangle 9"/>
          <p:cNvSpPr/>
          <p:nvPr/>
        </p:nvSpPr>
        <p:spPr>
          <a:xfrm>
            <a:off x="731520" y="5154930"/>
            <a:ext cx="1069848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sz="2000"/>
          </a:p>
        </p:txBody>
      </p:sp>
      <p:sp>
        <p:nvSpPr>
          <p:cNvPr id="11" name="TextBox 10"/>
          <p:cNvSpPr txBox="1"/>
          <p:nvPr/>
        </p:nvSpPr>
        <p:spPr>
          <a:xfrm>
            <a:off x="914400" y="5246370"/>
            <a:ext cx="10332720" cy="728405"/>
          </a:xfrm>
          <a:prstGeom prst="rect">
            <a:avLst/>
          </a:prstGeom>
          <a:noFill/>
        </p:spPr>
        <p:txBody>
          <a:bodyPr wrap="square">
            <a:spAutoFit/>
          </a:bodyPr>
          <a:lstStyle/>
          <a:p>
            <a:pPr>
              <a:spcAft>
                <a:spcPts val="400"/>
              </a:spcAft>
              <a:defRPr sz="1200" b="1">
                <a:solidFill>
                  <a:srgbClr val="0F172A"/>
                </a:solidFill>
                <a:latin typeface="Arial"/>
              </a:defRPr>
            </a:pPr>
            <a:r>
              <a:rPr sz="1400" dirty="0"/>
              <a:t>STEP 4: Governance GATEWAY Evaluation</a:t>
            </a:r>
          </a:p>
          <a:p>
            <a:pPr>
              <a:spcAft>
                <a:spcPts val="200"/>
              </a:spcAft>
              <a:defRPr sz="1000" b="0">
                <a:solidFill>
                  <a:srgbClr val="334155"/>
                </a:solidFill>
                <a:latin typeface="Arial"/>
              </a:defRPr>
            </a:pPr>
            <a:r>
              <a:rPr sz="1200" dirty="0"/>
              <a:t>BPMN engine evaluates outputs -&gt; Triggers auto-execution for verified safe paths, or pauses the process to assign a human evaluation task on the Camunda UI dashboard if risk parameters are breached.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0D9488"/>
                </a:solidFill>
                <a:latin typeface="Arial"/>
              </a:defRPr>
            </a:pPr>
            <a:r>
              <a:t>07. THE ROADMAP</a:t>
            </a:r>
          </a:p>
        </p:txBody>
      </p:sp>
      <p:sp>
        <p:nvSpPr>
          <p:cNvPr id="3" name="TextBox 2"/>
          <p:cNvSpPr txBox="1"/>
          <p:nvPr/>
        </p:nvSpPr>
        <p:spPr>
          <a:xfrm>
            <a:off x="731520" y="548640"/>
            <a:ext cx="10698480" cy="731520"/>
          </a:xfrm>
          <a:prstGeom prst="rect">
            <a:avLst/>
          </a:prstGeom>
          <a:noFill/>
        </p:spPr>
        <p:txBody>
          <a:bodyPr wrap="square">
            <a:spAutoFit/>
          </a:bodyPr>
          <a:lstStyle/>
          <a:p>
            <a:pPr>
              <a:defRPr sz="2400" b="1">
                <a:solidFill>
                  <a:srgbClr val="0F172A"/>
                </a:solidFill>
                <a:latin typeface="Arial"/>
              </a:defRPr>
            </a:pPr>
            <a:r>
              <a:t>Roadmap: Phased Production Rollout Blueprint</a:t>
            </a:r>
          </a:p>
        </p:txBody>
      </p:sp>
      <p:sp>
        <p:nvSpPr>
          <p:cNvPr id="4" name="Rounded Rectangle 3"/>
          <p:cNvSpPr/>
          <p:nvPr/>
        </p:nvSpPr>
        <p:spPr>
          <a:xfrm>
            <a:off x="731520" y="1645920"/>
            <a:ext cx="32918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5" name="TextBox 4"/>
          <p:cNvSpPr txBox="1"/>
          <p:nvPr/>
        </p:nvSpPr>
        <p:spPr>
          <a:xfrm>
            <a:off x="822960" y="1737360"/>
            <a:ext cx="3108960" cy="3754874"/>
          </a:xfrm>
          <a:prstGeom prst="rect">
            <a:avLst/>
          </a:prstGeom>
          <a:noFill/>
        </p:spPr>
        <p:txBody>
          <a:bodyPr wrap="square">
            <a:spAutoFit/>
          </a:bodyPr>
          <a:lstStyle/>
          <a:p>
            <a:pPr>
              <a:spcAft>
                <a:spcPts val="1000"/>
              </a:spcAft>
              <a:defRPr sz="1300" b="1">
                <a:solidFill>
                  <a:srgbClr val="2B6CB0"/>
                </a:solidFill>
                <a:latin typeface="Arial"/>
              </a:defRPr>
            </a:pPr>
            <a:r>
              <a:rPr lang="en-US" sz="1600" dirty="0"/>
              <a:t>WAVE</a:t>
            </a:r>
            <a:r>
              <a:rPr sz="1600" dirty="0"/>
              <a:t> 1: Product Init</a:t>
            </a:r>
          </a:p>
          <a:p>
            <a:pPr>
              <a:spcAft>
                <a:spcPts val="800"/>
              </a:spcAft>
              <a:defRPr sz="1100" b="1">
                <a:solidFill>
                  <a:srgbClr val="0F172A"/>
                </a:solidFill>
                <a:latin typeface="Arial"/>
              </a:defRPr>
            </a:pPr>
            <a:r>
              <a:rPr sz="1600" dirty="0"/>
              <a:t>Focus on baseline plumbing and isolated agent endpoints:</a:t>
            </a:r>
          </a:p>
          <a:p>
            <a:pPr>
              <a:spcAft>
                <a:spcPts val="600"/>
              </a:spcAft>
              <a:defRPr sz="1100" b="0">
                <a:solidFill>
                  <a:srgbClr val="334155"/>
                </a:solidFill>
                <a:latin typeface="Arial"/>
              </a:defRPr>
            </a:pPr>
            <a:r>
              <a:rPr sz="1600" dirty="0"/>
              <a:t>• Integrate MCP </a:t>
            </a:r>
            <a:r>
              <a:rPr sz="1600" dirty="0" err="1"/>
              <a:t>stdio</a:t>
            </a:r>
            <a:r>
              <a:rPr lang="en-US" sz="1600" dirty="0"/>
              <a:t>/stream</a:t>
            </a:r>
            <a:r>
              <a:rPr sz="1600" dirty="0"/>
              <a:t> connections locally inside developer sandboxes.</a:t>
            </a:r>
          </a:p>
          <a:p>
            <a:pPr>
              <a:spcAft>
                <a:spcPts val="600"/>
              </a:spcAft>
              <a:defRPr sz="1100" b="0">
                <a:solidFill>
                  <a:srgbClr val="334155"/>
                </a:solidFill>
                <a:latin typeface="Arial"/>
              </a:defRPr>
            </a:pPr>
            <a:r>
              <a:rPr sz="1600" dirty="0"/>
              <a:t>• Enforce basic JSON-schema schema check tasks inside </a:t>
            </a:r>
            <a:r>
              <a:rPr lang="en-US" sz="1600" dirty="0"/>
              <a:t>Cohere &amp; Pega</a:t>
            </a:r>
            <a:r>
              <a:rPr sz="1600" dirty="0"/>
              <a:t>.</a:t>
            </a:r>
          </a:p>
          <a:p>
            <a:pPr>
              <a:spcAft>
                <a:spcPts val="600"/>
              </a:spcAft>
              <a:defRPr sz="1100" b="0">
                <a:solidFill>
                  <a:srgbClr val="334155"/>
                </a:solidFill>
                <a:latin typeface="Arial"/>
              </a:defRPr>
            </a:pPr>
            <a:r>
              <a:rPr sz="1600" dirty="0"/>
              <a:t>• Build initial Agent Cards mapping scopes and schemas.</a:t>
            </a:r>
          </a:p>
          <a:p>
            <a:pPr>
              <a:spcAft>
                <a:spcPts val="600"/>
              </a:spcAft>
              <a:defRPr sz="1100" b="0">
                <a:solidFill>
                  <a:srgbClr val="334155"/>
                </a:solidFill>
                <a:latin typeface="Arial"/>
              </a:defRPr>
            </a:pPr>
            <a:r>
              <a:rPr sz="1600" dirty="0"/>
              <a:t>• Capture standard transaction logging to persistent drives.</a:t>
            </a:r>
          </a:p>
        </p:txBody>
      </p:sp>
      <p:sp>
        <p:nvSpPr>
          <p:cNvPr id="6" name="Rounded Rectangle 5"/>
          <p:cNvSpPr/>
          <p:nvPr/>
        </p:nvSpPr>
        <p:spPr>
          <a:xfrm>
            <a:off x="4389120" y="1645920"/>
            <a:ext cx="32918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7" name="TextBox 6"/>
          <p:cNvSpPr txBox="1"/>
          <p:nvPr/>
        </p:nvSpPr>
        <p:spPr>
          <a:xfrm>
            <a:off x="4480560" y="1737360"/>
            <a:ext cx="3108960" cy="4493538"/>
          </a:xfrm>
          <a:prstGeom prst="rect">
            <a:avLst/>
          </a:prstGeom>
          <a:noFill/>
        </p:spPr>
        <p:txBody>
          <a:bodyPr wrap="square">
            <a:spAutoFit/>
          </a:bodyPr>
          <a:lstStyle/>
          <a:p>
            <a:pPr>
              <a:spcAft>
                <a:spcPts val="1000"/>
              </a:spcAft>
              <a:defRPr sz="1300" b="1">
                <a:solidFill>
                  <a:srgbClr val="0D9488"/>
                </a:solidFill>
                <a:latin typeface="Arial"/>
              </a:defRPr>
            </a:pPr>
            <a:r>
              <a:rPr lang="en-US" sz="1600" dirty="0"/>
              <a:t>WAVE</a:t>
            </a:r>
            <a:r>
              <a:rPr sz="1600" dirty="0"/>
              <a:t> 2: Program Standard</a:t>
            </a:r>
          </a:p>
          <a:p>
            <a:pPr>
              <a:spcAft>
                <a:spcPts val="800"/>
              </a:spcAft>
              <a:defRPr sz="1100" b="1">
                <a:solidFill>
                  <a:srgbClr val="0F172A"/>
                </a:solidFill>
                <a:latin typeface="Arial"/>
              </a:defRPr>
            </a:pPr>
            <a:r>
              <a:rPr sz="1600" dirty="0"/>
              <a:t>Establish core programmatic governance and standard tooling:</a:t>
            </a:r>
          </a:p>
          <a:p>
            <a:pPr>
              <a:spcAft>
                <a:spcPts val="600"/>
              </a:spcAft>
              <a:defRPr sz="1100" b="0">
                <a:solidFill>
                  <a:srgbClr val="334155"/>
                </a:solidFill>
                <a:latin typeface="Arial"/>
              </a:defRPr>
            </a:pPr>
            <a:r>
              <a:rPr sz="1600" dirty="0"/>
              <a:t>• Deploy centralized </a:t>
            </a:r>
            <a:r>
              <a:rPr lang="en-US" sz="1600" dirty="0"/>
              <a:t>Container registry</a:t>
            </a:r>
            <a:r>
              <a:rPr sz="1600" dirty="0"/>
              <a:t>/Envoy sidecar proxies with Mutual TLS.</a:t>
            </a:r>
          </a:p>
          <a:p>
            <a:pPr>
              <a:spcAft>
                <a:spcPts val="600"/>
              </a:spcAft>
              <a:defRPr sz="1100" b="0">
                <a:solidFill>
                  <a:srgbClr val="334155"/>
                </a:solidFill>
                <a:latin typeface="Arial"/>
              </a:defRPr>
            </a:pPr>
            <a:r>
              <a:rPr sz="1600" dirty="0"/>
              <a:t>• Implement dynamic BPMN Risk Escalation user dashboards.</a:t>
            </a:r>
          </a:p>
          <a:p>
            <a:pPr>
              <a:spcAft>
                <a:spcPts val="600"/>
              </a:spcAft>
              <a:defRPr sz="1100" b="0">
                <a:solidFill>
                  <a:srgbClr val="334155"/>
                </a:solidFill>
                <a:latin typeface="Arial"/>
              </a:defRPr>
            </a:pPr>
            <a:r>
              <a:rPr sz="1600" dirty="0"/>
              <a:t>• Set up centralized logging to read-only compliance storage vaults.</a:t>
            </a:r>
          </a:p>
          <a:p>
            <a:pPr>
              <a:spcAft>
                <a:spcPts val="600"/>
              </a:spcAft>
              <a:defRPr sz="1100" b="0">
                <a:solidFill>
                  <a:srgbClr val="334155"/>
                </a:solidFill>
                <a:latin typeface="Arial"/>
              </a:defRPr>
            </a:pPr>
            <a:r>
              <a:rPr sz="1600" dirty="0"/>
              <a:t>• Stand up the central cryptographic Agent Registry Catalog.</a:t>
            </a:r>
          </a:p>
        </p:txBody>
      </p:sp>
      <p:sp>
        <p:nvSpPr>
          <p:cNvPr id="8" name="Rounded Rectangle 7"/>
          <p:cNvSpPr/>
          <p:nvPr/>
        </p:nvSpPr>
        <p:spPr>
          <a:xfrm>
            <a:off x="8046720" y="1645920"/>
            <a:ext cx="32918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137160" tIns="137160" rIns="137160" bIns="137160" rtlCol="0" anchor="ctr"/>
          <a:lstStyle/>
          <a:p>
            <a:pPr algn="ctr"/>
            <a:endParaRPr/>
          </a:p>
        </p:txBody>
      </p:sp>
      <p:sp>
        <p:nvSpPr>
          <p:cNvPr id="9" name="TextBox 8"/>
          <p:cNvSpPr txBox="1"/>
          <p:nvPr/>
        </p:nvSpPr>
        <p:spPr>
          <a:xfrm>
            <a:off x="8138160" y="1737360"/>
            <a:ext cx="3108960" cy="4493538"/>
          </a:xfrm>
          <a:prstGeom prst="rect">
            <a:avLst/>
          </a:prstGeom>
          <a:noFill/>
        </p:spPr>
        <p:txBody>
          <a:bodyPr wrap="square">
            <a:spAutoFit/>
          </a:bodyPr>
          <a:lstStyle/>
          <a:p>
            <a:pPr>
              <a:spcAft>
                <a:spcPts val="1000"/>
              </a:spcAft>
              <a:defRPr sz="1300" b="1">
                <a:solidFill>
                  <a:srgbClr val="0F172A"/>
                </a:solidFill>
                <a:latin typeface="Arial"/>
              </a:defRPr>
            </a:pPr>
            <a:r>
              <a:rPr lang="en-US" sz="1600" dirty="0"/>
              <a:t>WAVE</a:t>
            </a:r>
            <a:r>
              <a:rPr sz="1600" dirty="0"/>
              <a:t> 3: Enterprise Mesh</a:t>
            </a:r>
          </a:p>
          <a:p>
            <a:pPr>
              <a:spcAft>
                <a:spcPts val="800"/>
              </a:spcAft>
              <a:defRPr sz="1100" b="1">
                <a:solidFill>
                  <a:srgbClr val="0F172A"/>
                </a:solidFill>
                <a:latin typeface="Arial"/>
              </a:defRPr>
            </a:pPr>
            <a:r>
              <a:rPr sz="1600" dirty="0"/>
              <a:t>Scale up to a unified, self-auditing zero-trust agent mesh:</a:t>
            </a:r>
          </a:p>
          <a:p>
            <a:pPr>
              <a:spcAft>
                <a:spcPts val="600"/>
              </a:spcAft>
              <a:defRPr sz="1100" b="0">
                <a:solidFill>
                  <a:srgbClr val="334155"/>
                </a:solidFill>
                <a:latin typeface="Arial"/>
              </a:defRPr>
            </a:pPr>
            <a:r>
              <a:rPr sz="1600" dirty="0"/>
              <a:t>• Transition Registry catalog to the upcoming Open Agent Specification.</a:t>
            </a:r>
          </a:p>
          <a:p>
            <a:pPr>
              <a:spcAft>
                <a:spcPts val="600"/>
              </a:spcAft>
              <a:defRPr sz="1100" b="0">
                <a:solidFill>
                  <a:srgbClr val="334155"/>
                </a:solidFill>
                <a:latin typeface="Arial"/>
              </a:defRPr>
            </a:pPr>
            <a:r>
              <a:rPr sz="1600" dirty="0"/>
              <a:t>• Enforce unprivileged </a:t>
            </a:r>
            <a:r>
              <a:rPr sz="1600" dirty="0" err="1"/>
              <a:t>microVM</a:t>
            </a:r>
            <a:r>
              <a:rPr sz="1600" dirty="0"/>
              <a:t>/</a:t>
            </a:r>
            <a:r>
              <a:rPr lang="en-US" sz="1600" dirty="0"/>
              <a:t>firecracker</a:t>
            </a:r>
            <a:r>
              <a:rPr sz="1600" dirty="0"/>
              <a:t> sandboxing in production environments.</a:t>
            </a:r>
          </a:p>
          <a:p>
            <a:pPr>
              <a:spcAft>
                <a:spcPts val="600"/>
              </a:spcAft>
              <a:defRPr sz="1100" b="0">
                <a:solidFill>
                  <a:srgbClr val="334155"/>
                </a:solidFill>
                <a:latin typeface="Arial"/>
              </a:defRPr>
            </a:pPr>
            <a:r>
              <a:rPr sz="1600" dirty="0"/>
              <a:t>• Deploy real-time network anomaly alerts and automatic egress containment.</a:t>
            </a:r>
          </a:p>
          <a:p>
            <a:pPr>
              <a:spcAft>
                <a:spcPts val="600"/>
              </a:spcAft>
              <a:defRPr sz="1100" b="0">
                <a:solidFill>
                  <a:srgbClr val="334155"/>
                </a:solidFill>
                <a:latin typeface="Arial"/>
              </a:defRPr>
            </a:pPr>
            <a:r>
              <a:rPr sz="1600" dirty="0"/>
              <a:t>• Scale BPMN workflows across globally distributed cloud infrastructure.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TotalTime>
  <Words>2581</Words>
  <Application>Microsoft Macintosh PowerPoint</Application>
  <PresentationFormat>Widescreen</PresentationFormat>
  <Paragraphs>168</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ram baswa</cp:lastModifiedBy>
  <cp:revision>2</cp:revision>
  <dcterms:created xsi:type="dcterms:W3CDTF">2013-01-27T09:14:16Z</dcterms:created>
  <dcterms:modified xsi:type="dcterms:W3CDTF">2026-07-16T02:41:50Z</dcterms:modified>
  <cp:category/>
</cp:coreProperties>
</file>