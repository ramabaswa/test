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100584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08392" y="1371600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068312" y="1737360"/>
            <a:ext cx="4572000" cy="292608"/>
          </a:xfrm>
          <a:prstGeom prst="roundRect">
            <a:avLst>
              <a:gd name="adj" fmla="val 50000"/>
            </a:avLst>
          </a:prstGeom>
          <a:solidFill>
            <a:srgbClr val="E8A33D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BRIEFING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UI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guide to AG-UI, A2UI, MCP Apps (MCP-UI), and WebMCP —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when to use each, and how they change your SDLC.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580644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618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generative UI actually means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buzzword — and the one distinction that matters most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3957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map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AG-UI, A2UI, MCP Apps, and WebMCP relate to each other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3172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protocols, one page each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5204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one solves, who's behind it, and its current maturity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93192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9502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297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decision framework mapped to real business scenarios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7091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47274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&amp; testing 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50749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build, test, and governance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4864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71600" y="55046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of overcomplicating it — and the recommended path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8521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start, and where to hold back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UI, in plain English?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interface that assembles itself around what the user is trying to do right now — instead of asking every user to learn one fixed set of menus, forms, and dashboards.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82512" y="233172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SOFTWARE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for everyone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383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sees the same menus and dashboards, regardless of skill or intent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0416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0416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either overwhelm new users with every feature, or hide power features too deep to find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70001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70001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more use cases means more screens, more modes, more maintenance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02552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02552" y="289864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Adapts to the moment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702552" y="33832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76872" y="3383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user's request (or context) determines which UI pieces appear, in what order, pre-filled with what data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02552" y="4041648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76872" y="40416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is revealed progressively — a novice gets a simple result, an expert can still drill 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02552" y="470001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70001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build the components once; the AI does the assembling, not the coding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important distinction before we go further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“Generative UI” gets used for two very different techniques. Every protocol in this briefing uses the second 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5C6B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67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5877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code from scratch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37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writes new HTML/JS on the fly for each request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1148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unreliable — a malformed tag or a hallucinated field breaks the page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892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brand, hard to secure, hard to test at enterprise scale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82512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02552" y="2286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702552" y="2267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34072" y="2331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 —  what this briefing covers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34072" y="25877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pre-built components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02552" y="333756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33375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build a tested library of components once (a chart, a form, a picker)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02552" y="41148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76872" y="41148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chooses which components to use and how to configure them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02552" y="4892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</a:rPr>
              <a:t>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76872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on-brand, and governable — the AI can never render anything you haven't approved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protocols, four different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not competitors — most stacks combine two or three of these, each solving a different layer of the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057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AG-UI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114800" y="205740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live agent backend, your application, and the user in sync in real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64040" y="2103120"/>
            <a:ext cx="0" cy="64008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46920" y="205740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product YOU build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21868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12724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A2UI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114800" y="3127248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 agent describe what UI to show as portable, declarative data — your app renders it with your own components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64040" y="3172968"/>
            <a:ext cx="0" cy="64008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3127248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client, your design system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05656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4288536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197096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Apps (MCP-UI)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114800" y="4197096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tool return an interactive widget shown inside an AI assistant's chat surface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64040" y="4242816"/>
            <a:ext cx="0" cy="64008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46920" y="4197096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 assistants you don't own (Claude, ChatGPT, ...)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175504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5358384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3400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8760" y="526694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WebMCP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114800" y="5266944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your website declare tools so a visiting browser agent can act on it reliably, instead of guessing at buttons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64040" y="5312664"/>
            <a:ext cx="0" cy="64008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5266944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website, used by an outside agent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4663440"/>
        </p:xfrm>
        <a:graphic>
          <a:graphicData uri="http://schemas.openxmlformats.org/drawingml/2006/table">
            <a:tbl>
              <a:tblPr/>
              <a:tblGrid>
                <a:gridCol w="1554480"/>
                <a:gridCol w="2606040"/>
                <a:gridCol w="4828032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(mid-2026)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AG-UI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CopilotKit + open community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event stream (messages, tool calls, state) between agent and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Widely adopted; SDKs in 5+ languages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(open project)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JSON “intent” for UI; client renders with its own trusted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(v0.9); active multi-vendor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(MCP-UI)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+ OpenAI + MCP-UI community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tools return interactive, sandboxed widgets instead of plain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production across major AI assistants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WebMCP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/ W3C community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Websites declare callable tools so browser agents act reliably instead of clicking blindly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Experimental; Chrome origin trial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DEEP DIVE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AG-UI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Agent–User Interaction Protocol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live phone line between your app's agent and its front end — every word, tool call, and state change streams both ways instantly.”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BEHIND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at CopilotKit; now an open, community-governed protocol with partner integrations from LangGraph, CrewAI, Google's ADK, Microsoft's Agent Framework, and others.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36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adopted open standard; SDKs for TypeScript, Python, Kotlin, Java, and Go; millions of weekly agent-user interactions across adopters.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SIMPLY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66544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928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sends the agent a request, then listens to a live stream of structured events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724912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511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cover messages, tool calls, state updates, and lifecycle signals — no custom protocol per agent framework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100584" cy="1005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095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virtually any backend agent framework (LangGraph, Mastra, CrewAI, custom code)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4123944"/>
            <a:ext cx="6949440" cy="1591056"/>
          </a:xfrm>
          <a:prstGeom prst="roundRect">
            <a:avLst>
              <a:gd name="adj" fmla="val 459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432511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626864"/>
            <a:ext cx="6309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building their own product with an embedded AI copilot, who need the UI to stay perfectly in sync with a fast-moving agent — e.g. a co-working assistant, live dashboard, or collaborative workspace.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DEEP DIVE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A2UI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Agent-to-UI — a declarative generative-UI specification from Google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universal blueprint the agent hands your app — your app decides how to actually build it, using bricks it already trusts.”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BEHIND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Google as an open project; design partners include CopilotKit; renderers exist for React, Angular, Flutter, and Lit; AG2 (AutoGen) ships a native integration.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36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(v0.9) but moving fast — the underlying philosophy, schema, and transport all changed materially between v0.8 and v0.9. Expect continued evolution.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SIMPLY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66544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928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sends code — only a JSON description of components, their properties, and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724912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511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client only renders components from its own pre-approved catalog, which keeps agents from injecting arbitrary UI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100584" cy="1005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095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payload can render natively across web, mobile, and desktop — no per-platform rebuild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4123944"/>
            <a:ext cx="6949440" cy="1591056"/>
          </a:xfrm>
          <a:prstGeom prst="roundRect">
            <a:avLst>
              <a:gd name="adj" fmla="val 459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432511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626864"/>
            <a:ext cx="6309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need one agent-generated experience to render consistently across several first-party surfaces (web, mobile app, desktop) while staying strictly inside their own design system.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DEEP DIVE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Apps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MCP-UI — an open extension to the Model Context Protocol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app store aisle inside your AI assistant — a tool call can hand back a real, clickable mini-app instead of a wall of text.”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BEHIND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developed by Anthropic, OpenAI, and the MCP-UI open-source project, in collaboration with the broader MCP community.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36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today: supported in Claude, ChatGPT, VS Code, and Goose, with launch integrations spanning analytics, project management, design, and communication tools.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SIMPLY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66544"/>
            <a:ext cx="100584" cy="1005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928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tool declares a UI resource; the host renders it in a sandboxed iframe inside the chat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724912"/>
            <a:ext cx="100584" cy="1005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511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runs visibly, so users can see and trust exactly what the tool is doing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100584" cy="10058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095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protections: iframe sandboxing, pre-declared templates, auditable messages, and explicit user consent for sensitive actions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4123944"/>
            <a:ext cx="6949440" cy="1591056"/>
          </a:xfrm>
          <a:prstGeom prst="roundRect">
            <a:avLst>
              <a:gd name="adj" fmla="val 459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432511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626864"/>
            <a:ext cx="6309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that want their product's capability to appear as a rich, interactive experience directly inside AI assistants their customers already use — without building or maintaining their own chat client.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DEEP DIVE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566928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WebMCP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914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web standard from the Chrome / W3C WebMachineLearning group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4552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“Instead of an agent fumbling with your website's buttons like a stranger, your site hands it clear labeled instructions for exactly what to do.”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56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BEHIND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Incubated by the Chrome team as a proposed web standard; open specification on GitHub under the WebMachineLearning community group; experimental support already in Angular.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3474720" cy="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36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— available via a Chrome flag for local development and an origin trial from Chrome 149. Subject to change before standardization.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691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SIMPLY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066544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928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site registers tools (e.g. “checkout”, “filter_results”) with explicit inputs and outputs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724912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5511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reverse direction from the other three: here, the agent is a visitor acting on YOUR existing site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100584" cy="1005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2095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than an agent guessing at buttons and forms — and it keeps your human-designed interface intact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4123944"/>
            <a:ext cx="6949440" cy="1591056"/>
          </a:xfrm>
          <a:prstGeom prst="roundRect">
            <a:avLst>
              <a:gd name="adj" fmla="val 4598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4325112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626864"/>
            <a:ext cx="630936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organization with a public-facing website who wants AI browser agents (shopping assistants, travel bookers, support copilots) to complete tasks on that site accurately — without giving up their UI to a third party.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DECISION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what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business scenario, not the protocol name.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109728" cy="9601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building your own product with an embedded AI copilot, and need the UI to stay perfectly in sync with the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58200" y="2057400"/>
            <a:ext cx="0" cy="68580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1080" y="20482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AG-UI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41080" y="24505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live connection layer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109728" cy="9601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0896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same copilot needs to render consistently across web, mobile, and desktop using your existing design system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58200" y="3154680"/>
            <a:ext cx="0" cy="68580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314553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A2UI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1080" y="3547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portable UI description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4114800"/>
            <a:ext cx="109728" cy="96012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0624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your capability to appear as an interactive card inside Claude, ChatGPT, or other AI assistants you don't own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58200" y="4251960"/>
            <a:ext cx="0" cy="68580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424281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Apps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41080" y="46451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(MCP-UI)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5212080"/>
            <a:ext cx="109728" cy="960120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30352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outside AI browser agents to reliably complete tasks on your own public website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58200" y="5349240"/>
            <a:ext cx="0" cy="685800"/>
          </a:xfrm>
          <a:prstGeom prst="line">
            <a:avLst/>
          </a:prstGeom>
          <a:noFill/>
          <a:ln w="12700">
            <a:solidFill>
              <a:srgbClr val="E3E8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41080" y="534009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WebMCP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641080" y="57424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site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SDLC &amp;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in your development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no longer deterministic, so the lifecycle needs new checkpoints — not a new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65960"/>
            <a:ext cx="2697480" cy="128016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585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7157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5800" y="3172968"/>
            <a:ext cx="22402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 become the trust boundary. Agents may only assemble from a pre-approved component catalog — governance shifts from reviewing screens to curating the catalog.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965960"/>
            <a:ext cx="2697480" cy="128016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2585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7157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20440" y="3172968"/>
            <a:ext cx="22402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build and test each component once. Fewer branching “beginner / advanced” modes to hand-maintain, but every component needs a typed contract (props, schema) the AI can call reliably.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965960"/>
            <a:ext cx="2697480" cy="128016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2585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27157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355080" y="3172968"/>
            <a:ext cx="22402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pixel-diff and scripted UI tests aren't enough. Add: deterministic checks (did the agent call the right tool?) and model-graded evals (screenshot the rendered UI, have a model verify it matches intent).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196596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6F8FA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0" y="1965960"/>
            <a:ext cx="2697480" cy="128016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189720" y="22585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89720" y="2715768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Govern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89720" y="3172968"/>
            <a:ext cx="224028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controls: iframe/sandbox isolation, explicit user consent for sensitive actions, and capability negotiation so the experience degrades gracefully on hosts that don't support 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to overcomplicate this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genuinely useful — and genuinely easy to over-invest in before it's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B36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671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standards are still moving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7919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these are pre-1.0 (A2UI is at v0.9; WebMCP is an origin trial). Architecture decisions made today should assume the specifics will change.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B3670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6712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protocols is not more value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267919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business value comes from making ONE high-friction workflow generative — not from adopting every acronym in this deck.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B367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31596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catalogs beat raw code generation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82803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protocol here, the agent chooses from your trusted, tested components. That governance boundary matters more than any single feature.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2B3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4315968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reach for this to fix a problem a simple form already solves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4828032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protocols solve the specific pain of a conversation hitting a “wall of text.” If a static screen already works well, it doesn't need to become generative.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GUARDRAILS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path forward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20240" y="16642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workflow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66360" y="160020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workflow that already dead-ends in a wall of text or an unreachable dashboard. If your teams already use Claude or ChatGPT enterprise-wide, prototype a single MCP App there first — lowest lift, fastest feedback.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51560" y="2743200"/>
            <a:ext cx="0" cy="137160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80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0240" y="28529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trust boundary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66360" y="27889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governed component catalog / design system. This becomes the one thing every agent-driven UI — regardless of protocol — is allowed to draw from.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3931920"/>
            <a:ext cx="0" cy="137160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6908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69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20240" y="40416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evaluation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66360" y="39776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broad rollout, build a testing pipeline that combines deterministic checks (correct tool called) with model-graded, screenshot-based review of the rendered UI.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1560" y="5120640"/>
            <a:ext cx="0" cy="137160"/>
          </a:xfrm>
          <a:prstGeom prst="line">
            <a:avLst/>
          </a:prstGeom>
          <a:noFill/>
          <a:ln w="25400">
            <a:solidFill>
              <a:srgbClr val="E3E8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525780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257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52303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Track, don't chase, standards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516636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small working group watching AG-UI, A2UI, MCP Apps, and WebMCP. Adopt a new one only when a concrete workflow need justifies 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847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647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UI, in production, means component assembly — not code generation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7614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6791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protocols solve four different layers: AG-UI (live connection), A2UI (portable description), MCP Apps (widgets inside AI assistants), WebMCP (agents using your website)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67588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5935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still maturing in 2026 — match the pattern to a concrete need, don't adopt on hype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45902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5079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must add model-graded, screenshot-based evaluation alongside deterministic tool-call checks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8ED"/>
            </a:solidFill>
            <a:prstDash val="solid"/>
          </a:ln>
          <a:effectLst>
            <a:outerShdw sx="100000" sy="100000" kx="0" ky="0" algn="bl" rotWithShape="0" blurRad="101600" dist="25400" dir="5400000">
              <a:srgbClr val="8391A5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" y="55046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54223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small: one workflow, one governed component catalog, one evaluation pipeline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 — Enterprise Architecture Briefing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20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 |  Generative UI Briefing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2026-07-31T06:41:20Z</dcterms:created>
  <dcterms:modified xsi:type="dcterms:W3CDTF">2026-07-31T06:41:20Z</dcterms:modified>
</cp:coreProperties>
</file>