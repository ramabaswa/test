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86751"/>
  </p:normalViewPr>
  <p:slideViewPr>
    <p:cSldViewPr snapToGrid="0" snapToObjects="1">
      <p:cViewPr varScale="1">
        <p:scale>
          <a:sx n="225" d="100"/>
          <a:sy n="225" d="100"/>
        </p:scale>
        <p:origin x="184" y="3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7376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corrects and sharpens the earlier technical deck: MCP Mesh is an application-layer pattern, not a network-layer service mesh like Istio. Frame it that way from slide one so expectations are set correctly for the room.</a:t>
            </a:r>
            <a:br>
              <a:rPr lang="en-US" dirty="0"/>
            </a:b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"Today I want to clear up something that's been causing confusion across our agentic AI work: MCP Mesh, MCP Registry, and MCP Gateway. We've used these terms loosely, and I want to give us a shared, accurate mental model — including a correction to how I described mesh in an earlier session. 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the end, we'll know when to use which, and how they fit together in our architecture."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at the business-cost level, not the technical level - the next slides handle mechanism. The point landing here is: agent sprawl without a connectivity pattern means each new agent makes the next one harder to ship, the opposite of what we want from an AI platform investment.</a:t>
            </a:r>
            <a:br>
              <a:rPr lang="en-US" dirty="0"/>
            </a:b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"Here's the business problem before we get into definitions. Right now we're running a handful of pilot agents — claims, eligibility, prior auth. That feels manageable. But the cost of point-to-point integration doesn't grow linearly with agent count — it grows quadratically. Ten agents calling each other directly is potentially 90 hand-wired connections. We already felt this hand-building 50-plus config files for just 5 agents. And we have zero cross-agent audit trail today. The risk isn't theoretical — without a connectivity pattern, every new agent we ship makes the 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next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one slower to ship, which is the opposite of what we want from this investment."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correction from the earlier deck. MCP Mesh is not Istio for agents - there's no sidecar, no transparent traffic interception. It's a code-level pattern: import a library, decorate your functions, and the registry + proxies handle discovery and resilience. That means adoption is a code dependency across our agent codebases, not a Kubernetes infrastructure rollout.</a:t>
            </a:r>
            <a:br>
              <a:rPr lang="en-US" dirty="0"/>
            </a:b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"This is the slide I want to spend the most time on, because I need to correct something. In an earlier deck, I described MCP Mesh the way you'd describe Istio or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Linkerd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a network-layer service mesh with sidecar proxies. That's not accurate for the specific project we're looking at,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mcp-mesh.ai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classic service mesh runs as infrastructure: a sidecar proxy next to every pod, intercepting traffic transparently, zero code changes, but real CPU and memory cost and a Kubernetes rollout to manage.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MCP Mesh achieves similar 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goals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discovery, resilience, observability — but as a library. You import a package, add a couple of decorators to your Python, Java, or TypeScript code, and a lightweight registry facilitates discovery. Once two agents are connected, they talk directly — the registry isn't proxying every call.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this matters for us: adopting this is a code dependency decision across our agent codebases, not an infrastructure rollout. That changes the conversation with platform engineering."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mechanism executives need to trust the 'no single point of failure in the call path' claim. The registry matters for discovery and health tracking, but a registry outage doesn't take down already-resolved connections between agents.</a:t>
            </a:r>
            <a:br>
              <a:rPr lang="en-US" dirty="0"/>
            </a:b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"Mechanically, here's the loop. An agent declares what it needs by name — not by URL. The registry resolves that to a live, healthy provider right now. It hands back a direct proxy — and steps out of the way. If that provider goes down, the registry notices on the next heartbeat and rewires automatically, no redeploy.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line I'd underline: after step 3, the registry is out of the data path. That's why a registry hiccup doesn't take down already-established connections — it's a discovery service, not a traffic cop."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clean responsibilities, no overlap. The registry never carries traffic; the proxy never makes policy decisions; identity is separable from both. This separation is what lets us reason about and audit the system layer by layer.</a:t>
            </a:r>
            <a:br>
              <a:rPr lang="en-US" dirty="0"/>
            </a:b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"Five responsibilities, and they don't overlap. Registry just tracks who exists and who's healthy. Agents declare their own capabilities and needs. The proxy is the only thing that actually carries a call. Identity and TLS authenticate that call — separately. And observability watches all of it. This separation is what lets us audit and reason about the system layer by layer instead of as one opaque blob."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directly answers the registry-vs-gateway-vs-mesh confusion. They're not competing options - registry and gateway sit on the policy/metadata axis, mesh sits on the connectivity axis. A mature architecture composes them.</a:t>
            </a:r>
            <a:br>
              <a:rPr lang="en-US" dirty="0"/>
            </a:b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"This is the direct answer to 'registry vs. gateway vs. mesh.' They are not three options you pick between — they're not even on the same axis. Registry answers 'what exists.' Gateway answers 'who's allowed, and what happened.' Those are both about policy and metadata. Mesh answers a completely different question: 'how does a call physically get from A to B.' That's connectivity, not policy.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 real-world pattern is composition, not selection: a Gateway — which usually contains a Registry for its catalog — sits at the edge and enforces auth and audit. Mesh handles what happens 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inside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that perimeter, agent to agent."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composed architecture in one picture: Gateway at the edge for anything external or PHI-bearing, with its own Registry for the catalog; Mesh internally for low-risk agent-to-agent traffic; backend systems underneath both. This is the slide to point to when someone asks what this actually looks like end to end.</a:t>
            </a:r>
            <a:br>
              <a:rPr lang="en-US" dirty="0"/>
            </a:b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"Putting it together: anything external, human-facing, or touching PHI comes through the Gateway first — that's our non-negotiable audit and RBAC checkpoint, and it's where a Registry lives for the tool catalog. Once inside that governed perimeter, our claims, eligibility, prior auth, and FWA agents talk to each other directly across the mesh — peer to peer, no proxy bottleneck. Backend systems sit underneath both layers. This is the picture to point to whenever someone asks 'so what does this actually look like.'"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advantages framed for leadership: delivery speed, scaling, cross-language, audit. Concrete, low-risk next step: pilot inside the existing gateway perimeter rather than a wholesale architecture change.</a:t>
            </a:r>
            <a:br>
              <a:rPr lang="en-US" dirty="0"/>
            </a:b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"Bottom line — why this is worth pursuing: faster agent delivery, agents scale independently instead of in lockstep, cross-language support out of the box, and tracing and audit baked in rather than bolted on later.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adopt this specifically when we have 3 or more agents that need to call 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other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not just call tools — when independent scaling matters, or when we want to avoid one proxy sitting in every call's hot path.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ask: let's pilot one low-risk agent on the mesh, inside the gateway-governed perimeter we already operate. Prove the pattern in a contained way before we talk about any broader cutover."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3840480" cy="384048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108960"/>
            <a:ext cx="2377440" cy="237744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2920"/>
            <a:ext cx="566928" cy="566928"/>
          </a:xfrm>
          <a:prstGeom prst="ellipse">
            <a:avLst/>
          </a:prstGeom>
          <a:solidFill>
            <a:srgbClr val="5EC8C2"/>
          </a:solidFill>
          <a:ln/>
        </p:spPr>
      </p:sp>
      <p:pic>
        <p:nvPicPr>
          <p:cNvPr id="5" name="Image 0" descr="/home/claude/mcp-exec-deck/icons/netwo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79" y="63047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5303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  ·  EXECUTIVE BRIEFING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16459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Mesh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502920" y="25603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Application-Layer Connectivity Pattern for</a:t>
            </a:r>
            <a:endParaRPr lang="en-US" sz="1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Generation of Enterprise AI Agents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02920" y="3611880"/>
            <a:ext cx="914400" cy="0"/>
          </a:xfrm>
          <a:prstGeom prst="line">
            <a:avLst/>
          </a:prstGeom>
          <a:noFill/>
          <a:ln w="38100">
            <a:solidFill>
              <a:srgbClr val="E883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3794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When, why, and how to adopt it — how it parallels and differs from a service mesh, a registry, and a gateway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Engineering &amp; Architecture Leadership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Sprawl Is an Operating-Cost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we move from a handful of pilot agents to dozens across claims, eligibility, prior auth, and FWA, the cost of point-to-point integration compounds — not linearly, but quadratically.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260604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222199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8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N²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94360" y="29260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hand-wired connections as agent count grows linearly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4408" y="2057400"/>
            <a:ext cx="260604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01568" y="222199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50+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401568" y="29260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config/deploy files to stand up just 5 agents by hand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71616" y="2057400"/>
            <a:ext cx="260604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08776" y="222199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8B7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208776" y="29260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cross-agent audit trail without purpose-built tracing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0233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risk: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connectivity pattern, every new agent slows down delivery of the next one instead of accelerating it.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Mesh — Executive Briefing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E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Application-Layer Mesh, Not a Network-Layer One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Mesh borrows the goals of a service mesh — discovery, resilience, observability — but achieves them differently. This distinction matters for how we plan adoption.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931920" cy="2331720"/>
          </a:xfrm>
          <a:prstGeom prst="roundRect">
            <a:avLst>
              <a:gd name="adj" fmla="val 2745"/>
            </a:avLst>
          </a:prstGeom>
          <a:solidFill>
            <a:srgbClr val="141B4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762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SERVICE MESH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4505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Istio, Linkerd, Agent Gateway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Sidecar proxy per pod — infrastructure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22783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Intercepts traffic transparently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57530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Zero application code changes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92277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Kubernetes rollout; real CPU/memory cost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011680"/>
            <a:ext cx="3931920" cy="2331720"/>
          </a:xfrm>
          <a:prstGeom prst="roundRect">
            <a:avLst>
              <a:gd name="adj" fmla="val 2745"/>
            </a:avLst>
          </a:prstGeom>
          <a:solidFill>
            <a:srgbClr val="5EC8C2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21762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MESH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4505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mcp-mesh.ai — application layer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8803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Library/SDK — decorators in your code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322783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Registry facilitates; calls go direct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357530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Code dependency, not infra rollout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92277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Python, Java, TypeScript — no K8s required to start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goals — discovery, resilience, observability — achieved in application code instead of network infrastructure.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Mesh — Executive Briefing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 Dynamic Dependency Injection (DDDI)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declare what they need by name. The registry resolves who provides it, right now, and hands back a direct connection — no hardcoded addresses, no manual wiring.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993392"/>
            <a:ext cx="1938528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97864" y="21762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mcp-exec-deck/icons/filecod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734" y="2279142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0352" y="2103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74320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85216" y="3035808"/>
            <a:ext cx="168249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and provider agents each register their capabilities with the registry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414016" y="2930652"/>
            <a:ext cx="109728" cy="0"/>
          </a:xfrm>
          <a:prstGeom prst="line">
            <a:avLst/>
          </a:prstGeom>
          <a:noFill/>
          <a:ln w="22225">
            <a:solidFill>
              <a:srgbClr val="E8836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42032" y="1993392"/>
            <a:ext cx="1938528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82696" y="21762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/home/claude/mcp-exec-deck/icons/sear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5566" y="2279142"/>
            <a:ext cx="251460" cy="2514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15184" y="2103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633472" y="274320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670048" y="3035808"/>
            <a:ext cx="168249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matches the consumer's declared dependency to a live, healthy provider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498848" y="2930652"/>
            <a:ext cx="109728" cy="0"/>
          </a:xfrm>
          <a:prstGeom prst="line">
            <a:avLst/>
          </a:prstGeom>
          <a:noFill/>
          <a:ln w="22225">
            <a:solidFill>
              <a:srgbClr val="E8836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626864" y="1993392"/>
            <a:ext cx="1938528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367528" y="21762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2" descr="/home/claude/mcp-exec-deck/icons/plug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0398" y="2279142"/>
            <a:ext cx="251460" cy="2514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00016" y="2103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718304" y="274320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754880" y="3035808"/>
            <a:ext cx="168249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direct-call proxy is handed to the consumer — the registry steps out of the path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583680" y="2930652"/>
            <a:ext cx="109728" cy="0"/>
          </a:xfrm>
          <a:prstGeom prst="line">
            <a:avLst/>
          </a:prstGeom>
          <a:noFill/>
          <a:ln w="22225">
            <a:solidFill>
              <a:srgbClr val="E8836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711696" y="1993392"/>
            <a:ext cx="1938528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452360" y="21762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3" descr="/home/claude/mcp-exec-deck/icons/sync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5230" y="2279142"/>
            <a:ext cx="251460" cy="2514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784848" y="2103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6803136" y="274320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6839712" y="3035808"/>
            <a:ext cx="168249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provider fails, the registry re-resolves and rewires — automatically, no redeploy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27"/>
          <p:cNvSpPr/>
          <p:nvPr/>
        </p:nvSpPr>
        <p:spPr>
          <a:xfrm>
            <a:off x="640080" y="4069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Critically: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step 3, the registry is out of the data path. It facilitates discovery — it does not proxy every call.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Mesh — Executive Briefing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LAYERS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Responsibilities, Cleanly Separated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2646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mcp-exec-deck/icons/serv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1531620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380744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743200" y="1380744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who exists and who's healthy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029200" y="1380744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capability metadata; resolves dependencies; 30-second heartbeat health checks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" y="2039112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" y="2139696"/>
            <a:ext cx="420624" cy="420624"/>
          </a:xfrm>
          <a:prstGeom prst="ellipse">
            <a:avLst/>
          </a:prstGeom>
          <a:solidFill>
            <a:srgbClr val="8B7FD4"/>
          </a:solidFill>
          <a:ln/>
        </p:spPr>
      </p:sp>
      <p:pic>
        <p:nvPicPr>
          <p:cNvPr id="12" name="Image 1" descr="/home/claude/mcp-exec-deck/icons/cube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" y="2244852"/>
            <a:ext cx="210312" cy="210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2093976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2743200" y="2093976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what it provides and needs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029200" y="2093976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(provides) + dependencies (needs) + tags (for smart selection)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57200" y="2752344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94360" y="2852928"/>
            <a:ext cx="420624" cy="420624"/>
          </a:xfrm>
          <a:prstGeom prst="ellipse">
            <a:avLst/>
          </a:prstGeom>
          <a:solidFill>
            <a:srgbClr val="5EC8C2"/>
          </a:solidFill>
          <a:ln/>
        </p:spPr>
      </p:sp>
      <p:pic>
        <p:nvPicPr>
          <p:cNvPr id="18" name="Image 2" descr="/home/claude/mcp-exec-deck/icons/plug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" y="2958084"/>
            <a:ext cx="210312" cy="2103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2807208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2743200" y="2807208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the actual call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029200" y="2807208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in-process call if local; auto-configured cross-agent call if remote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57200" y="3465576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94360" y="3566160"/>
            <a:ext cx="420624" cy="420624"/>
          </a:xfrm>
          <a:prstGeom prst="ellipse">
            <a:avLst/>
          </a:prstGeom>
          <a:solidFill>
            <a:srgbClr val="E8836B"/>
          </a:solidFill>
          <a:ln/>
        </p:spPr>
      </p:sp>
      <p:pic>
        <p:nvPicPr>
          <p:cNvPr id="24" name="Image 3" descr="/home/claude/mcp-exec-deck/icons/lo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" y="3671316"/>
            <a:ext cx="210312" cy="2103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88720" y="3520440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/ TLS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2743200" y="3520440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Authenticates every call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029200" y="3520440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between agents — dev-mode auto cert, or SPIFFE/Vault in production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457200" y="4178808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594360" y="427939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4" descr="/home/claude/mcp-exec-deck/icons/ey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516" y="4384548"/>
            <a:ext cx="210312" cy="21031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188720" y="4233672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2743200" y="4233672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network legible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5029200" y="4233672"/>
            <a:ext cx="3520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tracing, dashboards, and session state across every agent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Mesh — Executive Briefing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E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Layers, Three Different Questions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06040" cy="2148840"/>
          </a:xfrm>
          <a:prstGeom prst="roundRect">
            <a:avLst>
              <a:gd name="adj" fmla="val 2979"/>
            </a:avLst>
          </a:prstGeom>
          <a:solidFill>
            <a:srgbClr val="141B47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691640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E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Registry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21792" y="2011680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E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catalog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1792" y="2377440"/>
            <a:ext cx="2276856" cy="0"/>
          </a:xfrm>
          <a:prstGeom prst="line">
            <a:avLst/>
          </a:prstGeom>
          <a:noFill/>
          <a:ln w="9525">
            <a:solidFill>
              <a:srgbClr val="5EC8C2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514600"/>
            <a:ext cx="22768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5E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tools exist, and what do they do?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64408" y="1508760"/>
            <a:ext cx="2606040" cy="2148840"/>
          </a:xfrm>
          <a:prstGeom prst="roundRect">
            <a:avLst>
              <a:gd name="adj" fmla="val 2979"/>
            </a:avLst>
          </a:prstGeom>
          <a:solidFill>
            <a:srgbClr val="E8836B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1691640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Gateway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429000" y="2011680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checkpoint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29000" y="2377440"/>
            <a:ext cx="2276856" cy="0"/>
          </a:xfrm>
          <a:prstGeom prst="line">
            <a:avLst/>
          </a:prstGeom>
          <a:noFill/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2514600"/>
            <a:ext cx="22768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allowed to call this, and what happened when they did?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71616" y="1508760"/>
            <a:ext cx="2606040" cy="2148840"/>
          </a:xfrm>
          <a:prstGeom prst="roundRect">
            <a:avLst>
              <a:gd name="adj" fmla="val 2979"/>
            </a:avLst>
          </a:prstGeom>
          <a:solidFill>
            <a:srgbClr val="5EC8C2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36208" y="1691640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Mesh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236208" y="2011680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connectivity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36208" y="2377440"/>
            <a:ext cx="2276856" cy="0"/>
          </a:xfrm>
          <a:prstGeom prst="line">
            <a:avLst/>
          </a:prstGeom>
          <a:noFill/>
          <a:ln w="9525">
            <a:solidFill>
              <a:srgbClr val="141B47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2514600"/>
            <a:ext cx="22768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 call physically get from agent A to agent B?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319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E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choice — a composition: 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(often containing a Registry) sits at the edge; Mesh handles internal agent-to-agent traffic.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Mesh — Executive Briefing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Plays Out, End to End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914400"/>
          </a:xfrm>
          <a:prstGeom prst="roundRect">
            <a:avLst>
              <a:gd name="adj" fmla="val 7000"/>
            </a:avLst>
          </a:prstGeom>
          <a:solidFill>
            <a:srgbClr val="E8836B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 (edge — auth, RBAC, audit)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2103120" cy="384048"/>
          </a:xfrm>
          <a:prstGeom prst="roundRect">
            <a:avLst>
              <a:gd name="adj" fmla="val 11905"/>
            </a:avLst>
          </a:prstGeom>
          <a:solidFill>
            <a:srgbClr val="141B4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(catalog)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63440" y="15087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FF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clients, human-facing requests,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FF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PHI-bearing traffic terminate here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0" y="2286000"/>
            <a:ext cx="0" cy="32004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606040"/>
            <a:ext cx="8229600" cy="1508760"/>
          </a:xfrm>
          <a:prstGeom prst="roundRect">
            <a:avLst>
              <a:gd name="adj" fmla="val 4242"/>
            </a:avLst>
          </a:prstGeom>
          <a:solidFill>
            <a:srgbClr val="1E2761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7157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MESH  (internal — agent-to-agent, peer-to-peer)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5EC8C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1089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87752" y="310896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5EC8C2"/>
          </a:solidFill>
          <a:ln/>
        </p:spPr>
      </p:sp>
      <p:sp>
        <p:nvSpPr>
          <p:cNvPr id="15" name="Text 13"/>
          <p:cNvSpPr/>
          <p:nvPr/>
        </p:nvSpPr>
        <p:spPr>
          <a:xfrm>
            <a:off x="2587752" y="31089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43984" y="310896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5EC8C2"/>
          </a:solidFill>
          <a:ln/>
        </p:spPr>
      </p:sp>
      <p:sp>
        <p:nvSpPr>
          <p:cNvPr id="17" name="Text 15"/>
          <p:cNvSpPr/>
          <p:nvPr/>
        </p:nvSpPr>
        <p:spPr>
          <a:xfrm>
            <a:off x="4443984" y="31089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0216" y="310896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5EC8C2"/>
          </a:solidFill>
          <a:ln/>
        </p:spPr>
      </p:sp>
      <p:sp>
        <p:nvSpPr>
          <p:cNvPr id="19" name="Text 17"/>
          <p:cNvSpPr/>
          <p:nvPr/>
        </p:nvSpPr>
        <p:spPr>
          <a:xfrm>
            <a:off x="6300216" y="31089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23160" y="3497580"/>
            <a:ext cx="164592" cy="0"/>
          </a:xfrm>
          <a:prstGeom prst="line">
            <a:avLst/>
          </a:prstGeom>
          <a:noFill/>
          <a:ln w="15875">
            <a:solidFill>
              <a:srgbClr val="E8836B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279392" y="3497580"/>
            <a:ext cx="164592" cy="0"/>
          </a:xfrm>
          <a:prstGeom prst="line">
            <a:avLst/>
          </a:prstGeom>
          <a:noFill/>
          <a:ln w="15875">
            <a:solidFill>
              <a:srgbClr val="E8836B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135624" y="3497580"/>
            <a:ext cx="164592" cy="0"/>
          </a:xfrm>
          <a:prstGeom prst="line">
            <a:avLst/>
          </a:prstGeom>
          <a:noFill/>
          <a:ln w="15875">
            <a:solidFill>
              <a:srgbClr val="E8836B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4572000" y="4114800"/>
            <a:ext cx="0" cy="27432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389120"/>
            <a:ext cx="8229600" cy="502920"/>
          </a:xfrm>
          <a:prstGeom prst="roundRect">
            <a:avLst>
              <a:gd name="adj" fmla="val 12727"/>
            </a:avLst>
          </a:prstGeom>
          <a:solidFill>
            <a:srgbClr val="DDE3F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3891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SYSTEMS  —  claims DB, EOB generator, member services, FWA detection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Mesh — Executive Briefing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3474720" cy="347472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E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NEXT STEP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This, and What We Do Next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938528" cy="960120"/>
          </a:xfrm>
          <a:prstGeom prst="roundRect">
            <a:avLst>
              <a:gd name="adj" fmla="val 6667"/>
            </a:avLst>
          </a:prstGeom>
          <a:solidFill>
            <a:srgbClr val="141B47"/>
          </a:solidFill>
          <a:ln/>
        </p:spPr>
      </p:sp>
      <p:sp>
        <p:nvSpPr>
          <p:cNvPr id="6" name="Shape 4"/>
          <p:cNvSpPr/>
          <p:nvPr/>
        </p:nvSpPr>
        <p:spPr>
          <a:xfrm>
            <a:off x="1243584" y="1536192"/>
            <a:ext cx="365760" cy="365760"/>
          </a:xfrm>
          <a:prstGeom prst="ellipse">
            <a:avLst/>
          </a:prstGeom>
          <a:solidFill>
            <a:srgbClr val="5EC8C2"/>
          </a:solidFill>
          <a:ln/>
        </p:spPr>
      </p:sp>
      <p:pic>
        <p:nvPicPr>
          <p:cNvPr id="7" name="Image 0" descr="/home/claude/mcp-exec-deck/icons/rock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618488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96596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agent delivery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551176" y="1417320"/>
            <a:ext cx="1938528" cy="960120"/>
          </a:xfrm>
          <a:prstGeom prst="roundRect">
            <a:avLst>
              <a:gd name="adj" fmla="val 6667"/>
            </a:avLst>
          </a:prstGeom>
          <a:solidFill>
            <a:srgbClr val="141B47"/>
          </a:solidFill>
          <a:ln/>
        </p:spPr>
      </p:sp>
      <p:sp>
        <p:nvSpPr>
          <p:cNvPr id="10" name="Shape 7"/>
          <p:cNvSpPr/>
          <p:nvPr/>
        </p:nvSpPr>
        <p:spPr>
          <a:xfrm>
            <a:off x="3337560" y="1536192"/>
            <a:ext cx="365760" cy="365760"/>
          </a:xfrm>
          <a:prstGeom prst="ellipse">
            <a:avLst/>
          </a:prstGeom>
          <a:solidFill>
            <a:srgbClr val="5EC8C2"/>
          </a:solidFill>
          <a:ln/>
        </p:spPr>
      </p:sp>
      <p:pic>
        <p:nvPicPr>
          <p:cNvPr id="11" name="Image 1" descr="/home/claude/mcp-exec-deck/icons/ch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856" y="1618488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42616" y="196596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scaling per agent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645152" y="1417320"/>
            <a:ext cx="1938528" cy="960120"/>
          </a:xfrm>
          <a:prstGeom prst="roundRect">
            <a:avLst>
              <a:gd name="adj" fmla="val 6667"/>
            </a:avLst>
          </a:prstGeom>
          <a:solidFill>
            <a:srgbClr val="141B47"/>
          </a:solidFill>
          <a:ln/>
        </p:spPr>
      </p:sp>
      <p:sp>
        <p:nvSpPr>
          <p:cNvPr id="14" name="Shape 10"/>
          <p:cNvSpPr/>
          <p:nvPr/>
        </p:nvSpPr>
        <p:spPr>
          <a:xfrm>
            <a:off x="5431536" y="1536192"/>
            <a:ext cx="365760" cy="365760"/>
          </a:xfrm>
          <a:prstGeom prst="ellipse">
            <a:avLst/>
          </a:prstGeom>
          <a:solidFill>
            <a:srgbClr val="5EC8C2"/>
          </a:solidFill>
          <a:ln/>
        </p:spPr>
      </p:sp>
      <p:pic>
        <p:nvPicPr>
          <p:cNvPr id="15" name="Image 2" descr="/home/claude/mcp-exec-deck/icons/cube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3832" y="1618488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36592" y="196596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Cross-language by design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739128" y="1417320"/>
            <a:ext cx="1938528" cy="960120"/>
          </a:xfrm>
          <a:prstGeom prst="roundRect">
            <a:avLst>
              <a:gd name="adj" fmla="val 6667"/>
            </a:avLst>
          </a:prstGeom>
          <a:solidFill>
            <a:srgbClr val="141B47"/>
          </a:solidFill>
          <a:ln/>
        </p:spPr>
      </p:sp>
      <p:sp>
        <p:nvSpPr>
          <p:cNvPr id="18" name="Shape 13"/>
          <p:cNvSpPr/>
          <p:nvPr/>
        </p:nvSpPr>
        <p:spPr>
          <a:xfrm>
            <a:off x="7525512" y="1536192"/>
            <a:ext cx="365760" cy="365760"/>
          </a:xfrm>
          <a:prstGeom prst="ellipse">
            <a:avLst/>
          </a:prstGeom>
          <a:solidFill>
            <a:srgbClr val="5EC8C2"/>
          </a:solidFill>
          <a:ln/>
        </p:spPr>
      </p:sp>
      <p:pic>
        <p:nvPicPr>
          <p:cNvPr id="19" name="Image 3" descr="/home/claude/mcp-exec-deck/icons/ey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7808" y="1618488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30568" y="196596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tracing &amp; audit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457200" y="2606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E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ADOPT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457200" y="2907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3+ agents need to call each other, not just call tools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3218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Independent scaling or cross-language calls matter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35295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You want to avoid one proxy sitting in every call's hot path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57200" y="3977640"/>
            <a:ext cx="8229600" cy="685800"/>
          </a:xfrm>
          <a:prstGeom prst="rect">
            <a:avLst/>
          </a:prstGeom>
          <a:solidFill>
            <a:srgbClr val="E8836B"/>
          </a:solidFill>
          <a:ln/>
        </p:spPr>
      </p:sp>
      <p:sp>
        <p:nvSpPr>
          <p:cNvPr id="26" name="Text 20"/>
          <p:cNvSpPr/>
          <p:nvPr/>
        </p:nvSpPr>
        <p:spPr>
          <a:xfrm>
            <a:off x="640080" y="40233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one low-risk agent on the mesh inside the gateway-governed perimeter we already operate — prove the pattern before any cutover.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Mesh — Executive Briefing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2102</Words>
  <Application>Microsoft Macintosh PowerPoint</Application>
  <PresentationFormat>On-screen Show (16:9)</PresentationFormat>
  <Paragraphs>142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Mesh — Executive Briefing</dc:title>
  <dc:subject>PptxGenJS Presentation</dc:subject>
  <dc:creator>Enterprise Architecture</dc:creator>
  <cp:lastModifiedBy>ram baswa</cp:lastModifiedBy>
  <cp:revision>2</cp:revision>
  <dcterms:created xsi:type="dcterms:W3CDTF">2026-06-29T06:05:37Z</dcterms:created>
  <dcterms:modified xsi:type="dcterms:W3CDTF">2026-06-29T06:16:38Z</dcterms:modified>
</cp:coreProperties>
</file>