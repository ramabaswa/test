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1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42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60520"/>
            <a:ext cx="12191695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9659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AI LANDING ZONE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606040"/>
            <a:ext cx="8961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Guide &amp; Reference Architecture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10896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hub-and-spoke pattern for enterprise generative AI on AWS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434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FE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Landing Zone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HUB for centralized Amazon Bedrock model access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846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4A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AgentCore Landing Zone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SPOKE for agent runtime, tools, and identity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6035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B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Architecture Review Board  |  Enterprise Architecture  |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hub-and-spoke pattern for enterprise AI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66751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what should be shared: model access, safety guardrails, usage metering, and chargeback belong in one governed hub — not duplicated per team.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 what should be owned: agent logic, tools, and business data belong close to the team that builds and operates them, in their own account.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AgentCore Gateway is purpose-built for the spoke: it turns internal APIs and Lambda functions into MCP-compatible tools for agents — it is an agent-to-tool connector, not a model gateway.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Bedrock, fronted by a governed API Gateway, is the natural hub: one place to manage model access, cost, and safety policy for every consuming business unit.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60920" y="1554480"/>
            <a:ext cx="4343400" cy="4572000"/>
          </a:xfrm>
          <a:prstGeom prst="roundRect">
            <a:avLst>
              <a:gd name="adj" fmla="val 2105"/>
            </a:avLst>
          </a:prstGeom>
          <a:solidFill>
            <a:srgbClr val="F3F8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35240" y="17830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635240" y="2286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hub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635240" y="25877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Landing Zone — shared Bedrock access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635240" y="3200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spokes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35021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AgentCore Landing Zone per business unit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41148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Gateway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44165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every spoke back to the hub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50292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533095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the spoke, not the hub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AI Landing Zone — Enterprise Guide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PATTERN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Hub-and-spoke for enterprise AI on AWS</a:t>
            </a:r>
            <a:endParaRPr lang="en-US" sz="3000" dirty="0"/>
          </a:p>
        </p:txBody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85947" y="1508760"/>
            <a:ext cx="6019800" cy="4343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7280" y="6172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hub owns shared Bedrock model access and governance; each spoke owns its own agents, tools, and data — connected over a private Transit Gateway path.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AI Landing Zone — Enterprise Guide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HUB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Gateway Landing Zone — centralized Bedrock model access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70408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its own AWS account, peer to every spoke, under a Workloads OU.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foundation models, cross-region inference, and provisioned throughput are provisioned once here and shared across business units.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regional Amazon API Gateway + WAF is the single governed entry point every spoke calls for model invocation — no spoke talks to Bedrock's public endpoint directly.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Pluggable safety services (Bedrock Guardrails, Comprehend PII detection, Macie) sit in the request path as swappable, policy-driven controls.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metering (EventBridge, DynamoDB), a semantic cache (ElastiCache for Redis), and a chargeback workflow (Step Functions) give per-consumer cost attribution without instrumenting every spoke.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Catalog-backed model registry tells every spoke which models and versions are approved for use.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0" y="1508760"/>
            <a:ext cx="3931920" cy="4572000"/>
          </a:xfrm>
          <a:prstGeom prst="roundRect">
            <a:avLst>
              <a:gd name="adj" fmla="val 2326"/>
            </a:avLst>
          </a:prstGeom>
          <a:solidFill>
            <a:srgbClr val="F3F8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0" y="1737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the hub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2240280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83880" y="23408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access &amp; versioning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0" y="2926080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3880" y="30266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PII policy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3611880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37124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metering &amp; chargeback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4297680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43982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Approved-model registry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AI Landing Zone — Enterprise Guide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HUB —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Gateway Landing Zone</a:t>
            </a:r>
            <a:endParaRPr lang="en-US" sz="3000" dirty="0"/>
          </a:p>
        </p:txBody>
      </p:sp>
      <p:pic>
        <p:nvPicPr>
          <p:cNvPr id="4" name="Image 0" descr="/home/claude/pptbuild/images/aws_ai_gateway_h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88" y="1325880"/>
            <a:ext cx="11704320" cy="246766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067861"/>
            <a:ext cx="3611880" cy="1051560"/>
          </a:xfrm>
          <a:prstGeom prst="roundRect">
            <a:avLst>
              <a:gd name="adj" fmla="val 5217"/>
            </a:avLst>
          </a:prstGeom>
          <a:solidFill>
            <a:srgbClr val="F3F8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4159301"/>
            <a:ext cx="3282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entry point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4451909"/>
            <a:ext cx="3282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regional API Gateway + WAF fronts Bedrock for every consuming spoke.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70248" y="4067861"/>
            <a:ext cx="3611880" cy="1051560"/>
          </a:xfrm>
          <a:prstGeom prst="roundRect">
            <a:avLst>
              <a:gd name="adj" fmla="val 5217"/>
            </a:avLst>
          </a:prstGeom>
          <a:solidFill>
            <a:srgbClr val="F3F8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34840" y="4159301"/>
            <a:ext cx="3282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apply centrally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434840" y="4451909"/>
            <a:ext cx="3282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PII, and content policy enforced once, not per business unit.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083296" y="4067861"/>
            <a:ext cx="3611880" cy="1051560"/>
          </a:xfrm>
          <a:prstGeom prst="roundRect">
            <a:avLst>
              <a:gd name="adj" fmla="val 5217"/>
            </a:avLst>
          </a:prstGeom>
          <a:solidFill>
            <a:srgbClr val="F3F8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47888" y="4159301"/>
            <a:ext cx="3282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is metered automatically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247888" y="4451909"/>
            <a:ext cx="32826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+ Step Functions drive chargeback without per-spoke instrumentation.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AI Landing Zone — Enterprise Guide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SPOKE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AgentCore Landing Zone — agent runtime, tools &amp; identity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08760"/>
            <a:ext cx="70408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 per business unit or workload, under the same Workloads OU, attached to the same Transit Gateway hub.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AgentCore Runtime hosts the agent code itself — works with any agentic framework (Strands, LangChain, LangGraph, CrewAI) and any model.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 is the spoke's tool server: it turns internal REST APIs and Lambda functions into MCP-compatible tools, with built-in OAuth-based inbound/outbound authorization and semantic tool discovery — this is where Gateway belongs, next to the agents that use it.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Identity, Memory, and Observability round out the standard setup — credential management, session/long-term memory, and OpenTelemetry-based tracing.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spoke calls back to the hub only for model invocation — everything else (tools, business data, application logic) stays local to the team that owns 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0" y="1508760"/>
            <a:ext cx="3931920" cy="4572000"/>
          </a:xfrm>
          <a:prstGeom prst="roundRect">
            <a:avLst>
              <a:gd name="adj" fmla="val 2326"/>
            </a:avLst>
          </a:prstGeom>
          <a:solidFill>
            <a:srgbClr val="FBF4F4"/>
          </a:solidFill>
          <a:ln w="12700">
            <a:solidFill>
              <a:srgbClr val="F0C6C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0" y="17373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the spoke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2240280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F0C6C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183880" y="23408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logic &amp; orchestration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0" y="2926080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F0C6C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3880" y="30266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integration (Gateway)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46720" y="3611880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F0C6C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37124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 &amp; memory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4297680"/>
            <a:ext cx="338328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F0C6C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83880" y="43982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App-facing identity &amp; UX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AI Landing Zone — Enterprise Guide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SPOKE — 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AgentCore Landing Zone</a:t>
            </a:r>
            <a:endParaRPr lang="en-US" sz="3000" dirty="0"/>
          </a:p>
        </p:txBody>
      </p:sp>
      <p:pic>
        <p:nvPicPr>
          <p:cNvPr id="4" name="Image 0" descr="/home/claude/pptbuild/images/aws_agentcore_spo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568" y="1280160"/>
            <a:ext cx="9052560" cy="396049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5441823"/>
            <a:ext cx="3611880" cy="1051560"/>
          </a:xfrm>
          <a:prstGeom prst="roundRect">
            <a:avLst>
              <a:gd name="adj" fmla="val 5217"/>
            </a:avLst>
          </a:prstGeom>
          <a:solidFill>
            <a:srgbClr val="FBF4F4"/>
          </a:solidFill>
          <a:ln w="12700">
            <a:solidFill>
              <a:srgbClr val="F0C6C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5533263"/>
            <a:ext cx="3282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stay local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5825871"/>
            <a:ext cx="3282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 exposes this team's own APIs and Lambda functions as MCP tools — not shared with other spokes.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4270248" y="5441823"/>
            <a:ext cx="3611880" cy="1051560"/>
          </a:xfrm>
          <a:prstGeom prst="roundRect">
            <a:avLst>
              <a:gd name="adj" fmla="val 5217"/>
            </a:avLst>
          </a:prstGeom>
          <a:solidFill>
            <a:srgbClr val="FBF4F4"/>
          </a:solidFill>
          <a:ln w="12700">
            <a:solidFill>
              <a:srgbClr val="F0C6C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34840" y="5533263"/>
            <a:ext cx="3282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call leaves the account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434840" y="5825871"/>
            <a:ext cx="3282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cross-account hop is Runtime → hub API Gateway for inference; everything else stays inside the spoke.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083296" y="5441823"/>
            <a:ext cx="3611880" cy="1051560"/>
          </a:xfrm>
          <a:prstGeom prst="roundRect">
            <a:avLst>
              <a:gd name="adj" fmla="val 5217"/>
            </a:avLst>
          </a:prstGeom>
          <a:solidFill>
            <a:srgbClr val="FBF4F4"/>
          </a:solidFill>
          <a:ln w="12700">
            <a:solidFill>
              <a:srgbClr val="F0C6C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47888" y="5533263"/>
            <a:ext cx="3282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shape, per team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247888" y="5825871"/>
            <a:ext cx="3282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spoke repeats the same account structure — Runtime, Gateway, Memory, Identity, Observability — so onboarding a new business unit is templated.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AI Landing Zone — Enterprise Guide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AVOIDING A NAMING COLLISION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different “gateways” — by design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landing zones have something called a “Gateway.” They solve different problems and sit in different accounts — keep them distinct.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EAF0FB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2860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API Gateway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7919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in: AI Gateway Landing Zone (HUB)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108960"/>
            <a:ext cx="480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Fronts Amazon Bedrock model invocation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Callers are spoke accounts (agents), not tools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guardrails, quota, and chargeback policy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instance shared by every business unit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205740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DEDEE"/>
          </a:solidFill>
          <a:ln w="15875">
            <a:solidFill>
              <a:srgbClr val="F9616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29400" y="22860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AgentCore Gateway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679192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in: AI AgentCore Landing Zone (SPOKE)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629400" y="3108960"/>
            <a:ext cx="480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Fronts internal APIs and Lambda functions as tools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Callers are agents (via MCP), not end users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per-tool OAuth in/out authorization + OBO</a:t>
            </a:r>
            <a:endParaRPr lang="en-US" sz="130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instance per spoke, scoped to that team's tools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AI Landing Zone — Enterprise Guide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AWS services used in each landing zone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452628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AI Gateway Landing Zone (HUB)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AI AgentCore Landing Zone (SPOKE)</a:t>
                      </a:r>
                      <a:endParaRPr lang="en-US" sz="1200" dirty="0"/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/ agent runtime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Bedrock (foundation models)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AgentCore Runtime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/ API integration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(not applicable at the hub)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AgentCore Gateway (APIs, Lambda → MCP)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 Identity Center (workforce)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AgentCore Identity (agent-to-tool)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/ 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DynamoDB (usage metadata)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AgentCore Memory, DynamoDB, OpenSearch Serverless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&amp; PII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Guardrails, Comprehend, Macie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Inherited from hub at invocation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 / entry 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API Gateway (regional) + WAF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ALB + WAF (app-facing)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Catalog registry, Step Functions chargeback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Hub, GuardDuty, Config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CloudWatch, Log Insights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AgentCore Observability (OTEL) + CloudWatch, X-Ray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AI Landing Zone — Enterprise Guide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GUIDANCE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principles for adoption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F3F8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5727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96596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hub, many spokes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286000"/>
            <a:ext cx="3282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a single AI Gateway account before onboarding the first business unit — retrofitting central governance after spokes exist is far more disruptive.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51960" y="146304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F3F8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16552" y="15727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416552" y="196596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access never bypasses the hub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416552" y="2286000"/>
            <a:ext cx="3282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Spokes call Bedrock only through the hub's private API Gateway path; direct public-endpoint access defeats guardrails, metering, and chargeback.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46720" y="146304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F3F8FF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11312" y="157276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211312" y="196596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stay local to the spoke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11312" y="2286000"/>
            <a:ext cx="3282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Gateway targets (APIs, Lambda) are owned and secured by the team that built them — don't centralize tool integration in the hub.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FBF4F4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31272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352044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 policy is versioned, not forked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21792" y="3840480"/>
            <a:ext cx="3282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each spoke select a guardrail policy variant from the hub's catalog rather than maintaining its own safety configuration.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51960" y="301752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FBF4F4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16552" y="31272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416552" y="352044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attribution is automatic, not requested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416552" y="3840480"/>
            <a:ext cx="3282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call carries spoke identity through to the hub's usage-metering pipeline — chargeback shouldn't require a manual report.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46720" y="3017520"/>
            <a:ext cx="3611880" cy="1417320"/>
          </a:xfrm>
          <a:prstGeom prst="roundRect">
            <a:avLst>
              <a:gd name="adj" fmla="val 3871"/>
            </a:avLst>
          </a:prstGeom>
          <a:solidFill>
            <a:srgbClr val="FBF4F4"/>
          </a:solidFill>
          <a:ln w="9525">
            <a:solidFill>
              <a:srgbClr val="E3E3E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11312" y="31272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8211312" y="3520440"/>
            <a:ext cx="3282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before scaling out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211312" y="3840480"/>
            <a:ext cx="3282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HIPAA eligibility, current AgentCore feature maturity (GA vs. preview), and DR strategy with one spoke before replicating the pattern broadly.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AI Landing Zone — Enterprise Guide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Suggested rollout sequence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 w="6350">
            <a:solidFill>
              <a:srgbClr val="141A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 up the hub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546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account, Bedrock model access, guardrails, and usage metering — no spokes yet.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081528" y="31546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291840" y="17373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 w="6350">
            <a:solidFill>
              <a:srgbClr val="141A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965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3317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one spoke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31546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 single business unit's AgentCore account; validate the model-invocation path and cost attribution end to end.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5916168" y="31546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 w="6350">
            <a:solidFill>
              <a:srgbClr val="141A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1965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23317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Harden &amp; template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1546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pilot spoke into an account-vending template (network, IAM, AgentCore setup) via AWS Control Tower / Account Factory.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750808" y="3154680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961120" y="17373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 w="6350">
            <a:solidFill>
              <a:srgbClr val="141A4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0" y="1965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0" y="23317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out spokes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0" y="3154680"/>
            <a:ext cx="2240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additional business units from the template; the hub's guardrail and registry catalog governs all of them centrally.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53492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 before build: region/DR strategy, CIDR allocation, HIPAA/BAA coverage per service, and current AgentCore GA-vs-preview feature boundaries.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AI Landing Zone — Enterprise Guide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1460</Words>
  <Application>Microsoft Macintosh PowerPoint</Application>
  <PresentationFormat>Widescreen</PresentationFormat>
  <Paragraphs>178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ram baswa</cp:lastModifiedBy>
  <cp:revision>4</cp:revision>
  <dcterms:created xsi:type="dcterms:W3CDTF">2026-09-10T03:34:11Z</dcterms:created>
  <dcterms:modified xsi:type="dcterms:W3CDTF">2026-09-10T03:43:30Z</dcterms:modified>
</cp:coreProperties>
</file>