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 1 — Product
Tagline: AI agents built as scoped projects within a single product boundary
Data: Lakehouse product context
  Patterns: Product RAG · Delta Lake · Semantic tagging
  Product-scoped knowledge store with retrieval-augmented generation. Agents query claims, eligibility, and benefits data bounded to one product with no cross-domain access.
Application: Single-product agent
  Patterns: RAG · Workflow automation · Explainable AI · Release mgmt
  Autonomous agent resolves claim inquiries and prior-auth within one product. Explainable outputs surface reasoning steps for audit. Squad-cadence release gates.
Integration: MCP product connector
  Patterns: MCP server · API connector · Drift baseline
  Point-to-point MCP connector for a single product system. Schema drift baselined and monitored at product level. Agent reads/writes to claims or auth records.
Security: Prompt &amp; I/O guardrails
  Patterns: Input/output filtering · PHI masking · Tool sandbox
  Input/output filtering and sandboxed tool execution prevent prompt injection and data exfiltration within one product. HIPAA PHI masking enforced per product boundary.
Identity: Agent service account
  Patterns: OAuth / OIDC · RBAC · Least privilege
  Single-product agent identity with scoped OAuth/OIDC credentials and least-privilege role bindings. Agent lifecycle tied to product squad ownership.
Team: Squad AI literacy
  Patterns: Prompt engineering · AI SDLC · Gamified delivery
  Upskilling one squad on agentic tooling and AI SDLC. Gamified delivery metrics track agent quality gate passage and deployment frequency.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 2 — Program / Domain
Tagline: Agents collaborate across products within a program or business unit through governed multi-agent supervisor architectures
Data: Domain semantic layer
  Patterns: Semantic mesh · Knowledge graph · Federated context · Memory mgmt
  Federated data contracts enable agents to query member, claims, and prior-auth data across products in a domain. Semantic layer resolves entity synonyms. Knowledge graph tracks cross-product relationships.
Application: Multi-agent supervisor crew
  Patterns: Supervisor crew · Multi-agent RAG · Retrievable memory · Explainable AI
  Governed supervisor agent coordinates specialist sub-agents (claims, benefits, eligibility) through a crew architecture. Shared retrievable memory enables context hand-off. Explainable AI surfaces decision rationale.
Integration: Domain MCP mesh
  Patterns: MCP Mesh · A2A (domain) · Drift governance · Tool registry
  Event-driven integration connecting multiple product MCP servers within a domain. Shared tool registry enforces contract versioning. Schema drift governed via automated compatibility checks.
Security: Domain agent policy engine
  Patterns: OPA / Cedar · FWA controls · Audit trail · Policy-as-code
  Centralized policy engine (OPA/Cedar) governs cross-product agent actions, rate limits, audit trails, and fraud/waste/abuse controls. Policy-as-code enforced at MCP gateway.
Identity: Federated agent identity
  Patterns: SPIFFE / SVID · Agent trust · Federated IdP · Token signing
  Domain-level identity federation. Inter-agent trust established using SPIFFE/SVID or signed agent tokens. Supervisor validates sub-agent identities before delegating tasks.
Team: Domain CoE &amp; standards
  Patterns: CoE · ARB gate · Gamified CD · Design standards
  Center of Excellence spanning multiple product squads. Shared runbooks, ARB review gates, and agent design standards codified. Gamified continuous delivery tracks cross-squad deployment health.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Gen 3 — Enterprise
Tagline: Agents communicate cross-program and outside the enterprise through advanced A2A protocols, strict governance, and an enterprise context layer
Data: Enterprise knowledge graph
  Patterns: Enterprise KG · Context layer · Semantic federation · Real-time retrieval
  Unified semantic and knowledge graph across all programs. Agents resolve member, provider, and clinical entities in real time. Enterprise context layer grounds all agent interactions regardless of originating product.
Application: Enterprise agent mesh
  Patterns: A2A · Generative UI · Advanced MAS · Release governance
  Cross-program agent collaboration at enterprise scale. Care management, claims, fraud, and provider agents orchestrate end-to-end workflows via A2A protocols. Static Gen UI surfaces outputs in regulated member and provider portals.
Integration: Universal MCP + A2A gateway
  Patterns: MCP Gateway · A2A protocol · Enterprise mesh · Contract registry
  Enterprise service mesh with unified MCP gateway, schema and contract registry, and A2A protocol bridging all BUs and external partners. Automated drift detection across the entire integration estate.
Security: Zero-trust agentic SecOps
  Patterns: Zero-trust · Behavioral SecOps · SOC integration · HIPAA lineage
  Enterprise-wide zero-trust architecture for agents: runtime behavioral analysis, anomaly detection, automated containment, and SOC-integrated agent audit. HIPAA-aligned data lineage tracked across every agentic workflow.
Identity: Enterprise identity fabric
  Patterns: Identity lifecycle · Attestation · HIPAA governance · Partner enrollment
  Centralized agent identity lifecycle: provisioning, attestation, rotation, and HIPAA-aligned access governance across all programs. External agent identities (partner, payer) onboarded through governed enrollment.
Team: Enterprise AI governance
  Patterns: ARB standards · Model risk · Exec KPIs · Gamified CD
  ARB-governed enterprise AI standards, cross-BU change management, executive KPI dashboards, and model risk frameworks. Gamified continuous delivery at enterprise scale with per-BU scorecards.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0E8A5F"/>
          </a:solidFill>
          <a:ln/>
        </p:spPr>
      </p:sp>
      <p:sp>
        <p:nvSpPr>
          <p:cNvPr id="3" name="Text 1"/>
          <p:cNvSpPr/>
          <p:nvPr/>
        </p:nvSpPr>
        <p:spPr>
          <a:xfrm>
            <a:off x="457200" y="411480"/>
            <a:ext cx="8229600" cy="228600"/>
          </a:xfrm>
          <a:prstGeom prst="rect">
            <a:avLst/>
          </a:prstGeom>
          <a:noFill/>
          <a:ln/>
        </p:spPr>
        <p:txBody>
          <a:bodyPr wrap="square" rtlCol="0" anchor="ctr"/>
          <a:lstStyle/>
          <a:p>
            <a:pPr indent="0" marL="0">
              <a:buNone/>
            </a:pPr>
            <a:r>
              <a:rPr lang="en-US" sz="900" spc="300" kern="0" dirty="0">
                <a:solidFill>
                  <a:srgbClr val="8DA3C4"/>
                </a:solidFill>
                <a:latin typeface="Calibri" pitchFamily="34" charset="0"/>
                <a:ea typeface="Calibri" pitchFamily="34" charset="-122"/>
                <a:cs typeface="Calibri" pitchFamily="34" charset="-120"/>
              </a:rPr>
              <a:t>ENTERPRISE ARCHITECTURE  ·  HEALTHCARE AI STRATEGY</a:t>
            </a:r>
            <a:endParaRPr lang="en-US" sz="900" dirty="0"/>
          </a:p>
        </p:txBody>
      </p:sp>
      <p:sp>
        <p:nvSpPr>
          <p:cNvPr id="4" name="Text 2"/>
          <p:cNvSpPr/>
          <p:nvPr/>
        </p:nvSpPr>
        <p:spPr>
          <a:xfrm>
            <a:off x="457200" y="914400"/>
            <a:ext cx="7772400" cy="914400"/>
          </a:xfrm>
          <a:prstGeom prst="rect">
            <a:avLst/>
          </a:prstGeom>
          <a:noFill/>
          <a:ln/>
        </p:spPr>
        <p:txBody>
          <a:bodyPr wrap="square"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Agentic AI</a:t>
            </a:r>
            <a:endParaRPr lang="en-US" sz="5400" dirty="0"/>
          </a:p>
        </p:txBody>
      </p:sp>
      <p:sp>
        <p:nvSpPr>
          <p:cNvPr id="5" name="Text 3"/>
          <p:cNvSpPr/>
          <p:nvPr/>
        </p:nvSpPr>
        <p:spPr>
          <a:xfrm>
            <a:off x="457200" y="1737360"/>
            <a:ext cx="7772400" cy="914400"/>
          </a:xfrm>
          <a:prstGeom prst="rect">
            <a:avLst/>
          </a:prstGeom>
          <a:noFill/>
          <a:ln/>
        </p:spPr>
        <p:txBody>
          <a:bodyPr wrap="square" rtlCol="0" anchor="ctr"/>
          <a:lstStyle/>
          <a:p>
            <a:pPr indent="0" marL="0">
              <a:buNone/>
            </a:pPr>
            <a:r>
              <a:rPr lang="en-US" sz="5400" b="1" dirty="0">
                <a:solidFill>
                  <a:srgbClr val="C8DCFA"/>
                </a:solidFill>
                <a:latin typeface="Cambria" pitchFamily="34" charset="0"/>
                <a:ea typeface="Cambria" pitchFamily="34" charset="-122"/>
                <a:cs typeface="Cambria" pitchFamily="34" charset="-120"/>
              </a:rPr>
              <a:t>Maturity Model</a:t>
            </a:r>
            <a:endParaRPr lang="en-US" sz="5400" dirty="0"/>
          </a:p>
        </p:txBody>
      </p:sp>
      <p:sp>
        <p:nvSpPr>
          <p:cNvPr id="6" name="Text 4"/>
          <p:cNvSpPr/>
          <p:nvPr/>
        </p:nvSpPr>
        <p:spPr>
          <a:xfrm>
            <a:off x="457200" y="2788920"/>
            <a:ext cx="7315200" cy="365760"/>
          </a:xfrm>
          <a:prstGeom prst="rect">
            <a:avLst/>
          </a:prstGeom>
          <a:noFill/>
          <a:ln/>
        </p:spPr>
        <p:txBody>
          <a:bodyPr wrap="square" rtlCol="0" anchor="ctr"/>
          <a:lstStyle/>
          <a:p>
            <a:pPr indent="0" marL="0">
              <a:buNone/>
            </a:pPr>
            <a:r>
              <a:rPr lang="en-US" sz="1500" dirty="0">
                <a:solidFill>
                  <a:srgbClr val="8DA3C4"/>
                </a:solidFill>
                <a:latin typeface="Calibri" pitchFamily="34" charset="0"/>
                <a:ea typeface="Calibri" pitchFamily="34" charset="-122"/>
                <a:cs typeface="Calibri" pitchFamily="34" charset="-120"/>
              </a:rPr>
              <a:t>Gen 1 → Gen 2 → Gen 3 Release Horizon  ·  Value vs. Effort Matrix</a:t>
            </a:r>
            <a:endParaRPr lang="en-US" sz="1500" dirty="0"/>
          </a:p>
        </p:txBody>
      </p:sp>
      <p:sp>
        <p:nvSpPr>
          <p:cNvPr id="7" name="Shape 5"/>
          <p:cNvSpPr/>
          <p:nvPr/>
        </p:nvSpPr>
        <p:spPr>
          <a:xfrm>
            <a:off x="457200" y="3337560"/>
            <a:ext cx="1929384" cy="347472"/>
          </a:xfrm>
          <a:prstGeom prst="roundRect">
            <a:avLst>
              <a:gd name="adj" fmla="val 13158"/>
            </a:avLst>
          </a:prstGeom>
          <a:solidFill>
            <a:srgbClr val="0E8A5F">
              <a:alpha val="80000"/>
            </a:srgbClr>
          </a:solidFill>
          <a:ln w="6350">
            <a:solidFill>
              <a:srgbClr val="0E8A5F"/>
            </a:solidFill>
            <a:prstDash val="solid"/>
          </a:ln>
        </p:spPr>
      </p:sp>
      <p:sp>
        <p:nvSpPr>
          <p:cNvPr id="8" name="Text 6"/>
          <p:cNvSpPr/>
          <p:nvPr/>
        </p:nvSpPr>
        <p:spPr>
          <a:xfrm>
            <a:off x="457200" y="3337560"/>
            <a:ext cx="1929384"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 1  Product</a:t>
            </a:r>
            <a:endParaRPr lang="en-US" sz="1100" dirty="0"/>
          </a:p>
        </p:txBody>
      </p:sp>
      <p:sp>
        <p:nvSpPr>
          <p:cNvPr id="9" name="Shape 7"/>
          <p:cNvSpPr/>
          <p:nvPr/>
        </p:nvSpPr>
        <p:spPr>
          <a:xfrm>
            <a:off x="3017520" y="3337560"/>
            <a:ext cx="2875788" cy="347472"/>
          </a:xfrm>
          <a:prstGeom prst="roundRect">
            <a:avLst>
              <a:gd name="adj" fmla="val 13158"/>
            </a:avLst>
          </a:prstGeom>
          <a:solidFill>
            <a:srgbClr val="6C5CE7">
              <a:alpha val="80000"/>
            </a:srgbClr>
          </a:solidFill>
          <a:ln w="6350">
            <a:solidFill>
              <a:srgbClr val="6C5CE7"/>
            </a:solidFill>
            <a:prstDash val="solid"/>
          </a:ln>
        </p:spPr>
      </p:sp>
      <p:sp>
        <p:nvSpPr>
          <p:cNvPr id="10" name="Text 8"/>
          <p:cNvSpPr/>
          <p:nvPr/>
        </p:nvSpPr>
        <p:spPr>
          <a:xfrm>
            <a:off x="3017520" y="3337560"/>
            <a:ext cx="2875788"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 2  Program / Domain</a:t>
            </a:r>
            <a:endParaRPr lang="en-US" sz="1100" dirty="0"/>
          </a:p>
        </p:txBody>
      </p:sp>
      <p:sp>
        <p:nvSpPr>
          <p:cNvPr id="11" name="Shape 9"/>
          <p:cNvSpPr/>
          <p:nvPr/>
        </p:nvSpPr>
        <p:spPr>
          <a:xfrm>
            <a:off x="6217920" y="3337560"/>
            <a:ext cx="2244852" cy="347472"/>
          </a:xfrm>
          <a:prstGeom prst="roundRect">
            <a:avLst>
              <a:gd name="adj" fmla="val 13158"/>
            </a:avLst>
          </a:prstGeom>
          <a:solidFill>
            <a:srgbClr val="E05C2A">
              <a:alpha val="80000"/>
            </a:srgbClr>
          </a:solidFill>
          <a:ln w="6350">
            <a:solidFill>
              <a:srgbClr val="E05C2A"/>
            </a:solidFill>
            <a:prstDash val="solid"/>
          </a:ln>
        </p:spPr>
      </p:sp>
      <p:sp>
        <p:nvSpPr>
          <p:cNvPr id="12" name="Text 10"/>
          <p:cNvSpPr/>
          <p:nvPr/>
        </p:nvSpPr>
        <p:spPr>
          <a:xfrm>
            <a:off x="6217920" y="3337560"/>
            <a:ext cx="2244852"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Gen 3  Enterprise</a:t>
            </a:r>
            <a:endParaRPr lang="en-US" sz="1100" dirty="0"/>
          </a:p>
        </p:txBody>
      </p:sp>
      <p:sp>
        <p:nvSpPr>
          <p:cNvPr id="13" name="Shape 11"/>
          <p:cNvSpPr/>
          <p:nvPr/>
        </p:nvSpPr>
        <p:spPr>
          <a:xfrm>
            <a:off x="365760" y="3931920"/>
            <a:ext cx="109728" cy="201168"/>
          </a:xfrm>
          <a:prstGeom prst="rect">
            <a:avLst/>
          </a:prstGeom>
          <a:solidFill>
            <a:srgbClr val="0D9E75"/>
          </a:solidFill>
          <a:ln/>
        </p:spPr>
      </p:sp>
      <p:sp>
        <p:nvSpPr>
          <p:cNvPr id="14" name="Text 12"/>
          <p:cNvSpPr/>
          <p:nvPr/>
        </p:nvSpPr>
        <p:spPr>
          <a:xfrm>
            <a:off x="512064" y="3913632"/>
            <a:ext cx="1216152" cy="237744"/>
          </a:xfrm>
          <a:prstGeom prst="rect">
            <a:avLst/>
          </a:prstGeom>
          <a:noFill/>
          <a:ln/>
        </p:spPr>
        <p:txBody>
          <a:bodyPr wrap="square" rtlCol="0" anchor="ctr"/>
          <a:lstStyle/>
          <a:p>
            <a:pPr indent="0" marL="0">
              <a:buNone/>
            </a:pPr>
            <a:r>
              <a:rPr lang="en-US" sz="1000" dirty="0">
                <a:solidFill>
                  <a:srgbClr val="8DA3C4"/>
                </a:solidFill>
                <a:latin typeface="Calibri" pitchFamily="34" charset="0"/>
                <a:ea typeface="Calibri" pitchFamily="34" charset="-122"/>
                <a:cs typeface="Calibri" pitchFamily="34" charset="-120"/>
              </a:rPr>
              <a:t>Data</a:t>
            </a:r>
            <a:endParaRPr lang="en-US" sz="1000" dirty="0"/>
          </a:p>
        </p:txBody>
      </p:sp>
      <p:sp>
        <p:nvSpPr>
          <p:cNvPr id="15" name="Shape 13"/>
          <p:cNvSpPr/>
          <p:nvPr/>
        </p:nvSpPr>
        <p:spPr>
          <a:xfrm>
            <a:off x="1783080" y="3931920"/>
            <a:ext cx="109728" cy="201168"/>
          </a:xfrm>
          <a:prstGeom prst="rect">
            <a:avLst/>
          </a:prstGeom>
          <a:solidFill>
            <a:srgbClr val="7C6FDD"/>
          </a:solidFill>
          <a:ln/>
        </p:spPr>
      </p:sp>
      <p:sp>
        <p:nvSpPr>
          <p:cNvPr id="16" name="Text 14"/>
          <p:cNvSpPr/>
          <p:nvPr/>
        </p:nvSpPr>
        <p:spPr>
          <a:xfrm>
            <a:off x="1929384" y="3913632"/>
            <a:ext cx="1216152" cy="237744"/>
          </a:xfrm>
          <a:prstGeom prst="rect">
            <a:avLst/>
          </a:prstGeom>
          <a:noFill/>
          <a:ln/>
        </p:spPr>
        <p:txBody>
          <a:bodyPr wrap="square" rtlCol="0" anchor="ctr"/>
          <a:lstStyle/>
          <a:p>
            <a:pPr indent="0" marL="0">
              <a:buNone/>
            </a:pPr>
            <a:r>
              <a:rPr lang="en-US" sz="1000" dirty="0">
                <a:solidFill>
                  <a:srgbClr val="8DA3C4"/>
                </a:solidFill>
                <a:latin typeface="Calibri" pitchFamily="34" charset="0"/>
                <a:ea typeface="Calibri" pitchFamily="34" charset="-122"/>
                <a:cs typeface="Calibri" pitchFamily="34" charset="-120"/>
              </a:rPr>
              <a:t>Application</a:t>
            </a:r>
            <a:endParaRPr lang="en-US" sz="1000" dirty="0"/>
          </a:p>
        </p:txBody>
      </p:sp>
      <p:sp>
        <p:nvSpPr>
          <p:cNvPr id="17" name="Shape 15"/>
          <p:cNvSpPr/>
          <p:nvPr/>
        </p:nvSpPr>
        <p:spPr>
          <a:xfrm>
            <a:off x="3200400" y="3931920"/>
            <a:ext cx="109728" cy="201168"/>
          </a:xfrm>
          <a:prstGeom prst="rect">
            <a:avLst/>
          </a:prstGeom>
          <a:solidFill>
            <a:srgbClr val="D45529"/>
          </a:solidFill>
          <a:ln/>
        </p:spPr>
      </p:sp>
      <p:sp>
        <p:nvSpPr>
          <p:cNvPr id="18" name="Text 16"/>
          <p:cNvSpPr/>
          <p:nvPr/>
        </p:nvSpPr>
        <p:spPr>
          <a:xfrm>
            <a:off x="3346704" y="3913632"/>
            <a:ext cx="1216152" cy="237744"/>
          </a:xfrm>
          <a:prstGeom prst="rect">
            <a:avLst/>
          </a:prstGeom>
          <a:noFill/>
          <a:ln/>
        </p:spPr>
        <p:txBody>
          <a:bodyPr wrap="square" rtlCol="0" anchor="ctr"/>
          <a:lstStyle/>
          <a:p>
            <a:pPr indent="0" marL="0">
              <a:buNone/>
            </a:pPr>
            <a:r>
              <a:rPr lang="en-US" sz="1000" dirty="0">
                <a:solidFill>
                  <a:srgbClr val="8DA3C4"/>
                </a:solidFill>
                <a:latin typeface="Calibri" pitchFamily="34" charset="0"/>
                <a:ea typeface="Calibri" pitchFamily="34" charset="-122"/>
                <a:cs typeface="Calibri" pitchFamily="34" charset="-120"/>
              </a:rPr>
              <a:t>Integration</a:t>
            </a:r>
            <a:endParaRPr lang="en-US" sz="1000" dirty="0"/>
          </a:p>
        </p:txBody>
      </p:sp>
      <p:sp>
        <p:nvSpPr>
          <p:cNvPr id="19" name="Shape 17"/>
          <p:cNvSpPr/>
          <p:nvPr/>
        </p:nvSpPr>
        <p:spPr>
          <a:xfrm>
            <a:off x="4617720" y="3931920"/>
            <a:ext cx="109728" cy="201168"/>
          </a:xfrm>
          <a:prstGeom prst="rect">
            <a:avLst/>
          </a:prstGeom>
          <a:solidFill>
            <a:srgbClr val="C94F7B"/>
          </a:solidFill>
          <a:ln/>
        </p:spPr>
      </p:sp>
      <p:sp>
        <p:nvSpPr>
          <p:cNvPr id="20" name="Text 18"/>
          <p:cNvSpPr/>
          <p:nvPr/>
        </p:nvSpPr>
        <p:spPr>
          <a:xfrm>
            <a:off x="4764024" y="3913632"/>
            <a:ext cx="1216152" cy="237744"/>
          </a:xfrm>
          <a:prstGeom prst="rect">
            <a:avLst/>
          </a:prstGeom>
          <a:noFill/>
          <a:ln/>
        </p:spPr>
        <p:txBody>
          <a:bodyPr wrap="square" rtlCol="0" anchor="ctr"/>
          <a:lstStyle/>
          <a:p>
            <a:pPr indent="0" marL="0">
              <a:buNone/>
            </a:pPr>
            <a:r>
              <a:rPr lang="en-US" sz="1000" dirty="0">
                <a:solidFill>
                  <a:srgbClr val="8DA3C4"/>
                </a:solidFill>
                <a:latin typeface="Calibri" pitchFamily="34" charset="0"/>
                <a:ea typeface="Calibri" pitchFamily="34" charset="-122"/>
                <a:cs typeface="Calibri" pitchFamily="34" charset="-120"/>
              </a:rPr>
              <a:t>Security</a:t>
            </a:r>
            <a:endParaRPr lang="en-US" sz="1000" dirty="0"/>
          </a:p>
        </p:txBody>
      </p:sp>
      <p:sp>
        <p:nvSpPr>
          <p:cNvPr id="21" name="Shape 19"/>
          <p:cNvSpPr/>
          <p:nvPr/>
        </p:nvSpPr>
        <p:spPr>
          <a:xfrm>
            <a:off x="6035040" y="3931920"/>
            <a:ext cx="109728" cy="201168"/>
          </a:xfrm>
          <a:prstGeom prst="rect">
            <a:avLst/>
          </a:prstGeom>
          <a:solidFill>
            <a:srgbClr val="2E84D8"/>
          </a:solidFill>
          <a:ln/>
        </p:spPr>
      </p:sp>
      <p:sp>
        <p:nvSpPr>
          <p:cNvPr id="22" name="Text 20"/>
          <p:cNvSpPr/>
          <p:nvPr/>
        </p:nvSpPr>
        <p:spPr>
          <a:xfrm>
            <a:off x="6181344" y="3913632"/>
            <a:ext cx="1216152" cy="237744"/>
          </a:xfrm>
          <a:prstGeom prst="rect">
            <a:avLst/>
          </a:prstGeom>
          <a:noFill/>
          <a:ln/>
        </p:spPr>
        <p:txBody>
          <a:bodyPr wrap="square" rtlCol="0" anchor="ctr"/>
          <a:lstStyle/>
          <a:p>
            <a:pPr indent="0" marL="0">
              <a:buNone/>
            </a:pPr>
            <a:r>
              <a:rPr lang="en-US" sz="1000" dirty="0">
                <a:solidFill>
                  <a:srgbClr val="8DA3C4"/>
                </a:solidFill>
                <a:latin typeface="Calibri" pitchFamily="34" charset="0"/>
                <a:ea typeface="Calibri" pitchFamily="34" charset="-122"/>
                <a:cs typeface="Calibri" pitchFamily="34" charset="-120"/>
              </a:rPr>
              <a:t>Identity</a:t>
            </a:r>
            <a:endParaRPr lang="en-US" sz="1000" dirty="0"/>
          </a:p>
        </p:txBody>
      </p:sp>
      <p:sp>
        <p:nvSpPr>
          <p:cNvPr id="23" name="Shape 21"/>
          <p:cNvSpPr/>
          <p:nvPr/>
        </p:nvSpPr>
        <p:spPr>
          <a:xfrm>
            <a:off x="7452360" y="3931920"/>
            <a:ext cx="109728" cy="201168"/>
          </a:xfrm>
          <a:prstGeom prst="rect">
            <a:avLst/>
          </a:prstGeom>
          <a:solidFill>
            <a:srgbClr val="B87316"/>
          </a:solidFill>
          <a:ln/>
        </p:spPr>
      </p:sp>
      <p:sp>
        <p:nvSpPr>
          <p:cNvPr id="24" name="Text 22"/>
          <p:cNvSpPr/>
          <p:nvPr/>
        </p:nvSpPr>
        <p:spPr>
          <a:xfrm>
            <a:off x="7598664" y="3913632"/>
            <a:ext cx="1216152" cy="237744"/>
          </a:xfrm>
          <a:prstGeom prst="rect">
            <a:avLst/>
          </a:prstGeom>
          <a:noFill/>
          <a:ln/>
        </p:spPr>
        <p:txBody>
          <a:bodyPr wrap="square" rtlCol="0" anchor="ctr"/>
          <a:lstStyle/>
          <a:p>
            <a:pPr indent="0" marL="0">
              <a:buNone/>
            </a:pPr>
            <a:r>
              <a:rPr lang="en-US" sz="1000" dirty="0">
                <a:solidFill>
                  <a:srgbClr val="8DA3C4"/>
                </a:solidFill>
                <a:latin typeface="Calibri" pitchFamily="34" charset="0"/>
                <a:ea typeface="Calibri" pitchFamily="34" charset="-122"/>
                <a:cs typeface="Calibri" pitchFamily="34" charset="-120"/>
              </a:rPr>
              <a:t>Team Alignment</a:t>
            </a:r>
            <a:endParaRPr lang="en-US" sz="1000" dirty="0"/>
          </a:p>
        </p:txBody>
      </p:sp>
      <p:sp>
        <p:nvSpPr>
          <p:cNvPr id="25" name="Text 23"/>
          <p:cNvSpPr/>
          <p:nvPr/>
        </p:nvSpPr>
        <p:spPr>
          <a:xfrm>
            <a:off x="457200" y="4754880"/>
            <a:ext cx="8229600" cy="201168"/>
          </a:xfrm>
          <a:prstGeom prst="rect">
            <a:avLst/>
          </a:prstGeom>
          <a:noFill/>
          <a:ln/>
        </p:spPr>
        <p:txBody>
          <a:bodyPr wrap="square" rtlCol="0" anchor="ctr"/>
          <a:lstStyle/>
          <a:p>
            <a:pPr algn="ctr" indent="0" marL="0">
              <a:buNone/>
            </a:pPr>
            <a:r>
              <a:rPr lang="en-US" sz="800" spc="200" kern="0" dirty="0">
                <a:solidFill>
                  <a:srgbClr val="243A63"/>
                </a:solidFill>
                <a:latin typeface="Calibri" pitchFamily="34" charset="0"/>
                <a:ea typeface="Calibri" pitchFamily="34" charset="-122"/>
                <a:cs typeface="Calibri" pitchFamily="34" charset="-120"/>
              </a:rPr>
              <a:t>CONFIDENTIAL  ·  FOR EXECUTIVE REVIEW</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1E3C"/>
          </a:solidFill>
          <a:ln/>
        </p:spPr>
      </p:sp>
      <p:sp>
        <p:nvSpPr>
          <p:cNvPr id="3" name="Text 1"/>
          <p:cNvSpPr/>
          <p:nvPr/>
        </p:nvSpPr>
        <p:spPr>
          <a:xfrm>
            <a:off x="365760" y="0"/>
            <a:ext cx="8229600" cy="658368"/>
          </a:xfrm>
          <a:prstGeom prst="rect">
            <a:avLst/>
          </a:prstGeom>
          <a:noFill/>
          <a:ln/>
        </p:spPr>
        <p:txBody>
          <a:bodyPr wrap="square" rtlCol="0" anchor="ctr"/>
          <a:lstStyle/>
          <a:p>
            <a:pPr indent="0" marL="0">
              <a:buNone/>
            </a:pPr>
            <a:r>
              <a:rPr lang="en-US" sz="1100" b="1" spc="300" kern="0" dirty="0">
                <a:solidFill>
                  <a:srgbClr val="C8DCFA"/>
                </a:solidFill>
                <a:latin typeface="Calibri" pitchFamily="34" charset="0"/>
                <a:ea typeface="Calibri" pitchFamily="34" charset="-122"/>
                <a:cs typeface="Calibri" pitchFamily="34" charset="-120"/>
              </a:rPr>
              <a:t>MATURITY HORIZON OVERVIEW</a:t>
            </a:r>
            <a:endParaRPr lang="en-US" sz="1100" dirty="0"/>
          </a:p>
        </p:txBody>
      </p:sp>
      <p:sp>
        <p:nvSpPr>
          <p:cNvPr id="4" name="Text 2"/>
          <p:cNvSpPr/>
          <p:nvPr/>
        </p:nvSpPr>
        <p:spPr>
          <a:xfrm>
            <a:off x="365760" y="749808"/>
            <a:ext cx="8412480" cy="274320"/>
          </a:xfrm>
          <a:prstGeom prst="rect">
            <a:avLst/>
          </a:prstGeom>
          <a:noFill/>
          <a:ln/>
        </p:spPr>
        <p:txBody>
          <a:bodyPr wrap="square" rtlCol="0" anchor="ctr"/>
          <a:lstStyle/>
          <a:p>
            <a:pPr indent="0" marL="0">
              <a:buNone/>
            </a:pPr>
            <a:r>
              <a:rPr lang="en-US" sz="1200" dirty="0">
                <a:solidFill>
                  <a:srgbClr val="1A2E52"/>
                </a:solidFill>
                <a:latin typeface="Calibri" pitchFamily="34" charset="0"/>
                <a:ea typeface="Calibri" pitchFamily="34" charset="-122"/>
                <a:cs typeface="Calibri" pitchFamily="34" charset="-120"/>
              </a:rPr>
              <a:t>Each generation unlocks broader collaboration, deeper governance, and higher enterprise value</a:t>
            </a:r>
            <a:endParaRPr lang="en-US" sz="1200" dirty="0"/>
          </a:p>
        </p:txBody>
      </p:sp>
      <p:sp>
        <p:nvSpPr>
          <p:cNvPr id="5" name="Shape 3"/>
          <p:cNvSpPr/>
          <p:nvPr/>
        </p:nvSpPr>
        <p:spPr>
          <a:xfrm>
            <a:off x="365760" y="1115568"/>
            <a:ext cx="2606040" cy="3474720"/>
          </a:xfrm>
          <a:prstGeom prst="roundRect">
            <a:avLst>
              <a:gd name="adj" fmla="val 3509"/>
            </a:avLst>
          </a:prstGeom>
          <a:solidFill>
            <a:srgbClr val="FFFFFF"/>
          </a:solidFill>
          <a:ln/>
          <a:effectLst>
            <a:outerShdw sx="100000" sy="100000" kx="0" ky="0" algn="bl" rotWithShape="0" blurRad="101600" dist="38100" dir="8100000">
              <a:srgbClr val="000000">
                <a:alpha val="8000"/>
              </a:srgbClr>
            </a:outerShdw>
          </a:effectLst>
        </p:spPr>
      </p:sp>
      <p:sp>
        <p:nvSpPr>
          <p:cNvPr id="6" name="Shape 4"/>
          <p:cNvSpPr/>
          <p:nvPr/>
        </p:nvSpPr>
        <p:spPr>
          <a:xfrm>
            <a:off x="365760" y="1115568"/>
            <a:ext cx="2606040" cy="566928"/>
          </a:xfrm>
          <a:prstGeom prst="roundRect">
            <a:avLst>
              <a:gd name="adj" fmla="val 16129"/>
            </a:avLst>
          </a:prstGeom>
          <a:solidFill>
            <a:srgbClr val="0E8A5F"/>
          </a:solidFill>
          <a:ln/>
        </p:spPr>
      </p:sp>
      <p:sp>
        <p:nvSpPr>
          <p:cNvPr id="7" name="Shape 5"/>
          <p:cNvSpPr/>
          <p:nvPr/>
        </p:nvSpPr>
        <p:spPr>
          <a:xfrm>
            <a:off x="365760" y="1435608"/>
            <a:ext cx="2606040" cy="246888"/>
          </a:xfrm>
          <a:prstGeom prst="rect">
            <a:avLst/>
          </a:prstGeom>
          <a:solidFill>
            <a:srgbClr val="0E8A5F"/>
          </a:solidFill>
          <a:ln/>
        </p:spPr>
      </p:sp>
      <p:sp>
        <p:nvSpPr>
          <p:cNvPr id="8" name="Text 6"/>
          <p:cNvSpPr/>
          <p:nvPr/>
        </p:nvSpPr>
        <p:spPr>
          <a:xfrm>
            <a:off x="493776" y="1179576"/>
            <a:ext cx="2350008" cy="438912"/>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Gen 1  ·  Product</a:t>
            </a:r>
            <a:endParaRPr lang="en-US" sz="1400" dirty="0"/>
          </a:p>
        </p:txBody>
      </p:sp>
      <p:sp>
        <p:nvSpPr>
          <p:cNvPr id="9" name="Text 7"/>
          <p:cNvSpPr/>
          <p:nvPr/>
        </p:nvSpPr>
        <p:spPr>
          <a:xfrm>
            <a:off x="493776" y="1773936"/>
            <a:ext cx="2350008" cy="658368"/>
          </a:xfrm>
          <a:prstGeom prst="rect">
            <a:avLst/>
          </a:prstGeom>
          <a:noFill/>
          <a:ln/>
        </p:spPr>
        <p:txBody>
          <a:bodyPr wrap="square" rtlCol="0" anchor="ctr"/>
          <a:lstStyle/>
          <a:p>
            <a:pPr indent="0" marL="0">
              <a:buNone/>
            </a:pPr>
            <a:r>
              <a:rPr lang="en-US" sz="950" dirty="0">
                <a:solidFill>
                  <a:srgbClr val="1A2E52"/>
                </a:solidFill>
                <a:latin typeface="Calibri" pitchFamily="34" charset="0"/>
                <a:ea typeface="Calibri" pitchFamily="34" charset="-122"/>
                <a:cs typeface="Calibri" pitchFamily="34" charset="-120"/>
              </a:rPr>
              <a:t>AI agents built as scoped projects within a single product boundary</a:t>
            </a:r>
            <a:endParaRPr lang="en-US" sz="950" dirty="0"/>
          </a:p>
        </p:txBody>
      </p:sp>
      <p:sp>
        <p:nvSpPr>
          <p:cNvPr id="10" name="Shape 8"/>
          <p:cNvSpPr/>
          <p:nvPr/>
        </p:nvSpPr>
        <p:spPr>
          <a:xfrm>
            <a:off x="493776" y="2505456"/>
            <a:ext cx="1120140" cy="658368"/>
          </a:xfrm>
          <a:prstGeom prst="rect">
            <a:avLst/>
          </a:prstGeom>
          <a:solidFill>
            <a:srgbClr val="D4F0E5"/>
          </a:solidFill>
          <a:ln/>
        </p:spPr>
      </p:sp>
      <p:sp>
        <p:nvSpPr>
          <p:cNvPr id="11" name="Text 9"/>
          <p:cNvSpPr/>
          <p:nvPr/>
        </p:nvSpPr>
        <p:spPr>
          <a:xfrm>
            <a:off x="493776" y="2542032"/>
            <a:ext cx="1120140" cy="201168"/>
          </a:xfrm>
          <a:prstGeom prst="rect">
            <a:avLst/>
          </a:prstGeom>
          <a:noFill/>
          <a:ln/>
        </p:spPr>
        <p:txBody>
          <a:bodyPr wrap="square" rtlCol="0" anchor="ctr"/>
          <a:lstStyle/>
          <a:p>
            <a:pPr algn="ctr" indent="0" marL="0">
              <a:buNone/>
            </a:pPr>
            <a:r>
              <a:rPr lang="en-US" sz="800" dirty="0">
                <a:solidFill>
                  <a:srgbClr val="1A2E52"/>
                </a:solidFill>
                <a:latin typeface="Calibri" pitchFamily="34" charset="0"/>
                <a:ea typeface="Calibri" pitchFamily="34" charset="-122"/>
                <a:cs typeface="Calibri" pitchFamily="34" charset="-120"/>
              </a:rPr>
              <a:t>Business Value</a:t>
            </a:r>
            <a:endParaRPr lang="en-US" sz="800" dirty="0"/>
          </a:p>
        </p:txBody>
      </p:sp>
      <p:sp>
        <p:nvSpPr>
          <p:cNvPr id="12" name="Text 10"/>
          <p:cNvSpPr/>
          <p:nvPr/>
        </p:nvSpPr>
        <p:spPr>
          <a:xfrm>
            <a:off x="493776" y="2743200"/>
            <a:ext cx="1120140" cy="365760"/>
          </a:xfrm>
          <a:prstGeom prst="rect">
            <a:avLst/>
          </a:prstGeom>
          <a:noFill/>
          <a:ln/>
        </p:spPr>
        <p:txBody>
          <a:bodyPr wrap="square" rtlCol="0" anchor="ctr"/>
          <a:lstStyle/>
          <a:p>
            <a:pPr algn="ctr" indent="0" marL="0">
              <a:buNone/>
            </a:pPr>
            <a:r>
              <a:rPr lang="en-US" sz="2200" b="1" dirty="0">
                <a:solidFill>
                  <a:srgbClr val="0E8A5F"/>
                </a:solidFill>
                <a:latin typeface="Cambria" pitchFamily="34" charset="0"/>
                <a:ea typeface="Cambria" pitchFamily="34" charset="-122"/>
                <a:cs typeface="Cambria" pitchFamily="34" charset="-120"/>
              </a:rPr>
              <a:t>7/10</a:t>
            </a:r>
            <a:endParaRPr lang="en-US" sz="2200" dirty="0"/>
          </a:p>
        </p:txBody>
      </p:sp>
      <p:sp>
        <p:nvSpPr>
          <p:cNvPr id="13" name="Shape 11"/>
          <p:cNvSpPr/>
          <p:nvPr/>
        </p:nvSpPr>
        <p:spPr>
          <a:xfrm>
            <a:off x="1723644" y="2505456"/>
            <a:ext cx="1120140" cy="658368"/>
          </a:xfrm>
          <a:prstGeom prst="rect">
            <a:avLst/>
          </a:prstGeom>
          <a:solidFill>
            <a:srgbClr val="E8F0FD"/>
          </a:solidFill>
          <a:ln/>
        </p:spPr>
      </p:sp>
      <p:sp>
        <p:nvSpPr>
          <p:cNvPr id="14" name="Text 12"/>
          <p:cNvSpPr/>
          <p:nvPr/>
        </p:nvSpPr>
        <p:spPr>
          <a:xfrm>
            <a:off x="1723644" y="2542032"/>
            <a:ext cx="1120140" cy="201168"/>
          </a:xfrm>
          <a:prstGeom prst="rect">
            <a:avLst/>
          </a:prstGeom>
          <a:noFill/>
          <a:ln/>
        </p:spPr>
        <p:txBody>
          <a:bodyPr wrap="square" rtlCol="0" anchor="ctr"/>
          <a:lstStyle/>
          <a:p>
            <a:pPr algn="ctr" indent="0" marL="0">
              <a:buNone/>
            </a:pPr>
            <a:r>
              <a:rPr lang="en-US" sz="800" dirty="0">
                <a:solidFill>
                  <a:srgbClr val="1A2E52"/>
                </a:solidFill>
                <a:latin typeface="Calibri" pitchFamily="34" charset="0"/>
                <a:ea typeface="Calibri" pitchFamily="34" charset="-122"/>
                <a:cs typeface="Calibri" pitchFamily="34" charset="-120"/>
              </a:rPr>
              <a:t>Effort Required</a:t>
            </a:r>
            <a:endParaRPr lang="en-US" sz="800" dirty="0"/>
          </a:p>
        </p:txBody>
      </p:sp>
      <p:sp>
        <p:nvSpPr>
          <p:cNvPr id="15" name="Text 13"/>
          <p:cNvSpPr/>
          <p:nvPr/>
        </p:nvSpPr>
        <p:spPr>
          <a:xfrm>
            <a:off x="1723644" y="2743200"/>
            <a:ext cx="1120140" cy="365760"/>
          </a:xfrm>
          <a:prstGeom prst="rect">
            <a:avLst/>
          </a:prstGeom>
          <a:noFill/>
          <a:ln/>
        </p:spPr>
        <p:txBody>
          <a:bodyPr wrap="square" rtlCol="0" anchor="ctr"/>
          <a:lstStyle/>
          <a:p>
            <a:pPr algn="ctr" indent="0" marL="0">
              <a:buNone/>
            </a:pPr>
            <a:r>
              <a:rPr lang="en-US" sz="2200" b="1" dirty="0">
                <a:solidFill>
                  <a:srgbClr val="1A2E52"/>
                </a:solidFill>
                <a:latin typeface="Cambria" pitchFamily="34" charset="0"/>
                <a:ea typeface="Cambria" pitchFamily="34" charset="-122"/>
                <a:cs typeface="Cambria" pitchFamily="34" charset="-120"/>
              </a:rPr>
              <a:t>3/10</a:t>
            </a:r>
            <a:endParaRPr lang="en-US" sz="2200" dirty="0"/>
          </a:p>
        </p:txBody>
      </p:sp>
      <p:sp>
        <p:nvSpPr>
          <p:cNvPr id="16" name="Text 14"/>
          <p:cNvSpPr/>
          <p:nvPr/>
        </p:nvSpPr>
        <p:spPr>
          <a:xfrm>
            <a:off x="493776" y="3236976"/>
            <a:ext cx="2350008" cy="237744"/>
          </a:xfrm>
          <a:prstGeom prst="rect">
            <a:avLst/>
          </a:prstGeom>
          <a:noFill/>
          <a:ln/>
        </p:spPr>
        <p:txBody>
          <a:bodyPr wrap="square" rtlCol="0" anchor="ctr"/>
          <a:lstStyle/>
          <a:p>
            <a:pPr algn="ctr" indent="0" marL="0">
              <a:buNone/>
            </a:pPr>
            <a:r>
              <a:rPr lang="en-US" sz="1000" b="1" dirty="0">
                <a:solidFill>
                  <a:srgbClr val="0E8A5F"/>
                </a:solidFill>
                <a:latin typeface="Calibri" pitchFamily="34" charset="0"/>
                <a:ea typeface="Calibri" pitchFamily="34" charset="-122"/>
                <a:cs typeface="Calibri" pitchFamily="34" charset="-120"/>
              </a:rPr>
              <a:t>Quick Wins</a:t>
            </a:r>
            <a:endParaRPr lang="en-US" sz="1000" dirty="0"/>
          </a:p>
        </p:txBody>
      </p:sp>
      <p:sp>
        <p:nvSpPr>
          <p:cNvPr id="17" name="Text 15"/>
          <p:cNvSpPr/>
          <p:nvPr/>
        </p:nvSpPr>
        <p:spPr>
          <a:xfrm>
            <a:off x="493776" y="3511296"/>
            <a:ext cx="2350008" cy="182880"/>
          </a:xfrm>
          <a:prstGeom prst="rect">
            <a:avLst/>
          </a:prstGeom>
          <a:noFill/>
          <a:ln/>
        </p:spPr>
        <p:txBody>
          <a:bodyPr wrap="square" rtlCol="0" anchor="ctr"/>
          <a:lstStyle/>
          <a:p>
            <a:pPr indent="0" marL="0">
              <a:buNone/>
            </a:pPr>
            <a:r>
              <a:rPr lang="en-US" sz="850" b="1" dirty="0">
                <a:solidFill>
                  <a:srgbClr val="8DA3C4"/>
                </a:solidFill>
                <a:latin typeface="Calibri" pitchFamily="34" charset="0"/>
                <a:ea typeface="Calibri" pitchFamily="34" charset="-122"/>
                <a:cs typeface="Calibri" pitchFamily="34" charset="-120"/>
              </a:rPr>
              <a:t>Key architecture:</a:t>
            </a:r>
            <a:endParaRPr lang="en-US" sz="850" dirty="0"/>
          </a:p>
        </p:txBody>
      </p:sp>
      <p:sp>
        <p:nvSpPr>
          <p:cNvPr id="18" name="Text 16"/>
          <p:cNvSpPr/>
          <p:nvPr/>
        </p:nvSpPr>
        <p:spPr>
          <a:xfrm>
            <a:off x="493776" y="3694176"/>
            <a:ext cx="2350008" cy="566928"/>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Single-product agent  ·  Product-scoped MCP  ·  Squad-owned deployment</a:t>
            </a:r>
            <a:endParaRPr lang="en-US" sz="850" dirty="0"/>
          </a:p>
        </p:txBody>
      </p:sp>
      <p:sp>
        <p:nvSpPr>
          <p:cNvPr id="19" name="Shape 17"/>
          <p:cNvSpPr/>
          <p:nvPr/>
        </p:nvSpPr>
        <p:spPr>
          <a:xfrm>
            <a:off x="3182112" y="1115568"/>
            <a:ext cx="2606040" cy="3474720"/>
          </a:xfrm>
          <a:prstGeom prst="roundRect">
            <a:avLst>
              <a:gd name="adj" fmla="val 3509"/>
            </a:avLst>
          </a:prstGeom>
          <a:solidFill>
            <a:srgbClr val="FFFFFF"/>
          </a:solidFill>
          <a:ln/>
          <a:effectLst>
            <a:outerShdw sx="100000" sy="100000" kx="0" ky="0" algn="bl" rotWithShape="0" blurRad="101600" dist="38100" dir="8100000">
              <a:srgbClr val="000000">
                <a:alpha val="8000"/>
              </a:srgbClr>
            </a:outerShdw>
          </a:effectLst>
        </p:spPr>
      </p:sp>
      <p:sp>
        <p:nvSpPr>
          <p:cNvPr id="20" name="Shape 18"/>
          <p:cNvSpPr/>
          <p:nvPr/>
        </p:nvSpPr>
        <p:spPr>
          <a:xfrm>
            <a:off x="3182112" y="1115568"/>
            <a:ext cx="2606040" cy="566928"/>
          </a:xfrm>
          <a:prstGeom prst="roundRect">
            <a:avLst>
              <a:gd name="adj" fmla="val 16129"/>
            </a:avLst>
          </a:prstGeom>
          <a:solidFill>
            <a:srgbClr val="6C5CE7"/>
          </a:solidFill>
          <a:ln/>
        </p:spPr>
      </p:sp>
      <p:sp>
        <p:nvSpPr>
          <p:cNvPr id="21" name="Shape 19"/>
          <p:cNvSpPr/>
          <p:nvPr/>
        </p:nvSpPr>
        <p:spPr>
          <a:xfrm>
            <a:off x="3182112" y="1435608"/>
            <a:ext cx="2606040" cy="246888"/>
          </a:xfrm>
          <a:prstGeom prst="rect">
            <a:avLst/>
          </a:prstGeom>
          <a:solidFill>
            <a:srgbClr val="6C5CE7"/>
          </a:solidFill>
          <a:ln/>
        </p:spPr>
      </p:sp>
      <p:sp>
        <p:nvSpPr>
          <p:cNvPr id="22" name="Text 20"/>
          <p:cNvSpPr/>
          <p:nvPr/>
        </p:nvSpPr>
        <p:spPr>
          <a:xfrm>
            <a:off x="3310128" y="1179576"/>
            <a:ext cx="2350008" cy="438912"/>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Gen 2  ·  Program / Domain</a:t>
            </a:r>
            <a:endParaRPr lang="en-US" sz="1400" dirty="0"/>
          </a:p>
        </p:txBody>
      </p:sp>
      <p:sp>
        <p:nvSpPr>
          <p:cNvPr id="23" name="Text 21"/>
          <p:cNvSpPr/>
          <p:nvPr/>
        </p:nvSpPr>
        <p:spPr>
          <a:xfrm>
            <a:off x="3310128" y="1773936"/>
            <a:ext cx="2350008" cy="658368"/>
          </a:xfrm>
          <a:prstGeom prst="rect">
            <a:avLst/>
          </a:prstGeom>
          <a:noFill/>
          <a:ln/>
        </p:spPr>
        <p:txBody>
          <a:bodyPr wrap="square" rtlCol="0" anchor="ctr"/>
          <a:lstStyle/>
          <a:p>
            <a:pPr indent="0" marL="0">
              <a:buNone/>
            </a:pPr>
            <a:r>
              <a:rPr lang="en-US" sz="950" dirty="0">
                <a:solidFill>
                  <a:srgbClr val="1A2E52"/>
                </a:solidFill>
                <a:latin typeface="Calibri" pitchFamily="34" charset="0"/>
                <a:ea typeface="Calibri" pitchFamily="34" charset="-122"/>
                <a:cs typeface="Calibri" pitchFamily="34" charset="-120"/>
              </a:rPr>
              <a:t>Agents collaborate across products within a program or business unit through governed multi-agent supervisor architectures</a:t>
            </a:r>
            <a:endParaRPr lang="en-US" sz="950" dirty="0"/>
          </a:p>
        </p:txBody>
      </p:sp>
      <p:sp>
        <p:nvSpPr>
          <p:cNvPr id="24" name="Shape 22"/>
          <p:cNvSpPr/>
          <p:nvPr/>
        </p:nvSpPr>
        <p:spPr>
          <a:xfrm>
            <a:off x="3310128" y="2505456"/>
            <a:ext cx="1120140" cy="658368"/>
          </a:xfrm>
          <a:prstGeom prst="rect">
            <a:avLst/>
          </a:prstGeom>
          <a:solidFill>
            <a:srgbClr val="EAE8FC"/>
          </a:solidFill>
          <a:ln/>
        </p:spPr>
      </p:sp>
      <p:sp>
        <p:nvSpPr>
          <p:cNvPr id="25" name="Text 23"/>
          <p:cNvSpPr/>
          <p:nvPr/>
        </p:nvSpPr>
        <p:spPr>
          <a:xfrm>
            <a:off x="3310128" y="2542032"/>
            <a:ext cx="1120140" cy="201168"/>
          </a:xfrm>
          <a:prstGeom prst="rect">
            <a:avLst/>
          </a:prstGeom>
          <a:noFill/>
          <a:ln/>
        </p:spPr>
        <p:txBody>
          <a:bodyPr wrap="square" rtlCol="0" anchor="ctr"/>
          <a:lstStyle/>
          <a:p>
            <a:pPr algn="ctr" indent="0" marL="0">
              <a:buNone/>
            </a:pPr>
            <a:r>
              <a:rPr lang="en-US" sz="800" dirty="0">
                <a:solidFill>
                  <a:srgbClr val="1A2E52"/>
                </a:solidFill>
                <a:latin typeface="Calibri" pitchFamily="34" charset="0"/>
                <a:ea typeface="Calibri" pitchFamily="34" charset="-122"/>
                <a:cs typeface="Calibri" pitchFamily="34" charset="-120"/>
              </a:rPr>
              <a:t>Business Value</a:t>
            </a:r>
            <a:endParaRPr lang="en-US" sz="800" dirty="0"/>
          </a:p>
        </p:txBody>
      </p:sp>
      <p:sp>
        <p:nvSpPr>
          <p:cNvPr id="26" name="Text 24"/>
          <p:cNvSpPr/>
          <p:nvPr/>
        </p:nvSpPr>
        <p:spPr>
          <a:xfrm>
            <a:off x="3310128" y="2743200"/>
            <a:ext cx="1120140" cy="365760"/>
          </a:xfrm>
          <a:prstGeom prst="rect">
            <a:avLst/>
          </a:prstGeom>
          <a:noFill/>
          <a:ln/>
        </p:spPr>
        <p:txBody>
          <a:bodyPr wrap="square" rtlCol="0" anchor="ctr"/>
          <a:lstStyle/>
          <a:p>
            <a:pPr algn="ctr" indent="0" marL="0">
              <a:buNone/>
            </a:pPr>
            <a:r>
              <a:rPr lang="en-US" sz="2200" b="1" dirty="0">
                <a:solidFill>
                  <a:srgbClr val="6C5CE7"/>
                </a:solidFill>
                <a:latin typeface="Cambria" pitchFamily="34" charset="0"/>
                <a:ea typeface="Cambria" pitchFamily="34" charset="-122"/>
                <a:cs typeface="Cambria" pitchFamily="34" charset="-120"/>
              </a:rPr>
              <a:t>9/10</a:t>
            </a:r>
            <a:endParaRPr lang="en-US" sz="2200" dirty="0"/>
          </a:p>
        </p:txBody>
      </p:sp>
      <p:sp>
        <p:nvSpPr>
          <p:cNvPr id="27" name="Shape 25"/>
          <p:cNvSpPr/>
          <p:nvPr/>
        </p:nvSpPr>
        <p:spPr>
          <a:xfrm>
            <a:off x="4539996" y="2505456"/>
            <a:ext cx="1120140" cy="658368"/>
          </a:xfrm>
          <a:prstGeom prst="rect">
            <a:avLst/>
          </a:prstGeom>
          <a:solidFill>
            <a:srgbClr val="E8F0FD"/>
          </a:solidFill>
          <a:ln/>
        </p:spPr>
      </p:sp>
      <p:sp>
        <p:nvSpPr>
          <p:cNvPr id="28" name="Text 26"/>
          <p:cNvSpPr/>
          <p:nvPr/>
        </p:nvSpPr>
        <p:spPr>
          <a:xfrm>
            <a:off x="4539996" y="2542032"/>
            <a:ext cx="1120140" cy="201168"/>
          </a:xfrm>
          <a:prstGeom prst="rect">
            <a:avLst/>
          </a:prstGeom>
          <a:noFill/>
          <a:ln/>
        </p:spPr>
        <p:txBody>
          <a:bodyPr wrap="square" rtlCol="0" anchor="ctr"/>
          <a:lstStyle/>
          <a:p>
            <a:pPr algn="ctr" indent="0" marL="0">
              <a:buNone/>
            </a:pPr>
            <a:r>
              <a:rPr lang="en-US" sz="800" dirty="0">
                <a:solidFill>
                  <a:srgbClr val="1A2E52"/>
                </a:solidFill>
                <a:latin typeface="Calibri" pitchFamily="34" charset="0"/>
                <a:ea typeface="Calibri" pitchFamily="34" charset="-122"/>
                <a:cs typeface="Calibri" pitchFamily="34" charset="-120"/>
              </a:rPr>
              <a:t>Effort Required</a:t>
            </a:r>
            <a:endParaRPr lang="en-US" sz="800" dirty="0"/>
          </a:p>
        </p:txBody>
      </p:sp>
      <p:sp>
        <p:nvSpPr>
          <p:cNvPr id="29" name="Text 27"/>
          <p:cNvSpPr/>
          <p:nvPr/>
        </p:nvSpPr>
        <p:spPr>
          <a:xfrm>
            <a:off x="4539996" y="2743200"/>
            <a:ext cx="1120140" cy="365760"/>
          </a:xfrm>
          <a:prstGeom prst="rect">
            <a:avLst/>
          </a:prstGeom>
          <a:noFill/>
          <a:ln/>
        </p:spPr>
        <p:txBody>
          <a:bodyPr wrap="square" rtlCol="0" anchor="ctr"/>
          <a:lstStyle/>
          <a:p>
            <a:pPr algn="ctr" indent="0" marL="0">
              <a:buNone/>
            </a:pPr>
            <a:r>
              <a:rPr lang="en-US" sz="2200" b="1" dirty="0">
                <a:solidFill>
                  <a:srgbClr val="1A2E52"/>
                </a:solidFill>
                <a:latin typeface="Cambria" pitchFamily="34" charset="0"/>
                <a:ea typeface="Cambria" pitchFamily="34" charset="-122"/>
                <a:cs typeface="Cambria" pitchFamily="34" charset="-120"/>
              </a:rPr>
              <a:t>7/10</a:t>
            </a:r>
            <a:endParaRPr lang="en-US" sz="2200" dirty="0"/>
          </a:p>
        </p:txBody>
      </p:sp>
      <p:sp>
        <p:nvSpPr>
          <p:cNvPr id="30" name="Text 28"/>
          <p:cNvSpPr/>
          <p:nvPr/>
        </p:nvSpPr>
        <p:spPr>
          <a:xfrm>
            <a:off x="3310128" y="3236976"/>
            <a:ext cx="2350008" cy="237744"/>
          </a:xfrm>
          <a:prstGeom prst="rect">
            <a:avLst/>
          </a:prstGeom>
          <a:noFill/>
          <a:ln/>
        </p:spPr>
        <p:txBody>
          <a:bodyPr wrap="square" rtlCol="0" anchor="ctr"/>
          <a:lstStyle/>
          <a:p>
            <a:pPr algn="ctr" indent="0" marL="0">
              <a:buNone/>
            </a:pPr>
            <a:r>
              <a:rPr lang="en-US" sz="1000" b="1" dirty="0">
                <a:solidFill>
                  <a:srgbClr val="6C5CE7"/>
                </a:solidFill>
                <a:latin typeface="Calibri" pitchFamily="34" charset="0"/>
                <a:ea typeface="Calibri" pitchFamily="34" charset="-122"/>
                <a:cs typeface="Calibri" pitchFamily="34" charset="-120"/>
              </a:rPr>
              <a:t>Strategic Bet</a:t>
            </a:r>
            <a:endParaRPr lang="en-US" sz="1000" dirty="0"/>
          </a:p>
        </p:txBody>
      </p:sp>
      <p:sp>
        <p:nvSpPr>
          <p:cNvPr id="31" name="Text 29"/>
          <p:cNvSpPr/>
          <p:nvPr/>
        </p:nvSpPr>
        <p:spPr>
          <a:xfrm>
            <a:off x="3310128" y="3511296"/>
            <a:ext cx="2350008" cy="182880"/>
          </a:xfrm>
          <a:prstGeom prst="rect">
            <a:avLst/>
          </a:prstGeom>
          <a:noFill/>
          <a:ln/>
        </p:spPr>
        <p:txBody>
          <a:bodyPr wrap="square" rtlCol="0" anchor="ctr"/>
          <a:lstStyle/>
          <a:p>
            <a:pPr indent="0" marL="0">
              <a:buNone/>
            </a:pPr>
            <a:r>
              <a:rPr lang="en-US" sz="850" b="1" dirty="0">
                <a:solidFill>
                  <a:srgbClr val="8DA3C4"/>
                </a:solidFill>
                <a:latin typeface="Calibri" pitchFamily="34" charset="0"/>
                <a:ea typeface="Calibri" pitchFamily="34" charset="-122"/>
                <a:cs typeface="Calibri" pitchFamily="34" charset="-120"/>
              </a:rPr>
              <a:t>Key architecture:</a:t>
            </a:r>
            <a:endParaRPr lang="en-US" sz="850" dirty="0"/>
          </a:p>
        </p:txBody>
      </p:sp>
      <p:sp>
        <p:nvSpPr>
          <p:cNvPr id="32" name="Text 30"/>
          <p:cNvSpPr/>
          <p:nvPr/>
        </p:nvSpPr>
        <p:spPr>
          <a:xfrm>
            <a:off x="3310128" y="3694176"/>
            <a:ext cx="2350008" cy="566928"/>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Supervisor / Crew MAS  ·  MCP Mesh  ·  Domain semantic layer  ·  Federated identity</a:t>
            </a:r>
            <a:endParaRPr lang="en-US" sz="850" dirty="0"/>
          </a:p>
        </p:txBody>
      </p:sp>
      <p:sp>
        <p:nvSpPr>
          <p:cNvPr id="33" name="Shape 31"/>
          <p:cNvSpPr/>
          <p:nvPr/>
        </p:nvSpPr>
        <p:spPr>
          <a:xfrm>
            <a:off x="5998464" y="1115568"/>
            <a:ext cx="2606040" cy="3474720"/>
          </a:xfrm>
          <a:prstGeom prst="roundRect">
            <a:avLst>
              <a:gd name="adj" fmla="val 3509"/>
            </a:avLst>
          </a:prstGeom>
          <a:solidFill>
            <a:srgbClr val="FFFFFF"/>
          </a:solidFill>
          <a:ln/>
          <a:effectLst>
            <a:outerShdw sx="100000" sy="100000" kx="0" ky="0" algn="bl" rotWithShape="0" blurRad="101600" dist="38100" dir="8100000">
              <a:srgbClr val="000000">
                <a:alpha val="8000"/>
              </a:srgbClr>
            </a:outerShdw>
          </a:effectLst>
        </p:spPr>
      </p:sp>
      <p:sp>
        <p:nvSpPr>
          <p:cNvPr id="34" name="Shape 32"/>
          <p:cNvSpPr/>
          <p:nvPr/>
        </p:nvSpPr>
        <p:spPr>
          <a:xfrm>
            <a:off x="5998464" y="1115568"/>
            <a:ext cx="2606040" cy="566928"/>
          </a:xfrm>
          <a:prstGeom prst="roundRect">
            <a:avLst>
              <a:gd name="adj" fmla="val 16129"/>
            </a:avLst>
          </a:prstGeom>
          <a:solidFill>
            <a:srgbClr val="E05C2A"/>
          </a:solidFill>
          <a:ln/>
        </p:spPr>
      </p:sp>
      <p:sp>
        <p:nvSpPr>
          <p:cNvPr id="35" name="Shape 33"/>
          <p:cNvSpPr/>
          <p:nvPr/>
        </p:nvSpPr>
        <p:spPr>
          <a:xfrm>
            <a:off x="5998464" y="1435608"/>
            <a:ext cx="2606040" cy="246888"/>
          </a:xfrm>
          <a:prstGeom prst="rect">
            <a:avLst/>
          </a:prstGeom>
          <a:solidFill>
            <a:srgbClr val="E05C2A"/>
          </a:solidFill>
          <a:ln/>
        </p:spPr>
      </p:sp>
      <p:sp>
        <p:nvSpPr>
          <p:cNvPr id="36" name="Text 34"/>
          <p:cNvSpPr/>
          <p:nvPr/>
        </p:nvSpPr>
        <p:spPr>
          <a:xfrm>
            <a:off x="6126480" y="1179576"/>
            <a:ext cx="2350008" cy="438912"/>
          </a:xfrm>
          <a:prstGeom prst="rect">
            <a:avLst/>
          </a:prstGeom>
          <a:noFill/>
          <a:ln/>
        </p:spPr>
        <p:txBody>
          <a:bodyPr wrap="square"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Gen 3  ·  Enterprise</a:t>
            </a:r>
            <a:endParaRPr lang="en-US" sz="1400" dirty="0"/>
          </a:p>
        </p:txBody>
      </p:sp>
      <p:sp>
        <p:nvSpPr>
          <p:cNvPr id="37" name="Text 35"/>
          <p:cNvSpPr/>
          <p:nvPr/>
        </p:nvSpPr>
        <p:spPr>
          <a:xfrm>
            <a:off x="6126480" y="1773936"/>
            <a:ext cx="2350008" cy="658368"/>
          </a:xfrm>
          <a:prstGeom prst="rect">
            <a:avLst/>
          </a:prstGeom>
          <a:noFill/>
          <a:ln/>
        </p:spPr>
        <p:txBody>
          <a:bodyPr wrap="square" rtlCol="0" anchor="ctr"/>
          <a:lstStyle/>
          <a:p>
            <a:pPr indent="0" marL="0">
              <a:buNone/>
            </a:pPr>
            <a:r>
              <a:rPr lang="en-US" sz="950" dirty="0">
                <a:solidFill>
                  <a:srgbClr val="1A2E52"/>
                </a:solidFill>
                <a:latin typeface="Calibri" pitchFamily="34" charset="0"/>
                <a:ea typeface="Calibri" pitchFamily="34" charset="-122"/>
                <a:cs typeface="Calibri" pitchFamily="34" charset="-120"/>
              </a:rPr>
              <a:t>Agents communicate cross-program and outside the enterprise through advanced A2A protocols, strict governance, and an enterprise context layer</a:t>
            </a:r>
            <a:endParaRPr lang="en-US" sz="950" dirty="0"/>
          </a:p>
        </p:txBody>
      </p:sp>
      <p:sp>
        <p:nvSpPr>
          <p:cNvPr id="38" name="Shape 36"/>
          <p:cNvSpPr/>
          <p:nvPr/>
        </p:nvSpPr>
        <p:spPr>
          <a:xfrm>
            <a:off x="6126480" y="2505456"/>
            <a:ext cx="1120140" cy="658368"/>
          </a:xfrm>
          <a:prstGeom prst="rect">
            <a:avLst/>
          </a:prstGeom>
          <a:solidFill>
            <a:srgbClr val="FBE9E0"/>
          </a:solidFill>
          <a:ln/>
        </p:spPr>
      </p:sp>
      <p:sp>
        <p:nvSpPr>
          <p:cNvPr id="39" name="Text 37"/>
          <p:cNvSpPr/>
          <p:nvPr/>
        </p:nvSpPr>
        <p:spPr>
          <a:xfrm>
            <a:off x="6126480" y="2542032"/>
            <a:ext cx="1120140" cy="201168"/>
          </a:xfrm>
          <a:prstGeom prst="rect">
            <a:avLst/>
          </a:prstGeom>
          <a:noFill/>
          <a:ln/>
        </p:spPr>
        <p:txBody>
          <a:bodyPr wrap="square" rtlCol="0" anchor="ctr"/>
          <a:lstStyle/>
          <a:p>
            <a:pPr algn="ctr" indent="0" marL="0">
              <a:buNone/>
            </a:pPr>
            <a:r>
              <a:rPr lang="en-US" sz="800" dirty="0">
                <a:solidFill>
                  <a:srgbClr val="1A2E52"/>
                </a:solidFill>
                <a:latin typeface="Calibri" pitchFamily="34" charset="0"/>
                <a:ea typeface="Calibri" pitchFamily="34" charset="-122"/>
                <a:cs typeface="Calibri" pitchFamily="34" charset="-120"/>
              </a:rPr>
              <a:t>Business Value</a:t>
            </a:r>
            <a:endParaRPr lang="en-US" sz="800" dirty="0"/>
          </a:p>
        </p:txBody>
      </p:sp>
      <p:sp>
        <p:nvSpPr>
          <p:cNvPr id="40" name="Text 38"/>
          <p:cNvSpPr/>
          <p:nvPr/>
        </p:nvSpPr>
        <p:spPr>
          <a:xfrm>
            <a:off x="6126480" y="2743200"/>
            <a:ext cx="1120140" cy="365760"/>
          </a:xfrm>
          <a:prstGeom prst="rect">
            <a:avLst/>
          </a:prstGeom>
          <a:noFill/>
          <a:ln/>
        </p:spPr>
        <p:txBody>
          <a:bodyPr wrap="square" rtlCol="0" anchor="ctr"/>
          <a:lstStyle/>
          <a:p>
            <a:pPr algn="ctr" indent="0" marL="0">
              <a:buNone/>
            </a:pPr>
            <a:r>
              <a:rPr lang="en-US" sz="2200" b="1" dirty="0">
                <a:solidFill>
                  <a:srgbClr val="E05C2A"/>
                </a:solidFill>
                <a:latin typeface="Cambria" pitchFamily="34" charset="0"/>
                <a:ea typeface="Cambria" pitchFamily="34" charset="-122"/>
                <a:cs typeface="Cambria" pitchFamily="34" charset="-120"/>
              </a:rPr>
              <a:t>10/10</a:t>
            </a:r>
            <a:endParaRPr lang="en-US" sz="2200" dirty="0"/>
          </a:p>
        </p:txBody>
      </p:sp>
      <p:sp>
        <p:nvSpPr>
          <p:cNvPr id="41" name="Shape 39"/>
          <p:cNvSpPr/>
          <p:nvPr/>
        </p:nvSpPr>
        <p:spPr>
          <a:xfrm>
            <a:off x="7356348" y="2505456"/>
            <a:ext cx="1120140" cy="658368"/>
          </a:xfrm>
          <a:prstGeom prst="rect">
            <a:avLst/>
          </a:prstGeom>
          <a:solidFill>
            <a:srgbClr val="E8F0FD"/>
          </a:solidFill>
          <a:ln/>
        </p:spPr>
      </p:sp>
      <p:sp>
        <p:nvSpPr>
          <p:cNvPr id="42" name="Text 40"/>
          <p:cNvSpPr/>
          <p:nvPr/>
        </p:nvSpPr>
        <p:spPr>
          <a:xfrm>
            <a:off x="7356348" y="2542032"/>
            <a:ext cx="1120140" cy="201168"/>
          </a:xfrm>
          <a:prstGeom prst="rect">
            <a:avLst/>
          </a:prstGeom>
          <a:noFill/>
          <a:ln/>
        </p:spPr>
        <p:txBody>
          <a:bodyPr wrap="square" rtlCol="0" anchor="ctr"/>
          <a:lstStyle/>
          <a:p>
            <a:pPr algn="ctr" indent="0" marL="0">
              <a:buNone/>
            </a:pPr>
            <a:r>
              <a:rPr lang="en-US" sz="800" dirty="0">
                <a:solidFill>
                  <a:srgbClr val="1A2E52"/>
                </a:solidFill>
                <a:latin typeface="Calibri" pitchFamily="34" charset="0"/>
                <a:ea typeface="Calibri" pitchFamily="34" charset="-122"/>
                <a:cs typeface="Calibri" pitchFamily="34" charset="-120"/>
              </a:rPr>
              <a:t>Effort Required</a:t>
            </a:r>
            <a:endParaRPr lang="en-US" sz="800" dirty="0"/>
          </a:p>
        </p:txBody>
      </p:sp>
      <p:sp>
        <p:nvSpPr>
          <p:cNvPr id="43" name="Text 41"/>
          <p:cNvSpPr/>
          <p:nvPr/>
        </p:nvSpPr>
        <p:spPr>
          <a:xfrm>
            <a:off x="7356348" y="2743200"/>
            <a:ext cx="1120140" cy="365760"/>
          </a:xfrm>
          <a:prstGeom prst="rect">
            <a:avLst/>
          </a:prstGeom>
          <a:noFill/>
          <a:ln/>
        </p:spPr>
        <p:txBody>
          <a:bodyPr wrap="square" rtlCol="0" anchor="ctr"/>
          <a:lstStyle/>
          <a:p>
            <a:pPr algn="ctr" indent="0" marL="0">
              <a:buNone/>
            </a:pPr>
            <a:r>
              <a:rPr lang="en-US" sz="2200" b="1" dirty="0">
                <a:solidFill>
                  <a:srgbClr val="1A2E52"/>
                </a:solidFill>
                <a:latin typeface="Cambria" pitchFamily="34" charset="0"/>
                <a:ea typeface="Cambria" pitchFamily="34" charset="-122"/>
                <a:cs typeface="Cambria" pitchFamily="34" charset="-120"/>
              </a:rPr>
              <a:t>9/10</a:t>
            </a:r>
            <a:endParaRPr lang="en-US" sz="2200" dirty="0"/>
          </a:p>
        </p:txBody>
      </p:sp>
      <p:sp>
        <p:nvSpPr>
          <p:cNvPr id="44" name="Text 42"/>
          <p:cNvSpPr/>
          <p:nvPr/>
        </p:nvSpPr>
        <p:spPr>
          <a:xfrm>
            <a:off x="6126480" y="3236976"/>
            <a:ext cx="2350008" cy="237744"/>
          </a:xfrm>
          <a:prstGeom prst="rect">
            <a:avLst/>
          </a:prstGeom>
          <a:noFill/>
          <a:ln/>
        </p:spPr>
        <p:txBody>
          <a:bodyPr wrap="square" rtlCol="0" anchor="ctr"/>
          <a:lstStyle/>
          <a:p>
            <a:pPr algn="ctr" indent="0" marL="0">
              <a:buNone/>
            </a:pPr>
            <a:r>
              <a:rPr lang="en-US" sz="1000" b="1" dirty="0">
                <a:solidFill>
                  <a:srgbClr val="E05C2A"/>
                </a:solidFill>
                <a:latin typeface="Calibri" pitchFamily="34" charset="0"/>
                <a:ea typeface="Calibri" pitchFamily="34" charset="-122"/>
                <a:cs typeface="Calibri" pitchFamily="34" charset="-120"/>
              </a:rPr>
              <a:t>Transformative</a:t>
            </a:r>
            <a:endParaRPr lang="en-US" sz="1000" dirty="0"/>
          </a:p>
        </p:txBody>
      </p:sp>
      <p:sp>
        <p:nvSpPr>
          <p:cNvPr id="45" name="Text 43"/>
          <p:cNvSpPr/>
          <p:nvPr/>
        </p:nvSpPr>
        <p:spPr>
          <a:xfrm>
            <a:off x="6126480" y="3511296"/>
            <a:ext cx="2350008" cy="182880"/>
          </a:xfrm>
          <a:prstGeom prst="rect">
            <a:avLst/>
          </a:prstGeom>
          <a:noFill/>
          <a:ln/>
        </p:spPr>
        <p:txBody>
          <a:bodyPr wrap="square" rtlCol="0" anchor="ctr"/>
          <a:lstStyle/>
          <a:p>
            <a:pPr indent="0" marL="0">
              <a:buNone/>
            </a:pPr>
            <a:r>
              <a:rPr lang="en-US" sz="850" b="1" dirty="0">
                <a:solidFill>
                  <a:srgbClr val="8DA3C4"/>
                </a:solidFill>
                <a:latin typeface="Calibri" pitchFamily="34" charset="0"/>
                <a:ea typeface="Calibri" pitchFamily="34" charset="-122"/>
                <a:cs typeface="Calibri" pitchFamily="34" charset="-120"/>
              </a:rPr>
              <a:t>Key architecture:</a:t>
            </a:r>
            <a:endParaRPr lang="en-US" sz="850" dirty="0"/>
          </a:p>
        </p:txBody>
      </p:sp>
      <p:sp>
        <p:nvSpPr>
          <p:cNvPr id="46" name="Text 44"/>
          <p:cNvSpPr/>
          <p:nvPr/>
        </p:nvSpPr>
        <p:spPr>
          <a:xfrm>
            <a:off x="6126480" y="3694176"/>
            <a:ext cx="2350008" cy="566928"/>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A2A protocol  ·  Universal MCP gateway  ·  Enterprise context layer  ·  Zero-trust SecOps</a:t>
            </a:r>
            <a:endParaRPr lang="en-US" sz="850" dirty="0"/>
          </a:p>
        </p:txBody>
      </p:sp>
      <p:sp>
        <p:nvSpPr>
          <p:cNvPr id="47" name="Shape 45"/>
          <p:cNvSpPr/>
          <p:nvPr/>
        </p:nvSpPr>
        <p:spPr>
          <a:xfrm>
            <a:off x="3017520" y="2560320"/>
            <a:ext cx="3017520" cy="0"/>
          </a:xfrm>
          <a:prstGeom prst="line">
            <a:avLst/>
          </a:prstGeom>
          <a:noFill/>
          <a:ln w="15240">
            <a:solidFill>
              <a:srgbClr val="243A63"/>
            </a:solidFill>
            <a:prstDash val="dash"/>
            <a:tailEnd type="open"/>
          </a:ln>
        </p:spPr>
      </p:sp>
      <p:sp>
        <p:nvSpPr>
          <p:cNvPr id="48" name="Text 46"/>
          <p:cNvSpPr/>
          <p:nvPr/>
        </p:nvSpPr>
        <p:spPr>
          <a:xfrm>
            <a:off x="3017520" y="2286000"/>
            <a:ext cx="3017520" cy="256032"/>
          </a:xfrm>
          <a:prstGeom prst="rect">
            <a:avLst/>
          </a:prstGeom>
          <a:noFill/>
          <a:ln/>
        </p:spPr>
        <p:txBody>
          <a:bodyPr wrap="square" rtlCol="0" anchor="ctr"/>
          <a:lstStyle/>
          <a:p>
            <a:pPr algn="ctr" indent="0" marL="0">
              <a:buNone/>
            </a:pPr>
            <a:r>
              <a:rPr lang="en-US" sz="800" dirty="0">
                <a:solidFill>
                  <a:srgbClr val="8DA3C4"/>
                </a:solidFill>
                <a:latin typeface="Calibri" pitchFamily="34" charset="0"/>
                <a:ea typeface="Calibri" pitchFamily="34" charset="-122"/>
                <a:cs typeface="Calibri" pitchFamily="34" charset="-120"/>
              </a:rPr>
              <a:t>Expanding scope  ·  Greater value  ·  Increased investment</a:t>
            </a:r>
            <a:endParaRPr lang="en-US" sz="800" dirty="0"/>
          </a:p>
        </p:txBody>
      </p:sp>
      <p:sp>
        <p:nvSpPr>
          <p:cNvPr id="49" name="Text 47"/>
          <p:cNvSpPr/>
          <p:nvPr/>
        </p:nvSpPr>
        <p:spPr>
          <a:xfrm>
            <a:off x="0" y="4956048"/>
            <a:ext cx="9144000" cy="182880"/>
          </a:xfrm>
          <a:prstGeom prst="rect">
            <a:avLst/>
          </a:prstGeom>
          <a:noFill/>
          <a:ln/>
        </p:spPr>
        <p:txBody>
          <a:bodyPr wrap="square" rtlCol="0" anchor="ctr"/>
          <a:lstStyle/>
          <a:p>
            <a:pPr algn="ctr" indent="0" marL="0">
              <a:buNone/>
            </a:pPr>
            <a:r>
              <a:rPr lang="en-US" sz="750" spc="200" kern="0" dirty="0">
                <a:solidFill>
                  <a:srgbClr val="8DA3C4"/>
                </a:solidFill>
                <a:latin typeface="Calibri" pitchFamily="34" charset="0"/>
                <a:ea typeface="Calibri" pitchFamily="34" charset="-122"/>
                <a:cs typeface="Calibri" pitchFamily="34" charset="-120"/>
              </a:rPr>
              <a:t>CONFIDENTIAL  ·  ENTERPRISE ARCHITECTURE</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1E3C"/>
          </a:solidFill>
          <a:ln/>
        </p:spPr>
      </p:sp>
      <p:sp>
        <p:nvSpPr>
          <p:cNvPr id="3" name="Shape 1"/>
          <p:cNvSpPr/>
          <p:nvPr/>
        </p:nvSpPr>
        <p:spPr>
          <a:xfrm>
            <a:off x="0" y="0"/>
            <a:ext cx="201168" cy="658368"/>
          </a:xfrm>
          <a:prstGeom prst="rect">
            <a:avLst/>
          </a:prstGeom>
          <a:solidFill>
            <a:srgbClr val="0E8A5F"/>
          </a:solidFill>
          <a:ln/>
        </p:spPr>
      </p:sp>
      <p:sp>
        <p:nvSpPr>
          <p:cNvPr id="4" name="Text 2"/>
          <p:cNvSpPr/>
          <p:nvPr/>
        </p:nvSpPr>
        <p:spPr>
          <a:xfrm>
            <a:off x="347472" y="0"/>
            <a:ext cx="5943600" cy="658368"/>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Gen 1  ·  Product Maturity</a:t>
            </a:r>
            <a:endParaRPr lang="en-US" sz="1600" dirty="0"/>
          </a:p>
        </p:txBody>
      </p:sp>
      <p:sp>
        <p:nvSpPr>
          <p:cNvPr id="5" name="Text 3"/>
          <p:cNvSpPr/>
          <p:nvPr/>
        </p:nvSpPr>
        <p:spPr>
          <a:xfrm>
            <a:off x="6400800" y="0"/>
            <a:ext cx="2560320" cy="658368"/>
          </a:xfrm>
          <a:prstGeom prst="rect">
            <a:avLst/>
          </a:prstGeom>
          <a:noFill/>
          <a:ln/>
        </p:spPr>
        <p:txBody>
          <a:bodyPr wrap="square" rtlCol="0" anchor="ctr"/>
          <a:lstStyle/>
          <a:p>
            <a:pPr algn="r" indent="0" marL="0">
              <a:buNone/>
            </a:pPr>
            <a:r>
              <a:rPr lang="en-US" sz="1000" dirty="0">
                <a:solidFill>
                  <a:srgbClr val="C8DCFA"/>
                </a:solidFill>
                <a:latin typeface="Calibri" pitchFamily="34" charset="0"/>
                <a:ea typeface="Calibri" pitchFamily="34" charset="-122"/>
                <a:cs typeface="Calibri" pitchFamily="34" charset="-120"/>
              </a:rPr>
              <a:t>Value 7/10  ·  Effort 3/10  ·  Quick Wins</a:t>
            </a:r>
            <a:endParaRPr lang="en-US" sz="1000" dirty="0"/>
          </a:p>
        </p:txBody>
      </p:sp>
      <p:sp>
        <p:nvSpPr>
          <p:cNvPr id="6" name="Text 4"/>
          <p:cNvSpPr/>
          <p:nvPr/>
        </p:nvSpPr>
        <p:spPr>
          <a:xfrm>
            <a:off x="347472" y="713232"/>
            <a:ext cx="8595360" cy="256032"/>
          </a:xfrm>
          <a:prstGeom prst="rect">
            <a:avLst/>
          </a:prstGeom>
          <a:noFill/>
          <a:ln/>
        </p:spPr>
        <p:txBody>
          <a:bodyPr wrap="square" rtlCol="0" anchor="ctr"/>
          <a:lstStyle/>
          <a:p>
            <a:pPr indent="0" marL="0">
              <a:buNone/>
            </a:pPr>
            <a:r>
              <a:rPr lang="en-US" sz="1050" i="1" dirty="0">
                <a:solidFill>
                  <a:srgbClr val="1A2E52"/>
                </a:solidFill>
                <a:latin typeface="Calibri" pitchFamily="34" charset="0"/>
                <a:ea typeface="Calibri" pitchFamily="34" charset="-122"/>
                <a:cs typeface="Calibri" pitchFamily="34" charset="-120"/>
              </a:rPr>
              <a:t>AI agents built as scoped projects within a single product boundary</a:t>
            </a:r>
            <a:endParaRPr lang="en-US" sz="1050" dirty="0"/>
          </a:p>
        </p:txBody>
      </p:sp>
      <p:sp>
        <p:nvSpPr>
          <p:cNvPr id="7" name="Shape 5"/>
          <p:cNvSpPr/>
          <p:nvPr/>
        </p:nvSpPr>
        <p:spPr>
          <a:xfrm>
            <a:off x="347472" y="1005840"/>
            <a:ext cx="8449056" cy="256032"/>
          </a:xfrm>
          <a:prstGeom prst="rect">
            <a:avLst/>
          </a:prstGeom>
          <a:solidFill>
            <a:srgbClr val="D4F0E5"/>
          </a:solidFill>
          <a:ln/>
        </p:spPr>
      </p:sp>
      <p:sp>
        <p:nvSpPr>
          <p:cNvPr id="8" name="Text 6"/>
          <p:cNvSpPr/>
          <p:nvPr/>
        </p:nvSpPr>
        <p:spPr>
          <a:xfrm>
            <a:off x="457200" y="1005840"/>
            <a:ext cx="8229600" cy="256032"/>
          </a:xfrm>
          <a:prstGeom prst="rect">
            <a:avLst/>
          </a:prstGeom>
          <a:noFill/>
          <a:ln/>
        </p:spPr>
        <p:txBody>
          <a:bodyPr wrap="square" rtlCol="0" anchor="ctr"/>
          <a:lstStyle/>
          <a:p>
            <a:pPr indent="0" marL="0">
              <a:buNone/>
            </a:pPr>
            <a:r>
              <a:rPr lang="en-US" sz="900" b="1" dirty="0">
                <a:solidFill>
                  <a:srgbClr val="0E8A5F"/>
                </a:solidFill>
                <a:latin typeface="Calibri" pitchFamily="34" charset="0"/>
                <a:ea typeface="Calibri" pitchFamily="34" charset="-122"/>
                <a:cs typeface="Calibri" pitchFamily="34" charset="-120"/>
              </a:rPr>
              <a:t>Architecture: Single-product agent  ·  Product-scoped MCP  ·  Squad-owned deployment</a:t>
            </a:r>
            <a:endParaRPr lang="en-US" sz="900" dirty="0"/>
          </a:p>
        </p:txBody>
      </p:sp>
      <p:sp>
        <p:nvSpPr>
          <p:cNvPr id="9" name="Shape 7"/>
          <p:cNvSpPr/>
          <p:nvPr/>
        </p:nvSpPr>
        <p:spPr>
          <a:xfrm>
            <a:off x="347472" y="1353312"/>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10" name="Shape 8"/>
          <p:cNvSpPr/>
          <p:nvPr/>
        </p:nvSpPr>
        <p:spPr>
          <a:xfrm>
            <a:off x="347472" y="1353312"/>
            <a:ext cx="2743200" cy="292608"/>
          </a:xfrm>
          <a:prstGeom prst="rect">
            <a:avLst/>
          </a:prstGeom>
          <a:solidFill>
            <a:srgbClr val="0D9E75"/>
          </a:solidFill>
          <a:ln/>
        </p:spPr>
      </p:sp>
      <p:sp>
        <p:nvSpPr>
          <p:cNvPr id="11" name="Shape 9"/>
          <p:cNvSpPr/>
          <p:nvPr/>
        </p:nvSpPr>
        <p:spPr>
          <a:xfrm>
            <a:off x="347472" y="1353312"/>
            <a:ext cx="2743200" cy="292608"/>
          </a:xfrm>
          <a:prstGeom prst="roundRect">
            <a:avLst>
              <a:gd name="adj" fmla="val 21875"/>
            </a:avLst>
          </a:prstGeom>
          <a:solidFill>
            <a:srgbClr val="0D9E75"/>
          </a:solidFill>
          <a:ln/>
        </p:spPr>
      </p:sp>
      <p:sp>
        <p:nvSpPr>
          <p:cNvPr id="12" name="Shape 10"/>
          <p:cNvSpPr/>
          <p:nvPr/>
        </p:nvSpPr>
        <p:spPr>
          <a:xfrm>
            <a:off x="347472" y="1517904"/>
            <a:ext cx="2743200" cy="128016"/>
          </a:xfrm>
          <a:prstGeom prst="rect">
            <a:avLst/>
          </a:prstGeom>
          <a:solidFill>
            <a:srgbClr val="0D9E75"/>
          </a:solidFill>
          <a:ln/>
        </p:spPr>
      </p:sp>
      <p:sp>
        <p:nvSpPr>
          <p:cNvPr id="13" name="Text 11"/>
          <p:cNvSpPr/>
          <p:nvPr/>
        </p:nvSpPr>
        <p:spPr>
          <a:xfrm>
            <a:off x="438912" y="1353312"/>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DATA</a:t>
            </a:r>
            <a:endParaRPr lang="en-US" sz="900" dirty="0"/>
          </a:p>
        </p:txBody>
      </p:sp>
      <p:sp>
        <p:nvSpPr>
          <p:cNvPr id="14" name="Text 12"/>
          <p:cNvSpPr/>
          <p:nvPr/>
        </p:nvSpPr>
        <p:spPr>
          <a:xfrm>
            <a:off x="2377440" y="1362456"/>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V:7</a:t>
            </a:r>
            <a:endParaRPr lang="en-US" sz="800" dirty="0"/>
          </a:p>
        </p:txBody>
      </p:sp>
      <p:sp>
        <p:nvSpPr>
          <p:cNvPr id="15" name="Text 13"/>
          <p:cNvSpPr/>
          <p:nvPr/>
        </p:nvSpPr>
        <p:spPr>
          <a:xfrm>
            <a:off x="2706624" y="1362456"/>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E:3</a:t>
            </a:r>
            <a:endParaRPr lang="en-US" sz="800" dirty="0"/>
          </a:p>
        </p:txBody>
      </p:sp>
      <p:sp>
        <p:nvSpPr>
          <p:cNvPr id="16" name="Text 14"/>
          <p:cNvSpPr/>
          <p:nvPr/>
        </p:nvSpPr>
        <p:spPr>
          <a:xfrm>
            <a:off x="438912" y="1673352"/>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Lakehouse product context</a:t>
            </a:r>
            <a:endParaRPr lang="en-US" sz="1050" dirty="0"/>
          </a:p>
        </p:txBody>
      </p:sp>
      <p:sp>
        <p:nvSpPr>
          <p:cNvPr id="17" name="Text 15"/>
          <p:cNvSpPr/>
          <p:nvPr/>
        </p:nvSpPr>
        <p:spPr>
          <a:xfrm>
            <a:off x="438912" y="1975104"/>
            <a:ext cx="2560320" cy="201168"/>
          </a:xfrm>
          <a:prstGeom prst="rect">
            <a:avLst/>
          </a:prstGeom>
          <a:noFill/>
          <a:ln/>
        </p:spPr>
        <p:txBody>
          <a:bodyPr wrap="square" rtlCol="0" anchor="ctr"/>
          <a:lstStyle/>
          <a:p>
            <a:pPr indent="0" marL="0">
              <a:buNone/>
            </a:pPr>
            <a:r>
              <a:rPr lang="en-US" sz="800" b="1" dirty="0">
                <a:solidFill>
                  <a:srgbClr val="0D9E75"/>
                </a:solidFill>
                <a:latin typeface="Calibri" pitchFamily="34" charset="0"/>
                <a:ea typeface="Calibri" pitchFamily="34" charset="-122"/>
                <a:cs typeface="Calibri" pitchFamily="34" charset="-120"/>
              </a:rPr>
              <a:t>Product RAG · Delta Lake · Semantic tagging</a:t>
            </a:r>
            <a:endParaRPr lang="en-US" sz="800" dirty="0"/>
          </a:p>
        </p:txBody>
      </p:sp>
      <p:sp>
        <p:nvSpPr>
          <p:cNvPr id="18" name="Text 16"/>
          <p:cNvSpPr/>
          <p:nvPr/>
        </p:nvSpPr>
        <p:spPr>
          <a:xfrm>
            <a:off x="438912" y="2176272"/>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Product-scoped knowledge store with retrieval-augmented generation. Agents query claims, eligibility, and benefits data bounded to one product with no cross-domain access.</a:t>
            </a:r>
            <a:endParaRPr lang="en-US" sz="850" dirty="0"/>
          </a:p>
        </p:txBody>
      </p:sp>
      <p:sp>
        <p:nvSpPr>
          <p:cNvPr id="19" name="Shape 17"/>
          <p:cNvSpPr/>
          <p:nvPr/>
        </p:nvSpPr>
        <p:spPr>
          <a:xfrm>
            <a:off x="3236976" y="1353312"/>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20" name="Shape 18"/>
          <p:cNvSpPr/>
          <p:nvPr/>
        </p:nvSpPr>
        <p:spPr>
          <a:xfrm>
            <a:off x="3236976" y="1353312"/>
            <a:ext cx="2743200" cy="292608"/>
          </a:xfrm>
          <a:prstGeom prst="rect">
            <a:avLst/>
          </a:prstGeom>
          <a:solidFill>
            <a:srgbClr val="7C6FDD"/>
          </a:solidFill>
          <a:ln/>
        </p:spPr>
      </p:sp>
      <p:sp>
        <p:nvSpPr>
          <p:cNvPr id="21" name="Shape 19"/>
          <p:cNvSpPr/>
          <p:nvPr/>
        </p:nvSpPr>
        <p:spPr>
          <a:xfrm>
            <a:off x="3236976" y="1353312"/>
            <a:ext cx="2743200" cy="292608"/>
          </a:xfrm>
          <a:prstGeom prst="roundRect">
            <a:avLst>
              <a:gd name="adj" fmla="val 21875"/>
            </a:avLst>
          </a:prstGeom>
          <a:solidFill>
            <a:srgbClr val="7C6FDD"/>
          </a:solidFill>
          <a:ln/>
        </p:spPr>
      </p:sp>
      <p:sp>
        <p:nvSpPr>
          <p:cNvPr id="22" name="Shape 20"/>
          <p:cNvSpPr/>
          <p:nvPr/>
        </p:nvSpPr>
        <p:spPr>
          <a:xfrm>
            <a:off x="3236976" y="1517904"/>
            <a:ext cx="2743200" cy="128016"/>
          </a:xfrm>
          <a:prstGeom prst="rect">
            <a:avLst/>
          </a:prstGeom>
          <a:solidFill>
            <a:srgbClr val="7C6FDD"/>
          </a:solidFill>
          <a:ln/>
        </p:spPr>
      </p:sp>
      <p:sp>
        <p:nvSpPr>
          <p:cNvPr id="23" name="Text 21"/>
          <p:cNvSpPr/>
          <p:nvPr/>
        </p:nvSpPr>
        <p:spPr>
          <a:xfrm>
            <a:off x="3328416" y="1353312"/>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APPLICATION</a:t>
            </a:r>
            <a:endParaRPr lang="en-US" sz="900" dirty="0"/>
          </a:p>
        </p:txBody>
      </p:sp>
      <p:sp>
        <p:nvSpPr>
          <p:cNvPr id="24" name="Text 22"/>
          <p:cNvSpPr/>
          <p:nvPr/>
        </p:nvSpPr>
        <p:spPr>
          <a:xfrm>
            <a:off x="5266944" y="1362456"/>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V:8</a:t>
            </a:r>
            <a:endParaRPr lang="en-US" sz="800" dirty="0"/>
          </a:p>
        </p:txBody>
      </p:sp>
      <p:sp>
        <p:nvSpPr>
          <p:cNvPr id="25" name="Text 23"/>
          <p:cNvSpPr/>
          <p:nvPr/>
        </p:nvSpPr>
        <p:spPr>
          <a:xfrm>
            <a:off x="5596128" y="1362456"/>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E:4</a:t>
            </a:r>
            <a:endParaRPr lang="en-US" sz="800" dirty="0"/>
          </a:p>
        </p:txBody>
      </p:sp>
      <p:sp>
        <p:nvSpPr>
          <p:cNvPr id="26" name="Text 24"/>
          <p:cNvSpPr/>
          <p:nvPr/>
        </p:nvSpPr>
        <p:spPr>
          <a:xfrm>
            <a:off x="3328416" y="1673352"/>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Single-product agent</a:t>
            </a:r>
            <a:endParaRPr lang="en-US" sz="1050" dirty="0"/>
          </a:p>
        </p:txBody>
      </p:sp>
      <p:sp>
        <p:nvSpPr>
          <p:cNvPr id="27" name="Text 25"/>
          <p:cNvSpPr/>
          <p:nvPr/>
        </p:nvSpPr>
        <p:spPr>
          <a:xfrm>
            <a:off x="3328416" y="1975104"/>
            <a:ext cx="2560320" cy="201168"/>
          </a:xfrm>
          <a:prstGeom prst="rect">
            <a:avLst/>
          </a:prstGeom>
          <a:noFill/>
          <a:ln/>
        </p:spPr>
        <p:txBody>
          <a:bodyPr wrap="square" rtlCol="0" anchor="ctr"/>
          <a:lstStyle/>
          <a:p>
            <a:pPr indent="0" marL="0">
              <a:buNone/>
            </a:pPr>
            <a:r>
              <a:rPr lang="en-US" sz="800" b="1" dirty="0">
                <a:solidFill>
                  <a:srgbClr val="7C6FDD"/>
                </a:solidFill>
                <a:latin typeface="Calibri" pitchFamily="34" charset="0"/>
                <a:ea typeface="Calibri" pitchFamily="34" charset="-122"/>
                <a:cs typeface="Calibri" pitchFamily="34" charset="-120"/>
              </a:rPr>
              <a:t>RAG · Workflow automation · Explainable AI · Release mgmt</a:t>
            </a:r>
            <a:endParaRPr lang="en-US" sz="800" dirty="0"/>
          </a:p>
        </p:txBody>
      </p:sp>
      <p:sp>
        <p:nvSpPr>
          <p:cNvPr id="28" name="Text 26"/>
          <p:cNvSpPr/>
          <p:nvPr/>
        </p:nvSpPr>
        <p:spPr>
          <a:xfrm>
            <a:off x="3328416" y="2176272"/>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Autonomous agent resolves claim inquiries and prior-auth within one product. Explainable outputs surface reasoning steps for audit. Squad-cadence release gates.</a:t>
            </a:r>
            <a:endParaRPr lang="en-US" sz="850" dirty="0"/>
          </a:p>
        </p:txBody>
      </p:sp>
      <p:sp>
        <p:nvSpPr>
          <p:cNvPr id="29" name="Shape 27"/>
          <p:cNvSpPr/>
          <p:nvPr/>
        </p:nvSpPr>
        <p:spPr>
          <a:xfrm>
            <a:off x="6126480" y="1353312"/>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30" name="Shape 28"/>
          <p:cNvSpPr/>
          <p:nvPr/>
        </p:nvSpPr>
        <p:spPr>
          <a:xfrm>
            <a:off x="6126480" y="1353312"/>
            <a:ext cx="2743200" cy="292608"/>
          </a:xfrm>
          <a:prstGeom prst="rect">
            <a:avLst/>
          </a:prstGeom>
          <a:solidFill>
            <a:srgbClr val="D45529"/>
          </a:solidFill>
          <a:ln/>
        </p:spPr>
      </p:sp>
      <p:sp>
        <p:nvSpPr>
          <p:cNvPr id="31" name="Shape 29"/>
          <p:cNvSpPr/>
          <p:nvPr/>
        </p:nvSpPr>
        <p:spPr>
          <a:xfrm>
            <a:off x="6126480" y="1353312"/>
            <a:ext cx="2743200" cy="292608"/>
          </a:xfrm>
          <a:prstGeom prst="roundRect">
            <a:avLst>
              <a:gd name="adj" fmla="val 21875"/>
            </a:avLst>
          </a:prstGeom>
          <a:solidFill>
            <a:srgbClr val="D45529"/>
          </a:solidFill>
          <a:ln/>
        </p:spPr>
      </p:sp>
      <p:sp>
        <p:nvSpPr>
          <p:cNvPr id="32" name="Shape 30"/>
          <p:cNvSpPr/>
          <p:nvPr/>
        </p:nvSpPr>
        <p:spPr>
          <a:xfrm>
            <a:off x="6126480" y="1517904"/>
            <a:ext cx="2743200" cy="128016"/>
          </a:xfrm>
          <a:prstGeom prst="rect">
            <a:avLst/>
          </a:prstGeom>
          <a:solidFill>
            <a:srgbClr val="D45529"/>
          </a:solidFill>
          <a:ln/>
        </p:spPr>
      </p:sp>
      <p:sp>
        <p:nvSpPr>
          <p:cNvPr id="33" name="Text 31"/>
          <p:cNvSpPr/>
          <p:nvPr/>
        </p:nvSpPr>
        <p:spPr>
          <a:xfrm>
            <a:off x="6217920" y="1353312"/>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INTEGRATION</a:t>
            </a:r>
            <a:endParaRPr lang="en-US" sz="900" dirty="0"/>
          </a:p>
        </p:txBody>
      </p:sp>
      <p:sp>
        <p:nvSpPr>
          <p:cNvPr id="34" name="Text 32"/>
          <p:cNvSpPr/>
          <p:nvPr/>
        </p:nvSpPr>
        <p:spPr>
          <a:xfrm>
            <a:off x="8156448" y="1362456"/>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V:6</a:t>
            </a:r>
            <a:endParaRPr lang="en-US" sz="800" dirty="0"/>
          </a:p>
        </p:txBody>
      </p:sp>
      <p:sp>
        <p:nvSpPr>
          <p:cNvPr id="35" name="Text 33"/>
          <p:cNvSpPr/>
          <p:nvPr/>
        </p:nvSpPr>
        <p:spPr>
          <a:xfrm>
            <a:off x="8485632" y="1362456"/>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E:3</a:t>
            </a:r>
            <a:endParaRPr lang="en-US" sz="800" dirty="0"/>
          </a:p>
        </p:txBody>
      </p:sp>
      <p:sp>
        <p:nvSpPr>
          <p:cNvPr id="36" name="Text 34"/>
          <p:cNvSpPr/>
          <p:nvPr/>
        </p:nvSpPr>
        <p:spPr>
          <a:xfrm>
            <a:off x="6217920" y="1673352"/>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MCP product connector</a:t>
            </a:r>
            <a:endParaRPr lang="en-US" sz="1050" dirty="0"/>
          </a:p>
        </p:txBody>
      </p:sp>
      <p:sp>
        <p:nvSpPr>
          <p:cNvPr id="37" name="Text 35"/>
          <p:cNvSpPr/>
          <p:nvPr/>
        </p:nvSpPr>
        <p:spPr>
          <a:xfrm>
            <a:off x="6217920" y="1975104"/>
            <a:ext cx="2560320" cy="201168"/>
          </a:xfrm>
          <a:prstGeom prst="rect">
            <a:avLst/>
          </a:prstGeom>
          <a:noFill/>
          <a:ln/>
        </p:spPr>
        <p:txBody>
          <a:bodyPr wrap="square" rtlCol="0" anchor="ctr"/>
          <a:lstStyle/>
          <a:p>
            <a:pPr indent="0" marL="0">
              <a:buNone/>
            </a:pPr>
            <a:r>
              <a:rPr lang="en-US" sz="800" b="1" dirty="0">
                <a:solidFill>
                  <a:srgbClr val="D45529"/>
                </a:solidFill>
                <a:latin typeface="Calibri" pitchFamily="34" charset="0"/>
                <a:ea typeface="Calibri" pitchFamily="34" charset="-122"/>
                <a:cs typeface="Calibri" pitchFamily="34" charset="-120"/>
              </a:rPr>
              <a:t>MCP server · API connector · Drift baseline</a:t>
            </a:r>
            <a:endParaRPr lang="en-US" sz="800" dirty="0"/>
          </a:p>
        </p:txBody>
      </p:sp>
      <p:sp>
        <p:nvSpPr>
          <p:cNvPr id="38" name="Text 36"/>
          <p:cNvSpPr/>
          <p:nvPr/>
        </p:nvSpPr>
        <p:spPr>
          <a:xfrm>
            <a:off x="6217920" y="2176272"/>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Point-to-point MCP connector for a single product system. Schema drift baselined and monitored at product level. Agent reads/writes to claims or auth records.</a:t>
            </a:r>
            <a:endParaRPr lang="en-US" sz="850" dirty="0"/>
          </a:p>
        </p:txBody>
      </p:sp>
      <p:sp>
        <p:nvSpPr>
          <p:cNvPr id="39" name="Shape 37"/>
          <p:cNvSpPr/>
          <p:nvPr/>
        </p:nvSpPr>
        <p:spPr>
          <a:xfrm>
            <a:off x="347472" y="3035808"/>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40" name="Shape 38"/>
          <p:cNvSpPr/>
          <p:nvPr/>
        </p:nvSpPr>
        <p:spPr>
          <a:xfrm>
            <a:off x="347472" y="3035808"/>
            <a:ext cx="2743200" cy="292608"/>
          </a:xfrm>
          <a:prstGeom prst="rect">
            <a:avLst/>
          </a:prstGeom>
          <a:solidFill>
            <a:srgbClr val="C94F7B"/>
          </a:solidFill>
          <a:ln/>
        </p:spPr>
      </p:sp>
      <p:sp>
        <p:nvSpPr>
          <p:cNvPr id="41" name="Shape 39"/>
          <p:cNvSpPr/>
          <p:nvPr/>
        </p:nvSpPr>
        <p:spPr>
          <a:xfrm>
            <a:off x="347472" y="3035808"/>
            <a:ext cx="2743200" cy="292608"/>
          </a:xfrm>
          <a:prstGeom prst="roundRect">
            <a:avLst>
              <a:gd name="adj" fmla="val 21875"/>
            </a:avLst>
          </a:prstGeom>
          <a:solidFill>
            <a:srgbClr val="C94F7B"/>
          </a:solidFill>
          <a:ln/>
        </p:spPr>
      </p:sp>
      <p:sp>
        <p:nvSpPr>
          <p:cNvPr id="42" name="Shape 40"/>
          <p:cNvSpPr/>
          <p:nvPr/>
        </p:nvSpPr>
        <p:spPr>
          <a:xfrm>
            <a:off x="347472" y="3200400"/>
            <a:ext cx="2743200" cy="128016"/>
          </a:xfrm>
          <a:prstGeom prst="rect">
            <a:avLst/>
          </a:prstGeom>
          <a:solidFill>
            <a:srgbClr val="C94F7B"/>
          </a:solidFill>
          <a:ln/>
        </p:spPr>
      </p:sp>
      <p:sp>
        <p:nvSpPr>
          <p:cNvPr id="43" name="Text 41"/>
          <p:cNvSpPr/>
          <p:nvPr/>
        </p:nvSpPr>
        <p:spPr>
          <a:xfrm>
            <a:off x="438912" y="3035808"/>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SECURITY</a:t>
            </a:r>
            <a:endParaRPr lang="en-US" sz="900" dirty="0"/>
          </a:p>
        </p:txBody>
      </p:sp>
      <p:sp>
        <p:nvSpPr>
          <p:cNvPr id="44" name="Text 42"/>
          <p:cNvSpPr/>
          <p:nvPr/>
        </p:nvSpPr>
        <p:spPr>
          <a:xfrm>
            <a:off x="2377440" y="3044952"/>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V:7</a:t>
            </a:r>
            <a:endParaRPr lang="en-US" sz="800" dirty="0"/>
          </a:p>
        </p:txBody>
      </p:sp>
      <p:sp>
        <p:nvSpPr>
          <p:cNvPr id="45" name="Text 43"/>
          <p:cNvSpPr/>
          <p:nvPr/>
        </p:nvSpPr>
        <p:spPr>
          <a:xfrm>
            <a:off x="2706624" y="3044952"/>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E:2</a:t>
            </a:r>
            <a:endParaRPr lang="en-US" sz="800" dirty="0"/>
          </a:p>
        </p:txBody>
      </p:sp>
      <p:sp>
        <p:nvSpPr>
          <p:cNvPr id="46" name="Text 44"/>
          <p:cNvSpPr/>
          <p:nvPr/>
        </p:nvSpPr>
        <p:spPr>
          <a:xfrm>
            <a:off x="438912" y="3355848"/>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Prompt &amp; I/O guardrails</a:t>
            </a:r>
            <a:endParaRPr lang="en-US" sz="1050" dirty="0"/>
          </a:p>
        </p:txBody>
      </p:sp>
      <p:sp>
        <p:nvSpPr>
          <p:cNvPr id="47" name="Text 45"/>
          <p:cNvSpPr/>
          <p:nvPr/>
        </p:nvSpPr>
        <p:spPr>
          <a:xfrm>
            <a:off x="438912" y="3657600"/>
            <a:ext cx="2560320" cy="201168"/>
          </a:xfrm>
          <a:prstGeom prst="rect">
            <a:avLst/>
          </a:prstGeom>
          <a:noFill/>
          <a:ln/>
        </p:spPr>
        <p:txBody>
          <a:bodyPr wrap="square" rtlCol="0" anchor="ctr"/>
          <a:lstStyle/>
          <a:p>
            <a:pPr indent="0" marL="0">
              <a:buNone/>
            </a:pPr>
            <a:r>
              <a:rPr lang="en-US" sz="800" b="1" dirty="0">
                <a:solidFill>
                  <a:srgbClr val="C94F7B"/>
                </a:solidFill>
                <a:latin typeface="Calibri" pitchFamily="34" charset="0"/>
                <a:ea typeface="Calibri" pitchFamily="34" charset="-122"/>
                <a:cs typeface="Calibri" pitchFamily="34" charset="-120"/>
              </a:rPr>
              <a:t>Input/output filtering · PHI masking · Tool sandbox</a:t>
            </a:r>
            <a:endParaRPr lang="en-US" sz="800" dirty="0"/>
          </a:p>
        </p:txBody>
      </p:sp>
      <p:sp>
        <p:nvSpPr>
          <p:cNvPr id="48" name="Text 46"/>
          <p:cNvSpPr/>
          <p:nvPr/>
        </p:nvSpPr>
        <p:spPr>
          <a:xfrm>
            <a:off x="438912" y="3858768"/>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Input/output filtering and sandboxed tool execution prevent prompt injection and data exfiltration within one product. HIPAA PHI masking enforced per product boundary.</a:t>
            </a:r>
            <a:endParaRPr lang="en-US" sz="850" dirty="0"/>
          </a:p>
        </p:txBody>
      </p:sp>
      <p:sp>
        <p:nvSpPr>
          <p:cNvPr id="49" name="Shape 47"/>
          <p:cNvSpPr/>
          <p:nvPr/>
        </p:nvSpPr>
        <p:spPr>
          <a:xfrm>
            <a:off x="3236976" y="3035808"/>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50" name="Shape 48"/>
          <p:cNvSpPr/>
          <p:nvPr/>
        </p:nvSpPr>
        <p:spPr>
          <a:xfrm>
            <a:off x="3236976" y="3035808"/>
            <a:ext cx="2743200" cy="292608"/>
          </a:xfrm>
          <a:prstGeom prst="rect">
            <a:avLst/>
          </a:prstGeom>
          <a:solidFill>
            <a:srgbClr val="2E84D8"/>
          </a:solidFill>
          <a:ln/>
        </p:spPr>
      </p:sp>
      <p:sp>
        <p:nvSpPr>
          <p:cNvPr id="51" name="Shape 49"/>
          <p:cNvSpPr/>
          <p:nvPr/>
        </p:nvSpPr>
        <p:spPr>
          <a:xfrm>
            <a:off x="3236976" y="3035808"/>
            <a:ext cx="2743200" cy="292608"/>
          </a:xfrm>
          <a:prstGeom prst="roundRect">
            <a:avLst>
              <a:gd name="adj" fmla="val 21875"/>
            </a:avLst>
          </a:prstGeom>
          <a:solidFill>
            <a:srgbClr val="2E84D8"/>
          </a:solidFill>
          <a:ln/>
        </p:spPr>
      </p:sp>
      <p:sp>
        <p:nvSpPr>
          <p:cNvPr id="52" name="Shape 50"/>
          <p:cNvSpPr/>
          <p:nvPr/>
        </p:nvSpPr>
        <p:spPr>
          <a:xfrm>
            <a:off x="3236976" y="3200400"/>
            <a:ext cx="2743200" cy="128016"/>
          </a:xfrm>
          <a:prstGeom prst="rect">
            <a:avLst/>
          </a:prstGeom>
          <a:solidFill>
            <a:srgbClr val="2E84D8"/>
          </a:solidFill>
          <a:ln/>
        </p:spPr>
      </p:sp>
      <p:sp>
        <p:nvSpPr>
          <p:cNvPr id="53" name="Text 51"/>
          <p:cNvSpPr/>
          <p:nvPr/>
        </p:nvSpPr>
        <p:spPr>
          <a:xfrm>
            <a:off x="3328416" y="3035808"/>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IDENTITY</a:t>
            </a:r>
            <a:endParaRPr lang="en-US" sz="900" dirty="0"/>
          </a:p>
        </p:txBody>
      </p:sp>
      <p:sp>
        <p:nvSpPr>
          <p:cNvPr id="54" name="Text 52"/>
          <p:cNvSpPr/>
          <p:nvPr/>
        </p:nvSpPr>
        <p:spPr>
          <a:xfrm>
            <a:off x="5266944" y="3044952"/>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V:5</a:t>
            </a:r>
            <a:endParaRPr lang="en-US" sz="800" dirty="0"/>
          </a:p>
        </p:txBody>
      </p:sp>
      <p:sp>
        <p:nvSpPr>
          <p:cNvPr id="55" name="Text 53"/>
          <p:cNvSpPr/>
          <p:nvPr/>
        </p:nvSpPr>
        <p:spPr>
          <a:xfrm>
            <a:off x="5596128" y="3044952"/>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E:2</a:t>
            </a:r>
            <a:endParaRPr lang="en-US" sz="800" dirty="0"/>
          </a:p>
        </p:txBody>
      </p:sp>
      <p:sp>
        <p:nvSpPr>
          <p:cNvPr id="56" name="Text 54"/>
          <p:cNvSpPr/>
          <p:nvPr/>
        </p:nvSpPr>
        <p:spPr>
          <a:xfrm>
            <a:off x="3328416" y="3355848"/>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Agent service account</a:t>
            </a:r>
            <a:endParaRPr lang="en-US" sz="1050" dirty="0"/>
          </a:p>
        </p:txBody>
      </p:sp>
      <p:sp>
        <p:nvSpPr>
          <p:cNvPr id="57" name="Text 55"/>
          <p:cNvSpPr/>
          <p:nvPr/>
        </p:nvSpPr>
        <p:spPr>
          <a:xfrm>
            <a:off x="3328416" y="3657600"/>
            <a:ext cx="2560320" cy="201168"/>
          </a:xfrm>
          <a:prstGeom prst="rect">
            <a:avLst/>
          </a:prstGeom>
          <a:noFill/>
          <a:ln/>
        </p:spPr>
        <p:txBody>
          <a:bodyPr wrap="square" rtlCol="0" anchor="ctr"/>
          <a:lstStyle/>
          <a:p>
            <a:pPr indent="0" marL="0">
              <a:buNone/>
            </a:pPr>
            <a:r>
              <a:rPr lang="en-US" sz="800" b="1" dirty="0">
                <a:solidFill>
                  <a:srgbClr val="2E84D8"/>
                </a:solidFill>
                <a:latin typeface="Calibri" pitchFamily="34" charset="0"/>
                <a:ea typeface="Calibri" pitchFamily="34" charset="-122"/>
                <a:cs typeface="Calibri" pitchFamily="34" charset="-120"/>
              </a:rPr>
              <a:t>OAuth / OIDC · RBAC · Least privilege</a:t>
            </a:r>
            <a:endParaRPr lang="en-US" sz="800" dirty="0"/>
          </a:p>
        </p:txBody>
      </p:sp>
      <p:sp>
        <p:nvSpPr>
          <p:cNvPr id="58" name="Text 56"/>
          <p:cNvSpPr/>
          <p:nvPr/>
        </p:nvSpPr>
        <p:spPr>
          <a:xfrm>
            <a:off x="3328416" y="3858768"/>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Single-product agent identity with scoped OAuth/OIDC credentials and least-privilege role bindings. Agent lifecycle tied to product squad ownership.</a:t>
            </a:r>
            <a:endParaRPr lang="en-US" sz="850" dirty="0"/>
          </a:p>
        </p:txBody>
      </p:sp>
      <p:sp>
        <p:nvSpPr>
          <p:cNvPr id="59" name="Shape 57"/>
          <p:cNvSpPr/>
          <p:nvPr/>
        </p:nvSpPr>
        <p:spPr>
          <a:xfrm>
            <a:off x="6126480" y="3035808"/>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60" name="Shape 58"/>
          <p:cNvSpPr/>
          <p:nvPr/>
        </p:nvSpPr>
        <p:spPr>
          <a:xfrm>
            <a:off x="6126480" y="3035808"/>
            <a:ext cx="2743200" cy="292608"/>
          </a:xfrm>
          <a:prstGeom prst="rect">
            <a:avLst/>
          </a:prstGeom>
          <a:solidFill>
            <a:srgbClr val="B87316"/>
          </a:solidFill>
          <a:ln/>
        </p:spPr>
      </p:sp>
      <p:sp>
        <p:nvSpPr>
          <p:cNvPr id="61" name="Shape 59"/>
          <p:cNvSpPr/>
          <p:nvPr/>
        </p:nvSpPr>
        <p:spPr>
          <a:xfrm>
            <a:off x="6126480" y="3035808"/>
            <a:ext cx="2743200" cy="292608"/>
          </a:xfrm>
          <a:prstGeom prst="roundRect">
            <a:avLst>
              <a:gd name="adj" fmla="val 21875"/>
            </a:avLst>
          </a:prstGeom>
          <a:solidFill>
            <a:srgbClr val="B87316"/>
          </a:solidFill>
          <a:ln/>
        </p:spPr>
      </p:sp>
      <p:sp>
        <p:nvSpPr>
          <p:cNvPr id="62" name="Shape 60"/>
          <p:cNvSpPr/>
          <p:nvPr/>
        </p:nvSpPr>
        <p:spPr>
          <a:xfrm>
            <a:off x="6126480" y="3200400"/>
            <a:ext cx="2743200" cy="128016"/>
          </a:xfrm>
          <a:prstGeom prst="rect">
            <a:avLst/>
          </a:prstGeom>
          <a:solidFill>
            <a:srgbClr val="B87316"/>
          </a:solidFill>
          <a:ln/>
        </p:spPr>
      </p:sp>
      <p:sp>
        <p:nvSpPr>
          <p:cNvPr id="63" name="Text 61"/>
          <p:cNvSpPr/>
          <p:nvPr/>
        </p:nvSpPr>
        <p:spPr>
          <a:xfrm>
            <a:off x="6217920" y="3035808"/>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TEAM</a:t>
            </a:r>
            <a:endParaRPr lang="en-US" sz="900" dirty="0"/>
          </a:p>
        </p:txBody>
      </p:sp>
      <p:sp>
        <p:nvSpPr>
          <p:cNvPr id="64" name="Text 62"/>
          <p:cNvSpPr/>
          <p:nvPr/>
        </p:nvSpPr>
        <p:spPr>
          <a:xfrm>
            <a:off x="8156448" y="3044952"/>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V:6</a:t>
            </a:r>
            <a:endParaRPr lang="en-US" sz="800" dirty="0"/>
          </a:p>
        </p:txBody>
      </p:sp>
      <p:sp>
        <p:nvSpPr>
          <p:cNvPr id="65" name="Text 63"/>
          <p:cNvSpPr/>
          <p:nvPr/>
        </p:nvSpPr>
        <p:spPr>
          <a:xfrm>
            <a:off x="8485632" y="3044952"/>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E:2</a:t>
            </a:r>
            <a:endParaRPr lang="en-US" sz="800" dirty="0"/>
          </a:p>
        </p:txBody>
      </p:sp>
      <p:sp>
        <p:nvSpPr>
          <p:cNvPr id="66" name="Text 64"/>
          <p:cNvSpPr/>
          <p:nvPr/>
        </p:nvSpPr>
        <p:spPr>
          <a:xfrm>
            <a:off x="6217920" y="3355848"/>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Squad AI literacy</a:t>
            </a:r>
            <a:endParaRPr lang="en-US" sz="1050" dirty="0"/>
          </a:p>
        </p:txBody>
      </p:sp>
      <p:sp>
        <p:nvSpPr>
          <p:cNvPr id="67" name="Text 65"/>
          <p:cNvSpPr/>
          <p:nvPr/>
        </p:nvSpPr>
        <p:spPr>
          <a:xfrm>
            <a:off x="6217920" y="3657600"/>
            <a:ext cx="2560320" cy="201168"/>
          </a:xfrm>
          <a:prstGeom prst="rect">
            <a:avLst/>
          </a:prstGeom>
          <a:noFill/>
          <a:ln/>
        </p:spPr>
        <p:txBody>
          <a:bodyPr wrap="square" rtlCol="0" anchor="ctr"/>
          <a:lstStyle/>
          <a:p>
            <a:pPr indent="0" marL="0">
              <a:buNone/>
            </a:pPr>
            <a:r>
              <a:rPr lang="en-US" sz="800" b="1" dirty="0">
                <a:solidFill>
                  <a:srgbClr val="B87316"/>
                </a:solidFill>
                <a:latin typeface="Calibri" pitchFamily="34" charset="0"/>
                <a:ea typeface="Calibri" pitchFamily="34" charset="-122"/>
                <a:cs typeface="Calibri" pitchFamily="34" charset="-120"/>
              </a:rPr>
              <a:t>Prompt engineering · AI SDLC · Gamified delivery</a:t>
            </a:r>
            <a:endParaRPr lang="en-US" sz="800" dirty="0"/>
          </a:p>
        </p:txBody>
      </p:sp>
      <p:sp>
        <p:nvSpPr>
          <p:cNvPr id="68" name="Text 66"/>
          <p:cNvSpPr/>
          <p:nvPr/>
        </p:nvSpPr>
        <p:spPr>
          <a:xfrm>
            <a:off x="6217920" y="3858768"/>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Upskilling one squad on agentic tooling and AI SDLC. Gamified delivery metrics track agent quality gate passage and deployment frequency.</a:t>
            </a:r>
            <a:endParaRPr lang="en-US" sz="850" dirty="0"/>
          </a:p>
        </p:txBody>
      </p:sp>
      <p:sp>
        <p:nvSpPr>
          <p:cNvPr id="69" name="Text 67"/>
          <p:cNvSpPr/>
          <p:nvPr/>
        </p:nvSpPr>
        <p:spPr>
          <a:xfrm>
            <a:off x="0" y="4956048"/>
            <a:ext cx="9144000" cy="182880"/>
          </a:xfrm>
          <a:prstGeom prst="rect">
            <a:avLst/>
          </a:prstGeom>
          <a:noFill/>
          <a:ln/>
        </p:spPr>
        <p:txBody>
          <a:bodyPr wrap="square" rtlCol="0" anchor="ctr"/>
          <a:lstStyle/>
          <a:p>
            <a:pPr algn="ctr" indent="0" marL="0">
              <a:buNone/>
            </a:pPr>
            <a:r>
              <a:rPr lang="en-US" sz="750" spc="150" kern="0" dirty="0">
                <a:solidFill>
                  <a:srgbClr val="8DA3C4"/>
                </a:solidFill>
                <a:latin typeface="Calibri" pitchFamily="34" charset="0"/>
                <a:ea typeface="Calibri" pitchFamily="34" charset="-122"/>
                <a:cs typeface="Calibri" pitchFamily="34" charset="-120"/>
              </a:rPr>
              <a:t>Gen 1 — Product Maturity  ·  CONFIDENTIAL</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1E3C"/>
          </a:solidFill>
          <a:ln/>
        </p:spPr>
      </p:sp>
      <p:sp>
        <p:nvSpPr>
          <p:cNvPr id="3" name="Shape 1"/>
          <p:cNvSpPr/>
          <p:nvPr/>
        </p:nvSpPr>
        <p:spPr>
          <a:xfrm>
            <a:off x="0" y="0"/>
            <a:ext cx="201168" cy="658368"/>
          </a:xfrm>
          <a:prstGeom prst="rect">
            <a:avLst/>
          </a:prstGeom>
          <a:solidFill>
            <a:srgbClr val="6C5CE7"/>
          </a:solidFill>
          <a:ln/>
        </p:spPr>
      </p:sp>
      <p:sp>
        <p:nvSpPr>
          <p:cNvPr id="4" name="Text 2"/>
          <p:cNvSpPr/>
          <p:nvPr/>
        </p:nvSpPr>
        <p:spPr>
          <a:xfrm>
            <a:off x="347472" y="0"/>
            <a:ext cx="5943600" cy="658368"/>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Gen 2  ·  Program / Domain Maturity</a:t>
            </a:r>
            <a:endParaRPr lang="en-US" sz="1600" dirty="0"/>
          </a:p>
        </p:txBody>
      </p:sp>
      <p:sp>
        <p:nvSpPr>
          <p:cNvPr id="5" name="Text 3"/>
          <p:cNvSpPr/>
          <p:nvPr/>
        </p:nvSpPr>
        <p:spPr>
          <a:xfrm>
            <a:off x="6400800" y="0"/>
            <a:ext cx="2560320" cy="658368"/>
          </a:xfrm>
          <a:prstGeom prst="rect">
            <a:avLst/>
          </a:prstGeom>
          <a:noFill/>
          <a:ln/>
        </p:spPr>
        <p:txBody>
          <a:bodyPr wrap="square" rtlCol="0" anchor="ctr"/>
          <a:lstStyle/>
          <a:p>
            <a:pPr algn="r" indent="0" marL="0">
              <a:buNone/>
            </a:pPr>
            <a:r>
              <a:rPr lang="en-US" sz="1000" dirty="0">
                <a:solidFill>
                  <a:srgbClr val="C8DCFA"/>
                </a:solidFill>
                <a:latin typeface="Calibri" pitchFamily="34" charset="0"/>
                <a:ea typeface="Calibri" pitchFamily="34" charset="-122"/>
                <a:cs typeface="Calibri" pitchFamily="34" charset="-120"/>
              </a:rPr>
              <a:t>Value 9/10  ·  Effort 7/10  ·  Strategic Bet</a:t>
            </a:r>
            <a:endParaRPr lang="en-US" sz="1000" dirty="0"/>
          </a:p>
        </p:txBody>
      </p:sp>
      <p:sp>
        <p:nvSpPr>
          <p:cNvPr id="6" name="Text 4"/>
          <p:cNvSpPr/>
          <p:nvPr/>
        </p:nvSpPr>
        <p:spPr>
          <a:xfrm>
            <a:off x="347472" y="713232"/>
            <a:ext cx="8595360" cy="256032"/>
          </a:xfrm>
          <a:prstGeom prst="rect">
            <a:avLst/>
          </a:prstGeom>
          <a:noFill/>
          <a:ln/>
        </p:spPr>
        <p:txBody>
          <a:bodyPr wrap="square" rtlCol="0" anchor="ctr"/>
          <a:lstStyle/>
          <a:p>
            <a:pPr indent="0" marL="0">
              <a:buNone/>
            </a:pPr>
            <a:r>
              <a:rPr lang="en-US" sz="1050" i="1" dirty="0">
                <a:solidFill>
                  <a:srgbClr val="1A2E52"/>
                </a:solidFill>
                <a:latin typeface="Calibri" pitchFamily="34" charset="0"/>
                <a:ea typeface="Calibri" pitchFamily="34" charset="-122"/>
                <a:cs typeface="Calibri" pitchFamily="34" charset="-120"/>
              </a:rPr>
              <a:t>Agents collaborate across products within a program or business unit through governed multi-agent supervisor architectures</a:t>
            </a:r>
            <a:endParaRPr lang="en-US" sz="1050" dirty="0"/>
          </a:p>
        </p:txBody>
      </p:sp>
      <p:sp>
        <p:nvSpPr>
          <p:cNvPr id="7" name="Shape 5"/>
          <p:cNvSpPr/>
          <p:nvPr/>
        </p:nvSpPr>
        <p:spPr>
          <a:xfrm>
            <a:off x="347472" y="1005840"/>
            <a:ext cx="8449056" cy="256032"/>
          </a:xfrm>
          <a:prstGeom prst="rect">
            <a:avLst/>
          </a:prstGeom>
          <a:solidFill>
            <a:srgbClr val="EAE8FC"/>
          </a:solidFill>
          <a:ln/>
        </p:spPr>
      </p:sp>
      <p:sp>
        <p:nvSpPr>
          <p:cNvPr id="8" name="Text 6"/>
          <p:cNvSpPr/>
          <p:nvPr/>
        </p:nvSpPr>
        <p:spPr>
          <a:xfrm>
            <a:off x="457200" y="1005840"/>
            <a:ext cx="8229600" cy="256032"/>
          </a:xfrm>
          <a:prstGeom prst="rect">
            <a:avLst/>
          </a:prstGeom>
          <a:noFill/>
          <a:ln/>
        </p:spPr>
        <p:txBody>
          <a:bodyPr wrap="square" rtlCol="0" anchor="ctr"/>
          <a:lstStyle/>
          <a:p>
            <a:pPr indent="0" marL="0">
              <a:buNone/>
            </a:pPr>
            <a:r>
              <a:rPr lang="en-US" sz="900" b="1" dirty="0">
                <a:solidFill>
                  <a:srgbClr val="6C5CE7"/>
                </a:solidFill>
                <a:latin typeface="Calibri" pitchFamily="34" charset="0"/>
                <a:ea typeface="Calibri" pitchFamily="34" charset="-122"/>
                <a:cs typeface="Calibri" pitchFamily="34" charset="-120"/>
              </a:rPr>
              <a:t>Architecture: Supervisor / Crew MAS  ·  MCP Mesh  ·  Domain semantic layer  ·  Federated identity</a:t>
            </a:r>
            <a:endParaRPr lang="en-US" sz="900" dirty="0"/>
          </a:p>
        </p:txBody>
      </p:sp>
      <p:sp>
        <p:nvSpPr>
          <p:cNvPr id="9" name="Shape 7"/>
          <p:cNvSpPr/>
          <p:nvPr/>
        </p:nvSpPr>
        <p:spPr>
          <a:xfrm>
            <a:off x="347472" y="1353312"/>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10" name="Shape 8"/>
          <p:cNvSpPr/>
          <p:nvPr/>
        </p:nvSpPr>
        <p:spPr>
          <a:xfrm>
            <a:off x="347472" y="1353312"/>
            <a:ext cx="2743200" cy="292608"/>
          </a:xfrm>
          <a:prstGeom prst="rect">
            <a:avLst/>
          </a:prstGeom>
          <a:solidFill>
            <a:srgbClr val="0D9E75"/>
          </a:solidFill>
          <a:ln/>
        </p:spPr>
      </p:sp>
      <p:sp>
        <p:nvSpPr>
          <p:cNvPr id="11" name="Shape 9"/>
          <p:cNvSpPr/>
          <p:nvPr/>
        </p:nvSpPr>
        <p:spPr>
          <a:xfrm>
            <a:off x="347472" y="1353312"/>
            <a:ext cx="2743200" cy="292608"/>
          </a:xfrm>
          <a:prstGeom prst="roundRect">
            <a:avLst>
              <a:gd name="adj" fmla="val 21875"/>
            </a:avLst>
          </a:prstGeom>
          <a:solidFill>
            <a:srgbClr val="0D9E75"/>
          </a:solidFill>
          <a:ln/>
        </p:spPr>
      </p:sp>
      <p:sp>
        <p:nvSpPr>
          <p:cNvPr id="12" name="Shape 10"/>
          <p:cNvSpPr/>
          <p:nvPr/>
        </p:nvSpPr>
        <p:spPr>
          <a:xfrm>
            <a:off x="347472" y="1517904"/>
            <a:ext cx="2743200" cy="128016"/>
          </a:xfrm>
          <a:prstGeom prst="rect">
            <a:avLst/>
          </a:prstGeom>
          <a:solidFill>
            <a:srgbClr val="0D9E75"/>
          </a:solidFill>
          <a:ln/>
        </p:spPr>
      </p:sp>
      <p:sp>
        <p:nvSpPr>
          <p:cNvPr id="13" name="Text 11"/>
          <p:cNvSpPr/>
          <p:nvPr/>
        </p:nvSpPr>
        <p:spPr>
          <a:xfrm>
            <a:off x="438912" y="1353312"/>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DATA</a:t>
            </a:r>
            <a:endParaRPr lang="en-US" sz="900" dirty="0"/>
          </a:p>
        </p:txBody>
      </p:sp>
      <p:sp>
        <p:nvSpPr>
          <p:cNvPr id="14" name="Text 12"/>
          <p:cNvSpPr/>
          <p:nvPr/>
        </p:nvSpPr>
        <p:spPr>
          <a:xfrm>
            <a:off x="2377440" y="1362456"/>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V:9</a:t>
            </a:r>
            <a:endParaRPr lang="en-US" sz="800" dirty="0"/>
          </a:p>
        </p:txBody>
      </p:sp>
      <p:sp>
        <p:nvSpPr>
          <p:cNvPr id="15" name="Text 13"/>
          <p:cNvSpPr/>
          <p:nvPr/>
        </p:nvSpPr>
        <p:spPr>
          <a:xfrm>
            <a:off x="2706624" y="1362456"/>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E:6</a:t>
            </a:r>
            <a:endParaRPr lang="en-US" sz="800" dirty="0"/>
          </a:p>
        </p:txBody>
      </p:sp>
      <p:sp>
        <p:nvSpPr>
          <p:cNvPr id="16" name="Text 14"/>
          <p:cNvSpPr/>
          <p:nvPr/>
        </p:nvSpPr>
        <p:spPr>
          <a:xfrm>
            <a:off x="438912" y="1673352"/>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Domain semantic layer</a:t>
            </a:r>
            <a:endParaRPr lang="en-US" sz="1050" dirty="0"/>
          </a:p>
        </p:txBody>
      </p:sp>
      <p:sp>
        <p:nvSpPr>
          <p:cNvPr id="17" name="Text 15"/>
          <p:cNvSpPr/>
          <p:nvPr/>
        </p:nvSpPr>
        <p:spPr>
          <a:xfrm>
            <a:off x="438912" y="1975104"/>
            <a:ext cx="2560320" cy="201168"/>
          </a:xfrm>
          <a:prstGeom prst="rect">
            <a:avLst/>
          </a:prstGeom>
          <a:noFill/>
          <a:ln/>
        </p:spPr>
        <p:txBody>
          <a:bodyPr wrap="square" rtlCol="0" anchor="ctr"/>
          <a:lstStyle/>
          <a:p>
            <a:pPr indent="0" marL="0">
              <a:buNone/>
            </a:pPr>
            <a:r>
              <a:rPr lang="en-US" sz="800" b="1" dirty="0">
                <a:solidFill>
                  <a:srgbClr val="0D9E75"/>
                </a:solidFill>
                <a:latin typeface="Calibri" pitchFamily="34" charset="0"/>
                <a:ea typeface="Calibri" pitchFamily="34" charset="-122"/>
                <a:cs typeface="Calibri" pitchFamily="34" charset="-120"/>
              </a:rPr>
              <a:t>Semantic mesh · Knowledge graph · Federated context · Memory mgmt</a:t>
            </a:r>
            <a:endParaRPr lang="en-US" sz="800" dirty="0"/>
          </a:p>
        </p:txBody>
      </p:sp>
      <p:sp>
        <p:nvSpPr>
          <p:cNvPr id="18" name="Text 16"/>
          <p:cNvSpPr/>
          <p:nvPr/>
        </p:nvSpPr>
        <p:spPr>
          <a:xfrm>
            <a:off x="438912" y="2176272"/>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Federated data contracts enable agents to query member, claims, and prior-auth data across products in a domain. Semantic layer resolves entity synonyms. Knowledge graph tracks cross-product relationships.</a:t>
            </a:r>
            <a:endParaRPr lang="en-US" sz="850" dirty="0"/>
          </a:p>
        </p:txBody>
      </p:sp>
      <p:sp>
        <p:nvSpPr>
          <p:cNvPr id="19" name="Shape 17"/>
          <p:cNvSpPr/>
          <p:nvPr/>
        </p:nvSpPr>
        <p:spPr>
          <a:xfrm>
            <a:off x="3236976" y="1353312"/>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20" name="Shape 18"/>
          <p:cNvSpPr/>
          <p:nvPr/>
        </p:nvSpPr>
        <p:spPr>
          <a:xfrm>
            <a:off x="3236976" y="1353312"/>
            <a:ext cx="2743200" cy="292608"/>
          </a:xfrm>
          <a:prstGeom prst="rect">
            <a:avLst/>
          </a:prstGeom>
          <a:solidFill>
            <a:srgbClr val="7C6FDD"/>
          </a:solidFill>
          <a:ln/>
        </p:spPr>
      </p:sp>
      <p:sp>
        <p:nvSpPr>
          <p:cNvPr id="21" name="Shape 19"/>
          <p:cNvSpPr/>
          <p:nvPr/>
        </p:nvSpPr>
        <p:spPr>
          <a:xfrm>
            <a:off x="3236976" y="1353312"/>
            <a:ext cx="2743200" cy="292608"/>
          </a:xfrm>
          <a:prstGeom prst="roundRect">
            <a:avLst>
              <a:gd name="adj" fmla="val 21875"/>
            </a:avLst>
          </a:prstGeom>
          <a:solidFill>
            <a:srgbClr val="7C6FDD"/>
          </a:solidFill>
          <a:ln/>
        </p:spPr>
      </p:sp>
      <p:sp>
        <p:nvSpPr>
          <p:cNvPr id="22" name="Shape 20"/>
          <p:cNvSpPr/>
          <p:nvPr/>
        </p:nvSpPr>
        <p:spPr>
          <a:xfrm>
            <a:off x="3236976" y="1517904"/>
            <a:ext cx="2743200" cy="128016"/>
          </a:xfrm>
          <a:prstGeom prst="rect">
            <a:avLst/>
          </a:prstGeom>
          <a:solidFill>
            <a:srgbClr val="7C6FDD"/>
          </a:solidFill>
          <a:ln/>
        </p:spPr>
      </p:sp>
      <p:sp>
        <p:nvSpPr>
          <p:cNvPr id="23" name="Text 21"/>
          <p:cNvSpPr/>
          <p:nvPr/>
        </p:nvSpPr>
        <p:spPr>
          <a:xfrm>
            <a:off x="3328416" y="1353312"/>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APPLICATION</a:t>
            </a:r>
            <a:endParaRPr lang="en-US" sz="900" dirty="0"/>
          </a:p>
        </p:txBody>
      </p:sp>
      <p:sp>
        <p:nvSpPr>
          <p:cNvPr id="24" name="Text 22"/>
          <p:cNvSpPr/>
          <p:nvPr/>
        </p:nvSpPr>
        <p:spPr>
          <a:xfrm>
            <a:off x="5266944" y="1362456"/>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V:9</a:t>
            </a:r>
            <a:endParaRPr lang="en-US" sz="800" dirty="0"/>
          </a:p>
        </p:txBody>
      </p:sp>
      <p:sp>
        <p:nvSpPr>
          <p:cNvPr id="25" name="Text 23"/>
          <p:cNvSpPr/>
          <p:nvPr/>
        </p:nvSpPr>
        <p:spPr>
          <a:xfrm>
            <a:off x="5596128" y="1362456"/>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E:7</a:t>
            </a:r>
            <a:endParaRPr lang="en-US" sz="800" dirty="0"/>
          </a:p>
        </p:txBody>
      </p:sp>
      <p:sp>
        <p:nvSpPr>
          <p:cNvPr id="26" name="Text 24"/>
          <p:cNvSpPr/>
          <p:nvPr/>
        </p:nvSpPr>
        <p:spPr>
          <a:xfrm>
            <a:off x="3328416" y="1673352"/>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Multi-agent supervisor crew</a:t>
            </a:r>
            <a:endParaRPr lang="en-US" sz="1050" dirty="0"/>
          </a:p>
        </p:txBody>
      </p:sp>
      <p:sp>
        <p:nvSpPr>
          <p:cNvPr id="27" name="Text 25"/>
          <p:cNvSpPr/>
          <p:nvPr/>
        </p:nvSpPr>
        <p:spPr>
          <a:xfrm>
            <a:off x="3328416" y="1975104"/>
            <a:ext cx="2560320" cy="201168"/>
          </a:xfrm>
          <a:prstGeom prst="rect">
            <a:avLst/>
          </a:prstGeom>
          <a:noFill/>
          <a:ln/>
        </p:spPr>
        <p:txBody>
          <a:bodyPr wrap="square" rtlCol="0" anchor="ctr"/>
          <a:lstStyle/>
          <a:p>
            <a:pPr indent="0" marL="0">
              <a:buNone/>
            </a:pPr>
            <a:r>
              <a:rPr lang="en-US" sz="800" b="1" dirty="0">
                <a:solidFill>
                  <a:srgbClr val="7C6FDD"/>
                </a:solidFill>
                <a:latin typeface="Calibri" pitchFamily="34" charset="0"/>
                <a:ea typeface="Calibri" pitchFamily="34" charset="-122"/>
                <a:cs typeface="Calibri" pitchFamily="34" charset="-120"/>
              </a:rPr>
              <a:t>Supervisor crew · Multi-agent RAG · Retrievable memory · Explainable AI</a:t>
            </a:r>
            <a:endParaRPr lang="en-US" sz="800" dirty="0"/>
          </a:p>
        </p:txBody>
      </p:sp>
      <p:sp>
        <p:nvSpPr>
          <p:cNvPr id="28" name="Text 26"/>
          <p:cNvSpPr/>
          <p:nvPr/>
        </p:nvSpPr>
        <p:spPr>
          <a:xfrm>
            <a:off x="3328416" y="2176272"/>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Governed supervisor agent coordinates specialist sub-agents (claims, benefits, eligibility) through a crew architecture. Shared retrievable memory enables context hand-off. Explainable AI surfaces decision rationale.</a:t>
            </a:r>
            <a:endParaRPr lang="en-US" sz="850" dirty="0"/>
          </a:p>
        </p:txBody>
      </p:sp>
      <p:sp>
        <p:nvSpPr>
          <p:cNvPr id="29" name="Shape 27"/>
          <p:cNvSpPr/>
          <p:nvPr/>
        </p:nvSpPr>
        <p:spPr>
          <a:xfrm>
            <a:off x="6126480" y="1353312"/>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30" name="Shape 28"/>
          <p:cNvSpPr/>
          <p:nvPr/>
        </p:nvSpPr>
        <p:spPr>
          <a:xfrm>
            <a:off x="6126480" y="1353312"/>
            <a:ext cx="2743200" cy="292608"/>
          </a:xfrm>
          <a:prstGeom prst="rect">
            <a:avLst/>
          </a:prstGeom>
          <a:solidFill>
            <a:srgbClr val="D45529"/>
          </a:solidFill>
          <a:ln/>
        </p:spPr>
      </p:sp>
      <p:sp>
        <p:nvSpPr>
          <p:cNvPr id="31" name="Shape 29"/>
          <p:cNvSpPr/>
          <p:nvPr/>
        </p:nvSpPr>
        <p:spPr>
          <a:xfrm>
            <a:off x="6126480" y="1353312"/>
            <a:ext cx="2743200" cy="292608"/>
          </a:xfrm>
          <a:prstGeom prst="roundRect">
            <a:avLst>
              <a:gd name="adj" fmla="val 21875"/>
            </a:avLst>
          </a:prstGeom>
          <a:solidFill>
            <a:srgbClr val="D45529"/>
          </a:solidFill>
          <a:ln/>
        </p:spPr>
      </p:sp>
      <p:sp>
        <p:nvSpPr>
          <p:cNvPr id="32" name="Shape 30"/>
          <p:cNvSpPr/>
          <p:nvPr/>
        </p:nvSpPr>
        <p:spPr>
          <a:xfrm>
            <a:off x="6126480" y="1517904"/>
            <a:ext cx="2743200" cy="128016"/>
          </a:xfrm>
          <a:prstGeom prst="rect">
            <a:avLst/>
          </a:prstGeom>
          <a:solidFill>
            <a:srgbClr val="D45529"/>
          </a:solidFill>
          <a:ln/>
        </p:spPr>
      </p:sp>
      <p:sp>
        <p:nvSpPr>
          <p:cNvPr id="33" name="Text 31"/>
          <p:cNvSpPr/>
          <p:nvPr/>
        </p:nvSpPr>
        <p:spPr>
          <a:xfrm>
            <a:off x="6217920" y="1353312"/>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INTEGRATION</a:t>
            </a:r>
            <a:endParaRPr lang="en-US" sz="900" dirty="0"/>
          </a:p>
        </p:txBody>
      </p:sp>
      <p:sp>
        <p:nvSpPr>
          <p:cNvPr id="34" name="Text 32"/>
          <p:cNvSpPr/>
          <p:nvPr/>
        </p:nvSpPr>
        <p:spPr>
          <a:xfrm>
            <a:off x="8156448" y="1362456"/>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V:8</a:t>
            </a:r>
            <a:endParaRPr lang="en-US" sz="800" dirty="0"/>
          </a:p>
        </p:txBody>
      </p:sp>
      <p:sp>
        <p:nvSpPr>
          <p:cNvPr id="35" name="Text 33"/>
          <p:cNvSpPr/>
          <p:nvPr/>
        </p:nvSpPr>
        <p:spPr>
          <a:xfrm>
            <a:off x="8485632" y="1362456"/>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E:7</a:t>
            </a:r>
            <a:endParaRPr lang="en-US" sz="800" dirty="0"/>
          </a:p>
        </p:txBody>
      </p:sp>
      <p:sp>
        <p:nvSpPr>
          <p:cNvPr id="36" name="Text 34"/>
          <p:cNvSpPr/>
          <p:nvPr/>
        </p:nvSpPr>
        <p:spPr>
          <a:xfrm>
            <a:off x="6217920" y="1673352"/>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Domain MCP mesh</a:t>
            </a:r>
            <a:endParaRPr lang="en-US" sz="1050" dirty="0"/>
          </a:p>
        </p:txBody>
      </p:sp>
      <p:sp>
        <p:nvSpPr>
          <p:cNvPr id="37" name="Text 35"/>
          <p:cNvSpPr/>
          <p:nvPr/>
        </p:nvSpPr>
        <p:spPr>
          <a:xfrm>
            <a:off x="6217920" y="1975104"/>
            <a:ext cx="2560320" cy="201168"/>
          </a:xfrm>
          <a:prstGeom prst="rect">
            <a:avLst/>
          </a:prstGeom>
          <a:noFill/>
          <a:ln/>
        </p:spPr>
        <p:txBody>
          <a:bodyPr wrap="square" rtlCol="0" anchor="ctr"/>
          <a:lstStyle/>
          <a:p>
            <a:pPr indent="0" marL="0">
              <a:buNone/>
            </a:pPr>
            <a:r>
              <a:rPr lang="en-US" sz="800" b="1" dirty="0">
                <a:solidFill>
                  <a:srgbClr val="D45529"/>
                </a:solidFill>
                <a:latin typeface="Calibri" pitchFamily="34" charset="0"/>
                <a:ea typeface="Calibri" pitchFamily="34" charset="-122"/>
                <a:cs typeface="Calibri" pitchFamily="34" charset="-120"/>
              </a:rPr>
              <a:t>MCP Mesh · A2A (domain) · Drift governance · Tool registry</a:t>
            </a:r>
            <a:endParaRPr lang="en-US" sz="800" dirty="0"/>
          </a:p>
        </p:txBody>
      </p:sp>
      <p:sp>
        <p:nvSpPr>
          <p:cNvPr id="38" name="Text 36"/>
          <p:cNvSpPr/>
          <p:nvPr/>
        </p:nvSpPr>
        <p:spPr>
          <a:xfrm>
            <a:off x="6217920" y="2176272"/>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Event-driven integration connecting multiple product MCP servers within a domain. Shared tool registry enforces contract versioning. Schema drift governed via automated compatibility checks.</a:t>
            </a:r>
            <a:endParaRPr lang="en-US" sz="850" dirty="0"/>
          </a:p>
        </p:txBody>
      </p:sp>
      <p:sp>
        <p:nvSpPr>
          <p:cNvPr id="39" name="Shape 37"/>
          <p:cNvSpPr/>
          <p:nvPr/>
        </p:nvSpPr>
        <p:spPr>
          <a:xfrm>
            <a:off x="347472" y="3035808"/>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40" name="Shape 38"/>
          <p:cNvSpPr/>
          <p:nvPr/>
        </p:nvSpPr>
        <p:spPr>
          <a:xfrm>
            <a:off x="347472" y="3035808"/>
            <a:ext cx="2743200" cy="292608"/>
          </a:xfrm>
          <a:prstGeom prst="rect">
            <a:avLst/>
          </a:prstGeom>
          <a:solidFill>
            <a:srgbClr val="C94F7B"/>
          </a:solidFill>
          <a:ln/>
        </p:spPr>
      </p:sp>
      <p:sp>
        <p:nvSpPr>
          <p:cNvPr id="41" name="Shape 39"/>
          <p:cNvSpPr/>
          <p:nvPr/>
        </p:nvSpPr>
        <p:spPr>
          <a:xfrm>
            <a:off x="347472" y="3035808"/>
            <a:ext cx="2743200" cy="292608"/>
          </a:xfrm>
          <a:prstGeom prst="roundRect">
            <a:avLst>
              <a:gd name="adj" fmla="val 21875"/>
            </a:avLst>
          </a:prstGeom>
          <a:solidFill>
            <a:srgbClr val="C94F7B"/>
          </a:solidFill>
          <a:ln/>
        </p:spPr>
      </p:sp>
      <p:sp>
        <p:nvSpPr>
          <p:cNvPr id="42" name="Shape 40"/>
          <p:cNvSpPr/>
          <p:nvPr/>
        </p:nvSpPr>
        <p:spPr>
          <a:xfrm>
            <a:off x="347472" y="3200400"/>
            <a:ext cx="2743200" cy="128016"/>
          </a:xfrm>
          <a:prstGeom prst="rect">
            <a:avLst/>
          </a:prstGeom>
          <a:solidFill>
            <a:srgbClr val="C94F7B"/>
          </a:solidFill>
          <a:ln/>
        </p:spPr>
      </p:sp>
      <p:sp>
        <p:nvSpPr>
          <p:cNvPr id="43" name="Text 41"/>
          <p:cNvSpPr/>
          <p:nvPr/>
        </p:nvSpPr>
        <p:spPr>
          <a:xfrm>
            <a:off x="438912" y="3035808"/>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SECURITY</a:t>
            </a:r>
            <a:endParaRPr lang="en-US" sz="900" dirty="0"/>
          </a:p>
        </p:txBody>
      </p:sp>
      <p:sp>
        <p:nvSpPr>
          <p:cNvPr id="44" name="Text 42"/>
          <p:cNvSpPr/>
          <p:nvPr/>
        </p:nvSpPr>
        <p:spPr>
          <a:xfrm>
            <a:off x="2377440" y="3044952"/>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V:9</a:t>
            </a:r>
            <a:endParaRPr lang="en-US" sz="800" dirty="0"/>
          </a:p>
        </p:txBody>
      </p:sp>
      <p:sp>
        <p:nvSpPr>
          <p:cNvPr id="45" name="Text 43"/>
          <p:cNvSpPr/>
          <p:nvPr/>
        </p:nvSpPr>
        <p:spPr>
          <a:xfrm>
            <a:off x="2706624" y="3044952"/>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E:6</a:t>
            </a:r>
            <a:endParaRPr lang="en-US" sz="800" dirty="0"/>
          </a:p>
        </p:txBody>
      </p:sp>
      <p:sp>
        <p:nvSpPr>
          <p:cNvPr id="46" name="Text 44"/>
          <p:cNvSpPr/>
          <p:nvPr/>
        </p:nvSpPr>
        <p:spPr>
          <a:xfrm>
            <a:off x="438912" y="3355848"/>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Domain agent policy engine</a:t>
            </a:r>
            <a:endParaRPr lang="en-US" sz="1050" dirty="0"/>
          </a:p>
        </p:txBody>
      </p:sp>
      <p:sp>
        <p:nvSpPr>
          <p:cNvPr id="47" name="Text 45"/>
          <p:cNvSpPr/>
          <p:nvPr/>
        </p:nvSpPr>
        <p:spPr>
          <a:xfrm>
            <a:off x="438912" y="3657600"/>
            <a:ext cx="2560320" cy="201168"/>
          </a:xfrm>
          <a:prstGeom prst="rect">
            <a:avLst/>
          </a:prstGeom>
          <a:noFill/>
          <a:ln/>
        </p:spPr>
        <p:txBody>
          <a:bodyPr wrap="square" rtlCol="0" anchor="ctr"/>
          <a:lstStyle/>
          <a:p>
            <a:pPr indent="0" marL="0">
              <a:buNone/>
            </a:pPr>
            <a:r>
              <a:rPr lang="en-US" sz="800" b="1" dirty="0">
                <a:solidFill>
                  <a:srgbClr val="C94F7B"/>
                </a:solidFill>
                <a:latin typeface="Calibri" pitchFamily="34" charset="0"/>
                <a:ea typeface="Calibri" pitchFamily="34" charset="-122"/>
                <a:cs typeface="Calibri" pitchFamily="34" charset="-120"/>
              </a:rPr>
              <a:t>OPA / Cedar · FWA controls · Audit trail · Policy-as-code</a:t>
            </a:r>
            <a:endParaRPr lang="en-US" sz="800" dirty="0"/>
          </a:p>
        </p:txBody>
      </p:sp>
      <p:sp>
        <p:nvSpPr>
          <p:cNvPr id="48" name="Text 46"/>
          <p:cNvSpPr/>
          <p:nvPr/>
        </p:nvSpPr>
        <p:spPr>
          <a:xfrm>
            <a:off x="438912" y="3858768"/>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Centralized policy engine (OPA/Cedar) governs cross-product agent actions, rate limits, audit trails, and fraud/waste/abuse controls. Policy-as-code enforced at MCP gateway.</a:t>
            </a:r>
            <a:endParaRPr lang="en-US" sz="850" dirty="0"/>
          </a:p>
        </p:txBody>
      </p:sp>
      <p:sp>
        <p:nvSpPr>
          <p:cNvPr id="49" name="Shape 47"/>
          <p:cNvSpPr/>
          <p:nvPr/>
        </p:nvSpPr>
        <p:spPr>
          <a:xfrm>
            <a:off x="3236976" y="3035808"/>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50" name="Shape 48"/>
          <p:cNvSpPr/>
          <p:nvPr/>
        </p:nvSpPr>
        <p:spPr>
          <a:xfrm>
            <a:off x="3236976" y="3035808"/>
            <a:ext cx="2743200" cy="292608"/>
          </a:xfrm>
          <a:prstGeom prst="rect">
            <a:avLst/>
          </a:prstGeom>
          <a:solidFill>
            <a:srgbClr val="2E84D8"/>
          </a:solidFill>
          <a:ln/>
        </p:spPr>
      </p:sp>
      <p:sp>
        <p:nvSpPr>
          <p:cNvPr id="51" name="Shape 49"/>
          <p:cNvSpPr/>
          <p:nvPr/>
        </p:nvSpPr>
        <p:spPr>
          <a:xfrm>
            <a:off x="3236976" y="3035808"/>
            <a:ext cx="2743200" cy="292608"/>
          </a:xfrm>
          <a:prstGeom prst="roundRect">
            <a:avLst>
              <a:gd name="adj" fmla="val 21875"/>
            </a:avLst>
          </a:prstGeom>
          <a:solidFill>
            <a:srgbClr val="2E84D8"/>
          </a:solidFill>
          <a:ln/>
        </p:spPr>
      </p:sp>
      <p:sp>
        <p:nvSpPr>
          <p:cNvPr id="52" name="Shape 50"/>
          <p:cNvSpPr/>
          <p:nvPr/>
        </p:nvSpPr>
        <p:spPr>
          <a:xfrm>
            <a:off x="3236976" y="3200400"/>
            <a:ext cx="2743200" cy="128016"/>
          </a:xfrm>
          <a:prstGeom prst="rect">
            <a:avLst/>
          </a:prstGeom>
          <a:solidFill>
            <a:srgbClr val="2E84D8"/>
          </a:solidFill>
          <a:ln/>
        </p:spPr>
      </p:sp>
      <p:sp>
        <p:nvSpPr>
          <p:cNvPr id="53" name="Text 51"/>
          <p:cNvSpPr/>
          <p:nvPr/>
        </p:nvSpPr>
        <p:spPr>
          <a:xfrm>
            <a:off x="3328416" y="3035808"/>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IDENTITY</a:t>
            </a:r>
            <a:endParaRPr lang="en-US" sz="900" dirty="0"/>
          </a:p>
        </p:txBody>
      </p:sp>
      <p:sp>
        <p:nvSpPr>
          <p:cNvPr id="54" name="Text 52"/>
          <p:cNvSpPr/>
          <p:nvPr/>
        </p:nvSpPr>
        <p:spPr>
          <a:xfrm>
            <a:off x="5266944" y="3044952"/>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V:8</a:t>
            </a:r>
            <a:endParaRPr lang="en-US" sz="800" dirty="0"/>
          </a:p>
        </p:txBody>
      </p:sp>
      <p:sp>
        <p:nvSpPr>
          <p:cNvPr id="55" name="Text 53"/>
          <p:cNvSpPr/>
          <p:nvPr/>
        </p:nvSpPr>
        <p:spPr>
          <a:xfrm>
            <a:off x="5596128" y="3044952"/>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E:6</a:t>
            </a:r>
            <a:endParaRPr lang="en-US" sz="800" dirty="0"/>
          </a:p>
        </p:txBody>
      </p:sp>
      <p:sp>
        <p:nvSpPr>
          <p:cNvPr id="56" name="Text 54"/>
          <p:cNvSpPr/>
          <p:nvPr/>
        </p:nvSpPr>
        <p:spPr>
          <a:xfrm>
            <a:off x="3328416" y="3355848"/>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Federated agent identity</a:t>
            </a:r>
            <a:endParaRPr lang="en-US" sz="1050" dirty="0"/>
          </a:p>
        </p:txBody>
      </p:sp>
      <p:sp>
        <p:nvSpPr>
          <p:cNvPr id="57" name="Text 55"/>
          <p:cNvSpPr/>
          <p:nvPr/>
        </p:nvSpPr>
        <p:spPr>
          <a:xfrm>
            <a:off x="3328416" y="3657600"/>
            <a:ext cx="2560320" cy="201168"/>
          </a:xfrm>
          <a:prstGeom prst="rect">
            <a:avLst/>
          </a:prstGeom>
          <a:noFill/>
          <a:ln/>
        </p:spPr>
        <p:txBody>
          <a:bodyPr wrap="square" rtlCol="0" anchor="ctr"/>
          <a:lstStyle/>
          <a:p>
            <a:pPr indent="0" marL="0">
              <a:buNone/>
            </a:pPr>
            <a:r>
              <a:rPr lang="en-US" sz="800" b="1" dirty="0">
                <a:solidFill>
                  <a:srgbClr val="2E84D8"/>
                </a:solidFill>
                <a:latin typeface="Calibri" pitchFamily="34" charset="0"/>
                <a:ea typeface="Calibri" pitchFamily="34" charset="-122"/>
                <a:cs typeface="Calibri" pitchFamily="34" charset="-120"/>
              </a:rPr>
              <a:t>SPIFFE / SVID · Agent trust · Federated IdP · Token signing</a:t>
            </a:r>
            <a:endParaRPr lang="en-US" sz="800" dirty="0"/>
          </a:p>
        </p:txBody>
      </p:sp>
      <p:sp>
        <p:nvSpPr>
          <p:cNvPr id="58" name="Text 56"/>
          <p:cNvSpPr/>
          <p:nvPr/>
        </p:nvSpPr>
        <p:spPr>
          <a:xfrm>
            <a:off x="3328416" y="3858768"/>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Domain-level identity federation. Inter-agent trust established using SPIFFE/SVID or signed agent tokens. Supervisor validates sub-agent identities before delegating tasks.</a:t>
            </a:r>
            <a:endParaRPr lang="en-US" sz="850" dirty="0"/>
          </a:p>
        </p:txBody>
      </p:sp>
      <p:sp>
        <p:nvSpPr>
          <p:cNvPr id="59" name="Shape 57"/>
          <p:cNvSpPr/>
          <p:nvPr/>
        </p:nvSpPr>
        <p:spPr>
          <a:xfrm>
            <a:off x="6126480" y="3035808"/>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60" name="Shape 58"/>
          <p:cNvSpPr/>
          <p:nvPr/>
        </p:nvSpPr>
        <p:spPr>
          <a:xfrm>
            <a:off x="6126480" y="3035808"/>
            <a:ext cx="2743200" cy="292608"/>
          </a:xfrm>
          <a:prstGeom prst="rect">
            <a:avLst/>
          </a:prstGeom>
          <a:solidFill>
            <a:srgbClr val="B87316"/>
          </a:solidFill>
          <a:ln/>
        </p:spPr>
      </p:sp>
      <p:sp>
        <p:nvSpPr>
          <p:cNvPr id="61" name="Shape 59"/>
          <p:cNvSpPr/>
          <p:nvPr/>
        </p:nvSpPr>
        <p:spPr>
          <a:xfrm>
            <a:off x="6126480" y="3035808"/>
            <a:ext cx="2743200" cy="292608"/>
          </a:xfrm>
          <a:prstGeom prst="roundRect">
            <a:avLst>
              <a:gd name="adj" fmla="val 21875"/>
            </a:avLst>
          </a:prstGeom>
          <a:solidFill>
            <a:srgbClr val="B87316"/>
          </a:solidFill>
          <a:ln/>
        </p:spPr>
      </p:sp>
      <p:sp>
        <p:nvSpPr>
          <p:cNvPr id="62" name="Shape 60"/>
          <p:cNvSpPr/>
          <p:nvPr/>
        </p:nvSpPr>
        <p:spPr>
          <a:xfrm>
            <a:off x="6126480" y="3200400"/>
            <a:ext cx="2743200" cy="128016"/>
          </a:xfrm>
          <a:prstGeom prst="rect">
            <a:avLst/>
          </a:prstGeom>
          <a:solidFill>
            <a:srgbClr val="B87316"/>
          </a:solidFill>
          <a:ln/>
        </p:spPr>
      </p:sp>
      <p:sp>
        <p:nvSpPr>
          <p:cNvPr id="63" name="Text 61"/>
          <p:cNvSpPr/>
          <p:nvPr/>
        </p:nvSpPr>
        <p:spPr>
          <a:xfrm>
            <a:off x="6217920" y="3035808"/>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TEAM</a:t>
            </a:r>
            <a:endParaRPr lang="en-US" sz="900" dirty="0"/>
          </a:p>
        </p:txBody>
      </p:sp>
      <p:sp>
        <p:nvSpPr>
          <p:cNvPr id="64" name="Text 62"/>
          <p:cNvSpPr/>
          <p:nvPr/>
        </p:nvSpPr>
        <p:spPr>
          <a:xfrm>
            <a:off x="8156448" y="3044952"/>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V:7</a:t>
            </a:r>
            <a:endParaRPr lang="en-US" sz="800" dirty="0"/>
          </a:p>
        </p:txBody>
      </p:sp>
      <p:sp>
        <p:nvSpPr>
          <p:cNvPr id="65" name="Text 63"/>
          <p:cNvSpPr/>
          <p:nvPr/>
        </p:nvSpPr>
        <p:spPr>
          <a:xfrm>
            <a:off x="8485632" y="3044952"/>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E:5</a:t>
            </a:r>
            <a:endParaRPr lang="en-US" sz="800" dirty="0"/>
          </a:p>
        </p:txBody>
      </p:sp>
      <p:sp>
        <p:nvSpPr>
          <p:cNvPr id="66" name="Text 64"/>
          <p:cNvSpPr/>
          <p:nvPr/>
        </p:nvSpPr>
        <p:spPr>
          <a:xfrm>
            <a:off x="6217920" y="3355848"/>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Domain CoE &amp; standards</a:t>
            </a:r>
            <a:endParaRPr lang="en-US" sz="1050" dirty="0"/>
          </a:p>
        </p:txBody>
      </p:sp>
      <p:sp>
        <p:nvSpPr>
          <p:cNvPr id="67" name="Text 65"/>
          <p:cNvSpPr/>
          <p:nvPr/>
        </p:nvSpPr>
        <p:spPr>
          <a:xfrm>
            <a:off x="6217920" y="3657600"/>
            <a:ext cx="2560320" cy="201168"/>
          </a:xfrm>
          <a:prstGeom prst="rect">
            <a:avLst/>
          </a:prstGeom>
          <a:noFill/>
          <a:ln/>
        </p:spPr>
        <p:txBody>
          <a:bodyPr wrap="square" rtlCol="0" anchor="ctr"/>
          <a:lstStyle/>
          <a:p>
            <a:pPr indent="0" marL="0">
              <a:buNone/>
            </a:pPr>
            <a:r>
              <a:rPr lang="en-US" sz="800" b="1" dirty="0">
                <a:solidFill>
                  <a:srgbClr val="B87316"/>
                </a:solidFill>
                <a:latin typeface="Calibri" pitchFamily="34" charset="0"/>
                <a:ea typeface="Calibri" pitchFamily="34" charset="-122"/>
                <a:cs typeface="Calibri" pitchFamily="34" charset="-120"/>
              </a:rPr>
              <a:t>CoE · ARB gate · Gamified CD · Design standards</a:t>
            </a:r>
            <a:endParaRPr lang="en-US" sz="800" dirty="0"/>
          </a:p>
        </p:txBody>
      </p:sp>
      <p:sp>
        <p:nvSpPr>
          <p:cNvPr id="68" name="Text 66"/>
          <p:cNvSpPr/>
          <p:nvPr/>
        </p:nvSpPr>
        <p:spPr>
          <a:xfrm>
            <a:off x="6217920" y="3858768"/>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Center of Excellence spanning multiple product squads. Shared runbooks, ARB review gates, and agent design standards codified. Gamified continuous delivery tracks cross-squad deployment health.</a:t>
            </a:r>
            <a:endParaRPr lang="en-US" sz="850" dirty="0"/>
          </a:p>
        </p:txBody>
      </p:sp>
      <p:sp>
        <p:nvSpPr>
          <p:cNvPr id="69" name="Text 67"/>
          <p:cNvSpPr/>
          <p:nvPr/>
        </p:nvSpPr>
        <p:spPr>
          <a:xfrm>
            <a:off x="0" y="4956048"/>
            <a:ext cx="9144000" cy="182880"/>
          </a:xfrm>
          <a:prstGeom prst="rect">
            <a:avLst/>
          </a:prstGeom>
          <a:noFill/>
          <a:ln/>
        </p:spPr>
        <p:txBody>
          <a:bodyPr wrap="square" rtlCol="0" anchor="ctr"/>
          <a:lstStyle/>
          <a:p>
            <a:pPr algn="ctr" indent="0" marL="0">
              <a:buNone/>
            </a:pPr>
            <a:r>
              <a:rPr lang="en-US" sz="750" spc="150" kern="0" dirty="0">
                <a:solidFill>
                  <a:srgbClr val="8DA3C4"/>
                </a:solidFill>
                <a:latin typeface="Calibri" pitchFamily="34" charset="0"/>
                <a:ea typeface="Calibri" pitchFamily="34" charset="-122"/>
                <a:cs typeface="Calibri" pitchFamily="34" charset="-120"/>
              </a:rPr>
              <a:t>Gen 2 — Program / Domain Maturity  ·  CONFIDENTIAL</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F1E3C"/>
          </a:solidFill>
          <a:ln/>
        </p:spPr>
      </p:sp>
      <p:sp>
        <p:nvSpPr>
          <p:cNvPr id="3" name="Shape 1"/>
          <p:cNvSpPr/>
          <p:nvPr/>
        </p:nvSpPr>
        <p:spPr>
          <a:xfrm>
            <a:off x="0" y="0"/>
            <a:ext cx="201168" cy="658368"/>
          </a:xfrm>
          <a:prstGeom prst="rect">
            <a:avLst/>
          </a:prstGeom>
          <a:solidFill>
            <a:srgbClr val="E05C2A"/>
          </a:solidFill>
          <a:ln/>
        </p:spPr>
      </p:sp>
      <p:sp>
        <p:nvSpPr>
          <p:cNvPr id="4" name="Text 2"/>
          <p:cNvSpPr/>
          <p:nvPr/>
        </p:nvSpPr>
        <p:spPr>
          <a:xfrm>
            <a:off x="347472" y="0"/>
            <a:ext cx="5943600" cy="658368"/>
          </a:xfrm>
          <a:prstGeom prst="rect">
            <a:avLst/>
          </a:prstGeom>
          <a:noFill/>
          <a:ln/>
        </p:spPr>
        <p:txBody>
          <a:bodyPr wrap="square"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Gen 3  ·  Enterprise Maturity</a:t>
            </a:r>
            <a:endParaRPr lang="en-US" sz="1600" dirty="0"/>
          </a:p>
        </p:txBody>
      </p:sp>
      <p:sp>
        <p:nvSpPr>
          <p:cNvPr id="5" name="Text 3"/>
          <p:cNvSpPr/>
          <p:nvPr/>
        </p:nvSpPr>
        <p:spPr>
          <a:xfrm>
            <a:off x="6400800" y="0"/>
            <a:ext cx="2560320" cy="658368"/>
          </a:xfrm>
          <a:prstGeom prst="rect">
            <a:avLst/>
          </a:prstGeom>
          <a:noFill/>
          <a:ln/>
        </p:spPr>
        <p:txBody>
          <a:bodyPr wrap="square" rtlCol="0" anchor="ctr"/>
          <a:lstStyle/>
          <a:p>
            <a:pPr algn="r" indent="0" marL="0">
              <a:buNone/>
            </a:pPr>
            <a:r>
              <a:rPr lang="en-US" sz="1000" dirty="0">
                <a:solidFill>
                  <a:srgbClr val="C8DCFA"/>
                </a:solidFill>
                <a:latin typeface="Calibri" pitchFamily="34" charset="0"/>
                <a:ea typeface="Calibri" pitchFamily="34" charset="-122"/>
                <a:cs typeface="Calibri" pitchFamily="34" charset="-120"/>
              </a:rPr>
              <a:t>Value 10/10  ·  Effort 9/10  ·  Transformative</a:t>
            </a:r>
            <a:endParaRPr lang="en-US" sz="1000" dirty="0"/>
          </a:p>
        </p:txBody>
      </p:sp>
      <p:sp>
        <p:nvSpPr>
          <p:cNvPr id="6" name="Text 4"/>
          <p:cNvSpPr/>
          <p:nvPr/>
        </p:nvSpPr>
        <p:spPr>
          <a:xfrm>
            <a:off x="347472" y="713232"/>
            <a:ext cx="8595360" cy="256032"/>
          </a:xfrm>
          <a:prstGeom prst="rect">
            <a:avLst/>
          </a:prstGeom>
          <a:noFill/>
          <a:ln/>
        </p:spPr>
        <p:txBody>
          <a:bodyPr wrap="square" rtlCol="0" anchor="ctr"/>
          <a:lstStyle/>
          <a:p>
            <a:pPr indent="0" marL="0">
              <a:buNone/>
            </a:pPr>
            <a:r>
              <a:rPr lang="en-US" sz="1050" i="1" dirty="0">
                <a:solidFill>
                  <a:srgbClr val="1A2E52"/>
                </a:solidFill>
                <a:latin typeface="Calibri" pitchFamily="34" charset="0"/>
                <a:ea typeface="Calibri" pitchFamily="34" charset="-122"/>
                <a:cs typeface="Calibri" pitchFamily="34" charset="-120"/>
              </a:rPr>
              <a:t>Agents communicate cross-program and outside the enterprise through advanced A2A protocols, strict governance, and an enterprise context layer</a:t>
            </a:r>
            <a:endParaRPr lang="en-US" sz="1050" dirty="0"/>
          </a:p>
        </p:txBody>
      </p:sp>
      <p:sp>
        <p:nvSpPr>
          <p:cNvPr id="7" name="Shape 5"/>
          <p:cNvSpPr/>
          <p:nvPr/>
        </p:nvSpPr>
        <p:spPr>
          <a:xfrm>
            <a:off x="347472" y="1005840"/>
            <a:ext cx="8449056" cy="256032"/>
          </a:xfrm>
          <a:prstGeom prst="rect">
            <a:avLst/>
          </a:prstGeom>
          <a:solidFill>
            <a:srgbClr val="FBE9E0"/>
          </a:solidFill>
          <a:ln/>
        </p:spPr>
      </p:sp>
      <p:sp>
        <p:nvSpPr>
          <p:cNvPr id="8" name="Text 6"/>
          <p:cNvSpPr/>
          <p:nvPr/>
        </p:nvSpPr>
        <p:spPr>
          <a:xfrm>
            <a:off x="457200" y="1005840"/>
            <a:ext cx="8229600" cy="256032"/>
          </a:xfrm>
          <a:prstGeom prst="rect">
            <a:avLst/>
          </a:prstGeom>
          <a:noFill/>
          <a:ln/>
        </p:spPr>
        <p:txBody>
          <a:bodyPr wrap="square" rtlCol="0" anchor="ctr"/>
          <a:lstStyle/>
          <a:p>
            <a:pPr indent="0" marL="0">
              <a:buNone/>
            </a:pPr>
            <a:r>
              <a:rPr lang="en-US" sz="900" b="1" dirty="0">
                <a:solidFill>
                  <a:srgbClr val="E05C2A"/>
                </a:solidFill>
                <a:latin typeface="Calibri" pitchFamily="34" charset="0"/>
                <a:ea typeface="Calibri" pitchFamily="34" charset="-122"/>
                <a:cs typeface="Calibri" pitchFamily="34" charset="-120"/>
              </a:rPr>
              <a:t>Architecture: A2A protocol  ·  Universal MCP gateway  ·  Enterprise context layer  ·  Zero-trust SecOps</a:t>
            </a:r>
            <a:endParaRPr lang="en-US" sz="900" dirty="0"/>
          </a:p>
        </p:txBody>
      </p:sp>
      <p:sp>
        <p:nvSpPr>
          <p:cNvPr id="9" name="Shape 7"/>
          <p:cNvSpPr/>
          <p:nvPr/>
        </p:nvSpPr>
        <p:spPr>
          <a:xfrm>
            <a:off x="347472" y="1353312"/>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10" name="Shape 8"/>
          <p:cNvSpPr/>
          <p:nvPr/>
        </p:nvSpPr>
        <p:spPr>
          <a:xfrm>
            <a:off x="347472" y="1353312"/>
            <a:ext cx="2743200" cy="292608"/>
          </a:xfrm>
          <a:prstGeom prst="rect">
            <a:avLst/>
          </a:prstGeom>
          <a:solidFill>
            <a:srgbClr val="0D9E75"/>
          </a:solidFill>
          <a:ln/>
        </p:spPr>
      </p:sp>
      <p:sp>
        <p:nvSpPr>
          <p:cNvPr id="11" name="Shape 9"/>
          <p:cNvSpPr/>
          <p:nvPr/>
        </p:nvSpPr>
        <p:spPr>
          <a:xfrm>
            <a:off x="347472" y="1353312"/>
            <a:ext cx="2743200" cy="292608"/>
          </a:xfrm>
          <a:prstGeom prst="roundRect">
            <a:avLst>
              <a:gd name="adj" fmla="val 21875"/>
            </a:avLst>
          </a:prstGeom>
          <a:solidFill>
            <a:srgbClr val="0D9E75"/>
          </a:solidFill>
          <a:ln/>
        </p:spPr>
      </p:sp>
      <p:sp>
        <p:nvSpPr>
          <p:cNvPr id="12" name="Shape 10"/>
          <p:cNvSpPr/>
          <p:nvPr/>
        </p:nvSpPr>
        <p:spPr>
          <a:xfrm>
            <a:off x="347472" y="1517904"/>
            <a:ext cx="2743200" cy="128016"/>
          </a:xfrm>
          <a:prstGeom prst="rect">
            <a:avLst/>
          </a:prstGeom>
          <a:solidFill>
            <a:srgbClr val="0D9E75"/>
          </a:solidFill>
          <a:ln/>
        </p:spPr>
      </p:sp>
      <p:sp>
        <p:nvSpPr>
          <p:cNvPr id="13" name="Text 11"/>
          <p:cNvSpPr/>
          <p:nvPr/>
        </p:nvSpPr>
        <p:spPr>
          <a:xfrm>
            <a:off x="438912" y="1353312"/>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DATA</a:t>
            </a:r>
            <a:endParaRPr lang="en-US" sz="900" dirty="0"/>
          </a:p>
        </p:txBody>
      </p:sp>
      <p:sp>
        <p:nvSpPr>
          <p:cNvPr id="14" name="Text 12"/>
          <p:cNvSpPr/>
          <p:nvPr/>
        </p:nvSpPr>
        <p:spPr>
          <a:xfrm>
            <a:off x="2377440" y="1362456"/>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V:10</a:t>
            </a:r>
            <a:endParaRPr lang="en-US" sz="800" dirty="0"/>
          </a:p>
        </p:txBody>
      </p:sp>
      <p:sp>
        <p:nvSpPr>
          <p:cNvPr id="15" name="Text 13"/>
          <p:cNvSpPr/>
          <p:nvPr/>
        </p:nvSpPr>
        <p:spPr>
          <a:xfrm>
            <a:off x="2706624" y="1362456"/>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E:9</a:t>
            </a:r>
            <a:endParaRPr lang="en-US" sz="800" dirty="0"/>
          </a:p>
        </p:txBody>
      </p:sp>
      <p:sp>
        <p:nvSpPr>
          <p:cNvPr id="16" name="Text 14"/>
          <p:cNvSpPr/>
          <p:nvPr/>
        </p:nvSpPr>
        <p:spPr>
          <a:xfrm>
            <a:off x="438912" y="1673352"/>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Enterprise knowledge graph</a:t>
            </a:r>
            <a:endParaRPr lang="en-US" sz="1050" dirty="0"/>
          </a:p>
        </p:txBody>
      </p:sp>
      <p:sp>
        <p:nvSpPr>
          <p:cNvPr id="17" name="Text 15"/>
          <p:cNvSpPr/>
          <p:nvPr/>
        </p:nvSpPr>
        <p:spPr>
          <a:xfrm>
            <a:off x="438912" y="1975104"/>
            <a:ext cx="2560320" cy="201168"/>
          </a:xfrm>
          <a:prstGeom prst="rect">
            <a:avLst/>
          </a:prstGeom>
          <a:noFill/>
          <a:ln/>
        </p:spPr>
        <p:txBody>
          <a:bodyPr wrap="square" rtlCol="0" anchor="ctr"/>
          <a:lstStyle/>
          <a:p>
            <a:pPr indent="0" marL="0">
              <a:buNone/>
            </a:pPr>
            <a:r>
              <a:rPr lang="en-US" sz="800" b="1" dirty="0">
                <a:solidFill>
                  <a:srgbClr val="0D9E75"/>
                </a:solidFill>
                <a:latin typeface="Calibri" pitchFamily="34" charset="0"/>
                <a:ea typeface="Calibri" pitchFamily="34" charset="-122"/>
                <a:cs typeface="Calibri" pitchFamily="34" charset="-120"/>
              </a:rPr>
              <a:t>Enterprise KG · Context layer · Semantic federation · Real-time retrieval</a:t>
            </a:r>
            <a:endParaRPr lang="en-US" sz="800" dirty="0"/>
          </a:p>
        </p:txBody>
      </p:sp>
      <p:sp>
        <p:nvSpPr>
          <p:cNvPr id="18" name="Text 16"/>
          <p:cNvSpPr/>
          <p:nvPr/>
        </p:nvSpPr>
        <p:spPr>
          <a:xfrm>
            <a:off x="438912" y="2176272"/>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Unified semantic and knowledge graph across all programs. Agents resolve member, provider, and clinical entities in real time. Enterprise context layer grounds all agent interactions regardless of originating product.</a:t>
            </a:r>
            <a:endParaRPr lang="en-US" sz="850" dirty="0"/>
          </a:p>
        </p:txBody>
      </p:sp>
      <p:sp>
        <p:nvSpPr>
          <p:cNvPr id="19" name="Shape 17"/>
          <p:cNvSpPr/>
          <p:nvPr/>
        </p:nvSpPr>
        <p:spPr>
          <a:xfrm>
            <a:off x="3236976" y="1353312"/>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20" name="Shape 18"/>
          <p:cNvSpPr/>
          <p:nvPr/>
        </p:nvSpPr>
        <p:spPr>
          <a:xfrm>
            <a:off x="3236976" y="1353312"/>
            <a:ext cx="2743200" cy="292608"/>
          </a:xfrm>
          <a:prstGeom prst="rect">
            <a:avLst/>
          </a:prstGeom>
          <a:solidFill>
            <a:srgbClr val="7C6FDD"/>
          </a:solidFill>
          <a:ln/>
        </p:spPr>
      </p:sp>
      <p:sp>
        <p:nvSpPr>
          <p:cNvPr id="21" name="Shape 19"/>
          <p:cNvSpPr/>
          <p:nvPr/>
        </p:nvSpPr>
        <p:spPr>
          <a:xfrm>
            <a:off x="3236976" y="1353312"/>
            <a:ext cx="2743200" cy="292608"/>
          </a:xfrm>
          <a:prstGeom prst="roundRect">
            <a:avLst>
              <a:gd name="adj" fmla="val 21875"/>
            </a:avLst>
          </a:prstGeom>
          <a:solidFill>
            <a:srgbClr val="7C6FDD"/>
          </a:solidFill>
          <a:ln/>
        </p:spPr>
      </p:sp>
      <p:sp>
        <p:nvSpPr>
          <p:cNvPr id="22" name="Shape 20"/>
          <p:cNvSpPr/>
          <p:nvPr/>
        </p:nvSpPr>
        <p:spPr>
          <a:xfrm>
            <a:off x="3236976" y="1517904"/>
            <a:ext cx="2743200" cy="128016"/>
          </a:xfrm>
          <a:prstGeom prst="rect">
            <a:avLst/>
          </a:prstGeom>
          <a:solidFill>
            <a:srgbClr val="7C6FDD"/>
          </a:solidFill>
          <a:ln/>
        </p:spPr>
      </p:sp>
      <p:sp>
        <p:nvSpPr>
          <p:cNvPr id="23" name="Text 21"/>
          <p:cNvSpPr/>
          <p:nvPr/>
        </p:nvSpPr>
        <p:spPr>
          <a:xfrm>
            <a:off x="3328416" y="1353312"/>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APPLICATION</a:t>
            </a:r>
            <a:endParaRPr lang="en-US" sz="900" dirty="0"/>
          </a:p>
        </p:txBody>
      </p:sp>
      <p:sp>
        <p:nvSpPr>
          <p:cNvPr id="24" name="Text 22"/>
          <p:cNvSpPr/>
          <p:nvPr/>
        </p:nvSpPr>
        <p:spPr>
          <a:xfrm>
            <a:off x="5266944" y="1362456"/>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V:10</a:t>
            </a:r>
            <a:endParaRPr lang="en-US" sz="800" dirty="0"/>
          </a:p>
        </p:txBody>
      </p:sp>
      <p:sp>
        <p:nvSpPr>
          <p:cNvPr id="25" name="Text 23"/>
          <p:cNvSpPr/>
          <p:nvPr/>
        </p:nvSpPr>
        <p:spPr>
          <a:xfrm>
            <a:off x="5596128" y="1362456"/>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E:9</a:t>
            </a:r>
            <a:endParaRPr lang="en-US" sz="800" dirty="0"/>
          </a:p>
        </p:txBody>
      </p:sp>
      <p:sp>
        <p:nvSpPr>
          <p:cNvPr id="26" name="Text 24"/>
          <p:cNvSpPr/>
          <p:nvPr/>
        </p:nvSpPr>
        <p:spPr>
          <a:xfrm>
            <a:off x="3328416" y="1673352"/>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Enterprise agent mesh</a:t>
            </a:r>
            <a:endParaRPr lang="en-US" sz="1050" dirty="0"/>
          </a:p>
        </p:txBody>
      </p:sp>
      <p:sp>
        <p:nvSpPr>
          <p:cNvPr id="27" name="Text 25"/>
          <p:cNvSpPr/>
          <p:nvPr/>
        </p:nvSpPr>
        <p:spPr>
          <a:xfrm>
            <a:off x="3328416" y="1975104"/>
            <a:ext cx="2560320" cy="201168"/>
          </a:xfrm>
          <a:prstGeom prst="rect">
            <a:avLst/>
          </a:prstGeom>
          <a:noFill/>
          <a:ln/>
        </p:spPr>
        <p:txBody>
          <a:bodyPr wrap="square" rtlCol="0" anchor="ctr"/>
          <a:lstStyle/>
          <a:p>
            <a:pPr indent="0" marL="0">
              <a:buNone/>
            </a:pPr>
            <a:r>
              <a:rPr lang="en-US" sz="800" b="1" dirty="0">
                <a:solidFill>
                  <a:srgbClr val="7C6FDD"/>
                </a:solidFill>
                <a:latin typeface="Calibri" pitchFamily="34" charset="0"/>
                <a:ea typeface="Calibri" pitchFamily="34" charset="-122"/>
                <a:cs typeface="Calibri" pitchFamily="34" charset="-120"/>
              </a:rPr>
              <a:t>A2A · Generative UI · Advanced MAS · Release governance</a:t>
            </a:r>
            <a:endParaRPr lang="en-US" sz="800" dirty="0"/>
          </a:p>
        </p:txBody>
      </p:sp>
      <p:sp>
        <p:nvSpPr>
          <p:cNvPr id="28" name="Text 26"/>
          <p:cNvSpPr/>
          <p:nvPr/>
        </p:nvSpPr>
        <p:spPr>
          <a:xfrm>
            <a:off x="3328416" y="2176272"/>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Cross-program agent collaboration at enterprise scale. Care management, claims, fraud, and provider agents orchestrate end-to-end workflows via A2A protocols. Static Gen UI surfaces outputs in regulated member and provider portals.</a:t>
            </a:r>
            <a:endParaRPr lang="en-US" sz="850" dirty="0"/>
          </a:p>
        </p:txBody>
      </p:sp>
      <p:sp>
        <p:nvSpPr>
          <p:cNvPr id="29" name="Shape 27"/>
          <p:cNvSpPr/>
          <p:nvPr/>
        </p:nvSpPr>
        <p:spPr>
          <a:xfrm>
            <a:off x="6126480" y="1353312"/>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30" name="Shape 28"/>
          <p:cNvSpPr/>
          <p:nvPr/>
        </p:nvSpPr>
        <p:spPr>
          <a:xfrm>
            <a:off x="6126480" y="1353312"/>
            <a:ext cx="2743200" cy="292608"/>
          </a:xfrm>
          <a:prstGeom prst="rect">
            <a:avLst/>
          </a:prstGeom>
          <a:solidFill>
            <a:srgbClr val="D45529"/>
          </a:solidFill>
          <a:ln/>
        </p:spPr>
      </p:sp>
      <p:sp>
        <p:nvSpPr>
          <p:cNvPr id="31" name="Shape 29"/>
          <p:cNvSpPr/>
          <p:nvPr/>
        </p:nvSpPr>
        <p:spPr>
          <a:xfrm>
            <a:off x="6126480" y="1353312"/>
            <a:ext cx="2743200" cy="292608"/>
          </a:xfrm>
          <a:prstGeom prst="roundRect">
            <a:avLst>
              <a:gd name="adj" fmla="val 21875"/>
            </a:avLst>
          </a:prstGeom>
          <a:solidFill>
            <a:srgbClr val="D45529"/>
          </a:solidFill>
          <a:ln/>
        </p:spPr>
      </p:sp>
      <p:sp>
        <p:nvSpPr>
          <p:cNvPr id="32" name="Shape 30"/>
          <p:cNvSpPr/>
          <p:nvPr/>
        </p:nvSpPr>
        <p:spPr>
          <a:xfrm>
            <a:off x="6126480" y="1517904"/>
            <a:ext cx="2743200" cy="128016"/>
          </a:xfrm>
          <a:prstGeom prst="rect">
            <a:avLst/>
          </a:prstGeom>
          <a:solidFill>
            <a:srgbClr val="D45529"/>
          </a:solidFill>
          <a:ln/>
        </p:spPr>
      </p:sp>
      <p:sp>
        <p:nvSpPr>
          <p:cNvPr id="33" name="Text 31"/>
          <p:cNvSpPr/>
          <p:nvPr/>
        </p:nvSpPr>
        <p:spPr>
          <a:xfrm>
            <a:off x="6217920" y="1353312"/>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INTEGRATION</a:t>
            </a:r>
            <a:endParaRPr lang="en-US" sz="900" dirty="0"/>
          </a:p>
        </p:txBody>
      </p:sp>
      <p:sp>
        <p:nvSpPr>
          <p:cNvPr id="34" name="Text 32"/>
          <p:cNvSpPr/>
          <p:nvPr/>
        </p:nvSpPr>
        <p:spPr>
          <a:xfrm>
            <a:off x="8156448" y="1362456"/>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V:9</a:t>
            </a:r>
            <a:endParaRPr lang="en-US" sz="800" dirty="0"/>
          </a:p>
        </p:txBody>
      </p:sp>
      <p:sp>
        <p:nvSpPr>
          <p:cNvPr id="35" name="Text 33"/>
          <p:cNvSpPr/>
          <p:nvPr/>
        </p:nvSpPr>
        <p:spPr>
          <a:xfrm>
            <a:off x="8485632" y="1362456"/>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E:9</a:t>
            </a:r>
            <a:endParaRPr lang="en-US" sz="800" dirty="0"/>
          </a:p>
        </p:txBody>
      </p:sp>
      <p:sp>
        <p:nvSpPr>
          <p:cNvPr id="36" name="Text 34"/>
          <p:cNvSpPr/>
          <p:nvPr/>
        </p:nvSpPr>
        <p:spPr>
          <a:xfrm>
            <a:off x="6217920" y="1673352"/>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Universal MCP + A2A gateway</a:t>
            </a:r>
            <a:endParaRPr lang="en-US" sz="1050" dirty="0"/>
          </a:p>
        </p:txBody>
      </p:sp>
      <p:sp>
        <p:nvSpPr>
          <p:cNvPr id="37" name="Text 35"/>
          <p:cNvSpPr/>
          <p:nvPr/>
        </p:nvSpPr>
        <p:spPr>
          <a:xfrm>
            <a:off x="6217920" y="1975104"/>
            <a:ext cx="2560320" cy="201168"/>
          </a:xfrm>
          <a:prstGeom prst="rect">
            <a:avLst/>
          </a:prstGeom>
          <a:noFill/>
          <a:ln/>
        </p:spPr>
        <p:txBody>
          <a:bodyPr wrap="square" rtlCol="0" anchor="ctr"/>
          <a:lstStyle/>
          <a:p>
            <a:pPr indent="0" marL="0">
              <a:buNone/>
            </a:pPr>
            <a:r>
              <a:rPr lang="en-US" sz="800" b="1" dirty="0">
                <a:solidFill>
                  <a:srgbClr val="D45529"/>
                </a:solidFill>
                <a:latin typeface="Calibri" pitchFamily="34" charset="0"/>
                <a:ea typeface="Calibri" pitchFamily="34" charset="-122"/>
                <a:cs typeface="Calibri" pitchFamily="34" charset="-120"/>
              </a:rPr>
              <a:t>MCP Gateway · A2A protocol · Enterprise mesh · Contract registry</a:t>
            </a:r>
            <a:endParaRPr lang="en-US" sz="800" dirty="0"/>
          </a:p>
        </p:txBody>
      </p:sp>
      <p:sp>
        <p:nvSpPr>
          <p:cNvPr id="38" name="Text 36"/>
          <p:cNvSpPr/>
          <p:nvPr/>
        </p:nvSpPr>
        <p:spPr>
          <a:xfrm>
            <a:off x="6217920" y="2176272"/>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Enterprise service mesh with unified MCP gateway, schema and contract registry, and A2A protocol bridging all BUs and external partners. Automated drift detection across the entire integration estate.</a:t>
            </a:r>
            <a:endParaRPr lang="en-US" sz="850" dirty="0"/>
          </a:p>
        </p:txBody>
      </p:sp>
      <p:sp>
        <p:nvSpPr>
          <p:cNvPr id="39" name="Shape 37"/>
          <p:cNvSpPr/>
          <p:nvPr/>
        </p:nvSpPr>
        <p:spPr>
          <a:xfrm>
            <a:off x="347472" y="3035808"/>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40" name="Shape 38"/>
          <p:cNvSpPr/>
          <p:nvPr/>
        </p:nvSpPr>
        <p:spPr>
          <a:xfrm>
            <a:off x="347472" y="3035808"/>
            <a:ext cx="2743200" cy="292608"/>
          </a:xfrm>
          <a:prstGeom prst="rect">
            <a:avLst/>
          </a:prstGeom>
          <a:solidFill>
            <a:srgbClr val="C94F7B"/>
          </a:solidFill>
          <a:ln/>
        </p:spPr>
      </p:sp>
      <p:sp>
        <p:nvSpPr>
          <p:cNvPr id="41" name="Shape 39"/>
          <p:cNvSpPr/>
          <p:nvPr/>
        </p:nvSpPr>
        <p:spPr>
          <a:xfrm>
            <a:off x="347472" y="3035808"/>
            <a:ext cx="2743200" cy="292608"/>
          </a:xfrm>
          <a:prstGeom prst="roundRect">
            <a:avLst>
              <a:gd name="adj" fmla="val 21875"/>
            </a:avLst>
          </a:prstGeom>
          <a:solidFill>
            <a:srgbClr val="C94F7B"/>
          </a:solidFill>
          <a:ln/>
        </p:spPr>
      </p:sp>
      <p:sp>
        <p:nvSpPr>
          <p:cNvPr id="42" name="Shape 40"/>
          <p:cNvSpPr/>
          <p:nvPr/>
        </p:nvSpPr>
        <p:spPr>
          <a:xfrm>
            <a:off x="347472" y="3200400"/>
            <a:ext cx="2743200" cy="128016"/>
          </a:xfrm>
          <a:prstGeom prst="rect">
            <a:avLst/>
          </a:prstGeom>
          <a:solidFill>
            <a:srgbClr val="C94F7B"/>
          </a:solidFill>
          <a:ln/>
        </p:spPr>
      </p:sp>
      <p:sp>
        <p:nvSpPr>
          <p:cNvPr id="43" name="Text 41"/>
          <p:cNvSpPr/>
          <p:nvPr/>
        </p:nvSpPr>
        <p:spPr>
          <a:xfrm>
            <a:off x="438912" y="3035808"/>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SECURITY</a:t>
            </a:r>
            <a:endParaRPr lang="en-US" sz="900" dirty="0"/>
          </a:p>
        </p:txBody>
      </p:sp>
      <p:sp>
        <p:nvSpPr>
          <p:cNvPr id="44" name="Text 42"/>
          <p:cNvSpPr/>
          <p:nvPr/>
        </p:nvSpPr>
        <p:spPr>
          <a:xfrm>
            <a:off x="2377440" y="3044952"/>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V:10</a:t>
            </a:r>
            <a:endParaRPr lang="en-US" sz="800" dirty="0"/>
          </a:p>
        </p:txBody>
      </p:sp>
      <p:sp>
        <p:nvSpPr>
          <p:cNvPr id="45" name="Text 43"/>
          <p:cNvSpPr/>
          <p:nvPr/>
        </p:nvSpPr>
        <p:spPr>
          <a:xfrm>
            <a:off x="2706624" y="3044952"/>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E:8</a:t>
            </a:r>
            <a:endParaRPr lang="en-US" sz="800" dirty="0"/>
          </a:p>
        </p:txBody>
      </p:sp>
      <p:sp>
        <p:nvSpPr>
          <p:cNvPr id="46" name="Text 44"/>
          <p:cNvSpPr/>
          <p:nvPr/>
        </p:nvSpPr>
        <p:spPr>
          <a:xfrm>
            <a:off x="438912" y="3355848"/>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Zero-trust agentic SecOps</a:t>
            </a:r>
            <a:endParaRPr lang="en-US" sz="1050" dirty="0"/>
          </a:p>
        </p:txBody>
      </p:sp>
      <p:sp>
        <p:nvSpPr>
          <p:cNvPr id="47" name="Text 45"/>
          <p:cNvSpPr/>
          <p:nvPr/>
        </p:nvSpPr>
        <p:spPr>
          <a:xfrm>
            <a:off x="438912" y="3657600"/>
            <a:ext cx="2560320" cy="201168"/>
          </a:xfrm>
          <a:prstGeom prst="rect">
            <a:avLst/>
          </a:prstGeom>
          <a:noFill/>
          <a:ln/>
        </p:spPr>
        <p:txBody>
          <a:bodyPr wrap="square" rtlCol="0" anchor="ctr"/>
          <a:lstStyle/>
          <a:p>
            <a:pPr indent="0" marL="0">
              <a:buNone/>
            </a:pPr>
            <a:r>
              <a:rPr lang="en-US" sz="800" b="1" dirty="0">
                <a:solidFill>
                  <a:srgbClr val="C94F7B"/>
                </a:solidFill>
                <a:latin typeface="Calibri" pitchFamily="34" charset="0"/>
                <a:ea typeface="Calibri" pitchFamily="34" charset="-122"/>
                <a:cs typeface="Calibri" pitchFamily="34" charset="-120"/>
              </a:rPr>
              <a:t>Zero-trust · Behavioral SecOps · SOC integration · HIPAA lineage</a:t>
            </a:r>
            <a:endParaRPr lang="en-US" sz="800" dirty="0"/>
          </a:p>
        </p:txBody>
      </p:sp>
      <p:sp>
        <p:nvSpPr>
          <p:cNvPr id="48" name="Text 46"/>
          <p:cNvSpPr/>
          <p:nvPr/>
        </p:nvSpPr>
        <p:spPr>
          <a:xfrm>
            <a:off x="438912" y="3858768"/>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Enterprise-wide zero-trust architecture for agents: runtime behavioral analysis, anomaly detection, automated containment, and SOC-integrated agent audit. HIPAA-aligned data lineage tracked across every agentic workflow.</a:t>
            </a:r>
            <a:endParaRPr lang="en-US" sz="850" dirty="0"/>
          </a:p>
        </p:txBody>
      </p:sp>
      <p:sp>
        <p:nvSpPr>
          <p:cNvPr id="49" name="Shape 47"/>
          <p:cNvSpPr/>
          <p:nvPr/>
        </p:nvSpPr>
        <p:spPr>
          <a:xfrm>
            <a:off x="3236976" y="3035808"/>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50" name="Shape 48"/>
          <p:cNvSpPr/>
          <p:nvPr/>
        </p:nvSpPr>
        <p:spPr>
          <a:xfrm>
            <a:off x="3236976" y="3035808"/>
            <a:ext cx="2743200" cy="292608"/>
          </a:xfrm>
          <a:prstGeom prst="rect">
            <a:avLst/>
          </a:prstGeom>
          <a:solidFill>
            <a:srgbClr val="2E84D8"/>
          </a:solidFill>
          <a:ln/>
        </p:spPr>
      </p:sp>
      <p:sp>
        <p:nvSpPr>
          <p:cNvPr id="51" name="Shape 49"/>
          <p:cNvSpPr/>
          <p:nvPr/>
        </p:nvSpPr>
        <p:spPr>
          <a:xfrm>
            <a:off x="3236976" y="3035808"/>
            <a:ext cx="2743200" cy="292608"/>
          </a:xfrm>
          <a:prstGeom prst="roundRect">
            <a:avLst>
              <a:gd name="adj" fmla="val 21875"/>
            </a:avLst>
          </a:prstGeom>
          <a:solidFill>
            <a:srgbClr val="2E84D8"/>
          </a:solidFill>
          <a:ln/>
        </p:spPr>
      </p:sp>
      <p:sp>
        <p:nvSpPr>
          <p:cNvPr id="52" name="Shape 50"/>
          <p:cNvSpPr/>
          <p:nvPr/>
        </p:nvSpPr>
        <p:spPr>
          <a:xfrm>
            <a:off x="3236976" y="3200400"/>
            <a:ext cx="2743200" cy="128016"/>
          </a:xfrm>
          <a:prstGeom prst="rect">
            <a:avLst/>
          </a:prstGeom>
          <a:solidFill>
            <a:srgbClr val="2E84D8"/>
          </a:solidFill>
          <a:ln/>
        </p:spPr>
      </p:sp>
      <p:sp>
        <p:nvSpPr>
          <p:cNvPr id="53" name="Text 51"/>
          <p:cNvSpPr/>
          <p:nvPr/>
        </p:nvSpPr>
        <p:spPr>
          <a:xfrm>
            <a:off x="3328416" y="3035808"/>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IDENTITY</a:t>
            </a:r>
            <a:endParaRPr lang="en-US" sz="900" dirty="0"/>
          </a:p>
        </p:txBody>
      </p:sp>
      <p:sp>
        <p:nvSpPr>
          <p:cNvPr id="54" name="Text 52"/>
          <p:cNvSpPr/>
          <p:nvPr/>
        </p:nvSpPr>
        <p:spPr>
          <a:xfrm>
            <a:off x="5266944" y="3044952"/>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V:9</a:t>
            </a:r>
            <a:endParaRPr lang="en-US" sz="800" dirty="0"/>
          </a:p>
        </p:txBody>
      </p:sp>
      <p:sp>
        <p:nvSpPr>
          <p:cNvPr id="55" name="Text 53"/>
          <p:cNvSpPr/>
          <p:nvPr/>
        </p:nvSpPr>
        <p:spPr>
          <a:xfrm>
            <a:off x="5596128" y="3044952"/>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E:8</a:t>
            </a:r>
            <a:endParaRPr lang="en-US" sz="800" dirty="0"/>
          </a:p>
        </p:txBody>
      </p:sp>
      <p:sp>
        <p:nvSpPr>
          <p:cNvPr id="56" name="Text 54"/>
          <p:cNvSpPr/>
          <p:nvPr/>
        </p:nvSpPr>
        <p:spPr>
          <a:xfrm>
            <a:off x="3328416" y="3355848"/>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Enterprise identity fabric</a:t>
            </a:r>
            <a:endParaRPr lang="en-US" sz="1050" dirty="0"/>
          </a:p>
        </p:txBody>
      </p:sp>
      <p:sp>
        <p:nvSpPr>
          <p:cNvPr id="57" name="Text 55"/>
          <p:cNvSpPr/>
          <p:nvPr/>
        </p:nvSpPr>
        <p:spPr>
          <a:xfrm>
            <a:off x="3328416" y="3657600"/>
            <a:ext cx="2560320" cy="201168"/>
          </a:xfrm>
          <a:prstGeom prst="rect">
            <a:avLst/>
          </a:prstGeom>
          <a:noFill/>
          <a:ln/>
        </p:spPr>
        <p:txBody>
          <a:bodyPr wrap="square" rtlCol="0" anchor="ctr"/>
          <a:lstStyle/>
          <a:p>
            <a:pPr indent="0" marL="0">
              <a:buNone/>
            </a:pPr>
            <a:r>
              <a:rPr lang="en-US" sz="800" b="1" dirty="0">
                <a:solidFill>
                  <a:srgbClr val="2E84D8"/>
                </a:solidFill>
                <a:latin typeface="Calibri" pitchFamily="34" charset="0"/>
                <a:ea typeface="Calibri" pitchFamily="34" charset="-122"/>
                <a:cs typeface="Calibri" pitchFamily="34" charset="-120"/>
              </a:rPr>
              <a:t>Identity lifecycle · Attestation · HIPAA governance · Partner enrollment</a:t>
            </a:r>
            <a:endParaRPr lang="en-US" sz="800" dirty="0"/>
          </a:p>
        </p:txBody>
      </p:sp>
      <p:sp>
        <p:nvSpPr>
          <p:cNvPr id="58" name="Text 56"/>
          <p:cNvSpPr/>
          <p:nvPr/>
        </p:nvSpPr>
        <p:spPr>
          <a:xfrm>
            <a:off x="3328416" y="3858768"/>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Centralized agent identity lifecycle: provisioning, attestation, rotation, and HIPAA-aligned access governance across all programs. External agent identities (partner, payer) onboarded through governed enrollment.</a:t>
            </a:r>
            <a:endParaRPr lang="en-US" sz="850" dirty="0"/>
          </a:p>
        </p:txBody>
      </p:sp>
      <p:sp>
        <p:nvSpPr>
          <p:cNvPr id="59" name="Shape 57"/>
          <p:cNvSpPr/>
          <p:nvPr/>
        </p:nvSpPr>
        <p:spPr>
          <a:xfrm>
            <a:off x="6126480" y="3035808"/>
            <a:ext cx="2743200" cy="1572768"/>
          </a:xfrm>
          <a:prstGeom prst="roundRect">
            <a:avLst>
              <a:gd name="adj" fmla="val 4070"/>
            </a:avLst>
          </a:prstGeom>
          <a:solidFill>
            <a:srgbClr val="FFFFFF"/>
          </a:solidFill>
          <a:ln/>
          <a:effectLst>
            <a:outerShdw sx="100000" sy="100000" kx="0" ky="0" algn="bl" rotWithShape="0" blurRad="76200" dist="25400" dir="8100000">
              <a:srgbClr val="000000">
                <a:alpha val="7000"/>
              </a:srgbClr>
            </a:outerShdw>
          </a:effectLst>
        </p:spPr>
      </p:sp>
      <p:sp>
        <p:nvSpPr>
          <p:cNvPr id="60" name="Shape 58"/>
          <p:cNvSpPr/>
          <p:nvPr/>
        </p:nvSpPr>
        <p:spPr>
          <a:xfrm>
            <a:off x="6126480" y="3035808"/>
            <a:ext cx="2743200" cy="292608"/>
          </a:xfrm>
          <a:prstGeom prst="rect">
            <a:avLst/>
          </a:prstGeom>
          <a:solidFill>
            <a:srgbClr val="B87316"/>
          </a:solidFill>
          <a:ln/>
        </p:spPr>
      </p:sp>
      <p:sp>
        <p:nvSpPr>
          <p:cNvPr id="61" name="Shape 59"/>
          <p:cNvSpPr/>
          <p:nvPr/>
        </p:nvSpPr>
        <p:spPr>
          <a:xfrm>
            <a:off x="6126480" y="3035808"/>
            <a:ext cx="2743200" cy="292608"/>
          </a:xfrm>
          <a:prstGeom prst="roundRect">
            <a:avLst>
              <a:gd name="adj" fmla="val 21875"/>
            </a:avLst>
          </a:prstGeom>
          <a:solidFill>
            <a:srgbClr val="B87316"/>
          </a:solidFill>
          <a:ln/>
        </p:spPr>
      </p:sp>
      <p:sp>
        <p:nvSpPr>
          <p:cNvPr id="62" name="Shape 60"/>
          <p:cNvSpPr/>
          <p:nvPr/>
        </p:nvSpPr>
        <p:spPr>
          <a:xfrm>
            <a:off x="6126480" y="3200400"/>
            <a:ext cx="2743200" cy="128016"/>
          </a:xfrm>
          <a:prstGeom prst="rect">
            <a:avLst/>
          </a:prstGeom>
          <a:solidFill>
            <a:srgbClr val="B87316"/>
          </a:solidFill>
          <a:ln/>
        </p:spPr>
      </p:sp>
      <p:sp>
        <p:nvSpPr>
          <p:cNvPr id="63" name="Text 61"/>
          <p:cNvSpPr/>
          <p:nvPr/>
        </p:nvSpPr>
        <p:spPr>
          <a:xfrm>
            <a:off x="6217920" y="3035808"/>
            <a:ext cx="2560320" cy="292608"/>
          </a:xfrm>
          <a:prstGeom prst="rect">
            <a:avLst/>
          </a:prstGeom>
          <a:noFill/>
          <a:ln/>
        </p:spPr>
        <p:txBody>
          <a:bodyPr wrap="square" rtlCol="0" anchor="ctr"/>
          <a:lstStyle/>
          <a:p>
            <a:pPr indent="0" marL="0">
              <a:buNone/>
            </a:pPr>
            <a:r>
              <a:rPr lang="en-US" sz="900" b="1" spc="200" kern="0" dirty="0">
                <a:solidFill>
                  <a:srgbClr val="FFFFFF"/>
                </a:solidFill>
                <a:latin typeface="Calibri" pitchFamily="34" charset="0"/>
                <a:ea typeface="Calibri" pitchFamily="34" charset="-122"/>
                <a:cs typeface="Calibri" pitchFamily="34" charset="-120"/>
              </a:rPr>
              <a:t>TEAM</a:t>
            </a:r>
            <a:endParaRPr lang="en-US" sz="900" dirty="0"/>
          </a:p>
        </p:txBody>
      </p:sp>
      <p:sp>
        <p:nvSpPr>
          <p:cNvPr id="64" name="Text 62"/>
          <p:cNvSpPr/>
          <p:nvPr/>
        </p:nvSpPr>
        <p:spPr>
          <a:xfrm>
            <a:off x="8156448" y="3044952"/>
            <a:ext cx="310896" cy="274320"/>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V:8</a:t>
            </a:r>
            <a:endParaRPr lang="en-US" sz="800" dirty="0"/>
          </a:p>
        </p:txBody>
      </p:sp>
      <p:sp>
        <p:nvSpPr>
          <p:cNvPr id="65" name="Text 63"/>
          <p:cNvSpPr/>
          <p:nvPr/>
        </p:nvSpPr>
        <p:spPr>
          <a:xfrm>
            <a:off x="8485632" y="3044952"/>
            <a:ext cx="310896" cy="274320"/>
          </a:xfrm>
          <a:prstGeom prst="rect">
            <a:avLst/>
          </a:prstGeom>
          <a:noFill/>
          <a:ln/>
        </p:spPr>
        <p:txBody>
          <a:bodyPr wrap="square" lIns="0" tIns="0" rIns="0" bIns="0" rtlCol="0" anchor="ctr"/>
          <a:lstStyle/>
          <a:p>
            <a:pPr algn="ctr" indent="0" marL="0">
              <a:buNone/>
            </a:pPr>
            <a:r>
              <a:rPr lang="en-US" sz="800" dirty="0">
                <a:solidFill>
                  <a:srgbClr val="FFFFFF"/>
                </a:solidFill>
                <a:latin typeface="Calibri" pitchFamily="34" charset="0"/>
                <a:ea typeface="Calibri" pitchFamily="34" charset="-122"/>
                <a:cs typeface="Calibri" pitchFamily="34" charset="-120"/>
              </a:rPr>
              <a:t>E:7</a:t>
            </a:r>
            <a:endParaRPr lang="en-US" sz="800" dirty="0"/>
          </a:p>
        </p:txBody>
      </p:sp>
      <p:sp>
        <p:nvSpPr>
          <p:cNvPr id="66" name="Text 64"/>
          <p:cNvSpPr/>
          <p:nvPr/>
        </p:nvSpPr>
        <p:spPr>
          <a:xfrm>
            <a:off x="6217920" y="3355848"/>
            <a:ext cx="2560320" cy="310896"/>
          </a:xfrm>
          <a:prstGeom prst="rect">
            <a:avLst/>
          </a:prstGeom>
          <a:noFill/>
          <a:ln/>
        </p:spPr>
        <p:txBody>
          <a:bodyPr wrap="square" rtlCol="0" anchor="ctr"/>
          <a:lstStyle/>
          <a:p>
            <a:pPr indent="0" marL="0">
              <a:buNone/>
            </a:pPr>
            <a:r>
              <a:rPr lang="en-US" sz="1050" b="1" dirty="0">
                <a:solidFill>
                  <a:srgbClr val="0F1E3C"/>
                </a:solidFill>
                <a:latin typeface="Cambria" pitchFamily="34" charset="0"/>
                <a:ea typeface="Cambria" pitchFamily="34" charset="-122"/>
                <a:cs typeface="Cambria" pitchFamily="34" charset="-120"/>
              </a:rPr>
              <a:t>Enterprise AI governance</a:t>
            </a:r>
            <a:endParaRPr lang="en-US" sz="1050" dirty="0"/>
          </a:p>
        </p:txBody>
      </p:sp>
      <p:sp>
        <p:nvSpPr>
          <p:cNvPr id="67" name="Text 65"/>
          <p:cNvSpPr/>
          <p:nvPr/>
        </p:nvSpPr>
        <p:spPr>
          <a:xfrm>
            <a:off x="6217920" y="3657600"/>
            <a:ext cx="2560320" cy="201168"/>
          </a:xfrm>
          <a:prstGeom prst="rect">
            <a:avLst/>
          </a:prstGeom>
          <a:noFill/>
          <a:ln/>
        </p:spPr>
        <p:txBody>
          <a:bodyPr wrap="square" rtlCol="0" anchor="ctr"/>
          <a:lstStyle/>
          <a:p>
            <a:pPr indent="0" marL="0">
              <a:buNone/>
            </a:pPr>
            <a:r>
              <a:rPr lang="en-US" sz="800" b="1" dirty="0">
                <a:solidFill>
                  <a:srgbClr val="B87316"/>
                </a:solidFill>
                <a:latin typeface="Calibri" pitchFamily="34" charset="0"/>
                <a:ea typeface="Calibri" pitchFamily="34" charset="-122"/>
                <a:cs typeface="Calibri" pitchFamily="34" charset="-120"/>
              </a:rPr>
              <a:t>ARB standards · Model risk · Exec KPIs · Gamified CD</a:t>
            </a:r>
            <a:endParaRPr lang="en-US" sz="800" dirty="0"/>
          </a:p>
        </p:txBody>
      </p:sp>
      <p:sp>
        <p:nvSpPr>
          <p:cNvPr id="68" name="Text 66"/>
          <p:cNvSpPr/>
          <p:nvPr/>
        </p:nvSpPr>
        <p:spPr>
          <a:xfrm>
            <a:off x="6217920" y="3858768"/>
            <a:ext cx="2560320" cy="694944"/>
          </a:xfrm>
          <a:prstGeom prst="rect">
            <a:avLst/>
          </a:prstGeom>
          <a:noFill/>
          <a:ln/>
        </p:spPr>
        <p:txBody>
          <a:bodyPr wrap="square" rtlCol="0" anchor="ctr"/>
          <a:lstStyle/>
          <a:p>
            <a:pPr indent="0" marL="0">
              <a:buNone/>
            </a:pPr>
            <a:r>
              <a:rPr lang="en-US" sz="850" dirty="0">
                <a:solidFill>
                  <a:srgbClr val="1A2E52"/>
                </a:solidFill>
                <a:latin typeface="Calibri" pitchFamily="34" charset="0"/>
                <a:ea typeface="Calibri" pitchFamily="34" charset="-122"/>
                <a:cs typeface="Calibri" pitchFamily="34" charset="-120"/>
              </a:rPr>
              <a:t>ARB-governed enterprise AI standards, cross-BU change management, executive KPI dashboards, and model risk frameworks. Gamified continuous delivery at enterprise scale with per-BU scorecards.</a:t>
            </a:r>
            <a:endParaRPr lang="en-US" sz="850" dirty="0"/>
          </a:p>
        </p:txBody>
      </p:sp>
      <p:sp>
        <p:nvSpPr>
          <p:cNvPr id="69" name="Text 67"/>
          <p:cNvSpPr/>
          <p:nvPr/>
        </p:nvSpPr>
        <p:spPr>
          <a:xfrm>
            <a:off x="0" y="4956048"/>
            <a:ext cx="9144000" cy="182880"/>
          </a:xfrm>
          <a:prstGeom prst="rect">
            <a:avLst/>
          </a:prstGeom>
          <a:noFill/>
          <a:ln/>
        </p:spPr>
        <p:txBody>
          <a:bodyPr wrap="square" rtlCol="0" anchor="ctr"/>
          <a:lstStyle/>
          <a:p>
            <a:pPr algn="ctr" indent="0" marL="0">
              <a:buNone/>
            </a:pPr>
            <a:r>
              <a:rPr lang="en-US" sz="750" spc="150" kern="0" dirty="0">
                <a:solidFill>
                  <a:srgbClr val="8DA3C4"/>
                </a:solidFill>
                <a:latin typeface="Calibri" pitchFamily="34" charset="0"/>
                <a:ea typeface="Calibri" pitchFamily="34" charset="-122"/>
                <a:cs typeface="Calibri" pitchFamily="34" charset="-120"/>
              </a:rPr>
              <a:t>Gen 3 — Enterprise Maturity  ·  CONFIDENTIAL</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1E3C"/>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1A2E52"/>
          </a:solidFill>
          <a:ln/>
        </p:spPr>
      </p:sp>
      <p:sp>
        <p:nvSpPr>
          <p:cNvPr id="3" name="Text 1"/>
          <p:cNvSpPr/>
          <p:nvPr/>
        </p:nvSpPr>
        <p:spPr>
          <a:xfrm>
            <a:off x="365760" y="0"/>
            <a:ext cx="8412480" cy="658368"/>
          </a:xfrm>
          <a:prstGeom prst="rect">
            <a:avLst/>
          </a:prstGeom>
          <a:noFill/>
          <a:ln/>
        </p:spPr>
        <p:txBody>
          <a:bodyPr wrap="square" rtlCol="0" anchor="ctr"/>
          <a:lstStyle/>
          <a:p>
            <a:pPr indent="0" marL="0">
              <a:buNone/>
            </a:pPr>
            <a:r>
              <a:rPr lang="en-US" sz="1100" b="1" spc="300" kern="0" dirty="0">
                <a:solidFill>
                  <a:srgbClr val="C8DCFA"/>
                </a:solidFill>
                <a:latin typeface="Calibri" pitchFamily="34" charset="0"/>
                <a:ea typeface="Calibri" pitchFamily="34" charset="-122"/>
                <a:cs typeface="Calibri" pitchFamily="34" charset="-120"/>
              </a:rPr>
              <a:t>DIMENSION PROGRESSION ACROSS GENERATIONS</a:t>
            </a:r>
            <a:endParaRPr lang="en-US" sz="1100" dirty="0"/>
          </a:p>
        </p:txBody>
      </p:sp>
      <p:sp>
        <p:nvSpPr>
          <p:cNvPr id="4" name="Shape 2"/>
          <p:cNvSpPr/>
          <p:nvPr/>
        </p:nvSpPr>
        <p:spPr>
          <a:xfrm>
            <a:off x="1645920" y="822960"/>
            <a:ext cx="2304288" cy="420624"/>
          </a:xfrm>
          <a:prstGeom prst="roundRect">
            <a:avLst>
              <a:gd name="adj" fmla="val 13043"/>
            </a:avLst>
          </a:prstGeom>
          <a:solidFill>
            <a:srgbClr val="0E8A5F"/>
          </a:solidFill>
          <a:ln/>
        </p:spPr>
      </p:sp>
      <p:sp>
        <p:nvSpPr>
          <p:cNvPr id="5" name="Text 3"/>
          <p:cNvSpPr/>
          <p:nvPr/>
        </p:nvSpPr>
        <p:spPr>
          <a:xfrm>
            <a:off x="1645920" y="822960"/>
            <a:ext cx="2304288" cy="420624"/>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Gen 1  ·  Product</a:t>
            </a:r>
            <a:endParaRPr lang="en-US" sz="1100" dirty="0"/>
          </a:p>
        </p:txBody>
      </p:sp>
      <p:sp>
        <p:nvSpPr>
          <p:cNvPr id="6" name="Shape 4"/>
          <p:cNvSpPr/>
          <p:nvPr/>
        </p:nvSpPr>
        <p:spPr>
          <a:xfrm>
            <a:off x="4005072" y="822960"/>
            <a:ext cx="2304288" cy="420624"/>
          </a:xfrm>
          <a:prstGeom prst="roundRect">
            <a:avLst>
              <a:gd name="adj" fmla="val 13043"/>
            </a:avLst>
          </a:prstGeom>
          <a:solidFill>
            <a:srgbClr val="6C5CE7"/>
          </a:solidFill>
          <a:ln/>
        </p:spPr>
      </p:sp>
      <p:sp>
        <p:nvSpPr>
          <p:cNvPr id="7" name="Text 5"/>
          <p:cNvSpPr/>
          <p:nvPr/>
        </p:nvSpPr>
        <p:spPr>
          <a:xfrm>
            <a:off x="4005072" y="822960"/>
            <a:ext cx="2304288" cy="420624"/>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Gen 2  ·  Program / Domain</a:t>
            </a:r>
            <a:endParaRPr lang="en-US" sz="1100" dirty="0"/>
          </a:p>
        </p:txBody>
      </p:sp>
      <p:sp>
        <p:nvSpPr>
          <p:cNvPr id="8" name="Shape 6"/>
          <p:cNvSpPr/>
          <p:nvPr/>
        </p:nvSpPr>
        <p:spPr>
          <a:xfrm>
            <a:off x="6364224" y="822960"/>
            <a:ext cx="2304288" cy="420624"/>
          </a:xfrm>
          <a:prstGeom prst="roundRect">
            <a:avLst>
              <a:gd name="adj" fmla="val 13043"/>
            </a:avLst>
          </a:prstGeom>
          <a:solidFill>
            <a:srgbClr val="E05C2A"/>
          </a:solidFill>
          <a:ln/>
        </p:spPr>
      </p:sp>
      <p:sp>
        <p:nvSpPr>
          <p:cNvPr id="9" name="Text 7"/>
          <p:cNvSpPr/>
          <p:nvPr/>
        </p:nvSpPr>
        <p:spPr>
          <a:xfrm>
            <a:off x="6364224" y="822960"/>
            <a:ext cx="2304288" cy="420624"/>
          </a:xfrm>
          <a:prstGeom prst="rect">
            <a:avLst/>
          </a:prstGeom>
          <a:noFill/>
          <a:ln/>
        </p:spPr>
        <p:txBody>
          <a:bodyPr wrap="square"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Gen 3  ·  Enterprise</a:t>
            </a:r>
            <a:endParaRPr lang="en-US" sz="1100" dirty="0"/>
          </a:p>
        </p:txBody>
      </p:sp>
      <p:sp>
        <p:nvSpPr>
          <p:cNvPr id="10" name="Shape 8"/>
          <p:cNvSpPr/>
          <p:nvPr/>
        </p:nvSpPr>
        <p:spPr>
          <a:xfrm>
            <a:off x="137160" y="1298448"/>
            <a:ext cx="1444752" cy="566928"/>
          </a:xfrm>
          <a:prstGeom prst="roundRect">
            <a:avLst>
              <a:gd name="adj" fmla="val 9677"/>
            </a:avLst>
          </a:prstGeom>
          <a:solidFill>
            <a:srgbClr val="0D9E75"/>
          </a:solidFill>
          <a:ln/>
        </p:spPr>
      </p:sp>
      <p:sp>
        <p:nvSpPr>
          <p:cNvPr id="11" name="Text 9"/>
          <p:cNvSpPr/>
          <p:nvPr/>
        </p:nvSpPr>
        <p:spPr>
          <a:xfrm>
            <a:off x="137160" y="1298448"/>
            <a:ext cx="1444752" cy="566928"/>
          </a:xfrm>
          <a:prstGeom prst="rect">
            <a:avLst/>
          </a:prstGeom>
          <a:noFill/>
          <a:ln/>
        </p:spPr>
        <p:txBody>
          <a:bodyPr wrap="square" rtlCol="0" anchor="ctr"/>
          <a:lstStyle/>
          <a:p>
            <a:pPr algn="ctr" indent="0" marL="0">
              <a:buNone/>
            </a:pPr>
            <a:r>
              <a:rPr lang="en-US" sz="850" b="1" spc="150" kern="0" dirty="0">
                <a:solidFill>
                  <a:srgbClr val="FFFFFF"/>
                </a:solidFill>
                <a:latin typeface="Calibri" pitchFamily="34" charset="0"/>
                <a:ea typeface="Calibri" pitchFamily="34" charset="-122"/>
                <a:cs typeface="Calibri" pitchFamily="34" charset="-120"/>
              </a:rPr>
              <a:t>DATA</a:t>
            </a:r>
            <a:endParaRPr lang="en-US" sz="850" dirty="0"/>
          </a:p>
        </p:txBody>
      </p:sp>
      <p:sp>
        <p:nvSpPr>
          <p:cNvPr id="12" name="Shape 10"/>
          <p:cNvSpPr/>
          <p:nvPr/>
        </p:nvSpPr>
        <p:spPr>
          <a:xfrm>
            <a:off x="1645920" y="1298448"/>
            <a:ext cx="2304288" cy="566928"/>
          </a:xfrm>
          <a:prstGeom prst="roundRect">
            <a:avLst>
              <a:gd name="adj" fmla="val 9677"/>
            </a:avLst>
          </a:prstGeom>
          <a:solidFill>
            <a:srgbClr val="243A63"/>
          </a:solidFill>
          <a:ln w="6350">
            <a:solidFill>
              <a:srgbClr val="0E8A5F"/>
            </a:solidFill>
            <a:prstDash val="solid"/>
          </a:ln>
        </p:spPr>
      </p:sp>
      <p:sp>
        <p:nvSpPr>
          <p:cNvPr id="13" name="Text 11"/>
          <p:cNvSpPr/>
          <p:nvPr/>
        </p:nvSpPr>
        <p:spPr>
          <a:xfrm>
            <a:off x="1737360" y="1316736"/>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Lakehouse product context</a:t>
            </a:r>
            <a:endParaRPr lang="en-US" sz="900" dirty="0"/>
          </a:p>
        </p:txBody>
      </p:sp>
      <p:sp>
        <p:nvSpPr>
          <p:cNvPr id="14" name="Text 12"/>
          <p:cNvSpPr/>
          <p:nvPr/>
        </p:nvSpPr>
        <p:spPr>
          <a:xfrm>
            <a:off x="1737360" y="1554480"/>
            <a:ext cx="2121408" cy="274320"/>
          </a:xfrm>
          <a:prstGeom prst="rect">
            <a:avLst/>
          </a:prstGeom>
          <a:noFill/>
          <a:ln/>
        </p:spPr>
        <p:txBody>
          <a:bodyPr wrap="square" rtlCol="0" anchor="ctr"/>
          <a:lstStyle/>
          <a:p>
            <a:pPr indent="0" marL="0">
              <a:buNone/>
            </a:pPr>
            <a:r>
              <a:rPr lang="en-US" sz="750" dirty="0">
                <a:solidFill>
                  <a:srgbClr val="9FE1CB"/>
                </a:solidFill>
                <a:latin typeface="Calibri" pitchFamily="34" charset="0"/>
                <a:ea typeface="Calibri" pitchFamily="34" charset="-122"/>
                <a:cs typeface="Calibri" pitchFamily="34" charset="-120"/>
              </a:rPr>
              <a:t>Product RAG · Delta Lake · Semantic tagging</a:t>
            </a:r>
            <a:endParaRPr lang="en-US" sz="750" dirty="0"/>
          </a:p>
        </p:txBody>
      </p:sp>
      <p:sp>
        <p:nvSpPr>
          <p:cNvPr id="15" name="Shape 13"/>
          <p:cNvSpPr/>
          <p:nvPr/>
        </p:nvSpPr>
        <p:spPr>
          <a:xfrm>
            <a:off x="4005072" y="1298448"/>
            <a:ext cx="2304288" cy="566928"/>
          </a:xfrm>
          <a:prstGeom prst="roundRect">
            <a:avLst>
              <a:gd name="adj" fmla="val 9677"/>
            </a:avLst>
          </a:prstGeom>
          <a:solidFill>
            <a:srgbClr val="243A63"/>
          </a:solidFill>
          <a:ln w="6350">
            <a:solidFill>
              <a:srgbClr val="6C5CE7"/>
            </a:solidFill>
            <a:prstDash val="solid"/>
          </a:ln>
        </p:spPr>
      </p:sp>
      <p:sp>
        <p:nvSpPr>
          <p:cNvPr id="16" name="Text 14"/>
          <p:cNvSpPr/>
          <p:nvPr/>
        </p:nvSpPr>
        <p:spPr>
          <a:xfrm>
            <a:off x="4096512" y="1316736"/>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Domain semantic layer</a:t>
            </a:r>
            <a:endParaRPr lang="en-US" sz="900" dirty="0"/>
          </a:p>
        </p:txBody>
      </p:sp>
      <p:sp>
        <p:nvSpPr>
          <p:cNvPr id="17" name="Text 15"/>
          <p:cNvSpPr/>
          <p:nvPr/>
        </p:nvSpPr>
        <p:spPr>
          <a:xfrm>
            <a:off x="4096512" y="1554480"/>
            <a:ext cx="2121408" cy="274320"/>
          </a:xfrm>
          <a:prstGeom prst="rect">
            <a:avLst/>
          </a:prstGeom>
          <a:noFill/>
          <a:ln/>
        </p:spPr>
        <p:txBody>
          <a:bodyPr wrap="square" rtlCol="0" anchor="ctr"/>
          <a:lstStyle/>
          <a:p>
            <a:pPr indent="0" marL="0">
              <a:buNone/>
            </a:pPr>
            <a:r>
              <a:rPr lang="en-US" sz="750" dirty="0">
                <a:solidFill>
                  <a:srgbClr val="C5BFFB"/>
                </a:solidFill>
                <a:latin typeface="Calibri" pitchFamily="34" charset="0"/>
                <a:ea typeface="Calibri" pitchFamily="34" charset="-122"/>
                <a:cs typeface="Calibri" pitchFamily="34" charset="-120"/>
              </a:rPr>
              <a:t>Semantic mesh · Knowledge graph · Federated context · Memory mgmt</a:t>
            </a:r>
            <a:endParaRPr lang="en-US" sz="750" dirty="0"/>
          </a:p>
        </p:txBody>
      </p:sp>
      <p:sp>
        <p:nvSpPr>
          <p:cNvPr id="18" name="Shape 16"/>
          <p:cNvSpPr/>
          <p:nvPr/>
        </p:nvSpPr>
        <p:spPr>
          <a:xfrm>
            <a:off x="6364224" y="1298448"/>
            <a:ext cx="2304288" cy="566928"/>
          </a:xfrm>
          <a:prstGeom prst="roundRect">
            <a:avLst>
              <a:gd name="adj" fmla="val 9677"/>
            </a:avLst>
          </a:prstGeom>
          <a:solidFill>
            <a:srgbClr val="243A63"/>
          </a:solidFill>
          <a:ln w="6350">
            <a:solidFill>
              <a:srgbClr val="E05C2A"/>
            </a:solidFill>
            <a:prstDash val="solid"/>
          </a:ln>
        </p:spPr>
      </p:sp>
      <p:sp>
        <p:nvSpPr>
          <p:cNvPr id="19" name="Text 17"/>
          <p:cNvSpPr/>
          <p:nvPr/>
        </p:nvSpPr>
        <p:spPr>
          <a:xfrm>
            <a:off x="6455664" y="1316736"/>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Enterprise knowledge graph</a:t>
            </a:r>
            <a:endParaRPr lang="en-US" sz="900" dirty="0"/>
          </a:p>
        </p:txBody>
      </p:sp>
      <p:sp>
        <p:nvSpPr>
          <p:cNvPr id="20" name="Text 18"/>
          <p:cNvSpPr/>
          <p:nvPr/>
        </p:nvSpPr>
        <p:spPr>
          <a:xfrm>
            <a:off x="6455664" y="1554480"/>
            <a:ext cx="2121408" cy="274320"/>
          </a:xfrm>
          <a:prstGeom prst="rect">
            <a:avLst/>
          </a:prstGeom>
          <a:noFill/>
          <a:ln/>
        </p:spPr>
        <p:txBody>
          <a:bodyPr wrap="square" rtlCol="0" anchor="ctr"/>
          <a:lstStyle/>
          <a:p>
            <a:pPr indent="0" marL="0">
              <a:buNone/>
            </a:pPr>
            <a:r>
              <a:rPr lang="en-US" sz="750" dirty="0">
                <a:solidFill>
                  <a:srgbClr val="F5C4A4"/>
                </a:solidFill>
                <a:latin typeface="Calibri" pitchFamily="34" charset="0"/>
                <a:ea typeface="Calibri" pitchFamily="34" charset="-122"/>
                <a:cs typeface="Calibri" pitchFamily="34" charset="-120"/>
              </a:rPr>
              <a:t>Enterprise KG · Context layer · Semantic federation · Real-time retrieval</a:t>
            </a:r>
            <a:endParaRPr lang="en-US" sz="750" dirty="0"/>
          </a:p>
        </p:txBody>
      </p:sp>
      <p:sp>
        <p:nvSpPr>
          <p:cNvPr id="21" name="Shape 19"/>
          <p:cNvSpPr/>
          <p:nvPr/>
        </p:nvSpPr>
        <p:spPr>
          <a:xfrm>
            <a:off x="137160" y="1920240"/>
            <a:ext cx="1444752" cy="566928"/>
          </a:xfrm>
          <a:prstGeom prst="roundRect">
            <a:avLst>
              <a:gd name="adj" fmla="val 9677"/>
            </a:avLst>
          </a:prstGeom>
          <a:solidFill>
            <a:srgbClr val="7C6FDD"/>
          </a:solidFill>
          <a:ln/>
        </p:spPr>
      </p:sp>
      <p:sp>
        <p:nvSpPr>
          <p:cNvPr id="22" name="Text 20"/>
          <p:cNvSpPr/>
          <p:nvPr/>
        </p:nvSpPr>
        <p:spPr>
          <a:xfrm>
            <a:off x="137160" y="1920240"/>
            <a:ext cx="1444752" cy="566928"/>
          </a:xfrm>
          <a:prstGeom prst="rect">
            <a:avLst/>
          </a:prstGeom>
          <a:noFill/>
          <a:ln/>
        </p:spPr>
        <p:txBody>
          <a:bodyPr wrap="square" rtlCol="0" anchor="ctr"/>
          <a:lstStyle/>
          <a:p>
            <a:pPr algn="ctr" indent="0" marL="0">
              <a:buNone/>
            </a:pPr>
            <a:r>
              <a:rPr lang="en-US" sz="850" b="1" spc="150" kern="0" dirty="0">
                <a:solidFill>
                  <a:srgbClr val="FFFFFF"/>
                </a:solidFill>
                <a:latin typeface="Calibri" pitchFamily="34" charset="0"/>
                <a:ea typeface="Calibri" pitchFamily="34" charset="-122"/>
                <a:cs typeface="Calibri" pitchFamily="34" charset="-120"/>
              </a:rPr>
              <a:t>APPLICATION</a:t>
            </a:r>
            <a:endParaRPr lang="en-US" sz="850" dirty="0"/>
          </a:p>
        </p:txBody>
      </p:sp>
      <p:sp>
        <p:nvSpPr>
          <p:cNvPr id="23" name="Shape 21"/>
          <p:cNvSpPr/>
          <p:nvPr/>
        </p:nvSpPr>
        <p:spPr>
          <a:xfrm>
            <a:off x="1645920" y="1920240"/>
            <a:ext cx="2304288" cy="566928"/>
          </a:xfrm>
          <a:prstGeom prst="roundRect">
            <a:avLst>
              <a:gd name="adj" fmla="val 9677"/>
            </a:avLst>
          </a:prstGeom>
          <a:solidFill>
            <a:srgbClr val="243A63"/>
          </a:solidFill>
          <a:ln w="6350">
            <a:solidFill>
              <a:srgbClr val="0E8A5F"/>
            </a:solidFill>
            <a:prstDash val="solid"/>
          </a:ln>
        </p:spPr>
      </p:sp>
      <p:sp>
        <p:nvSpPr>
          <p:cNvPr id="24" name="Text 22"/>
          <p:cNvSpPr/>
          <p:nvPr/>
        </p:nvSpPr>
        <p:spPr>
          <a:xfrm>
            <a:off x="1737360" y="1938528"/>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Single-product agent</a:t>
            </a:r>
            <a:endParaRPr lang="en-US" sz="900" dirty="0"/>
          </a:p>
        </p:txBody>
      </p:sp>
      <p:sp>
        <p:nvSpPr>
          <p:cNvPr id="25" name="Text 23"/>
          <p:cNvSpPr/>
          <p:nvPr/>
        </p:nvSpPr>
        <p:spPr>
          <a:xfrm>
            <a:off x="1737360" y="2176272"/>
            <a:ext cx="2121408" cy="274320"/>
          </a:xfrm>
          <a:prstGeom prst="rect">
            <a:avLst/>
          </a:prstGeom>
          <a:noFill/>
          <a:ln/>
        </p:spPr>
        <p:txBody>
          <a:bodyPr wrap="square" rtlCol="0" anchor="ctr"/>
          <a:lstStyle/>
          <a:p>
            <a:pPr indent="0" marL="0">
              <a:buNone/>
            </a:pPr>
            <a:r>
              <a:rPr lang="en-US" sz="750" dirty="0">
                <a:solidFill>
                  <a:srgbClr val="9FE1CB"/>
                </a:solidFill>
                <a:latin typeface="Calibri" pitchFamily="34" charset="0"/>
                <a:ea typeface="Calibri" pitchFamily="34" charset="-122"/>
                <a:cs typeface="Calibri" pitchFamily="34" charset="-120"/>
              </a:rPr>
              <a:t>RAG · Workflow automation · Explainable AI · Release mgmt</a:t>
            </a:r>
            <a:endParaRPr lang="en-US" sz="750" dirty="0"/>
          </a:p>
        </p:txBody>
      </p:sp>
      <p:sp>
        <p:nvSpPr>
          <p:cNvPr id="26" name="Shape 24"/>
          <p:cNvSpPr/>
          <p:nvPr/>
        </p:nvSpPr>
        <p:spPr>
          <a:xfrm>
            <a:off x="4005072" y="1920240"/>
            <a:ext cx="2304288" cy="566928"/>
          </a:xfrm>
          <a:prstGeom prst="roundRect">
            <a:avLst>
              <a:gd name="adj" fmla="val 9677"/>
            </a:avLst>
          </a:prstGeom>
          <a:solidFill>
            <a:srgbClr val="243A63"/>
          </a:solidFill>
          <a:ln w="6350">
            <a:solidFill>
              <a:srgbClr val="6C5CE7"/>
            </a:solidFill>
            <a:prstDash val="solid"/>
          </a:ln>
        </p:spPr>
      </p:sp>
      <p:sp>
        <p:nvSpPr>
          <p:cNvPr id="27" name="Text 25"/>
          <p:cNvSpPr/>
          <p:nvPr/>
        </p:nvSpPr>
        <p:spPr>
          <a:xfrm>
            <a:off x="4096512" y="1938528"/>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Multi-agent supervisor crew</a:t>
            </a:r>
            <a:endParaRPr lang="en-US" sz="900" dirty="0"/>
          </a:p>
        </p:txBody>
      </p:sp>
      <p:sp>
        <p:nvSpPr>
          <p:cNvPr id="28" name="Text 26"/>
          <p:cNvSpPr/>
          <p:nvPr/>
        </p:nvSpPr>
        <p:spPr>
          <a:xfrm>
            <a:off x="4096512" y="2176272"/>
            <a:ext cx="2121408" cy="274320"/>
          </a:xfrm>
          <a:prstGeom prst="rect">
            <a:avLst/>
          </a:prstGeom>
          <a:noFill/>
          <a:ln/>
        </p:spPr>
        <p:txBody>
          <a:bodyPr wrap="square" rtlCol="0" anchor="ctr"/>
          <a:lstStyle/>
          <a:p>
            <a:pPr indent="0" marL="0">
              <a:buNone/>
            </a:pPr>
            <a:r>
              <a:rPr lang="en-US" sz="750" dirty="0">
                <a:solidFill>
                  <a:srgbClr val="C5BFFB"/>
                </a:solidFill>
                <a:latin typeface="Calibri" pitchFamily="34" charset="0"/>
                <a:ea typeface="Calibri" pitchFamily="34" charset="-122"/>
                <a:cs typeface="Calibri" pitchFamily="34" charset="-120"/>
              </a:rPr>
              <a:t>Supervisor crew · Multi-agent RAG · Retrievable memory · Explainable AI</a:t>
            </a:r>
            <a:endParaRPr lang="en-US" sz="750" dirty="0"/>
          </a:p>
        </p:txBody>
      </p:sp>
      <p:sp>
        <p:nvSpPr>
          <p:cNvPr id="29" name="Shape 27"/>
          <p:cNvSpPr/>
          <p:nvPr/>
        </p:nvSpPr>
        <p:spPr>
          <a:xfrm>
            <a:off x="6364224" y="1920240"/>
            <a:ext cx="2304288" cy="566928"/>
          </a:xfrm>
          <a:prstGeom prst="roundRect">
            <a:avLst>
              <a:gd name="adj" fmla="val 9677"/>
            </a:avLst>
          </a:prstGeom>
          <a:solidFill>
            <a:srgbClr val="243A63"/>
          </a:solidFill>
          <a:ln w="6350">
            <a:solidFill>
              <a:srgbClr val="E05C2A"/>
            </a:solidFill>
            <a:prstDash val="solid"/>
          </a:ln>
        </p:spPr>
      </p:sp>
      <p:sp>
        <p:nvSpPr>
          <p:cNvPr id="30" name="Text 28"/>
          <p:cNvSpPr/>
          <p:nvPr/>
        </p:nvSpPr>
        <p:spPr>
          <a:xfrm>
            <a:off x="6455664" y="1938528"/>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Enterprise agent mesh</a:t>
            </a:r>
            <a:endParaRPr lang="en-US" sz="900" dirty="0"/>
          </a:p>
        </p:txBody>
      </p:sp>
      <p:sp>
        <p:nvSpPr>
          <p:cNvPr id="31" name="Text 29"/>
          <p:cNvSpPr/>
          <p:nvPr/>
        </p:nvSpPr>
        <p:spPr>
          <a:xfrm>
            <a:off x="6455664" y="2176272"/>
            <a:ext cx="2121408" cy="274320"/>
          </a:xfrm>
          <a:prstGeom prst="rect">
            <a:avLst/>
          </a:prstGeom>
          <a:noFill/>
          <a:ln/>
        </p:spPr>
        <p:txBody>
          <a:bodyPr wrap="square" rtlCol="0" anchor="ctr"/>
          <a:lstStyle/>
          <a:p>
            <a:pPr indent="0" marL="0">
              <a:buNone/>
            </a:pPr>
            <a:r>
              <a:rPr lang="en-US" sz="750" dirty="0">
                <a:solidFill>
                  <a:srgbClr val="F5C4A4"/>
                </a:solidFill>
                <a:latin typeface="Calibri" pitchFamily="34" charset="0"/>
                <a:ea typeface="Calibri" pitchFamily="34" charset="-122"/>
                <a:cs typeface="Calibri" pitchFamily="34" charset="-120"/>
              </a:rPr>
              <a:t>A2A · Generative UI · Advanced MAS · Release governance</a:t>
            </a:r>
            <a:endParaRPr lang="en-US" sz="750" dirty="0"/>
          </a:p>
        </p:txBody>
      </p:sp>
      <p:sp>
        <p:nvSpPr>
          <p:cNvPr id="32" name="Shape 30"/>
          <p:cNvSpPr/>
          <p:nvPr/>
        </p:nvSpPr>
        <p:spPr>
          <a:xfrm>
            <a:off x="137160" y="2542032"/>
            <a:ext cx="1444752" cy="566928"/>
          </a:xfrm>
          <a:prstGeom prst="roundRect">
            <a:avLst>
              <a:gd name="adj" fmla="val 9677"/>
            </a:avLst>
          </a:prstGeom>
          <a:solidFill>
            <a:srgbClr val="D45529"/>
          </a:solidFill>
          <a:ln/>
        </p:spPr>
      </p:sp>
      <p:sp>
        <p:nvSpPr>
          <p:cNvPr id="33" name="Text 31"/>
          <p:cNvSpPr/>
          <p:nvPr/>
        </p:nvSpPr>
        <p:spPr>
          <a:xfrm>
            <a:off x="137160" y="2542032"/>
            <a:ext cx="1444752" cy="566928"/>
          </a:xfrm>
          <a:prstGeom prst="rect">
            <a:avLst/>
          </a:prstGeom>
          <a:noFill/>
          <a:ln/>
        </p:spPr>
        <p:txBody>
          <a:bodyPr wrap="square" rtlCol="0" anchor="ctr"/>
          <a:lstStyle/>
          <a:p>
            <a:pPr algn="ctr" indent="0" marL="0">
              <a:buNone/>
            </a:pPr>
            <a:r>
              <a:rPr lang="en-US" sz="850" b="1" spc="150" kern="0" dirty="0">
                <a:solidFill>
                  <a:srgbClr val="FFFFFF"/>
                </a:solidFill>
                <a:latin typeface="Calibri" pitchFamily="34" charset="0"/>
                <a:ea typeface="Calibri" pitchFamily="34" charset="-122"/>
                <a:cs typeface="Calibri" pitchFamily="34" charset="-120"/>
              </a:rPr>
              <a:t>INTEGRATION</a:t>
            </a:r>
            <a:endParaRPr lang="en-US" sz="850" dirty="0"/>
          </a:p>
        </p:txBody>
      </p:sp>
      <p:sp>
        <p:nvSpPr>
          <p:cNvPr id="34" name="Shape 32"/>
          <p:cNvSpPr/>
          <p:nvPr/>
        </p:nvSpPr>
        <p:spPr>
          <a:xfrm>
            <a:off x="1645920" y="2542032"/>
            <a:ext cx="2304288" cy="566928"/>
          </a:xfrm>
          <a:prstGeom prst="roundRect">
            <a:avLst>
              <a:gd name="adj" fmla="val 9677"/>
            </a:avLst>
          </a:prstGeom>
          <a:solidFill>
            <a:srgbClr val="243A63"/>
          </a:solidFill>
          <a:ln w="6350">
            <a:solidFill>
              <a:srgbClr val="0E8A5F"/>
            </a:solidFill>
            <a:prstDash val="solid"/>
          </a:ln>
        </p:spPr>
      </p:sp>
      <p:sp>
        <p:nvSpPr>
          <p:cNvPr id="35" name="Text 33"/>
          <p:cNvSpPr/>
          <p:nvPr/>
        </p:nvSpPr>
        <p:spPr>
          <a:xfrm>
            <a:off x="1737360" y="2560320"/>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MCP product connector</a:t>
            </a:r>
            <a:endParaRPr lang="en-US" sz="900" dirty="0"/>
          </a:p>
        </p:txBody>
      </p:sp>
      <p:sp>
        <p:nvSpPr>
          <p:cNvPr id="36" name="Text 34"/>
          <p:cNvSpPr/>
          <p:nvPr/>
        </p:nvSpPr>
        <p:spPr>
          <a:xfrm>
            <a:off x="1737360" y="2798064"/>
            <a:ext cx="2121408" cy="274320"/>
          </a:xfrm>
          <a:prstGeom prst="rect">
            <a:avLst/>
          </a:prstGeom>
          <a:noFill/>
          <a:ln/>
        </p:spPr>
        <p:txBody>
          <a:bodyPr wrap="square" rtlCol="0" anchor="ctr"/>
          <a:lstStyle/>
          <a:p>
            <a:pPr indent="0" marL="0">
              <a:buNone/>
            </a:pPr>
            <a:r>
              <a:rPr lang="en-US" sz="750" dirty="0">
                <a:solidFill>
                  <a:srgbClr val="9FE1CB"/>
                </a:solidFill>
                <a:latin typeface="Calibri" pitchFamily="34" charset="0"/>
                <a:ea typeface="Calibri" pitchFamily="34" charset="-122"/>
                <a:cs typeface="Calibri" pitchFamily="34" charset="-120"/>
              </a:rPr>
              <a:t>MCP server · API connector · Drift baseline</a:t>
            </a:r>
            <a:endParaRPr lang="en-US" sz="750" dirty="0"/>
          </a:p>
        </p:txBody>
      </p:sp>
      <p:sp>
        <p:nvSpPr>
          <p:cNvPr id="37" name="Shape 35"/>
          <p:cNvSpPr/>
          <p:nvPr/>
        </p:nvSpPr>
        <p:spPr>
          <a:xfrm>
            <a:off x="4005072" y="2542032"/>
            <a:ext cx="2304288" cy="566928"/>
          </a:xfrm>
          <a:prstGeom prst="roundRect">
            <a:avLst>
              <a:gd name="adj" fmla="val 9677"/>
            </a:avLst>
          </a:prstGeom>
          <a:solidFill>
            <a:srgbClr val="243A63"/>
          </a:solidFill>
          <a:ln w="6350">
            <a:solidFill>
              <a:srgbClr val="6C5CE7"/>
            </a:solidFill>
            <a:prstDash val="solid"/>
          </a:ln>
        </p:spPr>
      </p:sp>
      <p:sp>
        <p:nvSpPr>
          <p:cNvPr id="38" name="Text 36"/>
          <p:cNvSpPr/>
          <p:nvPr/>
        </p:nvSpPr>
        <p:spPr>
          <a:xfrm>
            <a:off x="4096512" y="2560320"/>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Domain MCP mesh</a:t>
            </a:r>
            <a:endParaRPr lang="en-US" sz="900" dirty="0"/>
          </a:p>
        </p:txBody>
      </p:sp>
      <p:sp>
        <p:nvSpPr>
          <p:cNvPr id="39" name="Text 37"/>
          <p:cNvSpPr/>
          <p:nvPr/>
        </p:nvSpPr>
        <p:spPr>
          <a:xfrm>
            <a:off x="4096512" y="2798064"/>
            <a:ext cx="2121408" cy="274320"/>
          </a:xfrm>
          <a:prstGeom prst="rect">
            <a:avLst/>
          </a:prstGeom>
          <a:noFill/>
          <a:ln/>
        </p:spPr>
        <p:txBody>
          <a:bodyPr wrap="square" rtlCol="0" anchor="ctr"/>
          <a:lstStyle/>
          <a:p>
            <a:pPr indent="0" marL="0">
              <a:buNone/>
            </a:pPr>
            <a:r>
              <a:rPr lang="en-US" sz="750" dirty="0">
                <a:solidFill>
                  <a:srgbClr val="C5BFFB"/>
                </a:solidFill>
                <a:latin typeface="Calibri" pitchFamily="34" charset="0"/>
                <a:ea typeface="Calibri" pitchFamily="34" charset="-122"/>
                <a:cs typeface="Calibri" pitchFamily="34" charset="-120"/>
              </a:rPr>
              <a:t>MCP Mesh · A2A (domain) · Drift governance · Tool registry</a:t>
            </a:r>
            <a:endParaRPr lang="en-US" sz="750" dirty="0"/>
          </a:p>
        </p:txBody>
      </p:sp>
      <p:sp>
        <p:nvSpPr>
          <p:cNvPr id="40" name="Shape 38"/>
          <p:cNvSpPr/>
          <p:nvPr/>
        </p:nvSpPr>
        <p:spPr>
          <a:xfrm>
            <a:off x="6364224" y="2542032"/>
            <a:ext cx="2304288" cy="566928"/>
          </a:xfrm>
          <a:prstGeom prst="roundRect">
            <a:avLst>
              <a:gd name="adj" fmla="val 9677"/>
            </a:avLst>
          </a:prstGeom>
          <a:solidFill>
            <a:srgbClr val="243A63"/>
          </a:solidFill>
          <a:ln w="6350">
            <a:solidFill>
              <a:srgbClr val="E05C2A"/>
            </a:solidFill>
            <a:prstDash val="solid"/>
          </a:ln>
        </p:spPr>
      </p:sp>
      <p:sp>
        <p:nvSpPr>
          <p:cNvPr id="41" name="Text 39"/>
          <p:cNvSpPr/>
          <p:nvPr/>
        </p:nvSpPr>
        <p:spPr>
          <a:xfrm>
            <a:off x="6455664" y="2560320"/>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Universal MCP + A2A gateway</a:t>
            </a:r>
            <a:endParaRPr lang="en-US" sz="900" dirty="0"/>
          </a:p>
        </p:txBody>
      </p:sp>
      <p:sp>
        <p:nvSpPr>
          <p:cNvPr id="42" name="Text 40"/>
          <p:cNvSpPr/>
          <p:nvPr/>
        </p:nvSpPr>
        <p:spPr>
          <a:xfrm>
            <a:off x="6455664" y="2798064"/>
            <a:ext cx="2121408" cy="274320"/>
          </a:xfrm>
          <a:prstGeom prst="rect">
            <a:avLst/>
          </a:prstGeom>
          <a:noFill/>
          <a:ln/>
        </p:spPr>
        <p:txBody>
          <a:bodyPr wrap="square" rtlCol="0" anchor="ctr"/>
          <a:lstStyle/>
          <a:p>
            <a:pPr indent="0" marL="0">
              <a:buNone/>
            </a:pPr>
            <a:r>
              <a:rPr lang="en-US" sz="750" dirty="0">
                <a:solidFill>
                  <a:srgbClr val="F5C4A4"/>
                </a:solidFill>
                <a:latin typeface="Calibri" pitchFamily="34" charset="0"/>
                <a:ea typeface="Calibri" pitchFamily="34" charset="-122"/>
                <a:cs typeface="Calibri" pitchFamily="34" charset="-120"/>
              </a:rPr>
              <a:t>MCP Gateway · A2A protocol · Enterprise mesh · Contract registry</a:t>
            </a:r>
            <a:endParaRPr lang="en-US" sz="750" dirty="0"/>
          </a:p>
        </p:txBody>
      </p:sp>
      <p:sp>
        <p:nvSpPr>
          <p:cNvPr id="43" name="Shape 41"/>
          <p:cNvSpPr/>
          <p:nvPr/>
        </p:nvSpPr>
        <p:spPr>
          <a:xfrm>
            <a:off x="137160" y="3163824"/>
            <a:ext cx="1444752" cy="566928"/>
          </a:xfrm>
          <a:prstGeom prst="roundRect">
            <a:avLst>
              <a:gd name="adj" fmla="val 9677"/>
            </a:avLst>
          </a:prstGeom>
          <a:solidFill>
            <a:srgbClr val="C94F7B"/>
          </a:solidFill>
          <a:ln/>
        </p:spPr>
      </p:sp>
      <p:sp>
        <p:nvSpPr>
          <p:cNvPr id="44" name="Text 42"/>
          <p:cNvSpPr/>
          <p:nvPr/>
        </p:nvSpPr>
        <p:spPr>
          <a:xfrm>
            <a:off x="137160" y="3163824"/>
            <a:ext cx="1444752" cy="566928"/>
          </a:xfrm>
          <a:prstGeom prst="rect">
            <a:avLst/>
          </a:prstGeom>
          <a:noFill/>
          <a:ln/>
        </p:spPr>
        <p:txBody>
          <a:bodyPr wrap="square" rtlCol="0" anchor="ctr"/>
          <a:lstStyle/>
          <a:p>
            <a:pPr algn="ctr" indent="0" marL="0">
              <a:buNone/>
            </a:pPr>
            <a:r>
              <a:rPr lang="en-US" sz="850" b="1" spc="150" kern="0" dirty="0">
                <a:solidFill>
                  <a:srgbClr val="FFFFFF"/>
                </a:solidFill>
                <a:latin typeface="Calibri" pitchFamily="34" charset="0"/>
                <a:ea typeface="Calibri" pitchFamily="34" charset="-122"/>
                <a:cs typeface="Calibri" pitchFamily="34" charset="-120"/>
              </a:rPr>
              <a:t>SECURITY</a:t>
            </a:r>
            <a:endParaRPr lang="en-US" sz="850" dirty="0"/>
          </a:p>
        </p:txBody>
      </p:sp>
      <p:sp>
        <p:nvSpPr>
          <p:cNvPr id="45" name="Shape 43"/>
          <p:cNvSpPr/>
          <p:nvPr/>
        </p:nvSpPr>
        <p:spPr>
          <a:xfrm>
            <a:off x="1645920" y="3163824"/>
            <a:ext cx="2304288" cy="566928"/>
          </a:xfrm>
          <a:prstGeom prst="roundRect">
            <a:avLst>
              <a:gd name="adj" fmla="val 9677"/>
            </a:avLst>
          </a:prstGeom>
          <a:solidFill>
            <a:srgbClr val="243A63"/>
          </a:solidFill>
          <a:ln w="6350">
            <a:solidFill>
              <a:srgbClr val="0E8A5F"/>
            </a:solidFill>
            <a:prstDash val="solid"/>
          </a:ln>
        </p:spPr>
      </p:sp>
      <p:sp>
        <p:nvSpPr>
          <p:cNvPr id="46" name="Text 44"/>
          <p:cNvSpPr/>
          <p:nvPr/>
        </p:nvSpPr>
        <p:spPr>
          <a:xfrm>
            <a:off x="1737360" y="3182112"/>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Prompt &amp; I/O guardrails</a:t>
            </a:r>
            <a:endParaRPr lang="en-US" sz="900" dirty="0"/>
          </a:p>
        </p:txBody>
      </p:sp>
      <p:sp>
        <p:nvSpPr>
          <p:cNvPr id="47" name="Text 45"/>
          <p:cNvSpPr/>
          <p:nvPr/>
        </p:nvSpPr>
        <p:spPr>
          <a:xfrm>
            <a:off x="1737360" y="3419856"/>
            <a:ext cx="2121408" cy="274320"/>
          </a:xfrm>
          <a:prstGeom prst="rect">
            <a:avLst/>
          </a:prstGeom>
          <a:noFill/>
          <a:ln/>
        </p:spPr>
        <p:txBody>
          <a:bodyPr wrap="square" rtlCol="0" anchor="ctr"/>
          <a:lstStyle/>
          <a:p>
            <a:pPr indent="0" marL="0">
              <a:buNone/>
            </a:pPr>
            <a:r>
              <a:rPr lang="en-US" sz="750" dirty="0">
                <a:solidFill>
                  <a:srgbClr val="9FE1CB"/>
                </a:solidFill>
                <a:latin typeface="Calibri" pitchFamily="34" charset="0"/>
                <a:ea typeface="Calibri" pitchFamily="34" charset="-122"/>
                <a:cs typeface="Calibri" pitchFamily="34" charset="-120"/>
              </a:rPr>
              <a:t>Input/output filtering · PHI masking · Tool sandbox</a:t>
            </a:r>
            <a:endParaRPr lang="en-US" sz="750" dirty="0"/>
          </a:p>
        </p:txBody>
      </p:sp>
      <p:sp>
        <p:nvSpPr>
          <p:cNvPr id="48" name="Shape 46"/>
          <p:cNvSpPr/>
          <p:nvPr/>
        </p:nvSpPr>
        <p:spPr>
          <a:xfrm>
            <a:off x="4005072" y="3163824"/>
            <a:ext cx="2304288" cy="566928"/>
          </a:xfrm>
          <a:prstGeom prst="roundRect">
            <a:avLst>
              <a:gd name="adj" fmla="val 9677"/>
            </a:avLst>
          </a:prstGeom>
          <a:solidFill>
            <a:srgbClr val="243A63"/>
          </a:solidFill>
          <a:ln w="6350">
            <a:solidFill>
              <a:srgbClr val="6C5CE7"/>
            </a:solidFill>
            <a:prstDash val="solid"/>
          </a:ln>
        </p:spPr>
      </p:sp>
      <p:sp>
        <p:nvSpPr>
          <p:cNvPr id="49" name="Text 47"/>
          <p:cNvSpPr/>
          <p:nvPr/>
        </p:nvSpPr>
        <p:spPr>
          <a:xfrm>
            <a:off x="4096512" y="3182112"/>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Domain agent policy engine</a:t>
            </a:r>
            <a:endParaRPr lang="en-US" sz="900" dirty="0"/>
          </a:p>
        </p:txBody>
      </p:sp>
      <p:sp>
        <p:nvSpPr>
          <p:cNvPr id="50" name="Text 48"/>
          <p:cNvSpPr/>
          <p:nvPr/>
        </p:nvSpPr>
        <p:spPr>
          <a:xfrm>
            <a:off x="4096512" y="3419856"/>
            <a:ext cx="2121408" cy="274320"/>
          </a:xfrm>
          <a:prstGeom prst="rect">
            <a:avLst/>
          </a:prstGeom>
          <a:noFill/>
          <a:ln/>
        </p:spPr>
        <p:txBody>
          <a:bodyPr wrap="square" rtlCol="0" anchor="ctr"/>
          <a:lstStyle/>
          <a:p>
            <a:pPr indent="0" marL="0">
              <a:buNone/>
            </a:pPr>
            <a:r>
              <a:rPr lang="en-US" sz="750" dirty="0">
                <a:solidFill>
                  <a:srgbClr val="C5BFFB"/>
                </a:solidFill>
                <a:latin typeface="Calibri" pitchFamily="34" charset="0"/>
                <a:ea typeface="Calibri" pitchFamily="34" charset="-122"/>
                <a:cs typeface="Calibri" pitchFamily="34" charset="-120"/>
              </a:rPr>
              <a:t>OPA / Cedar · FWA controls · Audit trail · Policy-as-code</a:t>
            </a:r>
            <a:endParaRPr lang="en-US" sz="750" dirty="0"/>
          </a:p>
        </p:txBody>
      </p:sp>
      <p:sp>
        <p:nvSpPr>
          <p:cNvPr id="51" name="Shape 49"/>
          <p:cNvSpPr/>
          <p:nvPr/>
        </p:nvSpPr>
        <p:spPr>
          <a:xfrm>
            <a:off x="6364224" y="3163824"/>
            <a:ext cx="2304288" cy="566928"/>
          </a:xfrm>
          <a:prstGeom prst="roundRect">
            <a:avLst>
              <a:gd name="adj" fmla="val 9677"/>
            </a:avLst>
          </a:prstGeom>
          <a:solidFill>
            <a:srgbClr val="243A63"/>
          </a:solidFill>
          <a:ln w="6350">
            <a:solidFill>
              <a:srgbClr val="E05C2A"/>
            </a:solidFill>
            <a:prstDash val="solid"/>
          </a:ln>
        </p:spPr>
      </p:sp>
      <p:sp>
        <p:nvSpPr>
          <p:cNvPr id="52" name="Text 50"/>
          <p:cNvSpPr/>
          <p:nvPr/>
        </p:nvSpPr>
        <p:spPr>
          <a:xfrm>
            <a:off x="6455664" y="3182112"/>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Zero-trust agentic SecOps</a:t>
            </a:r>
            <a:endParaRPr lang="en-US" sz="900" dirty="0"/>
          </a:p>
        </p:txBody>
      </p:sp>
      <p:sp>
        <p:nvSpPr>
          <p:cNvPr id="53" name="Text 51"/>
          <p:cNvSpPr/>
          <p:nvPr/>
        </p:nvSpPr>
        <p:spPr>
          <a:xfrm>
            <a:off x="6455664" y="3419856"/>
            <a:ext cx="2121408" cy="274320"/>
          </a:xfrm>
          <a:prstGeom prst="rect">
            <a:avLst/>
          </a:prstGeom>
          <a:noFill/>
          <a:ln/>
        </p:spPr>
        <p:txBody>
          <a:bodyPr wrap="square" rtlCol="0" anchor="ctr"/>
          <a:lstStyle/>
          <a:p>
            <a:pPr indent="0" marL="0">
              <a:buNone/>
            </a:pPr>
            <a:r>
              <a:rPr lang="en-US" sz="750" dirty="0">
                <a:solidFill>
                  <a:srgbClr val="F5C4A4"/>
                </a:solidFill>
                <a:latin typeface="Calibri" pitchFamily="34" charset="0"/>
                <a:ea typeface="Calibri" pitchFamily="34" charset="-122"/>
                <a:cs typeface="Calibri" pitchFamily="34" charset="-120"/>
              </a:rPr>
              <a:t>Zero-trust · Behavioral SecOps · SOC integration · HIPAA lineage</a:t>
            </a:r>
            <a:endParaRPr lang="en-US" sz="750" dirty="0"/>
          </a:p>
        </p:txBody>
      </p:sp>
      <p:sp>
        <p:nvSpPr>
          <p:cNvPr id="54" name="Shape 52"/>
          <p:cNvSpPr/>
          <p:nvPr/>
        </p:nvSpPr>
        <p:spPr>
          <a:xfrm>
            <a:off x="137160" y="3785616"/>
            <a:ext cx="1444752" cy="566928"/>
          </a:xfrm>
          <a:prstGeom prst="roundRect">
            <a:avLst>
              <a:gd name="adj" fmla="val 9677"/>
            </a:avLst>
          </a:prstGeom>
          <a:solidFill>
            <a:srgbClr val="2E84D8"/>
          </a:solidFill>
          <a:ln/>
        </p:spPr>
      </p:sp>
      <p:sp>
        <p:nvSpPr>
          <p:cNvPr id="55" name="Text 53"/>
          <p:cNvSpPr/>
          <p:nvPr/>
        </p:nvSpPr>
        <p:spPr>
          <a:xfrm>
            <a:off x="137160" y="3785616"/>
            <a:ext cx="1444752" cy="566928"/>
          </a:xfrm>
          <a:prstGeom prst="rect">
            <a:avLst/>
          </a:prstGeom>
          <a:noFill/>
          <a:ln/>
        </p:spPr>
        <p:txBody>
          <a:bodyPr wrap="square" rtlCol="0" anchor="ctr"/>
          <a:lstStyle/>
          <a:p>
            <a:pPr algn="ctr" indent="0" marL="0">
              <a:buNone/>
            </a:pPr>
            <a:r>
              <a:rPr lang="en-US" sz="850" b="1" spc="150" kern="0" dirty="0">
                <a:solidFill>
                  <a:srgbClr val="FFFFFF"/>
                </a:solidFill>
                <a:latin typeface="Calibri" pitchFamily="34" charset="0"/>
                <a:ea typeface="Calibri" pitchFamily="34" charset="-122"/>
                <a:cs typeface="Calibri" pitchFamily="34" charset="-120"/>
              </a:rPr>
              <a:t>IDENTITY</a:t>
            </a:r>
            <a:endParaRPr lang="en-US" sz="850" dirty="0"/>
          </a:p>
        </p:txBody>
      </p:sp>
      <p:sp>
        <p:nvSpPr>
          <p:cNvPr id="56" name="Shape 54"/>
          <p:cNvSpPr/>
          <p:nvPr/>
        </p:nvSpPr>
        <p:spPr>
          <a:xfrm>
            <a:off x="1645920" y="3785616"/>
            <a:ext cx="2304288" cy="566928"/>
          </a:xfrm>
          <a:prstGeom prst="roundRect">
            <a:avLst>
              <a:gd name="adj" fmla="val 9677"/>
            </a:avLst>
          </a:prstGeom>
          <a:solidFill>
            <a:srgbClr val="243A63"/>
          </a:solidFill>
          <a:ln w="6350">
            <a:solidFill>
              <a:srgbClr val="0E8A5F"/>
            </a:solidFill>
            <a:prstDash val="solid"/>
          </a:ln>
        </p:spPr>
      </p:sp>
      <p:sp>
        <p:nvSpPr>
          <p:cNvPr id="57" name="Text 55"/>
          <p:cNvSpPr/>
          <p:nvPr/>
        </p:nvSpPr>
        <p:spPr>
          <a:xfrm>
            <a:off x="1737360" y="3803904"/>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Agent service account</a:t>
            </a:r>
            <a:endParaRPr lang="en-US" sz="900" dirty="0"/>
          </a:p>
        </p:txBody>
      </p:sp>
      <p:sp>
        <p:nvSpPr>
          <p:cNvPr id="58" name="Text 56"/>
          <p:cNvSpPr/>
          <p:nvPr/>
        </p:nvSpPr>
        <p:spPr>
          <a:xfrm>
            <a:off x="1737360" y="4041648"/>
            <a:ext cx="2121408" cy="274320"/>
          </a:xfrm>
          <a:prstGeom prst="rect">
            <a:avLst/>
          </a:prstGeom>
          <a:noFill/>
          <a:ln/>
        </p:spPr>
        <p:txBody>
          <a:bodyPr wrap="square" rtlCol="0" anchor="ctr"/>
          <a:lstStyle/>
          <a:p>
            <a:pPr indent="0" marL="0">
              <a:buNone/>
            </a:pPr>
            <a:r>
              <a:rPr lang="en-US" sz="750" dirty="0">
                <a:solidFill>
                  <a:srgbClr val="9FE1CB"/>
                </a:solidFill>
                <a:latin typeface="Calibri" pitchFamily="34" charset="0"/>
                <a:ea typeface="Calibri" pitchFamily="34" charset="-122"/>
                <a:cs typeface="Calibri" pitchFamily="34" charset="-120"/>
              </a:rPr>
              <a:t>OAuth / OIDC · RBAC · Least privilege</a:t>
            </a:r>
            <a:endParaRPr lang="en-US" sz="750" dirty="0"/>
          </a:p>
        </p:txBody>
      </p:sp>
      <p:sp>
        <p:nvSpPr>
          <p:cNvPr id="59" name="Shape 57"/>
          <p:cNvSpPr/>
          <p:nvPr/>
        </p:nvSpPr>
        <p:spPr>
          <a:xfrm>
            <a:off x="4005072" y="3785616"/>
            <a:ext cx="2304288" cy="566928"/>
          </a:xfrm>
          <a:prstGeom prst="roundRect">
            <a:avLst>
              <a:gd name="adj" fmla="val 9677"/>
            </a:avLst>
          </a:prstGeom>
          <a:solidFill>
            <a:srgbClr val="243A63"/>
          </a:solidFill>
          <a:ln w="6350">
            <a:solidFill>
              <a:srgbClr val="6C5CE7"/>
            </a:solidFill>
            <a:prstDash val="solid"/>
          </a:ln>
        </p:spPr>
      </p:sp>
      <p:sp>
        <p:nvSpPr>
          <p:cNvPr id="60" name="Text 58"/>
          <p:cNvSpPr/>
          <p:nvPr/>
        </p:nvSpPr>
        <p:spPr>
          <a:xfrm>
            <a:off x="4096512" y="3803904"/>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Federated agent identity</a:t>
            </a:r>
            <a:endParaRPr lang="en-US" sz="900" dirty="0"/>
          </a:p>
        </p:txBody>
      </p:sp>
      <p:sp>
        <p:nvSpPr>
          <p:cNvPr id="61" name="Text 59"/>
          <p:cNvSpPr/>
          <p:nvPr/>
        </p:nvSpPr>
        <p:spPr>
          <a:xfrm>
            <a:off x="4096512" y="4041648"/>
            <a:ext cx="2121408" cy="274320"/>
          </a:xfrm>
          <a:prstGeom prst="rect">
            <a:avLst/>
          </a:prstGeom>
          <a:noFill/>
          <a:ln/>
        </p:spPr>
        <p:txBody>
          <a:bodyPr wrap="square" rtlCol="0" anchor="ctr"/>
          <a:lstStyle/>
          <a:p>
            <a:pPr indent="0" marL="0">
              <a:buNone/>
            </a:pPr>
            <a:r>
              <a:rPr lang="en-US" sz="750" dirty="0">
                <a:solidFill>
                  <a:srgbClr val="C5BFFB"/>
                </a:solidFill>
                <a:latin typeface="Calibri" pitchFamily="34" charset="0"/>
                <a:ea typeface="Calibri" pitchFamily="34" charset="-122"/>
                <a:cs typeface="Calibri" pitchFamily="34" charset="-120"/>
              </a:rPr>
              <a:t>SPIFFE / SVID · Agent trust · Federated IdP · Token signing</a:t>
            </a:r>
            <a:endParaRPr lang="en-US" sz="750" dirty="0"/>
          </a:p>
        </p:txBody>
      </p:sp>
      <p:sp>
        <p:nvSpPr>
          <p:cNvPr id="62" name="Shape 60"/>
          <p:cNvSpPr/>
          <p:nvPr/>
        </p:nvSpPr>
        <p:spPr>
          <a:xfrm>
            <a:off x="6364224" y="3785616"/>
            <a:ext cx="2304288" cy="566928"/>
          </a:xfrm>
          <a:prstGeom prst="roundRect">
            <a:avLst>
              <a:gd name="adj" fmla="val 9677"/>
            </a:avLst>
          </a:prstGeom>
          <a:solidFill>
            <a:srgbClr val="243A63"/>
          </a:solidFill>
          <a:ln w="6350">
            <a:solidFill>
              <a:srgbClr val="E05C2A"/>
            </a:solidFill>
            <a:prstDash val="solid"/>
          </a:ln>
        </p:spPr>
      </p:sp>
      <p:sp>
        <p:nvSpPr>
          <p:cNvPr id="63" name="Text 61"/>
          <p:cNvSpPr/>
          <p:nvPr/>
        </p:nvSpPr>
        <p:spPr>
          <a:xfrm>
            <a:off x="6455664" y="3803904"/>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Enterprise identity fabric</a:t>
            </a:r>
            <a:endParaRPr lang="en-US" sz="900" dirty="0"/>
          </a:p>
        </p:txBody>
      </p:sp>
      <p:sp>
        <p:nvSpPr>
          <p:cNvPr id="64" name="Text 62"/>
          <p:cNvSpPr/>
          <p:nvPr/>
        </p:nvSpPr>
        <p:spPr>
          <a:xfrm>
            <a:off x="6455664" y="4041648"/>
            <a:ext cx="2121408" cy="274320"/>
          </a:xfrm>
          <a:prstGeom prst="rect">
            <a:avLst/>
          </a:prstGeom>
          <a:noFill/>
          <a:ln/>
        </p:spPr>
        <p:txBody>
          <a:bodyPr wrap="square" rtlCol="0" anchor="ctr"/>
          <a:lstStyle/>
          <a:p>
            <a:pPr indent="0" marL="0">
              <a:buNone/>
            </a:pPr>
            <a:r>
              <a:rPr lang="en-US" sz="750" dirty="0">
                <a:solidFill>
                  <a:srgbClr val="F5C4A4"/>
                </a:solidFill>
                <a:latin typeface="Calibri" pitchFamily="34" charset="0"/>
                <a:ea typeface="Calibri" pitchFamily="34" charset="-122"/>
                <a:cs typeface="Calibri" pitchFamily="34" charset="-120"/>
              </a:rPr>
              <a:t>Identity lifecycle · Attestation · HIPAA governance · Partner enrollment</a:t>
            </a:r>
            <a:endParaRPr lang="en-US" sz="750" dirty="0"/>
          </a:p>
        </p:txBody>
      </p:sp>
      <p:sp>
        <p:nvSpPr>
          <p:cNvPr id="65" name="Shape 63"/>
          <p:cNvSpPr/>
          <p:nvPr/>
        </p:nvSpPr>
        <p:spPr>
          <a:xfrm>
            <a:off x="137160" y="4407408"/>
            <a:ext cx="1444752" cy="566928"/>
          </a:xfrm>
          <a:prstGeom prst="roundRect">
            <a:avLst>
              <a:gd name="adj" fmla="val 9677"/>
            </a:avLst>
          </a:prstGeom>
          <a:solidFill>
            <a:srgbClr val="B87316"/>
          </a:solidFill>
          <a:ln/>
        </p:spPr>
      </p:sp>
      <p:sp>
        <p:nvSpPr>
          <p:cNvPr id="66" name="Text 64"/>
          <p:cNvSpPr/>
          <p:nvPr/>
        </p:nvSpPr>
        <p:spPr>
          <a:xfrm>
            <a:off x="137160" y="4407408"/>
            <a:ext cx="1444752" cy="566928"/>
          </a:xfrm>
          <a:prstGeom prst="rect">
            <a:avLst/>
          </a:prstGeom>
          <a:noFill/>
          <a:ln/>
        </p:spPr>
        <p:txBody>
          <a:bodyPr wrap="square" rtlCol="0" anchor="ctr"/>
          <a:lstStyle/>
          <a:p>
            <a:pPr algn="ctr" indent="0" marL="0">
              <a:buNone/>
            </a:pPr>
            <a:r>
              <a:rPr lang="en-US" sz="850" b="1" spc="150" kern="0" dirty="0">
                <a:solidFill>
                  <a:srgbClr val="FFFFFF"/>
                </a:solidFill>
                <a:latin typeface="Calibri" pitchFamily="34" charset="0"/>
                <a:ea typeface="Calibri" pitchFamily="34" charset="-122"/>
                <a:cs typeface="Calibri" pitchFamily="34" charset="-120"/>
              </a:rPr>
              <a:t>TEAM</a:t>
            </a:r>
            <a:endParaRPr lang="en-US" sz="850" dirty="0"/>
          </a:p>
        </p:txBody>
      </p:sp>
      <p:sp>
        <p:nvSpPr>
          <p:cNvPr id="67" name="Shape 65"/>
          <p:cNvSpPr/>
          <p:nvPr/>
        </p:nvSpPr>
        <p:spPr>
          <a:xfrm>
            <a:off x="1645920" y="4407408"/>
            <a:ext cx="2304288" cy="566928"/>
          </a:xfrm>
          <a:prstGeom prst="roundRect">
            <a:avLst>
              <a:gd name="adj" fmla="val 9677"/>
            </a:avLst>
          </a:prstGeom>
          <a:solidFill>
            <a:srgbClr val="243A63"/>
          </a:solidFill>
          <a:ln w="6350">
            <a:solidFill>
              <a:srgbClr val="0E8A5F"/>
            </a:solidFill>
            <a:prstDash val="solid"/>
          </a:ln>
        </p:spPr>
      </p:sp>
      <p:sp>
        <p:nvSpPr>
          <p:cNvPr id="68" name="Text 66"/>
          <p:cNvSpPr/>
          <p:nvPr/>
        </p:nvSpPr>
        <p:spPr>
          <a:xfrm>
            <a:off x="1737360" y="4425696"/>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Squad AI literacy</a:t>
            </a:r>
            <a:endParaRPr lang="en-US" sz="900" dirty="0"/>
          </a:p>
        </p:txBody>
      </p:sp>
      <p:sp>
        <p:nvSpPr>
          <p:cNvPr id="69" name="Text 67"/>
          <p:cNvSpPr/>
          <p:nvPr/>
        </p:nvSpPr>
        <p:spPr>
          <a:xfrm>
            <a:off x="1737360" y="4663440"/>
            <a:ext cx="2121408" cy="274320"/>
          </a:xfrm>
          <a:prstGeom prst="rect">
            <a:avLst/>
          </a:prstGeom>
          <a:noFill/>
          <a:ln/>
        </p:spPr>
        <p:txBody>
          <a:bodyPr wrap="square" rtlCol="0" anchor="ctr"/>
          <a:lstStyle/>
          <a:p>
            <a:pPr indent="0" marL="0">
              <a:buNone/>
            </a:pPr>
            <a:r>
              <a:rPr lang="en-US" sz="750" dirty="0">
                <a:solidFill>
                  <a:srgbClr val="9FE1CB"/>
                </a:solidFill>
                <a:latin typeface="Calibri" pitchFamily="34" charset="0"/>
                <a:ea typeface="Calibri" pitchFamily="34" charset="-122"/>
                <a:cs typeface="Calibri" pitchFamily="34" charset="-120"/>
              </a:rPr>
              <a:t>Prompt engineering · AI SDLC · Gamified delivery</a:t>
            </a:r>
            <a:endParaRPr lang="en-US" sz="750" dirty="0"/>
          </a:p>
        </p:txBody>
      </p:sp>
      <p:sp>
        <p:nvSpPr>
          <p:cNvPr id="70" name="Shape 68"/>
          <p:cNvSpPr/>
          <p:nvPr/>
        </p:nvSpPr>
        <p:spPr>
          <a:xfrm>
            <a:off x="4005072" y="4407408"/>
            <a:ext cx="2304288" cy="566928"/>
          </a:xfrm>
          <a:prstGeom prst="roundRect">
            <a:avLst>
              <a:gd name="adj" fmla="val 9677"/>
            </a:avLst>
          </a:prstGeom>
          <a:solidFill>
            <a:srgbClr val="243A63"/>
          </a:solidFill>
          <a:ln w="6350">
            <a:solidFill>
              <a:srgbClr val="6C5CE7"/>
            </a:solidFill>
            <a:prstDash val="solid"/>
          </a:ln>
        </p:spPr>
      </p:sp>
      <p:sp>
        <p:nvSpPr>
          <p:cNvPr id="71" name="Text 69"/>
          <p:cNvSpPr/>
          <p:nvPr/>
        </p:nvSpPr>
        <p:spPr>
          <a:xfrm>
            <a:off x="4096512" y="4425696"/>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Domain CoE &amp; standards</a:t>
            </a:r>
            <a:endParaRPr lang="en-US" sz="900" dirty="0"/>
          </a:p>
        </p:txBody>
      </p:sp>
      <p:sp>
        <p:nvSpPr>
          <p:cNvPr id="72" name="Text 70"/>
          <p:cNvSpPr/>
          <p:nvPr/>
        </p:nvSpPr>
        <p:spPr>
          <a:xfrm>
            <a:off x="4096512" y="4663440"/>
            <a:ext cx="2121408" cy="274320"/>
          </a:xfrm>
          <a:prstGeom prst="rect">
            <a:avLst/>
          </a:prstGeom>
          <a:noFill/>
          <a:ln/>
        </p:spPr>
        <p:txBody>
          <a:bodyPr wrap="square" rtlCol="0" anchor="ctr"/>
          <a:lstStyle/>
          <a:p>
            <a:pPr indent="0" marL="0">
              <a:buNone/>
            </a:pPr>
            <a:r>
              <a:rPr lang="en-US" sz="750" dirty="0">
                <a:solidFill>
                  <a:srgbClr val="C5BFFB"/>
                </a:solidFill>
                <a:latin typeface="Calibri" pitchFamily="34" charset="0"/>
                <a:ea typeface="Calibri" pitchFamily="34" charset="-122"/>
                <a:cs typeface="Calibri" pitchFamily="34" charset="-120"/>
              </a:rPr>
              <a:t>CoE · ARB gate · Gamified CD · Design standards</a:t>
            </a:r>
            <a:endParaRPr lang="en-US" sz="750" dirty="0"/>
          </a:p>
        </p:txBody>
      </p:sp>
      <p:sp>
        <p:nvSpPr>
          <p:cNvPr id="73" name="Shape 71"/>
          <p:cNvSpPr/>
          <p:nvPr/>
        </p:nvSpPr>
        <p:spPr>
          <a:xfrm>
            <a:off x="6364224" y="4407408"/>
            <a:ext cx="2304288" cy="566928"/>
          </a:xfrm>
          <a:prstGeom prst="roundRect">
            <a:avLst>
              <a:gd name="adj" fmla="val 9677"/>
            </a:avLst>
          </a:prstGeom>
          <a:solidFill>
            <a:srgbClr val="243A63"/>
          </a:solidFill>
          <a:ln w="6350">
            <a:solidFill>
              <a:srgbClr val="E05C2A"/>
            </a:solidFill>
            <a:prstDash val="solid"/>
          </a:ln>
        </p:spPr>
      </p:sp>
      <p:sp>
        <p:nvSpPr>
          <p:cNvPr id="74" name="Text 72"/>
          <p:cNvSpPr/>
          <p:nvPr/>
        </p:nvSpPr>
        <p:spPr>
          <a:xfrm>
            <a:off x="6455664" y="4425696"/>
            <a:ext cx="2121408" cy="237744"/>
          </a:xfrm>
          <a:prstGeom prst="rect">
            <a:avLst/>
          </a:prstGeom>
          <a:noFill/>
          <a:ln/>
        </p:spPr>
        <p:txBody>
          <a:bodyPr wrap="square" rtlCol="0" anchor="ctr"/>
          <a:lstStyle/>
          <a:p>
            <a:pPr indent="0" marL="0">
              <a:buNone/>
            </a:pPr>
            <a:r>
              <a:rPr lang="en-US" sz="900" b="1" dirty="0">
                <a:solidFill>
                  <a:srgbClr val="FFFFFF"/>
                </a:solidFill>
                <a:latin typeface="Calibri" pitchFamily="34" charset="0"/>
                <a:ea typeface="Calibri" pitchFamily="34" charset="-122"/>
                <a:cs typeface="Calibri" pitchFamily="34" charset="-120"/>
              </a:rPr>
              <a:t>Enterprise AI governance</a:t>
            </a:r>
            <a:endParaRPr lang="en-US" sz="900" dirty="0"/>
          </a:p>
        </p:txBody>
      </p:sp>
      <p:sp>
        <p:nvSpPr>
          <p:cNvPr id="75" name="Text 73"/>
          <p:cNvSpPr/>
          <p:nvPr/>
        </p:nvSpPr>
        <p:spPr>
          <a:xfrm>
            <a:off x="6455664" y="4663440"/>
            <a:ext cx="2121408" cy="274320"/>
          </a:xfrm>
          <a:prstGeom prst="rect">
            <a:avLst/>
          </a:prstGeom>
          <a:noFill/>
          <a:ln/>
        </p:spPr>
        <p:txBody>
          <a:bodyPr wrap="square" rtlCol="0" anchor="ctr"/>
          <a:lstStyle/>
          <a:p>
            <a:pPr indent="0" marL="0">
              <a:buNone/>
            </a:pPr>
            <a:r>
              <a:rPr lang="en-US" sz="750" dirty="0">
                <a:solidFill>
                  <a:srgbClr val="F5C4A4"/>
                </a:solidFill>
                <a:latin typeface="Calibri" pitchFamily="34" charset="0"/>
                <a:ea typeface="Calibri" pitchFamily="34" charset="-122"/>
                <a:cs typeface="Calibri" pitchFamily="34" charset="-120"/>
              </a:rPr>
              <a:t>ARB standards · Model risk · Exec KPIs · Gamified CD</a:t>
            </a:r>
            <a:endParaRPr lang="en-US" sz="750" dirty="0"/>
          </a:p>
        </p:txBody>
      </p:sp>
      <p:sp>
        <p:nvSpPr>
          <p:cNvPr id="76" name="Text 74"/>
          <p:cNvSpPr/>
          <p:nvPr/>
        </p:nvSpPr>
        <p:spPr>
          <a:xfrm>
            <a:off x="0" y="4956048"/>
            <a:ext cx="9144000" cy="182880"/>
          </a:xfrm>
          <a:prstGeom prst="rect">
            <a:avLst/>
          </a:prstGeom>
          <a:noFill/>
          <a:ln/>
        </p:spPr>
        <p:txBody>
          <a:bodyPr wrap="square" rtlCol="0" anchor="ctr"/>
          <a:lstStyle/>
          <a:p>
            <a:pPr algn="ctr" indent="0" marL="0">
              <a:buNone/>
            </a:pPr>
            <a:r>
              <a:rPr lang="en-US" sz="700" spc="200" kern="0" dirty="0">
                <a:solidFill>
                  <a:srgbClr val="243A63"/>
                </a:solidFill>
                <a:latin typeface="Calibri" pitchFamily="34" charset="0"/>
                <a:ea typeface="Calibri" pitchFamily="34" charset="-122"/>
                <a:cs typeface="Calibri" pitchFamily="34" charset="-120"/>
              </a:rPr>
              <a:t>CONFIDENTIAL  ·  ENTERPRISE ARCHITECTURE  ·  HEALTHCARE AI STRATEGY</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Maturity Model</dc:title>
  <dc:subject>PptxGenJS Presentation</dc:subject>
  <dc:creator>Enterprise Architecture</dc:creator>
  <cp:lastModifiedBy>Enterprise Architecture</cp:lastModifiedBy>
  <cp:revision>1</cp:revision>
  <dcterms:created xsi:type="dcterms:W3CDTF">2026-06-16T02:10:47Z</dcterms:created>
  <dcterms:modified xsi:type="dcterms:W3CDTF">2026-06-16T02:10:47Z</dcterms:modified>
</cp:coreProperties>
</file>