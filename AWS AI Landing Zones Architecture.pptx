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950" y="2281237"/>
            <a:ext cx="23241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55394" y="2776537"/>
            <a:ext cx="968121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200" i="0" u="none">
                <a:solidFill>
                  <a:srgbClr val="0F172A"/>
                </a:solidFill>
                <a:latin typeface="Plus Jakarta Sans ExtraBold"/>
              </a:rPr>
              <a:t>Enterprise AI Landing Zones on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33787"/>
            <a:ext cx="762000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475569"/>
                </a:solidFill>
                <a:latin typeface="Plus Jakarta Sans"/>
              </a:rPr>
              <a:t>Architecting secure, scalable enterprise foundations for AI Gateways, Amazon Bedrock, and AgentCore workloads inspired by modern cloud patterns.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875" y="2376487"/>
            <a:ext cx="1714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05087"/>
            <a:ext cx="5334000" cy="2714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05087"/>
            <a:ext cx="5334000" cy="2714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Enterprise AI Adoption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000125"/>
            <a:ext cx="1104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Why organizations require a dedicated multi-account architecture for generative AI workloads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625" y="2900362"/>
            <a:ext cx="464058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Security &amp; Governance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62775" y="2900362"/>
            <a:ext cx="4580572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Infrastructure &amp; Scaling Bottlenecks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928937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5375" y="33099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Uncontrolled shadow AI adoption across disparate business units without compliance guardrails.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38814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Data leakage risks through unvetted third-party foundation models and external API endpoints.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44529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Absence of centralized model invocation logging, PII filtering, and audit trails.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928937"/>
            <a:ext cx="26670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10375" y="33099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Varying networking topologies across Dev, Test, and Production environments.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38814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Unpredictable token usage and lack of fine-grained FinOps cost attribution models.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0375" y="44529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Complex integration requirements for enterprise vector databases and agent frameworks.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32908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38623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44338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32908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38623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44338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19600"/>
            <a:ext cx="11049000" cy="885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19375"/>
            <a:ext cx="3555950" cy="1514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50" y="2619375"/>
            <a:ext cx="3555950" cy="1514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2619375"/>
            <a:ext cx="3556099" cy="1514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AWS AI Gateway Landing Zone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000125"/>
            <a:ext cx="1104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Centralized routing, security enforcement, and governance for all LLM and API 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619625"/>
            <a:ext cx="106489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Core Objective: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Provide a single managed gateway proxy for enterprise applications, standardizing authentication, request logging, and payload validation before requests hit model inference endpoints.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47975"/>
            <a:ext cx="33336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1. Edge &amp; Ingress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143250"/>
            <a:ext cx="3174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Amazon CloudFront, AWS WAF, and Amazon API Gateway secure incoming client requests and enforce initial rate limiting and token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8450" y="2847975"/>
            <a:ext cx="33336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2. Gateway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450" y="3143250"/>
            <a:ext cx="3174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AWS Lambda &amp; Amazon ECS orchestrate payload inspection, prompt transformation, semantic caching, and dynamic routing to model providers.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4900" y="2847975"/>
            <a:ext cx="3333854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3. Governance &amp;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4900" y="3143250"/>
            <a:ext cx="3175099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AWS CloudTrail, Amazon CloudWatch, and GuardDuty track model inference patterns, latency metrics, and security anomalies in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8450"/>
            <a:ext cx="3524250" cy="2247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838450"/>
            <a:ext cx="3524250" cy="2247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838450"/>
            <a:ext cx="3524250" cy="2247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AWS AI Gateway: Multi-Account Topology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000125"/>
            <a:ext cx="1104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Isolation of networking, security controls, and shared AI services across AWS Organizations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629025"/>
            <a:ext cx="31803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Security &amp; Audit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981450"/>
            <a:ext cx="30289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Houses centralized GuardDuty, Security Hub, AWS Config guardrails, and KMS encryption keys for AI data protection.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629025"/>
            <a:ext cx="31803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Core Networking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981450"/>
            <a:ext cx="30289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Manages Transit Gateways, VPC endpoints, AWS Direct Connect, and PrivateLink connections to external model endpoints.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629025"/>
            <a:ext cx="31803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AI Workload 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900" y="3981450"/>
            <a:ext cx="30289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Segmented development, testing, and production environments hosting application microservices and client-facing frontends.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3133725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525" y="3133725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3133725"/>
            <a:ext cx="3810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05087"/>
            <a:ext cx="5334000" cy="2714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05087"/>
            <a:ext cx="5334000" cy="2714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AWS Bedrock &amp; AgentCore Landing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000125"/>
            <a:ext cx="1104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The AWS counterpart to Azure AI Foundry: Platform engineering for enterprise foundation models &amp;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625" y="2900362"/>
            <a:ext cx="464058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Amazon Bedrock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62775" y="2900362"/>
            <a:ext cx="4580572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Amazon Bedrock AgentCore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928937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5375" y="33099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Curated access to high-performance foundation models (Anthropic Claude, Meta Llama, Amazon Titan, Mistral).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38814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Built-in </a:t>
            </a:r>
            <a:r>
              <a:rPr b="0" sz="1200" i="0" u="none">
                <a:solidFill>
                  <a:srgbClr val="FF9900"/>
                </a:solidFill>
                <a:latin typeface="Plus Jakarta Sans SemiBold"/>
              </a:rPr>
              <a:t>Bedrock Guardrails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for automated toxicity filtering, PII masking, and contextual grounding checks.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44529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Provisioned Throughput units for predictable, high-volume production traffic workloads.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928937"/>
            <a:ext cx="26670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10375" y="33099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Managed infrastructure for multi-step agentic workflows, reasoning loops, and tool execution.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38814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F9900"/>
                </a:solidFill>
                <a:latin typeface="Plus Jakarta Sans SemiBold"/>
              </a:rPr>
              <a:t>AgentCore Gateway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integrates Model Context Protocol (MCP) tools securely via AWS Lambda.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0375" y="44529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Multi-strategy memory management (Semantic, Summary, and User Preference persistence).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32908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38623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44338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32908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38623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44338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19587"/>
            <a:ext cx="11049000" cy="885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19387"/>
            <a:ext cx="3555950" cy="1314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50" y="2719387"/>
            <a:ext cx="3555950" cy="1314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2719387"/>
            <a:ext cx="3556099" cy="1314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AgentCore &amp; Knowledge Bases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000125"/>
            <a:ext cx="1104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Enabling autonomous agent capabilities with enterprise-grade data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519612"/>
            <a:ext cx="106489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Agentic Pattern: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Agents utilize semantic memory to evaluate context history while invoking MCP tool servers securely inside isolated VPC subnets.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947987"/>
            <a:ext cx="33336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Vector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243262"/>
            <a:ext cx="3174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Amazon OpenSearch Serverless, Aurora PostgreSQL with pgvector, or Pinecone store embedded enterprise documentation securely.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8450" y="2947987"/>
            <a:ext cx="33336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Retrieval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450" y="3243262"/>
            <a:ext cx="3174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Bedrock Knowledge Bases handle semantic chunking, embedding synchronization, and hybrid search with exact control over relevance.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4900" y="2947987"/>
            <a:ext cx="3333854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Action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4900" y="3243262"/>
            <a:ext cx="317509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Lambda-backed tool execution handlers securely process external API requests, database queries, and code verification tasks.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Platform Architecture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000125"/>
            <a:ext cx="1104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Mapping platform concepts between Azure AI ecosystem patterns and AWS native services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2776537"/>
          <a:ext cx="11048998" cy="2466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052464"/>
                <a:gridCol w="3782615"/>
                <a:gridCol w="4213919"/>
              </a:tblGrid>
              <a:tr h="49339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Architectural Concept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Azure AI Foundry Equivalent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AWS Native Implementation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Organizational Hub / Scope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AI Hub (Shared connections &amp; policies)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AWS Organizations &amp; Control Tower OUs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Model Catalog &amp; Fine-Tuning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Azure Model Catalog (1,700+ models)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Amazon Bedrock Model Marketplace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Agent Orchestration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Azure AI Foundry Agents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Amazon Bedrock AgentCore &amp; Frameworks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Safety &amp; Content Filters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Azure AI Content Safety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Amazon Bedrock Guardrails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1500" y="3267075"/>
            <a:ext cx="30524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23964" y="3267075"/>
            <a:ext cx="37826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580" y="3267075"/>
            <a:ext cx="42139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757612"/>
            <a:ext cx="30524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23964" y="3757612"/>
            <a:ext cx="37826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580" y="3757612"/>
            <a:ext cx="42139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248150"/>
            <a:ext cx="30524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23964" y="4248150"/>
            <a:ext cx="37826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580" y="4248150"/>
            <a:ext cx="42139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738687"/>
            <a:ext cx="30524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23964" y="4738687"/>
            <a:ext cx="37826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580" y="4738687"/>
            <a:ext cx="42139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5229225"/>
            <a:ext cx="30524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23964" y="5229225"/>
            <a:ext cx="37826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580" y="5229225"/>
            <a:ext cx="42139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05087"/>
            <a:ext cx="5334000" cy="2714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05087"/>
            <a:ext cx="5334000" cy="2714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FinOps &amp; Observability in AI Landing Zones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000125"/>
            <a:ext cx="1104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Ensuring cost transparency and operational visibility across model and agent workloads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625" y="2900362"/>
            <a:ext cx="464058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Cost Attribution &amp; FinOps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5625" y="2900362"/>
            <a:ext cx="464058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Observability &amp; Tracing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928937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5375" y="33099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Granular tracking of token consumption per workload account using AWS Cost Allocation Tags.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38814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Automated cost anomaly detection alerts for unexpected inference spikes or runaway loops.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44529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Model selection trade-off analysis between latency, output quality, and per-token pricing.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928937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10375" y="33099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End-to-end request tracing using AWS X-Ray and CloudWatch distributed logging.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38814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Real-time dashboarding of error rates, latency percentiles, and guardrail block counts.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0375" y="4452937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Automated alerts triggered on high token error rates or degraded downstream tool responses.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32908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38623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44338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32908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38623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4433887"/>
            <a:ext cx="1333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F9900"/>
                </a:solidFill>
                <a:latin typeface="Plus Jakarta Sans"/>
              </a:rPr>
              <a:t>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5606"/>
            <a:ext cx="3524250" cy="20335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945606"/>
            <a:ext cx="3524250" cy="20335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945606"/>
            <a:ext cx="3524250" cy="2033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Landing Zone Deployment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000125"/>
            <a:ext cx="1104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Phased approach to deploying a production-ready AI foundation on 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193256"/>
            <a:ext cx="3028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232F3E"/>
                </a:solidFill>
                <a:latin typeface="Plus Jakarta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736181"/>
            <a:ext cx="31803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Foundation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4088606"/>
            <a:ext cx="30289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Initialize AWS Control Tower, configure multi-account governance, IAM Identity Center, and centralized security logging.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193256"/>
            <a:ext cx="3028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232F3E"/>
                </a:solidFill>
                <a:latin typeface="Plus Jakarta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736181"/>
            <a:ext cx="31803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Gateway &amp;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4088606"/>
            <a:ext cx="30289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Deploy the AI Gateway routing layer, VPC endpoints, and configure PrivateLink connectivity to Bedrock APIs.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193256"/>
            <a:ext cx="3028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232F3E"/>
                </a:solidFill>
                <a:latin typeface="Plus Jakarta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736181"/>
            <a:ext cx="31803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Bedrock &amp;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088606"/>
            <a:ext cx="30289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Provision Knowledge Bases, configure Guardrails, and establish AgentCore runtimes for secure team onboarding.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137" y="2100262"/>
            <a:ext cx="1609725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85536" y="2595562"/>
            <a:ext cx="7420927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200" i="0" u="none">
                <a:solidFill>
                  <a:srgbClr val="0F172A"/>
                </a:solidFill>
                <a:latin typeface="Plus Jakarta Sans ExtraBold"/>
              </a:rPr>
              <a:t>Secure, Scalable AI on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452812"/>
            <a:ext cx="762000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475569"/>
                </a:solidFill>
                <a:latin typeface="Plus Jakarta Sans"/>
              </a:rPr>
              <a:t>By implementing a well-architected AI Landing Zone combining AWS AI Gateways and Amazon Bedrock with AgentCore, organizations achieve secure, governed, and cost-optimized enterprise AI innovation.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586287"/>
            <a:ext cx="11049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AWS Well-Architected Framework • Generative AI Lens • Enterprise Platform Engineering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3062" y="2195512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