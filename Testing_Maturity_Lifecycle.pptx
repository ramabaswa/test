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 1 — Product
Automated Testing:
Unit Testing, Integration Testing, API Testing, Smoke Testing, Regression Testing, Contract Testing, Functional Testing, Security Testing (basic)
Testing with AI Tools:
Test Case Synthesis, Self-Healing Scripts, Synthetic Data Mocking, Assert Statement Generation, Flaky Test Identification, Code Coverage Analysis, Bug Report Formulation
Testing for AI:
Hallucination Rate Measurement, Prompt Injection Fuzzing, Toxicity Score Scanning, Vector Retrieval Validation, Non-Deterministic Output Sampling, Latency Percentile Profiling
At Gen 1, automated testing covers the product boundary only. AI tools accelerate test authoring and maintenance within the squad. AI-native testing focuses on basic safety and output quality for the product-scoped RAG or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 2 — Program / Domain
Automated Testing:
System Testing (domain-wide), Acceptance Testing (domain), End-to-End Testing (cross-product), Performance Testing (domain), Load Testing (domain), Behavior Driven Development, Penetration Testing (domain), Mutation Testing, Visual Testing, Compatibility Testing (cross-browser)
Testing with AI Tools:
Impact Analysis Mapping, Natural Language Scripting, API Contract Validation, Edge Case Prediction, Element Locator Discovery, Cross-Browser Compatibility Auditing, Performance Bottleneck Detection, Visual Regression Checking, Exploratory Session Emulation
Testing for AI:
Adversarial Attack Simulation, Model Bias Evaluation, Data Leakage Auditing, Semantic Variance Profiling, Regressive Response Benchmarking, Context Window Saturation Testing, Over-Refusal Rate Auditing, Token Consumption Accounting, Knowledge Cutoff Exploitation
Gen 2 introduces cross-product E2E and performance test suites. AI contract validation governs MCP mesh tool contracts. AI-native testing expands to multi-agent crew behavioral evals, bias audits, and retrieval validation across the domain knowledge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 3 — Enterprise
Automated Testing:
Stress Testing (enterprise-scale), Non-Functional Testing (enterprise SLA), Usability Testing (Gen UI portals), Accessibility Testing (WCAG / ADA compliance), Test Driven Development (enterprise standard), Security Testing (ZTA / HIPAA), Sanity Testing (automated post-deploy), Regression Testing (estate-wide)
Testing with AI Tools:
Security Vulnerability Fuzzing (enterprise), Log Error Categorization (SOC/SIEM), Test Case Synthesis (enterprise eval platform), Self-Healing Scripts (multi-BU test fleet), Synthetic Data Mocking (enterprise synthetic data layer), Bug Report Formulation (AI → ITSM integration), Code Coverage Analysis (estate-wide dashboard)
Testing for AI:
Agent Loop Escape Testing, Toxicity Mitigation Verification, Boundary Value Probabilities (enterprise governed), Vector Retrieval Validation (enterprise KG), Adversarial Attack Simulation (external agents / A2A), Prompt Injection Fuzzing (cross-program + external), Data Leakage Auditing (HIPAA lineage), Model Bias Evaluation (ARB-governed), Regressive Response Benchmarking (enterprise eval mesh), Token Consumption Accounting (FinDevOps integration), Latency Percentile Profiling (enterprise SLA gate)
Gen 3 adds enterprise-governed ADLC test gates: agent loop escape testing and adversarial A2A simulation are mandatory pre-release. The enterprise eval mesh runs continuous testing across all programs. HIPAA lineage enforced on all data leakage audits.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 ·  AI QUALITY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Maturity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8D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Model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 ·  Testing with AI Tools  ·  Testing for AI  —  Gen 1, Gen 2, Gen 3 horizons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3639312" cy="512064"/>
          </a:xfrm>
          <a:prstGeom prst="roundRect">
            <a:avLst>
              <a:gd name="adj" fmla="val 10714"/>
            </a:avLst>
          </a:prstGeom>
          <a:solidFill>
            <a:srgbClr val="1A7BC4">
              <a:alpha val="78000"/>
            </a:srgbClr>
          </a:solidFill>
          <a:ln w="7620">
            <a:solidFill>
              <a:srgbClr val="1A7B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3429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" y="36758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test types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79392" y="3401568"/>
            <a:ext cx="3639312" cy="512064"/>
          </a:xfrm>
          <a:prstGeom prst="roundRect">
            <a:avLst>
              <a:gd name="adj" fmla="val 10714"/>
            </a:avLst>
          </a:prstGeom>
          <a:solidFill>
            <a:srgbClr val="0D9E75">
              <a:alpha val="78000"/>
            </a:srgbClr>
          </a:solidFill>
          <a:ln w="7620">
            <a:solidFill>
              <a:srgbClr val="0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3429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with AI Tools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07408" y="36758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capabilities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1584" y="3401568"/>
            <a:ext cx="3639312" cy="512064"/>
          </a:xfrm>
          <a:prstGeom prst="roundRect">
            <a:avLst>
              <a:gd name="adj" fmla="val 10714"/>
            </a:avLst>
          </a:prstGeom>
          <a:solidFill>
            <a:srgbClr val="C4408A">
              <a:alpha val="78000"/>
            </a:srgbClr>
          </a:solidFill>
          <a:ln w="7620">
            <a:solidFill>
              <a:srgbClr val="C440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429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for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6758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AI-native tests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87952"/>
            <a:ext cx="3200400" cy="274320"/>
          </a:xfrm>
          <a:prstGeom prst="roundRect">
            <a:avLst>
              <a:gd name="adj" fmla="val 16667"/>
            </a:avLst>
          </a:prstGeom>
          <a:solidFill>
            <a:srgbClr val="1A2E52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1 · Product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79392" y="4187952"/>
            <a:ext cx="3200400" cy="274320"/>
          </a:xfrm>
          <a:prstGeom prst="roundRect">
            <a:avLst>
              <a:gd name="adj" fmla="val 16667"/>
            </a:avLst>
          </a:prstGeom>
          <a:solidFill>
            <a:srgbClr val="1A2E52"/>
          </a:solidFill>
          <a:ln w="6350">
            <a:solidFill>
              <a:srgbClr val="6C5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2 · Program / Domain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01584" y="4187952"/>
            <a:ext cx="3200400" cy="274320"/>
          </a:xfrm>
          <a:prstGeom prst="roundRect">
            <a:avLst>
              <a:gd name="adj" fmla="val 16667"/>
            </a:avLst>
          </a:prstGeom>
          <a:solidFill>
            <a:srgbClr val="1A2E52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01584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3 · Enterprise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6565392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24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EXECUTIVE REVIEW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85216"/>
          </a:xfrm>
          <a:prstGeom prst="rect">
            <a:avLst/>
          </a:prstGeom>
          <a:solidFill>
            <a:srgbClr val="0F1E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TESTING TRACKS — PHASE BREAKDOWN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track addresses a distinct testing discipline; all three operate in parallel at every Gen horizon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01168" y="969264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1A7BC4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1207008"/>
            <a:ext cx="3657600" cy="182880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96926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" y="14630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repeatable test execution across all layers of the stack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1828800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828800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1A7BC4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" y="1828800"/>
            <a:ext cx="73152" cy="740664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874520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correctness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2075688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Unit Testing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9768" y="2221992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Integration Testing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9768" y="2368296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System Testing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9768" y="2404872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more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01168" y="2619756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619756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7C6FDD"/>
          </a:solidFill>
          <a:ln/>
        </p:spPr>
      </p:sp>
      <p:sp>
        <p:nvSpPr>
          <p:cNvPr id="19" name="Shape 17"/>
          <p:cNvSpPr/>
          <p:nvPr/>
        </p:nvSpPr>
        <p:spPr>
          <a:xfrm>
            <a:off x="283464" y="2619756"/>
            <a:ext cx="73152" cy="740664"/>
          </a:xfrm>
          <a:prstGeom prst="rect">
            <a:avLst/>
          </a:prstGeom>
          <a:solidFill>
            <a:srgbClr val="7C6FDD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665476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contracts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" y="2866644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Contract Testing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29768" y="3012948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Behavior Driven Development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9768" y="3159252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Test Driven Development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29768" y="3195828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more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01168" y="3410712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3410712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D4537E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" y="3410712"/>
            <a:ext cx="73152" cy="7406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456432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&amp; smoke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" y="3657600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Regression Testing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9768" y="3803904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Smoke Testing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29768" y="3950208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Sanity Testing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01168" y="4201668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1168" y="4201668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D85A30"/>
          </a:solidFill>
          <a:ln/>
        </p:spPr>
      </p:sp>
      <p:sp>
        <p:nvSpPr>
          <p:cNvPr id="34" name="Shape 32"/>
          <p:cNvSpPr/>
          <p:nvPr/>
        </p:nvSpPr>
        <p:spPr>
          <a:xfrm>
            <a:off x="283464" y="4201668"/>
            <a:ext cx="73152" cy="7406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247388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9768" y="4448556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Performance Testing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9768" y="4594860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Load Testing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29768" y="4741164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Stress Testing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29768" y="4777740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more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01168" y="4992624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01168" y="4992624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BA7517"/>
          </a:solidFill>
          <a:ln/>
        </p:spPr>
      </p:sp>
      <p:sp>
        <p:nvSpPr>
          <p:cNvPr id="42" name="Shape 40"/>
          <p:cNvSpPr/>
          <p:nvPr/>
        </p:nvSpPr>
        <p:spPr>
          <a:xfrm>
            <a:off x="283464" y="4992624"/>
            <a:ext cx="73152" cy="740664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5038344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quality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9768" y="5239512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Security Testing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29768" y="5385816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Penetration Testing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29768" y="5532120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Mutation Testing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01168" y="5783580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01168" y="5783580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0D9E75"/>
          </a:solidFill>
          <a:ln/>
        </p:spPr>
      </p:sp>
      <p:sp>
        <p:nvSpPr>
          <p:cNvPr id="49" name="Shape 47"/>
          <p:cNvSpPr/>
          <p:nvPr/>
        </p:nvSpPr>
        <p:spPr>
          <a:xfrm>
            <a:off x="283464" y="5783580"/>
            <a:ext cx="73152" cy="740664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50" name="Text 48"/>
          <p:cNvSpPr/>
          <p:nvPr/>
        </p:nvSpPr>
        <p:spPr>
          <a:xfrm>
            <a:off x="411480" y="5829300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&amp; compatibility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9768" y="6030468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Usability Testing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9768" y="6176772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Accessibility Testing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29768" y="6323076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Visual Testing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29768" y="6359652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more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224528" y="969264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0D9E75"/>
          </a:solidFill>
          <a:ln/>
        </p:spPr>
      </p:sp>
      <p:sp>
        <p:nvSpPr>
          <p:cNvPr id="56" name="Shape 54"/>
          <p:cNvSpPr/>
          <p:nvPr/>
        </p:nvSpPr>
        <p:spPr>
          <a:xfrm>
            <a:off x="4224528" y="1207008"/>
            <a:ext cx="3657600" cy="182880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57" name="Text 55"/>
          <p:cNvSpPr/>
          <p:nvPr/>
        </p:nvSpPr>
        <p:spPr>
          <a:xfrm>
            <a:off x="4315968" y="96926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with AI Tools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224528" y="14630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authoring, analysis, and self-healing across the test lifecycle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224528" y="1828800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224528" y="1828800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1A7BC4"/>
          </a:solidFill>
          <a:ln/>
        </p:spPr>
      </p:sp>
      <p:sp>
        <p:nvSpPr>
          <p:cNvPr id="61" name="Shape 59"/>
          <p:cNvSpPr/>
          <p:nvPr/>
        </p:nvSpPr>
        <p:spPr>
          <a:xfrm>
            <a:off x="4306824" y="1828800"/>
            <a:ext cx="73152" cy="740664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62" name="Text 60"/>
          <p:cNvSpPr/>
          <p:nvPr/>
        </p:nvSpPr>
        <p:spPr>
          <a:xfrm>
            <a:off x="4434840" y="1874520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authoring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453128" y="2075688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Test Case Synthesis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453128" y="2221992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Natural Language Scripting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453128" y="2368296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Assert Statement Generation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453128" y="2404872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more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224528" y="2619756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224528" y="2619756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7C6FDD"/>
          </a:solidFill>
          <a:ln/>
        </p:spPr>
      </p:sp>
      <p:sp>
        <p:nvSpPr>
          <p:cNvPr id="69" name="Shape 67"/>
          <p:cNvSpPr/>
          <p:nvPr/>
        </p:nvSpPr>
        <p:spPr>
          <a:xfrm>
            <a:off x="4306824" y="2619756"/>
            <a:ext cx="73152" cy="740664"/>
          </a:xfrm>
          <a:prstGeom prst="rect">
            <a:avLst/>
          </a:prstGeom>
          <a:solidFill>
            <a:srgbClr val="7C6FDD"/>
          </a:solidFill>
          <a:ln/>
        </p:spPr>
      </p:sp>
      <p:sp>
        <p:nvSpPr>
          <p:cNvPr id="70" name="Text 68"/>
          <p:cNvSpPr/>
          <p:nvPr/>
        </p:nvSpPr>
        <p:spPr>
          <a:xfrm>
            <a:off x="4434840" y="2665476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maintenance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453128" y="2866644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Self-Healing Scripts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453128" y="3012948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Flaky Test Identification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453128" y="3159252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Element Locator Discovery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224528" y="3410712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224528" y="3410712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D4537E"/>
          </a:solidFill>
          <a:ln/>
        </p:spPr>
      </p:sp>
      <p:sp>
        <p:nvSpPr>
          <p:cNvPr id="76" name="Shape 74"/>
          <p:cNvSpPr/>
          <p:nvPr/>
        </p:nvSpPr>
        <p:spPr>
          <a:xfrm>
            <a:off x="4306824" y="3410712"/>
            <a:ext cx="73152" cy="7406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77" name="Text 75"/>
          <p:cNvSpPr/>
          <p:nvPr/>
        </p:nvSpPr>
        <p:spPr>
          <a:xfrm>
            <a:off x="4434840" y="3456432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coverage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453128" y="3657600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Synthetic Data Mocking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4453128" y="3803904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Code Coverage Analysis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453128" y="3950208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Impact Analysis Mapping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224528" y="4201668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4224528" y="4201668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D85A3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06824" y="4201668"/>
            <a:ext cx="73152" cy="7406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84" name="Text 82"/>
          <p:cNvSpPr/>
          <p:nvPr/>
        </p:nvSpPr>
        <p:spPr>
          <a:xfrm>
            <a:off x="4434840" y="4247388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&amp; API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453128" y="4448556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Contract Validation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4453128" y="4594860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Cross-Browser Compatibility Auditing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224528" y="4992624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4224528" y="4992624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BA7517"/>
          </a:solidFill>
          <a:ln/>
        </p:spPr>
      </p:sp>
      <p:sp>
        <p:nvSpPr>
          <p:cNvPr id="89" name="Shape 87"/>
          <p:cNvSpPr/>
          <p:nvPr/>
        </p:nvSpPr>
        <p:spPr>
          <a:xfrm>
            <a:off x="4306824" y="4992624"/>
            <a:ext cx="73152" cy="740664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90" name="Text 88"/>
          <p:cNvSpPr/>
          <p:nvPr/>
        </p:nvSpPr>
        <p:spPr>
          <a:xfrm>
            <a:off x="4434840" y="5038344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AI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453128" y="5239512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Performance Bottleneck Detection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4453128" y="5385816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Visual Regression Checking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224528" y="5783580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4224528" y="5783580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0D9E75"/>
          </a:solidFill>
          <a:ln/>
        </p:spPr>
      </p:sp>
      <p:sp>
        <p:nvSpPr>
          <p:cNvPr id="95" name="Shape 93"/>
          <p:cNvSpPr/>
          <p:nvPr/>
        </p:nvSpPr>
        <p:spPr>
          <a:xfrm>
            <a:off x="4306824" y="5783580"/>
            <a:ext cx="73152" cy="740664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96" name="Text 94"/>
          <p:cNvSpPr/>
          <p:nvPr/>
        </p:nvSpPr>
        <p:spPr>
          <a:xfrm>
            <a:off x="4434840" y="5829300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&amp; reporting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453128" y="6030468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Bug Report Formulation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4453128" y="6176772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Log Error Categorization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4453128" y="6323076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Security Vulnerability Fuzzing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4453128" y="6359652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more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8247888" y="969264"/>
            <a:ext cx="3657600" cy="420624"/>
          </a:xfrm>
          <a:prstGeom prst="roundRect">
            <a:avLst>
              <a:gd name="adj" fmla="val 13043"/>
            </a:avLst>
          </a:prstGeom>
          <a:solidFill>
            <a:srgbClr val="C4408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247888" y="1207008"/>
            <a:ext cx="3657600" cy="182880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03" name="Text 101"/>
          <p:cNvSpPr/>
          <p:nvPr/>
        </p:nvSpPr>
        <p:spPr>
          <a:xfrm>
            <a:off x="8339328" y="96926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for AI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8247888" y="14630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test discipline targeting model behaviour, safety, and agentic risk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8247888" y="1828800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8247888" y="1828800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1A7BC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330184" y="1828800"/>
            <a:ext cx="73152" cy="740664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108" name="Text 106"/>
          <p:cNvSpPr/>
          <p:nvPr/>
        </p:nvSpPr>
        <p:spPr>
          <a:xfrm>
            <a:off x="8458200" y="1874520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adversarial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8476488" y="2075688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Prompt Injection Fuzzing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8476488" y="2221992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Adversarial Attack Simulation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8476488" y="2368296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Security Vulnerability Fuzzing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8476488" y="2404872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more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8247888" y="2619756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8247888" y="2619756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7C6FDD"/>
          </a:solidFill>
          <a:ln/>
        </p:spPr>
      </p:sp>
      <p:sp>
        <p:nvSpPr>
          <p:cNvPr id="115" name="Shape 113"/>
          <p:cNvSpPr/>
          <p:nvPr/>
        </p:nvSpPr>
        <p:spPr>
          <a:xfrm>
            <a:off x="8330184" y="2619756"/>
            <a:ext cx="73152" cy="740664"/>
          </a:xfrm>
          <a:prstGeom prst="rect">
            <a:avLst/>
          </a:prstGeom>
          <a:solidFill>
            <a:srgbClr val="7C6FDD"/>
          </a:solidFill>
          <a:ln/>
        </p:spPr>
      </p:sp>
      <p:sp>
        <p:nvSpPr>
          <p:cNvPr id="116" name="Text 114"/>
          <p:cNvSpPr/>
          <p:nvPr/>
        </p:nvSpPr>
        <p:spPr>
          <a:xfrm>
            <a:off x="8458200" y="2665476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quality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8476488" y="2866644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Hallucination Rate Measurement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8476488" y="3012948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Toxicity Score Scanning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8476488" y="3159252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Toxicity Mitigation Verification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8476488" y="3195828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more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8247888" y="3410712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8247888" y="3410712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D4537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330184" y="3410712"/>
            <a:ext cx="73152" cy="7406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124" name="Text 122"/>
          <p:cNvSpPr/>
          <p:nvPr/>
        </p:nvSpPr>
        <p:spPr>
          <a:xfrm>
            <a:off x="8458200" y="3456432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&amp; governance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8476488" y="3657600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 Bias Evaluation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8476488" y="3803904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 Leakage Auditing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8476488" y="3950208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Over-Refusal Rate Auditing</a:t>
            </a:r>
            <a:endParaRPr lang="en-US" sz="750" dirty="0"/>
          </a:p>
        </p:txBody>
      </p:sp>
      <p:sp>
        <p:nvSpPr>
          <p:cNvPr id="128" name="Text 126"/>
          <p:cNvSpPr/>
          <p:nvPr/>
        </p:nvSpPr>
        <p:spPr>
          <a:xfrm>
            <a:off x="8476488" y="3986784"/>
            <a:ext cx="3337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more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8247888" y="4201668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8247888" y="4201668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D85A3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8330184" y="4201668"/>
            <a:ext cx="73152" cy="7406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32" name="Text 130"/>
          <p:cNvSpPr/>
          <p:nvPr/>
        </p:nvSpPr>
        <p:spPr>
          <a:xfrm>
            <a:off x="8458200" y="4247388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&amp; context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8476488" y="4448556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Vector Retrieval Validation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8476488" y="4594860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Context Window Saturation Testing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8476488" y="4741164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Knowledge Cutoff Exploitation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8247888" y="4992624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7" name="Shape 135"/>
          <p:cNvSpPr/>
          <p:nvPr/>
        </p:nvSpPr>
        <p:spPr>
          <a:xfrm>
            <a:off x="8247888" y="4992624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BA7517"/>
          </a:solidFill>
          <a:ln/>
        </p:spPr>
      </p:sp>
      <p:sp>
        <p:nvSpPr>
          <p:cNvPr id="138" name="Shape 136"/>
          <p:cNvSpPr/>
          <p:nvPr/>
        </p:nvSpPr>
        <p:spPr>
          <a:xfrm>
            <a:off x="8330184" y="4992624"/>
            <a:ext cx="73152" cy="740664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39" name="Text 137"/>
          <p:cNvSpPr/>
          <p:nvPr/>
        </p:nvSpPr>
        <p:spPr>
          <a:xfrm>
            <a:off x="8458200" y="5038344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8476488" y="5239512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Latency Percentile Profiling</a:t>
            </a:r>
            <a:endParaRPr lang="en-US" sz="750" dirty="0"/>
          </a:p>
        </p:txBody>
      </p:sp>
      <p:sp>
        <p:nvSpPr>
          <p:cNvPr id="141" name="Text 139"/>
          <p:cNvSpPr/>
          <p:nvPr/>
        </p:nvSpPr>
        <p:spPr>
          <a:xfrm>
            <a:off x="8476488" y="5385816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Token Consumption Accounting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8476488" y="5532120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Non-Deterministic Output Sampling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8247888" y="5783580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4" name="Shape 142"/>
          <p:cNvSpPr/>
          <p:nvPr/>
        </p:nvSpPr>
        <p:spPr>
          <a:xfrm>
            <a:off x="8247888" y="5783580"/>
            <a:ext cx="155448" cy="740664"/>
          </a:xfrm>
          <a:prstGeom prst="roundRect">
            <a:avLst>
              <a:gd name="adj" fmla="val 35294"/>
            </a:avLst>
          </a:prstGeom>
          <a:solidFill>
            <a:srgbClr val="0D9E75"/>
          </a:solidFill>
          <a:ln/>
        </p:spPr>
      </p:sp>
      <p:sp>
        <p:nvSpPr>
          <p:cNvPr id="145" name="Shape 143"/>
          <p:cNvSpPr/>
          <p:nvPr/>
        </p:nvSpPr>
        <p:spPr>
          <a:xfrm>
            <a:off x="8330184" y="5783580"/>
            <a:ext cx="73152" cy="740664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146" name="Text 144"/>
          <p:cNvSpPr/>
          <p:nvPr/>
        </p:nvSpPr>
        <p:spPr>
          <a:xfrm>
            <a:off x="8458200" y="5829300"/>
            <a:ext cx="3364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&amp; coverage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8476488" y="6030468"/>
            <a:ext cx="3337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Boundary Value Probabilities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0" y="6656832"/>
            <a:ext cx="1216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ENTERPRISE ARCHITECTURE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F1E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1  ·  Product — Testing Lifecycle Capabilities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869680" y="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capabilities across 3 tracks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11612880" cy="237744"/>
          </a:xfrm>
          <a:prstGeom prst="rect">
            <a:avLst/>
          </a:prstGeom>
          <a:solidFill>
            <a:srgbClr val="D4F0E5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64008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scoped projects within a single product team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969264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1A7BC4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70432"/>
            <a:ext cx="3749040" cy="182880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9692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71800" y="9692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42646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42646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" y="1426464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142646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79679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79679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18" name="Shape 16"/>
          <p:cNvSpPr/>
          <p:nvPr/>
        </p:nvSpPr>
        <p:spPr>
          <a:xfrm>
            <a:off x="278892" y="1796796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179679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16712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16712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8892" y="2167128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16712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253746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537460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8892" y="2537460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53746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907792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907792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30" name="Shape 28"/>
          <p:cNvSpPr/>
          <p:nvPr/>
        </p:nvSpPr>
        <p:spPr>
          <a:xfrm>
            <a:off x="278892" y="2907792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290779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27812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27812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34" name="Shape 32"/>
          <p:cNvSpPr/>
          <p:nvPr/>
        </p:nvSpPr>
        <p:spPr>
          <a:xfrm>
            <a:off x="278892" y="3278124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327812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364845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64845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38" name="Shape 36"/>
          <p:cNvSpPr/>
          <p:nvPr/>
        </p:nvSpPr>
        <p:spPr>
          <a:xfrm>
            <a:off x="278892" y="3648456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" y="364845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401878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401878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42" name="Shape 40"/>
          <p:cNvSpPr/>
          <p:nvPr/>
        </p:nvSpPr>
        <p:spPr>
          <a:xfrm>
            <a:off x="278892" y="4018788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43" name="Text 41"/>
          <p:cNvSpPr/>
          <p:nvPr/>
        </p:nvSpPr>
        <p:spPr>
          <a:xfrm>
            <a:off x="384048" y="401878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(basic)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60520" y="969264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0D9E75"/>
          </a:solidFill>
          <a:ln/>
        </p:spPr>
      </p:sp>
      <p:sp>
        <p:nvSpPr>
          <p:cNvPr id="45" name="Shape 43"/>
          <p:cNvSpPr/>
          <p:nvPr/>
        </p:nvSpPr>
        <p:spPr>
          <a:xfrm>
            <a:off x="4160520" y="1170432"/>
            <a:ext cx="3749040" cy="182880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46" name="Text 44"/>
          <p:cNvSpPr/>
          <p:nvPr/>
        </p:nvSpPr>
        <p:spPr>
          <a:xfrm>
            <a:off x="4251960" y="9692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with AI Tools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903720" y="9692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60520" y="142646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160520" y="142646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50" name="Shape 48"/>
          <p:cNvSpPr/>
          <p:nvPr/>
        </p:nvSpPr>
        <p:spPr>
          <a:xfrm>
            <a:off x="4210812" y="1426464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51" name="Text 49"/>
          <p:cNvSpPr/>
          <p:nvPr/>
        </p:nvSpPr>
        <p:spPr>
          <a:xfrm>
            <a:off x="4315968" y="142646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Synthesis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160520" y="179679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160520" y="179679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54" name="Shape 52"/>
          <p:cNvSpPr/>
          <p:nvPr/>
        </p:nvSpPr>
        <p:spPr>
          <a:xfrm>
            <a:off x="4210812" y="1796796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55" name="Text 53"/>
          <p:cNvSpPr/>
          <p:nvPr/>
        </p:nvSpPr>
        <p:spPr>
          <a:xfrm>
            <a:off x="4315968" y="179679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Scripts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160520" y="216712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160520" y="216712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58" name="Shape 56"/>
          <p:cNvSpPr/>
          <p:nvPr/>
        </p:nvSpPr>
        <p:spPr>
          <a:xfrm>
            <a:off x="4210812" y="2167128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59" name="Text 57"/>
          <p:cNvSpPr/>
          <p:nvPr/>
        </p:nvSpPr>
        <p:spPr>
          <a:xfrm>
            <a:off x="4315968" y="216712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Mocking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160520" y="253746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160520" y="2537460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62" name="Shape 60"/>
          <p:cNvSpPr/>
          <p:nvPr/>
        </p:nvSpPr>
        <p:spPr>
          <a:xfrm>
            <a:off x="4210812" y="2537460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63" name="Text 61"/>
          <p:cNvSpPr/>
          <p:nvPr/>
        </p:nvSpPr>
        <p:spPr>
          <a:xfrm>
            <a:off x="4315968" y="253746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Statement Generation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160520" y="2907792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160520" y="2907792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66" name="Shape 64"/>
          <p:cNvSpPr/>
          <p:nvPr/>
        </p:nvSpPr>
        <p:spPr>
          <a:xfrm>
            <a:off x="4210812" y="2907792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67" name="Text 65"/>
          <p:cNvSpPr/>
          <p:nvPr/>
        </p:nvSpPr>
        <p:spPr>
          <a:xfrm>
            <a:off x="4315968" y="290779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 Identification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160520" y="327812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160520" y="327812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70" name="Shape 68"/>
          <p:cNvSpPr/>
          <p:nvPr/>
        </p:nvSpPr>
        <p:spPr>
          <a:xfrm>
            <a:off x="4210812" y="3278124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71" name="Text 69"/>
          <p:cNvSpPr/>
          <p:nvPr/>
        </p:nvSpPr>
        <p:spPr>
          <a:xfrm>
            <a:off x="4315968" y="327812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 Analysis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160520" y="364845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160520" y="364845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74" name="Shape 72"/>
          <p:cNvSpPr/>
          <p:nvPr/>
        </p:nvSpPr>
        <p:spPr>
          <a:xfrm>
            <a:off x="4210812" y="3648456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75" name="Text 73"/>
          <p:cNvSpPr/>
          <p:nvPr/>
        </p:nvSpPr>
        <p:spPr>
          <a:xfrm>
            <a:off x="4315968" y="364845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 Formulation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8092440" y="969264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C4408A"/>
          </a:solidFill>
          <a:ln/>
        </p:spPr>
      </p:sp>
      <p:sp>
        <p:nvSpPr>
          <p:cNvPr id="77" name="Shape 75"/>
          <p:cNvSpPr/>
          <p:nvPr/>
        </p:nvSpPr>
        <p:spPr>
          <a:xfrm>
            <a:off x="8092440" y="1170432"/>
            <a:ext cx="3749040" cy="182880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78" name="Text 76"/>
          <p:cNvSpPr/>
          <p:nvPr/>
        </p:nvSpPr>
        <p:spPr>
          <a:xfrm>
            <a:off x="8183880" y="9692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for AI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10835640" y="9692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092440" y="142646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8092440" y="142646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82" name="Shape 80"/>
          <p:cNvSpPr/>
          <p:nvPr/>
        </p:nvSpPr>
        <p:spPr>
          <a:xfrm>
            <a:off x="8142732" y="1426464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83" name="Text 81"/>
          <p:cNvSpPr/>
          <p:nvPr/>
        </p:nvSpPr>
        <p:spPr>
          <a:xfrm>
            <a:off x="8247888" y="142646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 Measurement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092440" y="179679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8092440" y="179679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86" name="Shape 84"/>
          <p:cNvSpPr/>
          <p:nvPr/>
        </p:nvSpPr>
        <p:spPr>
          <a:xfrm>
            <a:off x="8142732" y="1796796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87" name="Text 85"/>
          <p:cNvSpPr/>
          <p:nvPr/>
        </p:nvSpPr>
        <p:spPr>
          <a:xfrm>
            <a:off x="8247888" y="179679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Fuzzing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8092440" y="216712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8092440" y="216712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90" name="Shape 88"/>
          <p:cNvSpPr/>
          <p:nvPr/>
        </p:nvSpPr>
        <p:spPr>
          <a:xfrm>
            <a:off x="8142732" y="2167128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91" name="Text 89"/>
          <p:cNvSpPr/>
          <p:nvPr/>
        </p:nvSpPr>
        <p:spPr>
          <a:xfrm>
            <a:off x="8247888" y="216712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Score Scanning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092440" y="253746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8092440" y="2537460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94" name="Shape 92"/>
          <p:cNvSpPr/>
          <p:nvPr/>
        </p:nvSpPr>
        <p:spPr>
          <a:xfrm>
            <a:off x="8142732" y="2537460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95" name="Text 93"/>
          <p:cNvSpPr/>
          <p:nvPr/>
        </p:nvSpPr>
        <p:spPr>
          <a:xfrm>
            <a:off x="8247888" y="253746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 Validation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8092440" y="2907792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8092440" y="2907792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98" name="Shape 96"/>
          <p:cNvSpPr/>
          <p:nvPr/>
        </p:nvSpPr>
        <p:spPr>
          <a:xfrm>
            <a:off x="8142732" y="2907792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99" name="Text 97"/>
          <p:cNvSpPr/>
          <p:nvPr/>
        </p:nvSpPr>
        <p:spPr>
          <a:xfrm>
            <a:off x="8247888" y="290779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Output Sampling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8092440" y="327812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8092440" y="327812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142732" y="3278124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03" name="Text 101"/>
          <p:cNvSpPr/>
          <p:nvPr/>
        </p:nvSpPr>
        <p:spPr>
          <a:xfrm>
            <a:off x="8247888" y="327812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Percentile Profiling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F1E3C"/>
          </a:solidFill>
          <a:ln/>
        </p:spPr>
      </p:sp>
      <p:sp>
        <p:nvSpPr>
          <p:cNvPr id="105" name="Text 103"/>
          <p:cNvSpPr/>
          <p:nvPr/>
        </p:nvSpPr>
        <p:spPr>
          <a:xfrm>
            <a:off x="274320" y="640080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Gen 1, automated testing covers the product boundary only. AI tools accelerate test authoring and maintenance within the squad. AI-native testing focuses on basic safety and output quality for the product-scoped RAG or agent.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F1E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2  ·  Program / Domain — Testing Lifecycle Capabilities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869680" y="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capabilities across 3 tracks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11612880" cy="237744"/>
          </a:xfrm>
          <a:prstGeom prst="rect">
            <a:avLst/>
          </a:prstGeom>
          <a:solidFill>
            <a:srgbClr val="E8E6FC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64008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collaborate across products in a program through governed crews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969264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1A7BC4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70432"/>
            <a:ext cx="3749040" cy="182880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9692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71800" y="9692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42646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42646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" y="1426464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142646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 (domain-wide)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79679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79679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18" name="Shape 16"/>
          <p:cNvSpPr/>
          <p:nvPr/>
        </p:nvSpPr>
        <p:spPr>
          <a:xfrm>
            <a:off x="278892" y="1796796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179679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 (domain)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16712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16712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8892" y="2167128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16712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(cross-product)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253746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537460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8892" y="2537460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53746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(domain)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907792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907792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30" name="Shape 28"/>
          <p:cNvSpPr/>
          <p:nvPr/>
        </p:nvSpPr>
        <p:spPr>
          <a:xfrm>
            <a:off x="278892" y="2907792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290779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(domain)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27812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27812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34" name="Shape 32"/>
          <p:cNvSpPr/>
          <p:nvPr/>
        </p:nvSpPr>
        <p:spPr>
          <a:xfrm>
            <a:off x="278892" y="3278124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327812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Driven Development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364845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64845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38" name="Shape 36"/>
          <p:cNvSpPr/>
          <p:nvPr/>
        </p:nvSpPr>
        <p:spPr>
          <a:xfrm>
            <a:off x="278892" y="3648456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" y="364845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(domain)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401878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401878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42" name="Shape 40"/>
          <p:cNvSpPr/>
          <p:nvPr/>
        </p:nvSpPr>
        <p:spPr>
          <a:xfrm>
            <a:off x="278892" y="4018788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43" name="Text 41"/>
          <p:cNvSpPr/>
          <p:nvPr/>
        </p:nvSpPr>
        <p:spPr>
          <a:xfrm>
            <a:off x="384048" y="401878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438912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28600" y="4389120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46" name="Shape 44"/>
          <p:cNvSpPr/>
          <p:nvPr/>
        </p:nvSpPr>
        <p:spPr>
          <a:xfrm>
            <a:off x="278892" y="4389120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47" name="Text 45"/>
          <p:cNvSpPr/>
          <p:nvPr/>
        </p:nvSpPr>
        <p:spPr>
          <a:xfrm>
            <a:off x="384048" y="438912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Testing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28600" y="4759452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28600" y="4759452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50" name="Shape 48"/>
          <p:cNvSpPr/>
          <p:nvPr/>
        </p:nvSpPr>
        <p:spPr>
          <a:xfrm>
            <a:off x="278892" y="4759452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51" name="Text 49"/>
          <p:cNvSpPr/>
          <p:nvPr/>
        </p:nvSpPr>
        <p:spPr>
          <a:xfrm>
            <a:off x="384048" y="475945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Testing (cross-browser)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160520" y="969264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0D9E75"/>
          </a:solidFill>
          <a:ln/>
        </p:spPr>
      </p:sp>
      <p:sp>
        <p:nvSpPr>
          <p:cNvPr id="53" name="Shape 51"/>
          <p:cNvSpPr/>
          <p:nvPr/>
        </p:nvSpPr>
        <p:spPr>
          <a:xfrm>
            <a:off x="4160520" y="1170432"/>
            <a:ext cx="3749040" cy="182880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54" name="Text 52"/>
          <p:cNvSpPr/>
          <p:nvPr/>
        </p:nvSpPr>
        <p:spPr>
          <a:xfrm>
            <a:off x="4251960" y="9692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with AI Tools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903720" y="9692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60520" y="142646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160520" y="142646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58" name="Shape 56"/>
          <p:cNvSpPr/>
          <p:nvPr/>
        </p:nvSpPr>
        <p:spPr>
          <a:xfrm>
            <a:off x="4210812" y="1426464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59" name="Text 57"/>
          <p:cNvSpPr/>
          <p:nvPr/>
        </p:nvSpPr>
        <p:spPr>
          <a:xfrm>
            <a:off x="4315968" y="142646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Mapping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160520" y="179679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160520" y="179679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62" name="Shape 60"/>
          <p:cNvSpPr/>
          <p:nvPr/>
        </p:nvSpPr>
        <p:spPr>
          <a:xfrm>
            <a:off x="4210812" y="1796796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63" name="Text 61"/>
          <p:cNvSpPr/>
          <p:nvPr/>
        </p:nvSpPr>
        <p:spPr>
          <a:xfrm>
            <a:off x="4315968" y="179679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Scripting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160520" y="216712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160520" y="216712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66" name="Shape 64"/>
          <p:cNvSpPr/>
          <p:nvPr/>
        </p:nvSpPr>
        <p:spPr>
          <a:xfrm>
            <a:off x="4210812" y="2167128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67" name="Text 65"/>
          <p:cNvSpPr/>
          <p:nvPr/>
        </p:nvSpPr>
        <p:spPr>
          <a:xfrm>
            <a:off x="4315968" y="216712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Validation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160520" y="253746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160520" y="2537460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70" name="Shape 68"/>
          <p:cNvSpPr/>
          <p:nvPr/>
        </p:nvSpPr>
        <p:spPr>
          <a:xfrm>
            <a:off x="4210812" y="2537460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71" name="Text 69"/>
          <p:cNvSpPr/>
          <p:nvPr/>
        </p:nvSpPr>
        <p:spPr>
          <a:xfrm>
            <a:off x="4315968" y="253746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Prediction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160520" y="2907792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160520" y="2907792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74" name="Shape 72"/>
          <p:cNvSpPr/>
          <p:nvPr/>
        </p:nvSpPr>
        <p:spPr>
          <a:xfrm>
            <a:off x="4210812" y="2907792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75" name="Text 73"/>
          <p:cNvSpPr/>
          <p:nvPr/>
        </p:nvSpPr>
        <p:spPr>
          <a:xfrm>
            <a:off x="4315968" y="290779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Locator Discovery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160520" y="327812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160520" y="327812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78" name="Shape 76"/>
          <p:cNvSpPr/>
          <p:nvPr/>
        </p:nvSpPr>
        <p:spPr>
          <a:xfrm>
            <a:off x="4210812" y="3278124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79" name="Text 77"/>
          <p:cNvSpPr/>
          <p:nvPr/>
        </p:nvSpPr>
        <p:spPr>
          <a:xfrm>
            <a:off x="4315968" y="327812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Compatibility Auditing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160520" y="364845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4160520" y="364845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82" name="Shape 80"/>
          <p:cNvSpPr/>
          <p:nvPr/>
        </p:nvSpPr>
        <p:spPr>
          <a:xfrm>
            <a:off x="4210812" y="3648456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83" name="Text 81"/>
          <p:cNvSpPr/>
          <p:nvPr/>
        </p:nvSpPr>
        <p:spPr>
          <a:xfrm>
            <a:off x="4315968" y="364845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Bottleneck Detection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160520" y="401878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4160520" y="401878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86" name="Shape 84"/>
          <p:cNvSpPr/>
          <p:nvPr/>
        </p:nvSpPr>
        <p:spPr>
          <a:xfrm>
            <a:off x="4210812" y="4018788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87" name="Text 85"/>
          <p:cNvSpPr/>
          <p:nvPr/>
        </p:nvSpPr>
        <p:spPr>
          <a:xfrm>
            <a:off x="4315968" y="401878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 Checking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160520" y="438912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4160520" y="4389120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90" name="Shape 88"/>
          <p:cNvSpPr/>
          <p:nvPr/>
        </p:nvSpPr>
        <p:spPr>
          <a:xfrm>
            <a:off x="4210812" y="4389120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91" name="Text 89"/>
          <p:cNvSpPr/>
          <p:nvPr/>
        </p:nvSpPr>
        <p:spPr>
          <a:xfrm>
            <a:off x="4315968" y="438912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Session Emulation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092440" y="969264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C4408A"/>
          </a:solidFill>
          <a:ln/>
        </p:spPr>
      </p:sp>
      <p:sp>
        <p:nvSpPr>
          <p:cNvPr id="93" name="Shape 91"/>
          <p:cNvSpPr/>
          <p:nvPr/>
        </p:nvSpPr>
        <p:spPr>
          <a:xfrm>
            <a:off x="8092440" y="1170432"/>
            <a:ext cx="3749040" cy="182880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94" name="Text 92"/>
          <p:cNvSpPr/>
          <p:nvPr/>
        </p:nvSpPr>
        <p:spPr>
          <a:xfrm>
            <a:off x="8183880" y="9692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for AI</a:t>
            </a:r>
            <a:endParaRPr lang="en-US" sz="1150" dirty="0"/>
          </a:p>
        </p:txBody>
      </p:sp>
      <p:sp>
        <p:nvSpPr>
          <p:cNvPr id="95" name="Text 93"/>
          <p:cNvSpPr/>
          <p:nvPr/>
        </p:nvSpPr>
        <p:spPr>
          <a:xfrm>
            <a:off x="10835640" y="9692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092440" y="142646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8092440" y="142646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98" name="Shape 96"/>
          <p:cNvSpPr/>
          <p:nvPr/>
        </p:nvSpPr>
        <p:spPr>
          <a:xfrm>
            <a:off x="8142732" y="1426464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99" name="Text 97"/>
          <p:cNvSpPr/>
          <p:nvPr/>
        </p:nvSpPr>
        <p:spPr>
          <a:xfrm>
            <a:off x="8247888" y="142646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 Simulation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8092440" y="179679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8092440" y="179679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142732" y="1796796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03" name="Text 101"/>
          <p:cNvSpPr/>
          <p:nvPr/>
        </p:nvSpPr>
        <p:spPr>
          <a:xfrm>
            <a:off x="8247888" y="179679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Bias Evaluation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8092440" y="216712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8092440" y="216712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142732" y="2167128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07" name="Text 105"/>
          <p:cNvSpPr/>
          <p:nvPr/>
        </p:nvSpPr>
        <p:spPr>
          <a:xfrm>
            <a:off x="8247888" y="216712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Auditing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8092440" y="253746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8092440" y="2537460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142732" y="2537460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11" name="Text 109"/>
          <p:cNvSpPr/>
          <p:nvPr/>
        </p:nvSpPr>
        <p:spPr>
          <a:xfrm>
            <a:off x="8247888" y="253746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Variance Profiling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8092440" y="2907792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8092440" y="2907792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142732" y="2907792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15" name="Text 113"/>
          <p:cNvSpPr/>
          <p:nvPr/>
        </p:nvSpPr>
        <p:spPr>
          <a:xfrm>
            <a:off x="8247888" y="290779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Regressive Response Benchmarking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8092440" y="327812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8092440" y="327812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8142732" y="3278124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19" name="Text 117"/>
          <p:cNvSpPr/>
          <p:nvPr/>
        </p:nvSpPr>
        <p:spPr>
          <a:xfrm>
            <a:off x="8247888" y="327812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Saturation Testing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8092440" y="364845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1" name="Shape 119"/>
          <p:cNvSpPr/>
          <p:nvPr/>
        </p:nvSpPr>
        <p:spPr>
          <a:xfrm>
            <a:off x="8092440" y="364845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8142732" y="3648456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23" name="Text 121"/>
          <p:cNvSpPr/>
          <p:nvPr/>
        </p:nvSpPr>
        <p:spPr>
          <a:xfrm>
            <a:off x="8247888" y="364845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Over-Refusal Rate Auditing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8092440" y="401878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5" name="Shape 123"/>
          <p:cNvSpPr/>
          <p:nvPr/>
        </p:nvSpPr>
        <p:spPr>
          <a:xfrm>
            <a:off x="8092440" y="401878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26" name="Shape 124"/>
          <p:cNvSpPr/>
          <p:nvPr/>
        </p:nvSpPr>
        <p:spPr>
          <a:xfrm>
            <a:off x="8142732" y="4018788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27" name="Text 125"/>
          <p:cNvSpPr/>
          <p:nvPr/>
        </p:nvSpPr>
        <p:spPr>
          <a:xfrm>
            <a:off x="8247888" y="401878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Consumption Accounting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8092440" y="438912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8092440" y="4389120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30" name="Shape 128"/>
          <p:cNvSpPr/>
          <p:nvPr/>
        </p:nvSpPr>
        <p:spPr>
          <a:xfrm>
            <a:off x="8142732" y="4389120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31" name="Text 129"/>
          <p:cNvSpPr/>
          <p:nvPr/>
        </p:nvSpPr>
        <p:spPr>
          <a:xfrm>
            <a:off x="8247888" y="438912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 Exploitation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F1E3C"/>
          </a:solidFill>
          <a:ln/>
        </p:spPr>
      </p:sp>
      <p:sp>
        <p:nvSpPr>
          <p:cNvPr id="133" name="Text 131"/>
          <p:cNvSpPr/>
          <p:nvPr/>
        </p:nvSpPr>
        <p:spPr>
          <a:xfrm>
            <a:off x="274320" y="640080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2 introduces cross-product E2E and performance test suites. AI contract validation governs MCP mesh tool contracts. AI-native testing expands to multi-agent crew behavioral evals, bias audits, and retrieval validation across the domain knowledge graph.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F1E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3  ·  Enterprise — Testing Lifecycle Capabilities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869680" y="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capabilities across 3 tracks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11612880" cy="237744"/>
          </a:xfrm>
          <a:prstGeom prst="rect">
            <a:avLst/>
          </a:prstGeom>
          <a:solidFill>
            <a:srgbClr val="FAECE7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64008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operate cross-program and outside the enterprise via A2A and strict governance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969264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1A7BC4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70432"/>
            <a:ext cx="3749040" cy="182880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9692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71800" y="9692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42646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42646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" y="1426464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142646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(enterprise-scale)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79679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79679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18" name="Shape 16"/>
          <p:cNvSpPr/>
          <p:nvPr/>
        </p:nvSpPr>
        <p:spPr>
          <a:xfrm>
            <a:off x="278892" y="1796796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179679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Testing (enterprise SLA)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16712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16712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8892" y="2167128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16712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 (Gen UI portals)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253746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537460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8892" y="2537460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53746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Testing (WCAG / ADA compliance)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907792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907792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30" name="Shape 28"/>
          <p:cNvSpPr/>
          <p:nvPr/>
        </p:nvSpPr>
        <p:spPr>
          <a:xfrm>
            <a:off x="278892" y="2907792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290779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Driven Development (enterprise standard)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27812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27812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34" name="Shape 32"/>
          <p:cNvSpPr/>
          <p:nvPr/>
        </p:nvSpPr>
        <p:spPr>
          <a:xfrm>
            <a:off x="278892" y="3278124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327812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(ZTA / HIPAA)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364845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64845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38" name="Shape 36"/>
          <p:cNvSpPr/>
          <p:nvPr/>
        </p:nvSpPr>
        <p:spPr>
          <a:xfrm>
            <a:off x="278892" y="3648456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" y="364845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Testing (automated post-deploy)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401878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401878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1A7BC4"/>
          </a:solidFill>
          <a:ln/>
        </p:spPr>
      </p:sp>
      <p:sp>
        <p:nvSpPr>
          <p:cNvPr id="42" name="Shape 40"/>
          <p:cNvSpPr/>
          <p:nvPr/>
        </p:nvSpPr>
        <p:spPr>
          <a:xfrm>
            <a:off x="278892" y="4018788"/>
            <a:ext cx="50292" cy="310896"/>
          </a:xfrm>
          <a:prstGeom prst="rect">
            <a:avLst/>
          </a:prstGeom>
          <a:solidFill>
            <a:srgbClr val="1A7BC4"/>
          </a:solidFill>
          <a:ln/>
        </p:spPr>
      </p:sp>
      <p:sp>
        <p:nvSpPr>
          <p:cNvPr id="43" name="Text 41"/>
          <p:cNvSpPr/>
          <p:nvPr/>
        </p:nvSpPr>
        <p:spPr>
          <a:xfrm>
            <a:off x="384048" y="401878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 (estate-wide)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60520" y="969264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0D9E75"/>
          </a:solidFill>
          <a:ln/>
        </p:spPr>
      </p:sp>
      <p:sp>
        <p:nvSpPr>
          <p:cNvPr id="45" name="Shape 43"/>
          <p:cNvSpPr/>
          <p:nvPr/>
        </p:nvSpPr>
        <p:spPr>
          <a:xfrm>
            <a:off x="4160520" y="1170432"/>
            <a:ext cx="3749040" cy="182880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46" name="Text 44"/>
          <p:cNvSpPr/>
          <p:nvPr/>
        </p:nvSpPr>
        <p:spPr>
          <a:xfrm>
            <a:off x="4251960" y="9692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with AI Tools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903720" y="9692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60520" y="142646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160520" y="142646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50" name="Shape 48"/>
          <p:cNvSpPr/>
          <p:nvPr/>
        </p:nvSpPr>
        <p:spPr>
          <a:xfrm>
            <a:off x="4210812" y="1426464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51" name="Text 49"/>
          <p:cNvSpPr/>
          <p:nvPr/>
        </p:nvSpPr>
        <p:spPr>
          <a:xfrm>
            <a:off x="4315968" y="142646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Vulnerability Fuzzing (enterprise)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160520" y="179679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160520" y="179679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54" name="Shape 52"/>
          <p:cNvSpPr/>
          <p:nvPr/>
        </p:nvSpPr>
        <p:spPr>
          <a:xfrm>
            <a:off x="4210812" y="1796796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55" name="Text 53"/>
          <p:cNvSpPr/>
          <p:nvPr/>
        </p:nvSpPr>
        <p:spPr>
          <a:xfrm>
            <a:off x="4315968" y="179679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Error Categorization (SOC/SIEM)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160520" y="216712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160520" y="216712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58" name="Shape 56"/>
          <p:cNvSpPr/>
          <p:nvPr/>
        </p:nvSpPr>
        <p:spPr>
          <a:xfrm>
            <a:off x="4210812" y="2167128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59" name="Text 57"/>
          <p:cNvSpPr/>
          <p:nvPr/>
        </p:nvSpPr>
        <p:spPr>
          <a:xfrm>
            <a:off x="4315968" y="216712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Synthesis (enterprise eval platform)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160520" y="253746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160520" y="2537460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62" name="Shape 60"/>
          <p:cNvSpPr/>
          <p:nvPr/>
        </p:nvSpPr>
        <p:spPr>
          <a:xfrm>
            <a:off x="4210812" y="2537460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63" name="Text 61"/>
          <p:cNvSpPr/>
          <p:nvPr/>
        </p:nvSpPr>
        <p:spPr>
          <a:xfrm>
            <a:off x="4315968" y="253746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Scripts (multi-BU test fleet)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160520" y="2907792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160520" y="2907792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66" name="Shape 64"/>
          <p:cNvSpPr/>
          <p:nvPr/>
        </p:nvSpPr>
        <p:spPr>
          <a:xfrm>
            <a:off x="4210812" y="2907792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67" name="Text 65"/>
          <p:cNvSpPr/>
          <p:nvPr/>
        </p:nvSpPr>
        <p:spPr>
          <a:xfrm>
            <a:off x="4315968" y="290779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Mocking (enterprise synthetic data layer)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160520" y="327812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160520" y="327812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70" name="Shape 68"/>
          <p:cNvSpPr/>
          <p:nvPr/>
        </p:nvSpPr>
        <p:spPr>
          <a:xfrm>
            <a:off x="4210812" y="3278124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71" name="Text 69"/>
          <p:cNvSpPr/>
          <p:nvPr/>
        </p:nvSpPr>
        <p:spPr>
          <a:xfrm>
            <a:off x="4315968" y="327812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 Formulation (AI → ITSM integration)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160520" y="364845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160520" y="364845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0D9E75"/>
          </a:solidFill>
          <a:ln/>
        </p:spPr>
      </p:sp>
      <p:sp>
        <p:nvSpPr>
          <p:cNvPr id="74" name="Shape 72"/>
          <p:cNvSpPr/>
          <p:nvPr/>
        </p:nvSpPr>
        <p:spPr>
          <a:xfrm>
            <a:off x="4210812" y="3648456"/>
            <a:ext cx="50292" cy="310896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75" name="Text 73"/>
          <p:cNvSpPr/>
          <p:nvPr/>
        </p:nvSpPr>
        <p:spPr>
          <a:xfrm>
            <a:off x="4315968" y="364845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 Analysis (estate-wide dashboard)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8092440" y="969264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C4408A"/>
          </a:solidFill>
          <a:ln/>
        </p:spPr>
      </p:sp>
      <p:sp>
        <p:nvSpPr>
          <p:cNvPr id="77" name="Shape 75"/>
          <p:cNvSpPr/>
          <p:nvPr/>
        </p:nvSpPr>
        <p:spPr>
          <a:xfrm>
            <a:off x="8092440" y="1170432"/>
            <a:ext cx="3749040" cy="182880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78" name="Text 76"/>
          <p:cNvSpPr/>
          <p:nvPr/>
        </p:nvSpPr>
        <p:spPr>
          <a:xfrm>
            <a:off x="8183880" y="9692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for AI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10835640" y="9692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092440" y="142646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8092440" y="142646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82" name="Shape 80"/>
          <p:cNvSpPr/>
          <p:nvPr/>
        </p:nvSpPr>
        <p:spPr>
          <a:xfrm>
            <a:off x="8142732" y="1426464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83" name="Text 81"/>
          <p:cNvSpPr/>
          <p:nvPr/>
        </p:nvSpPr>
        <p:spPr>
          <a:xfrm>
            <a:off x="8247888" y="142646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Escape Testing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092440" y="179679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8092440" y="179679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86" name="Shape 84"/>
          <p:cNvSpPr/>
          <p:nvPr/>
        </p:nvSpPr>
        <p:spPr>
          <a:xfrm>
            <a:off x="8142732" y="1796796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87" name="Text 85"/>
          <p:cNvSpPr/>
          <p:nvPr/>
        </p:nvSpPr>
        <p:spPr>
          <a:xfrm>
            <a:off x="8247888" y="179679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Mitigation Verification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8092440" y="216712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8092440" y="216712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90" name="Shape 88"/>
          <p:cNvSpPr/>
          <p:nvPr/>
        </p:nvSpPr>
        <p:spPr>
          <a:xfrm>
            <a:off x="8142732" y="2167128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91" name="Text 89"/>
          <p:cNvSpPr/>
          <p:nvPr/>
        </p:nvSpPr>
        <p:spPr>
          <a:xfrm>
            <a:off x="8247888" y="216712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 Probabilities (enterprise governed)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092440" y="253746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8092440" y="2537460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94" name="Shape 92"/>
          <p:cNvSpPr/>
          <p:nvPr/>
        </p:nvSpPr>
        <p:spPr>
          <a:xfrm>
            <a:off x="8142732" y="2537460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95" name="Text 93"/>
          <p:cNvSpPr/>
          <p:nvPr/>
        </p:nvSpPr>
        <p:spPr>
          <a:xfrm>
            <a:off x="8247888" y="253746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 Validation (enterprise KG)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8092440" y="2907792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8092440" y="2907792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98" name="Shape 96"/>
          <p:cNvSpPr/>
          <p:nvPr/>
        </p:nvSpPr>
        <p:spPr>
          <a:xfrm>
            <a:off x="8142732" y="2907792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99" name="Text 97"/>
          <p:cNvSpPr/>
          <p:nvPr/>
        </p:nvSpPr>
        <p:spPr>
          <a:xfrm>
            <a:off x="8247888" y="290779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 Simulation (external agents / A2A)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8092440" y="327812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8092440" y="327812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142732" y="3278124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03" name="Text 101"/>
          <p:cNvSpPr/>
          <p:nvPr/>
        </p:nvSpPr>
        <p:spPr>
          <a:xfrm>
            <a:off x="8247888" y="327812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Fuzzing (cross-program + external)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8092440" y="3648456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8092440" y="3648456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142732" y="3648456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07" name="Text 105"/>
          <p:cNvSpPr/>
          <p:nvPr/>
        </p:nvSpPr>
        <p:spPr>
          <a:xfrm>
            <a:off x="8247888" y="3648456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Auditing (HIPAA lineage)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8092440" y="4018788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8092440" y="4018788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142732" y="4018788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11" name="Text 109"/>
          <p:cNvSpPr/>
          <p:nvPr/>
        </p:nvSpPr>
        <p:spPr>
          <a:xfrm>
            <a:off x="8247888" y="401878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Bias Evaluation (ARB-governed)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8092440" y="4389120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8092440" y="4389120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142732" y="4389120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15" name="Text 113"/>
          <p:cNvSpPr/>
          <p:nvPr/>
        </p:nvSpPr>
        <p:spPr>
          <a:xfrm>
            <a:off x="8247888" y="438912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Regressive Response Benchmarking (enterprise eval mesh)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8092440" y="4759452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8092440" y="4759452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8142732" y="4759452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19" name="Text 117"/>
          <p:cNvSpPr/>
          <p:nvPr/>
        </p:nvSpPr>
        <p:spPr>
          <a:xfrm>
            <a:off x="8247888" y="475945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Consumption Accounting (FinDevOps integration)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8092440" y="5129784"/>
            <a:ext cx="3749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1" name="Shape 119"/>
          <p:cNvSpPr/>
          <p:nvPr/>
        </p:nvSpPr>
        <p:spPr>
          <a:xfrm>
            <a:off x="8092440" y="5129784"/>
            <a:ext cx="100584" cy="310896"/>
          </a:xfrm>
          <a:prstGeom prst="roundRect">
            <a:avLst>
              <a:gd name="adj" fmla="val 45455"/>
            </a:avLst>
          </a:prstGeom>
          <a:solidFill>
            <a:srgbClr val="C4408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8142732" y="5129784"/>
            <a:ext cx="50292" cy="310896"/>
          </a:xfrm>
          <a:prstGeom prst="rect">
            <a:avLst/>
          </a:prstGeom>
          <a:solidFill>
            <a:srgbClr val="C4408A"/>
          </a:solidFill>
          <a:ln/>
        </p:spPr>
      </p:sp>
      <p:sp>
        <p:nvSpPr>
          <p:cNvPr id="123" name="Text 121"/>
          <p:cNvSpPr/>
          <p:nvPr/>
        </p:nvSpPr>
        <p:spPr>
          <a:xfrm>
            <a:off x="8247888" y="512978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Percentile Profiling (enterprise SLA gate)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F1E3C"/>
          </a:solidFill>
          <a:ln/>
        </p:spPr>
      </p:sp>
      <p:sp>
        <p:nvSpPr>
          <p:cNvPr id="125" name="Text 123"/>
          <p:cNvSpPr/>
          <p:nvPr/>
        </p:nvSpPr>
        <p:spPr>
          <a:xfrm>
            <a:off x="274320" y="640080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3 adds enterprise-governed ADLC test gates: agent loop escape testing and adversarial A2A simulation are mandatory pre-release. The enterprise eval mesh runs continuous testing across all programs. HIPAA lineage enforced on all data leakage audits.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A2E5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CAPABILITY PROGRESSION — ALL TRACKS × ALL GENERATIONS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28016" y="65836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243A63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" y="6583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11680" y="658368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65836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1 · Product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21224" y="658368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5221224" y="65836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2 · Program / Domain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30768" y="658368"/>
            <a:ext cx="3474720" cy="347472"/>
          </a:xfrm>
          <a:prstGeom prst="roundRect">
            <a:avLst>
              <a:gd name="adj" fmla="val 13158"/>
            </a:avLst>
          </a:prstGeom>
          <a:solidFill>
            <a:srgbClr val="D85A30"/>
          </a:solidFill>
          <a:ln/>
        </p:spPr>
      </p:sp>
      <p:sp>
        <p:nvSpPr>
          <p:cNvPr id="11" name="Text 9"/>
          <p:cNvSpPr/>
          <p:nvPr/>
        </p:nvSpPr>
        <p:spPr>
          <a:xfrm>
            <a:off x="8430768" y="6583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3 · Enterprise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8016" y="1078992"/>
            <a:ext cx="1828800" cy="1719072"/>
          </a:xfrm>
          <a:prstGeom prst="roundRect">
            <a:avLst>
              <a:gd name="adj" fmla="val 3191"/>
            </a:avLst>
          </a:prstGeom>
          <a:solidFill>
            <a:srgbClr val="1A7BC4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" y="1078992"/>
            <a:ext cx="182880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11680" y="1078992"/>
            <a:ext cx="3154680" cy="1719072"/>
          </a:xfrm>
          <a:prstGeom prst="roundRect">
            <a:avLst>
              <a:gd name="adj" fmla="val 3191"/>
            </a:avLst>
          </a:prstGeom>
          <a:solidFill>
            <a:srgbClr val="243A63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1704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Unit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03120" y="13990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Integration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03120" y="16276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Testing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18562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Smoke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03120" y="20848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Regression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03120" y="23134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Contract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03120" y="25420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Functional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03120" y="2596896"/>
            <a:ext cx="2971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more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221224" y="1078992"/>
            <a:ext cx="3154680" cy="1719072"/>
          </a:xfrm>
          <a:prstGeom prst="roundRect">
            <a:avLst>
              <a:gd name="adj" fmla="val 3191"/>
            </a:avLst>
          </a:prstGeom>
          <a:solidFill>
            <a:srgbClr val="243A63"/>
          </a:solidFill>
          <a:ln w="5080">
            <a:solidFill>
              <a:srgbClr val="6C5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12664" y="11704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System Testing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12664" y="13990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Acceptance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12664" y="16276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E2E (cross-product)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12664" y="18562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Performance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12664" y="20848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Load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12664" y="23134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BDD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12664" y="25420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Penetration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12664" y="2596896"/>
            <a:ext cx="2971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more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430768" y="1078992"/>
            <a:ext cx="3474720" cy="1719072"/>
          </a:xfrm>
          <a:prstGeom prst="roundRect">
            <a:avLst>
              <a:gd name="adj" fmla="val 3191"/>
            </a:avLst>
          </a:prstGeom>
          <a:solidFill>
            <a:srgbClr val="243A63"/>
          </a:solidFill>
          <a:ln w="5080">
            <a:solidFill>
              <a:srgbClr val="D85A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22208" y="11704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Stress Testing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22208" y="13990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Non-Functional (SLA)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22208" y="16276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Usability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22208" y="18562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Accessibility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22208" y="20848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TDD standard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22208" y="23134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ZTA Security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22208" y="25420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Sanity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22208" y="2596896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more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28016" y="2852928"/>
            <a:ext cx="1828800" cy="1719072"/>
          </a:xfrm>
          <a:prstGeom prst="roundRect">
            <a:avLst>
              <a:gd name="adj" fmla="val 3191"/>
            </a:avLst>
          </a:prstGeom>
          <a:solidFill>
            <a:srgbClr val="0D9E75"/>
          </a:solidFill>
          <a:ln/>
        </p:spPr>
      </p:sp>
      <p:sp>
        <p:nvSpPr>
          <p:cNvPr id="42" name="Text 40"/>
          <p:cNvSpPr/>
          <p:nvPr/>
        </p:nvSpPr>
        <p:spPr>
          <a:xfrm>
            <a:off x="128016" y="2852928"/>
            <a:ext cx="182880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AI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011680" y="2852928"/>
            <a:ext cx="3154680" cy="1719072"/>
          </a:xfrm>
          <a:prstGeom prst="roundRect">
            <a:avLst>
              <a:gd name="adj" fmla="val 3191"/>
            </a:avLst>
          </a:prstGeom>
          <a:solidFill>
            <a:srgbClr val="243A63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03120" y="29443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Test Case Synthesis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103120" y="31729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Self-Healing Scripts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103120" y="34015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Synthetic Data Mocking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103120" y="36301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Assert Generation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103120" y="38587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Flaky Test ID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103120" y="40873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Code Coverage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103120" y="43159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Bug Report AI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221224" y="2852928"/>
            <a:ext cx="3154680" cy="1719072"/>
          </a:xfrm>
          <a:prstGeom prst="roundRect">
            <a:avLst>
              <a:gd name="adj" fmla="val 3191"/>
            </a:avLst>
          </a:prstGeom>
          <a:solidFill>
            <a:srgbClr val="243A63"/>
          </a:solidFill>
          <a:ln w="5080">
            <a:solidFill>
              <a:srgbClr val="6C5CE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12664" y="29443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Impact Analysis Mapping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12664" y="31729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NL Scripting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12664" y="34015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Contract Validation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312664" y="36301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Edge Case Prediction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312664" y="38587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Element Locator Discovery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12664" y="40873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Cross-Browser Audit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12664" y="431596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Perf Bottleneck Detection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312664" y="4370832"/>
            <a:ext cx="2971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more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430768" y="2852928"/>
            <a:ext cx="3474720" cy="1719072"/>
          </a:xfrm>
          <a:prstGeom prst="roundRect">
            <a:avLst>
              <a:gd name="adj" fmla="val 3191"/>
            </a:avLst>
          </a:prstGeom>
          <a:solidFill>
            <a:srgbClr val="243A63"/>
          </a:solidFill>
          <a:ln w="5080">
            <a:solidFill>
              <a:srgbClr val="D85A3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22208" y="29443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Security Vuln Fuzzing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522208" y="31729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Log Error Categorization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522208" y="34015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Enterprise Test Synthesis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522208" y="36301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Self-Healing (multi-BU)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522208" y="38587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Enterprise Synthetic Data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522208" y="40873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AI→ITSM Bug Reports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522208" y="43159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Estate Coverage Dashboard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28016" y="4626864"/>
            <a:ext cx="1828800" cy="1719072"/>
          </a:xfrm>
          <a:prstGeom prst="roundRect">
            <a:avLst>
              <a:gd name="adj" fmla="val 3191"/>
            </a:avLst>
          </a:prstGeom>
          <a:solidFill>
            <a:srgbClr val="C4408A"/>
          </a:solidFill>
          <a:ln/>
        </p:spPr>
      </p:sp>
      <p:sp>
        <p:nvSpPr>
          <p:cNvPr id="69" name="Text 67"/>
          <p:cNvSpPr/>
          <p:nvPr/>
        </p:nvSpPr>
        <p:spPr>
          <a:xfrm>
            <a:off x="128016" y="4626864"/>
            <a:ext cx="182880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AI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011680" y="4626864"/>
            <a:ext cx="3154680" cy="1719072"/>
          </a:xfrm>
          <a:prstGeom prst="roundRect">
            <a:avLst>
              <a:gd name="adj" fmla="val 3191"/>
            </a:avLst>
          </a:prstGeom>
          <a:solidFill>
            <a:srgbClr val="243A63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103120" y="47183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Hallucination Rate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2103120" y="49469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Prompt Injection Fuzz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2103120" y="51755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Toxicity Scanning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103120" y="54041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Vector Retrieval Valid.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2103120" y="56327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Non-Deterministic Sampling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103120" y="58613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Latency Profiling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221224" y="4626864"/>
            <a:ext cx="3154680" cy="1719072"/>
          </a:xfrm>
          <a:prstGeom prst="roundRect">
            <a:avLst>
              <a:gd name="adj" fmla="val 3191"/>
            </a:avLst>
          </a:prstGeom>
          <a:solidFill>
            <a:srgbClr val="243A63"/>
          </a:solidFill>
          <a:ln w="5080">
            <a:solidFill>
              <a:srgbClr val="6C5CE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12664" y="47183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Adversarial Simulation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312664" y="49469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 Bias Eval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312664" y="51755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 Leakage Audit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312664" y="54041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Semantic Variance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312664" y="56327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Regressive Benchmarking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312664" y="58613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Context Window Saturation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312664" y="60899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B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Over-Refusal Audit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312664" y="6144768"/>
            <a:ext cx="2971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more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430768" y="4626864"/>
            <a:ext cx="3474720" cy="1719072"/>
          </a:xfrm>
          <a:prstGeom prst="roundRect">
            <a:avLst>
              <a:gd name="adj" fmla="val 3191"/>
            </a:avLst>
          </a:prstGeom>
          <a:solidFill>
            <a:srgbClr val="243A63"/>
          </a:solidFill>
          <a:ln w="5080">
            <a:solidFill>
              <a:srgbClr val="D85A3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522208" y="471830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Agent Loop Escape Testing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522208" y="494690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Toxicity Mitigation Verify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8522208" y="517550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Boundary Value (governed)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8522208" y="540410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KG Retrieval Validation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522208" y="563270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A2A Adversarial Simulation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8522208" y="586130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Cross-program Inj. Fuzzing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8522208" y="608990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HIPAA Leakage Audit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522208" y="614476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more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0" y="6656832"/>
            <a:ext cx="1216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24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ENTERPRISE ARCHITECTURE  ·  HEALTHCARE AI STRATEGY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Maturity: Automated · AI-Assisted · AI-Native — Gen 1 to Gen 3</dc:title>
  <dc:subject>PptxGenJS Presentation</dc:subject>
  <dc:creator>PptxGenJS</dc:creator>
  <cp:lastModifiedBy>PptxGenJS</cp:lastModifiedBy>
  <cp:revision>1</cp:revision>
  <dcterms:created xsi:type="dcterms:W3CDTF">2026-07-25T16:47:07Z</dcterms:created>
  <dcterms:modified xsi:type="dcterms:W3CDTF">2026-07-25T16:47:07Z</dcterms:modified>
</cp:coreProperties>
</file>