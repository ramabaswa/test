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 framing slide. Open with the headline: on July 28, 2026, MCP shipped its largest revision since the protocol launched, moving from a stateful, session-based transport to a stateless, HTTP-native one. Set audience expectations: this deck is written for architects and CISOs, not protocol implementers, so we'll spend most of our time on what changes for our threat model and our infrastructure, not on JSON-RPC syntax. Everything in this briefing has been checked against the official spec changelog at modelcontextprotocol.io/specification/2026-07-28/changelog, the maintainers' release post, and independent practitioner and academic sources listed on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slow down on — it's the thesis of the whole briefing. Two messages: (1) real infra wins — round-robin load balancing, edge/WAF routing, CDN caching all become possible because there's no session state pinning a client to a server instance. (2) 'Stateless protocol' is not 'stateless security.' We eliminated session-layer risk, but prompt-level and supply-chain risk are completely untouched, and we've actually introduced a new risk class around handle tampering because application state now travels as visible arguments instead of hidden transport state. The three stat callouts on the right (6 SEPs, 4 threats overcome, 3 new threats) are the roadmap for the rest of the deck — point to them as you move to slide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SEPs (Specification Enhancement Proposals) carry this release, confirmed against the official 2026-07-28 changelog. Walk left to right, top to bottom: 1) Handshake/session removal is the headline change — no more initialize handshake, no Mcp-Session-Id, identity rides in _meta on every request. 2) Header-based routing (Mcp-Method / Mcp-Name) is what actually unlocks edge/WAF filtering without payload inspection — this is the one your network/security team will care about most. 3) Cacheable lists reduce prompt token cost by keeping tool catalogs stable across reconnects. 4) MRTR (multi round-trip requests) replaces the old server-initiated back-channel for things like 2FA prompts — we'll dedicate a full slide to this later because it's also where a new threat lives. 5) OAuth hardening closes a real, named vulnerability class (AS mix-up attacks) via RFC 9207 issuer validation. 6) Deprecations give Roots, Sampling, Logging, and legacy SSE transport a formal 12-month runway — worth flagging to any team still running old SDKs.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threats are 'overcome' specifically because they were transport/session-layer or auth-handshake vulnerabilities, and the new spec structurally removes the mechanism they depended on — not because anyone patched a bug. Session hijacking can't happen if there's no session object to hijack. AS mix-up attacks can't happen if the client refuses to redeem a code without a matching issuer. This is a good story to tell the security team: these are architectural eliminations, verifiable by code review, not policy promises. Caveat worth saying out loud: this list is exactly why some vendors will market the new spec as 'the security release.' It only tells half the story — the next two slides are the other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are the ones to lean on if anyone in the room assumes 'stateless' means 'secure.' All three operate above the transport layer, in model cognition or in the trust boundary with third-party servers — none of that changed on July 28. Prompt injection and tool description hijacking are both catalogued in the Hou et al. 2025 academic threat taxonomy (arXiv:2503.23278), which remains the most cited reference for MCP-specific attack classes; the paper predates the stateless spec, and its findings here still apply unmodified. Action item for this slide: our mitigations for these three don't come from the new spec — they come from our own governance layer: tool allow-listing, schema review before onboarding a server, and sandboxing untrusted remote servers. That's a build item for us, not something the spec gives us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should drive our migration timeline. All three threats exist precisely because we moved from implicit, hidden transport state to explicit, model-visible state — the same design choice that gave us the scaling win on slide 2. Handle IDOR is the big one for a multi-tenant enterprise deployment: if we mint a job_id without a signature or tenant scope, any user who can guess or observe another tenant's handle can potentially act on it. We'll walk through the concrete fix on the next two slides. Runtime Exception DoS is the 'silent' one — it won't show up in a security review, it'll show up as a production incident the first time an unmigrated worker calls the old elicit() API and crashes. Worth an explicit line item in our migration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names the exact mistake we're trying to prevent in our own migration. It's easy to read 'stateless' and assume the application layer inherits that property — it doesn't, and the spec authors themselves are explicit about this, per the dev.to technical write-up and the maintainers' own release commentary. The framing that lands well with engineers: this is the same lesson REST learned twenty-five years ago — Fielding's dissertation argued statelessness buys visibility, reliability, and scalability at the cost of repeating data per request. MCP just paid that same tuition, in public, in 2026. Bridge to the next two slides: 'mint a handle' and 'sign it' are two different engineering disciplines. Slide 8 shows exactly how to do the second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this as a concrete code review checklist, not just an illustration. The pattern: start_export() mints a handle that's an HMAC signature over tenant_id + job_id, truncated to 12 hex characters; check_export() re-derives that same signature from the incoming request and rejects on mismatch using constant-time comparison. Three things to call out explicitly: the secret key must live in a proper secrets manager, not inline like this simplified example; the signature must be tied to the caller's authenticated tenant, not a tenant value passed in the request itself, or you've just moved the IDOR problem one level down; and hmac.compare_digest is doing real work here — a naive == comparison leaks timing information an attacker can use to forge a valid signature byte by byte. This is Pattern A from the underlying architecture briefing; Pattern B (MRTR) is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MRTR (Multi Round-Trip Requests, SEP-2322) is the mechanism that lets a stateless server still ask the human operator a question mid-task — like a 2FA code before approving a transfer. Walk the four numbered boxes left to right: the client calls a tool, the server responds with resultType 'input_required' and a stateToken instead of blocking on an open connection, the client goes get the answer from the human, then calls the same tool again with the answer attached and the token as proof of continuity. Every leg is an ordinary, independent HTTP request — that's what makes it compatible with round-robin load balancing where legs 2 and 4 could genuinely be handled by two different server instances. Emphasize the callout box: the stateToken is now doing the trust job a session cookie used to do, informally, and most teams won't think of it that way at first. Treat it exactly like the signed handle from the previous slide — short-lived, single-use, tenant-bound. This is a new code path for our workflow-approval and step-up-auth use cases specifically, so it deserves its own line in the migration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'so what do we actually configure' slide — aim it at whoever owns Kong / Apigee / Envoy in the room. Four policy pillars: header-based routing lets us block disallowed tool calls before they ever reach the model, which is a cheaper and faster control point than anything we could do inside the agent itself. OAuth/RFC 9207 compliance and the CIMD migration are largely a client-side engineering task — flag this as a dependency for whichever team owns our MCP client implementations, not just the gateway team. Cache governance (ttlMs / cacheScope) is as much a cost-control lever as a security one — stable tool catalogs keep upstream prompt caches from thrashing, which shows up directly in the LLM API bill. Rate limiting via standard 429s is the one item here that's now genuinely off-the-shelf — header-based metering means we don't need custom body-parsing logic in the gateway to enforce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takeaway slide — leave it up during Q&amp;A. Frame it as sequenced, not parallel: SDK upgrade and sticky-session decommissioning are prerequisites, since you can't test the MRTR refactor or the handle-signing pattern against a v1.x SDK. The two items most likely to slip a deadline are the MRTR audit (grep the codebase for ctx.elicit and create_message — it's mechanical to find, but each call site needs a real design decision about the retry flow) and the handle-signing rollout (this touches every tool that returns any kind of ID, which is usually more of the codebase than teams expect going in). Suggested next step for this room: assign an owner to each of these six rows before we leave, with the SDK upgrade and header rule work targeted first since everything else depends on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pointing at provenance, since this room will ask. Every protocol claim in this deck — the six SEP numbers, the handshake removal, MRTR, the OAuth hardening — was checked directly against the official modelcontextprotocol.io changelog for 2026-07-28, not just the practitioner summary. The threat classification (which risks are overcome vs. remaining vs. new) follows the analysis in the linked dev.to technical write-up, cross-checked against the Hou et al. 2025 academic threat taxonomy, which is the most-cited peer-reviewed source on MCP-specific attack classes. Leave the audience with the one-line summary: treat this as a scalability release with real, structural, but partial security benefits — not a silver bullet, and not a reason to slow down the zero-trust gateway and handle-signing work on our own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rot="1200000">
            <a:off x="8778240" y="-1097280"/>
            <a:ext cx="5486400" cy="5486400"/>
          </a:xfrm>
          <a:prstGeom prst="roundRect">
            <a:avLst>
              <a:gd name="adj" fmla="val 6667"/>
            </a:avLst>
          </a:prstGeom>
          <a:solidFill>
            <a:srgbClr val="263875"/>
          </a:solidFill>
          <a:ln/>
        </p:spPr>
      </p:sp>
      <p:sp>
        <p:nvSpPr>
          <p:cNvPr id="3" name="Shape 1"/>
          <p:cNvSpPr/>
          <p:nvPr/>
        </p:nvSpPr>
        <p:spPr>
          <a:xfrm rot="1200000">
            <a:off x="9692640" y="-365760"/>
            <a:ext cx="4572000" cy="4572000"/>
          </a:xfrm>
          <a:prstGeom prst="roundRect">
            <a:avLst>
              <a:gd name="adj" fmla="val 8000"/>
            </a:avLst>
          </a:prstGeom>
          <a:solidFill>
            <a:srgbClr val="2E4088"/>
          </a:solidFill>
          <a:ln/>
        </p:spPr>
      </p:sp>
      <p:sp>
        <p:nvSpPr>
          <p:cNvPr id="4" name="Text 2"/>
          <p:cNvSpPr/>
          <p:nvPr/>
        </p:nvSpPr>
        <p:spPr>
          <a:xfrm>
            <a:off x="640080" y="1417320"/>
            <a:ext cx="8229600" cy="365760"/>
          </a:xfrm>
          <a:prstGeom prst="rect">
            <a:avLst/>
          </a:prstGeom>
          <a:noFill/>
          <a:ln/>
        </p:spPr>
        <p:txBody>
          <a:bodyPr wrap="square" rtlCol="0" anchor="ctr"/>
          <a:lstStyle/>
          <a:p>
            <a:pPr indent="0" marL="0">
              <a:buNone/>
            </a:pPr>
            <a:r>
              <a:rPr lang="en-US" sz="1400" b="1" spc="300" kern="0" dirty="0">
                <a:solidFill>
                  <a:srgbClr val="CADCFC"/>
                </a:solidFill>
                <a:latin typeface="Calibri" pitchFamily="34" charset="0"/>
                <a:ea typeface="Calibri" pitchFamily="34" charset="-122"/>
                <a:cs typeface="Calibri" pitchFamily="34" charset="-120"/>
              </a:rPr>
              <a:t>ENTERPRISE ARCHITECTURE &amp; SECURITY BRIEFING</a:t>
            </a:r>
            <a:endParaRPr lang="en-US" sz="1400" dirty="0"/>
          </a:p>
        </p:txBody>
      </p:sp>
      <p:sp>
        <p:nvSpPr>
          <p:cNvPr id="5" name="Text 3"/>
          <p:cNvSpPr/>
          <p:nvPr/>
        </p:nvSpPr>
        <p:spPr>
          <a:xfrm>
            <a:off x="594360" y="1828800"/>
            <a:ext cx="9601200" cy="1188720"/>
          </a:xfrm>
          <a:prstGeom prst="rect">
            <a:avLst/>
          </a:prstGeom>
          <a:noFill/>
          <a:ln/>
        </p:spPr>
        <p:txBody>
          <a:bodyPr wrap="square"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MCP Goes Stateless</a:t>
            </a:r>
            <a:endParaRPr lang="en-US" sz="4800" dirty="0"/>
          </a:p>
        </p:txBody>
      </p:sp>
      <p:sp>
        <p:nvSpPr>
          <p:cNvPr id="6" name="Text 4"/>
          <p:cNvSpPr/>
          <p:nvPr/>
        </p:nvSpPr>
        <p:spPr>
          <a:xfrm>
            <a:off x="640080" y="2880360"/>
            <a:ext cx="8778240" cy="640080"/>
          </a:xfrm>
          <a:prstGeom prst="rect">
            <a:avLst/>
          </a:prstGeom>
          <a:noFill/>
          <a:ln/>
        </p:spPr>
        <p:txBody>
          <a:bodyPr wrap="square" rtlCol="0" anchor="ctr"/>
          <a:lstStyle/>
          <a:p>
            <a:pPr indent="0" marL="0">
              <a:buNone/>
            </a:pPr>
            <a:r>
              <a:rPr lang="en-US" sz="1800" dirty="0">
                <a:solidFill>
                  <a:srgbClr val="CADCFC"/>
                </a:solidFill>
                <a:latin typeface="Calibri" pitchFamily="34" charset="0"/>
                <a:ea typeface="Calibri" pitchFamily="34" charset="-122"/>
                <a:cs typeface="Calibri" pitchFamily="34" charset="-120"/>
              </a:rPr>
              <a:t>Threat Model &amp; Architectural Impact of the 2026-07-28 Specification Revision</a:t>
            </a:r>
            <a:endParaRPr lang="en-US" sz="1800" dirty="0"/>
          </a:p>
        </p:txBody>
      </p:sp>
      <p:sp>
        <p:nvSpPr>
          <p:cNvPr id="7" name="Shape 5"/>
          <p:cNvSpPr/>
          <p:nvPr/>
        </p:nvSpPr>
        <p:spPr>
          <a:xfrm>
            <a:off x="640080" y="3703320"/>
            <a:ext cx="4114800" cy="0"/>
          </a:xfrm>
          <a:prstGeom prst="line">
            <a:avLst/>
          </a:prstGeom>
          <a:noFill/>
          <a:ln w="12700">
            <a:solidFill>
              <a:srgbClr val="4A5C99"/>
            </a:solidFill>
            <a:prstDash val="solid"/>
          </a:ln>
        </p:spPr>
      </p:sp>
      <p:sp>
        <p:nvSpPr>
          <p:cNvPr id="8" name="Text 6"/>
          <p:cNvSpPr/>
          <p:nvPr/>
        </p:nvSpPr>
        <p:spPr>
          <a:xfrm>
            <a:off x="640080" y="3931920"/>
            <a:ext cx="7315200" cy="1097280"/>
          </a:xfrm>
          <a:prstGeom prst="rect">
            <a:avLst/>
          </a:prstGeom>
          <a:noFill/>
          <a:ln/>
        </p:spPr>
        <p:txBody>
          <a:bodyPr wrap="square" rtlCol="0" anchor="ctr"/>
          <a:lstStyle/>
          <a:p>
            <a:pPr indent="0" marL="0">
              <a:lnSpc>
                <a:spcPct val="150000"/>
              </a:lnSpc>
              <a:buNone/>
            </a:pPr>
            <a:r>
              <a:rPr lang="en-US" sz="1300" b="1" dirty="0">
                <a:solidFill>
                  <a:srgbClr val="CADCFC"/>
                </a:solidFill>
                <a:latin typeface="Calibri" pitchFamily="34" charset="0"/>
                <a:ea typeface="Calibri" pitchFamily="34" charset="-122"/>
                <a:cs typeface="Calibri" pitchFamily="34" charset="-120"/>
              </a:rPr>
              <a:t>Spec base:  </a:t>
            </a:r>
            <a:pPr indent="0" marL="0">
              <a:lnSpc>
                <a:spcPct val="150000"/>
              </a:lnSpc>
              <a:buNone/>
            </a:pPr>
            <a:r>
              <a:rPr lang="en-US" sz="1300" dirty="0">
                <a:solidFill>
                  <a:srgbClr val="FFFFFF"/>
                </a:solidFill>
                <a:latin typeface="Calibri" pitchFamily="34" charset="0"/>
                <a:ea typeface="Calibri" pitchFamily="34" charset="-122"/>
                <a:cs typeface="Calibri" pitchFamily="34" charset="-120"/>
              </a:rPr>
              <a:t>MCP 2026-07-28 (SEP-2243 – SEP-2663)
</a:t>
            </a:r>
            <a:pPr indent="0" marL="0">
              <a:lnSpc>
                <a:spcPct val="150000"/>
              </a:lnSpc>
              <a:buNone/>
            </a:pPr>
            <a:r>
              <a:rPr lang="en-US" sz="1300" b="1" dirty="0">
                <a:solidFill>
                  <a:srgbClr val="CADCFC"/>
                </a:solidFill>
                <a:latin typeface="Calibri" pitchFamily="34" charset="0"/>
                <a:ea typeface="Calibri" pitchFamily="34" charset="-122"/>
                <a:cs typeface="Calibri" pitchFamily="34" charset="-120"/>
              </a:rPr>
              <a:t>Audience:  </a:t>
            </a:r>
            <a:pPr indent="0" marL="0">
              <a:lnSpc>
                <a:spcPct val="150000"/>
              </a:lnSpc>
              <a:buNone/>
            </a:pPr>
            <a:r>
              <a:rPr lang="en-US" sz="1300" dirty="0">
                <a:solidFill>
                  <a:srgbClr val="FFFFFF"/>
                </a:solidFill>
                <a:latin typeface="Calibri" pitchFamily="34" charset="0"/>
                <a:ea typeface="Calibri" pitchFamily="34" charset="-122"/>
                <a:cs typeface="Calibri" pitchFamily="34" charset="-120"/>
              </a:rPr>
              <a:t>Enterprise Architects, CISOs, AI DevSecOps
</a:t>
            </a:r>
            <a:pPr indent="0" marL="0">
              <a:lnSpc>
                <a:spcPct val="150000"/>
              </a:lnSpc>
              <a:buNone/>
            </a:pPr>
            <a:r>
              <a:rPr lang="en-US" sz="1300" b="1" dirty="0">
                <a:solidFill>
                  <a:srgbClr val="CADCFC"/>
                </a:solidFill>
                <a:latin typeface="Calibri" pitchFamily="34" charset="0"/>
                <a:ea typeface="Calibri" pitchFamily="34" charset="-122"/>
                <a:cs typeface="Calibri" pitchFamily="34" charset="-120"/>
              </a:rPr>
              <a:t>Status:  </a:t>
            </a:r>
            <a:pPr indent="0" marL="0">
              <a:lnSpc>
                <a:spcPct val="150000"/>
              </a:lnSpc>
              <a:buNone/>
            </a:pPr>
            <a:r>
              <a:rPr lang="en-US" sz="1300" dirty="0">
                <a:solidFill>
                  <a:srgbClr val="FFFFFF"/>
                </a:solidFill>
                <a:latin typeface="Calibri" pitchFamily="34" charset="0"/>
                <a:ea typeface="Calibri" pitchFamily="34" charset="-122"/>
                <a:cs typeface="Calibri" pitchFamily="34" charset="-120"/>
              </a:rPr>
              <a:t>Production Architectural Standard</a:t>
            </a:r>
            <a:endParaRPr lang="en-US" sz="1300" dirty="0"/>
          </a:p>
        </p:txBody>
      </p:sp>
      <p:sp>
        <p:nvSpPr>
          <p:cNvPr id="9" name="Text 7"/>
          <p:cNvSpPr/>
          <p:nvPr/>
        </p:nvSpPr>
        <p:spPr>
          <a:xfrm>
            <a:off x="640080" y="6263640"/>
            <a:ext cx="3657600" cy="365760"/>
          </a:xfrm>
          <a:prstGeom prst="rect">
            <a:avLst/>
          </a:prstGeom>
          <a:noFill/>
          <a:ln/>
        </p:spPr>
        <p:txBody>
          <a:bodyPr wrap="square" rtlCol="0" anchor="ctr"/>
          <a:lstStyle/>
          <a:p>
            <a:pPr indent="0" marL="0">
              <a:buNone/>
            </a:pPr>
            <a:r>
              <a:rPr lang="en-US" sz="1100" dirty="0">
                <a:solidFill>
                  <a:srgbClr val="8A93AC"/>
                </a:solidFill>
                <a:latin typeface="Calibri" pitchFamily="34" charset="0"/>
                <a:ea typeface="Calibri" pitchFamily="34" charset="-122"/>
                <a:cs typeface="Calibri" pitchFamily="34" charset="-120"/>
              </a:rPr>
              <a:t>August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229600" cy="274320"/>
          </a:xfrm>
          <a:prstGeom prst="rect">
            <a:avLst/>
          </a:prstGeom>
          <a:noFill/>
          <a:ln/>
        </p:spPr>
        <p:txBody>
          <a:bodyPr wrap="square" rtlCol="0" anchor="ctr"/>
          <a:lstStyle/>
          <a:p>
            <a:pPr indent="0" marL="0">
              <a:buNone/>
            </a:pPr>
            <a:r>
              <a:rPr lang="en-US" sz="1200" b="1" spc="200" kern="0" dirty="0">
                <a:solidFill>
                  <a:srgbClr val="44506B"/>
                </a:solidFill>
                <a:latin typeface="Calibri" pitchFamily="34" charset="0"/>
                <a:ea typeface="Calibri" pitchFamily="34" charset="-122"/>
                <a:cs typeface="Calibri" pitchFamily="34" charset="-120"/>
              </a:rPr>
              <a:t>EXECUTIVE SUMMARY</a:t>
            </a:r>
            <a:endParaRPr lang="en-US" sz="1200" dirty="0"/>
          </a:p>
        </p:txBody>
      </p:sp>
      <p:sp>
        <p:nvSpPr>
          <p:cNvPr id="3" name="Text 1"/>
          <p:cNvSpPr/>
          <p:nvPr/>
        </p:nvSpPr>
        <p:spPr>
          <a:xfrm>
            <a:off x="548640" y="566928"/>
            <a:ext cx="1106424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A scaling fix, not a security fix</a:t>
            </a:r>
            <a:endParaRPr lang="en-US" sz="3000" dirty="0"/>
          </a:p>
        </p:txBody>
      </p:sp>
      <p:sp>
        <p:nvSpPr>
          <p:cNvPr id="4" name="Text 2"/>
          <p:cNvSpPr/>
          <p:nvPr/>
        </p:nvSpPr>
        <p:spPr>
          <a:xfrm>
            <a:off x="548640" y="1417320"/>
            <a:ext cx="6949440" cy="1554480"/>
          </a:xfrm>
          <a:prstGeom prst="rect">
            <a:avLst/>
          </a:prstGeom>
          <a:noFill/>
          <a:ln/>
        </p:spPr>
        <p:txBody>
          <a:bodyPr wrap="square" rtlCol="0" anchor="ctr"/>
          <a:lstStyle/>
          <a:p>
            <a:pPr indent="0" marL="0">
              <a:lnSpc>
                <a:spcPct val="125000"/>
              </a:lnSpc>
              <a:buNone/>
            </a:pPr>
            <a:r>
              <a:rPr lang="en-US" sz="1400" dirty="0">
                <a:solidFill>
                  <a:srgbClr val="44506B"/>
                </a:solidFill>
                <a:latin typeface="Calibri" pitchFamily="34" charset="0"/>
                <a:ea typeface="Calibri" pitchFamily="34" charset="-122"/>
                <a:cs typeface="Calibri" pitchFamily="34" charset="-120"/>
              </a:rPr>
              <a:t>On July 28, 2026, MCP shipped its largest revision since launch: a move from a bidirectional, stateful protocol — sticky sessions, shared session stores, held-open streams — to a stateless, HTTP-native protocol layer. Any request can now land on any server instance behind a plain round-robin load balancer.</a:t>
            </a:r>
            <a:endParaRPr lang="en-US" sz="1400" dirty="0"/>
          </a:p>
        </p:txBody>
      </p:sp>
      <p:sp>
        <p:nvSpPr>
          <p:cNvPr id="5" name="Text 3"/>
          <p:cNvSpPr/>
          <p:nvPr/>
        </p:nvSpPr>
        <p:spPr>
          <a:xfrm>
            <a:off x="548640" y="3063240"/>
            <a:ext cx="6949440" cy="1554480"/>
          </a:xfrm>
          <a:prstGeom prst="rect">
            <a:avLst/>
          </a:prstGeom>
          <a:noFill/>
          <a:ln/>
        </p:spPr>
        <p:txBody>
          <a:bodyPr wrap="square" rtlCol="0" anchor="ctr"/>
          <a:lstStyle/>
          <a:p>
            <a:pPr indent="0" marL="0">
              <a:lnSpc>
                <a:spcPct val="125000"/>
              </a:lnSpc>
              <a:buNone/>
            </a:pPr>
            <a:r>
              <a:rPr lang="en-US" sz="1400" dirty="0">
                <a:solidFill>
                  <a:srgbClr val="44506B"/>
                </a:solidFill>
                <a:latin typeface="Calibri" pitchFamily="34" charset="0"/>
                <a:ea typeface="Calibri" pitchFamily="34" charset="-122"/>
                <a:cs typeface="Calibri" pitchFamily="34" charset="-120"/>
              </a:rPr>
              <a:t>For architects this resolves real infrastructure pain: standard load balancing, edge/WAF routing, and CDN caching all become possible. But statelessness is a transport-layer property. Application state, prompt-level trust, and supply-chain exposure are untouched — and one class of risk (handle tampering) is brand new.</a:t>
            </a:r>
            <a:endParaRPr lang="en-US" sz="1400" dirty="0"/>
          </a:p>
        </p:txBody>
      </p:sp>
      <p:sp>
        <p:nvSpPr>
          <p:cNvPr id="6" name="Shape 4"/>
          <p:cNvSpPr/>
          <p:nvPr/>
        </p:nvSpPr>
        <p:spPr>
          <a:xfrm>
            <a:off x="548640" y="4892040"/>
            <a:ext cx="11064240" cy="1234440"/>
          </a:xfrm>
          <a:prstGeom prst="roundRect">
            <a:avLst>
              <a:gd name="adj" fmla="val 5926"/>
            </a:avLst>
          </a:prstGeom>
          <a:solidFill>
            <a:srgbClr val="1E2761"/>
          </a:solidFill>
          <a:ln/>
        </p:spPr>
      </p:sp>
      <p:sp>
        <p:nvSpPr>
          <p:cNvPr id="7" name="Text 5"/>
          <p:cNvSpPr/>
          <p:nvPr/>
        </p:nvSpPr>
        <p:spPr>
          <a:xfrm>
            <a:off x="868680" y="5029200"/>
            <a:ext cx="3657600" cy="274320"/>
          </a:xfrm>
          <a:prstGeom prst="rect">
            <a:avLst/>
          </a:prstGeom>
          <a:noFill/>
          <a:ln/>
        </p:spPr>
        <p:txBody>
          <a:bodyPr wrap="square" rtlCol="0" anchor="ctr"/>
          <a:lstStyle/>
          <a:p>
            <a:pPr indent="0" marL="0">
              <a:buNone/>
            </a:pPr>
            <a:r>
              <a:rPr lang="en-US" sz="1100" b="1" spc="200" kern="0" dirty="0">
                <a:solidFill>
                  <a:srgbClr val="CADCFC"/>
                </a:solidFill>
                <a:latin typeface="Calibri" pitchFamily="34" charset="0"/>
                <a:ea typeface="Calibri" pitchFamily="34" charset="-122"/>
                <a:cs typeface="Calibri" pitchFamily="34" charset="-120"/>
              </a:rPr>
              <a:t>KEY TAKEAWAY</a:t>
            </a:r>
            <a:endParaRPr lang="en-US" sz="1100" dirty="0"/>
          </a:p>
        </p:txBody>
      </p:sp>
      <p:sp>
        <p:nvSpPr>
          <p:cNvPr id="8" name="Text 6"/>
          <p:cNvSpPr/>
          <p:nvPr/>
        </p:nvSpPr>
        <p:spPr>
          <a:xfrm>
            <a:off x="868680" y="5303520"/>
            <a:ext cx="10424160" cy="731520"/>
          </a:xfrm>
          <a:prstGeom prst="rect">
            <a:avLst/>
          </a:prstGeom>
          <a:noFill/>
          <a:ln/>
        </p:spPr>
        <p:txBody>
          <a:bodyPr wrap="square" rtlCol="0" anchor="ctr"/>
          <a:lstStyle/>
          <a:p>
            <a:pPr indent="0" marL="0">
              <a:lnSpc>
                <a:spcPct val="115000"/>
              </a:lnSpc>
              <a:buNone/>
            </a:pPr>
            <a:r>
              <a:rPr lang="en-US" sz="1350" dirty="0">
                <a:solidFill>
                  <a:srgbClr val="FFFFFF"/>
                </a:solidFill>
                <a:latin typeface="Calibri" pitchFamily="34" charset="0"/>
                <a:ea typeface="Calibri" pitchFamily="34" charset="-122"/>
                <a:cs typeface="Calibri" pitchFamily="34" charset="-120"/>
              </a:rPr>
              <a:t>Security responsibility shifts, it doesn't shrink: from session-store hardening toward header inspection at the edge gateway and explicit, cryptographically-bound handle validation in downstream services.</a:t>
            </a:r>
            <a:endParaRPr lang="en-US" sz="1350" dirty="0"/>
          </a:p>
        </p:txBody>
      </p:sp>
      <p:sp>
        <p:nvSpPr>
          <p:cNvPr id="9" name="Shape 7"/>
          <p:cNvSpPr/>
          <p:nvPr/>
        </p:nvSpPr>
        <p:spPr>
          <a:xfrm>
            <a:off x="7818120" y="1417320"/>
            <a:ext cx="3611880" cy="914400"/>
          </a:xfrm>
          <a:prstGeom prst="roundRect">
            <a:avLst>
              <a:gd name="adj" fmla="val 8000"/>
            </a:avLst>
          </a:prstGeom>
          <a:solidFill>
            <a:srgbClr val="F4F6FB"/>
          </a:solidFill>
          <a:ln w="12700">
            <a:solidFill>
              <a:srgbClr val="CADCFC"/>
            </a:solidFill>
            <a:prstDash val="solid"/>
          </a:ln>
        </p:spPr>
      </p:sp>
      <p:sp>
        <p:nvSpPr>
          <p:cNvPr id="10" name="Text 8"/>
          <p:cNvSpPr/>
          <p:nvPr/>
        </p:nvSpPr>
        <p:spPr>
          <a:xfrm>
            <a:off x="7955280" y="1417320"/>
            <a:ext cx="1005840" cy="914400"/>
          </a:xfrm>
          <a:prstGeom prst="rect">
            <a:avLst/>
          </a:prstGeom>
          <a:noFill/>
          <a:ln/>
        </p:spPr>
        <p:txBody>
          <a:bodyPr wrap="square" rtlCol="0" anchor="ctr"/>
          <a:lstStyle/>
          <a:p>
            <a:pPr algn="ctr" indent="0" marL="0">
              <a:buNone/>
            </a:pPr>
            <a:r>
              <a:rPr lang="en-US" sz="3000" b="1" dirty="0">
                <a:solidFill>
                  <a:srgbClr val="1E2761"/>
                </a:solidFill>
                <a:latin typeface="Cambria" pitchFamily="34" charset="0"/>
                <a:ea typeface="Cambria" pitchFamily="34" charset="-122"/>
                <a:cs typeface="Cambria" pitchFamily="34" charset="-120"/>
              </a:rPr>
              <a:t>6</a:t>
            </a:r>
            <a:endParaRPr lang="en-US" sz="3000" dirty="0"/>
          </a:p>
        </p:txBody>
      </p:sp>
      <p:sp>
        <p:nvSpPr>
          <p:cNvPr id="11" name="Text 9"/>
          <p:cNvSpPr/>
          <p:nvPr/>
        </p:nvSpPr>
        <p:spPr>
          <a:xfrm>
            <a:off x="9006840" y="1417320"/>
            <a:ext cx="2331720" cy="914400"/>
          </a:xfrm>
          <a:prstGeom prst="rect">
            <a:avLst/>
          </a:prstGeom>
          <a:noFill/>
          <a:ln/>
        </p:spPr>
        <p:txBody>
          <a:bodyPr wrap="square" rtlCol="0" anchor="ctr"/>
          <a:lstStyle/>
          <a:p>
            <a:pPr indent="0" marL="0">
              <a:buNone/>
            </a:pPr>
            <a:r>
              <a:rPr lang="en-US" sz="1100" dirty="0">
                <a:solidFill>
                  <a:srgbClr val="44506B"/>
                </a:solidFill>
                <a:latin typeface="Calibri" pitchFamily="34" charset="0"/>
                <a:ea typeface="Calibri" pitchFamily="34" charset="-122"/>
                <a:cs typeface="Calibri" pitchFamily="34" charset="-120"/>
              </a:rPr>
              <a:t>core SEPs</a:t>
            </a:r>
            <a:endParaRPr lang="en-US" sz="1100" dirty="0"/>
          </a:p>
          <a:p>
            <a:pPr indent="0" marL="0">
              <a:buNone/>
            </a:pPr>
            <a:r>
              <a:rPr lang="en-US" sz="1100" dirty="0">
                <a:solidFill>
                  <a:srgbClr val="44506B"/>
                </a:solidFill>
                <a:latin typeface="Calibri" pitchFamily="34" charset="0"/>
                <a:ea typeface="Calibri" pitchFamily="34" charset="-122"/>
                <a:cs typeface="Calibri" pitchFamily="34" charset="-120"/>
              </a:rPr>
              <a:t>drive the release</a:t>
            </a:r>
            <a:endParaRPr lang="en-US" sz="1100" dirty="0"/>
          </a:p>
        </p:txBody>
      </p:sp>
      <p:sp>
        <p:nvSpPr>
          <p:cNvPr id="12" name="Shape 10"/>
          <p:cNvSpPr/>
          <p:nvPr/>
        </p:nvSpPr>
        <p:spPr>
          <a:xfrm>
            <a:off x="7818120" y="2496312"/>
            <a:ext cx="3611880" cy="914400"/>
          </a:xfrm>
          <a:prstGeom prst="roundRect">
            <a:avLst>
              <a:gd name="adj" fmla="val 8000"/>
            </a:avLst>
          </a:prstGeom>
          <a:solidFill>
            <a:srgbClr val="F4F6FB"/>
          </a:solidFill>
          <a:ln w="12700">
            <a:solidFill>
              <a:srgbClr val="CADCFC"/>
            </a:solidFill>
            <a:prstDash val="solid"/>
          </a:ln>
        </p:spPr>
      </p:sp>
      <p:sp>
        <p:nvSpPr>
          <p:cNvPr id="13" name="Text 11"/>
          <p:cNvSpPr/>
          <p:nvPr/>
        </p:nvSpPr>
        <p:spPr>
          <a:xfrm>
            <a:off x="7955280" y="2496312"/>
            <a:ext cx="1005840" cy="914400"/>
          </a:xfrm>
          <a:prstGeom prst="rect">
            <a:avLst/>
          </a:prstGeom>
          <a:noFill/>
          <a:ln/>
        </p:spPr>
        <p:txBody>
          <a:bodyPr wrap="square" rtlCol="0" anchor="ctr"/>
          <a:lstStyle/>
          <a:p>
            <a:pPr algn="ctr" indent="0" marL="0">
              <a:buNone/>
            </a:pPr>
            <a:r>
              <a:rPr lang="en-US" sz="3000" b="1" dirty="0">
                <a:solidFill>
                  <a:srgbClr val="1E2761"/>
                </a:solidFill>
                <a:latin typeface="Cambria" pitchFamily="34" charset="0"/>
                <a:ea typeface="Cambria" pitchFamily="34" charset="-122"/>
                <a:cs typeface="Cambria" pitchFamily="34" charset="-120"/>
              </a:rPr>
              <a:t>4</a:t>
            </a:r>
            <a:endParaRPr lang="en-US" sz="3000" dirty="0"/>
          </a:p>
        </p:txBody>
      </p:sp>
      <p:sp>
        <p:nvSpPr>
          <p:cNvPr id="14" name="Text 12"/>
          <p:cNvSpPr/>
          <p:nvPr/>
        </p:nvSpPr>
        <p:spPr>
          <a:xfrm>
            <a:off x="9006840" y="2496312"/>
            <a:ext cx="2331720" cy="914400"/>
          </a:xfrm>
          <a:prstGeom prst="rect">
            <a:avLst/>
          </a:prstGeom>
          <a:noFill/>
          <a:ln/>
        </p:spPr>
        <p:txBody>
          <a:bodyPr wrap="square" rtlCol="0" anchor="ctr"/>
          <a:lstStyle/>
          <a:p>
            <a:pPr indent="0" marL="0">
              <a:buNone/>
            </a:pPr>
            <a:r>
              <a:rPr lang="en-US" sz="1100" dirty="0">
                <a:solidFill>
                  <a:srgbClr val="44506B"/>
                </a:solidFill>
                <a:latin typeface="Calibri" pitchFamily="34" charset="0"/>
                <a:ea typeface="Calibri" pitchFamily="34" charset="-122"/>
                <a:cs typeface="Calibri" pitchFamily="34" charset="-120"/>
              </a:rPr>
              <a:t>legacy threats</a:t>
            </a:r>
            <a:endParaRPr lang="en-US" sz="1100" dirty="0"/>
          </a:p>
          <a:p>
            <a:pPr indent="0" marL="0">
              <a:buNone/>
            </a:pPr>
            <a:r>
              <a:rPr lang="en-US" sz="1100" dirty="0">
                <a:solidFill>
                  <a:srgbClr val="44506B"/>
                </a:solidFill>
                <a:latin typeface="Calibri" pitchFamily="34" charset="0"/>
                <a:ea typeface="Calibri" pitchFamily="34" charset="-122"/>
                <a:cs typeface="Calibri" pitchFamily="34" charset="-120"/>
              </a:rPr>
              <a:t>structurally overcome</a:t>
            </a:r>
            <a:endParaRPr lang="en-US" sz="1100" dirty="0"/>
          </a:p>
        </p:txBody>
      </p:sp>
      <p:sp>
        <p:nvSpPr>
          <p:cNvPr id="15" name="Shape 13"/>
          <p:cNvSpPr/>
          <p:nvPr/>
        </p:nvSpPr>
        <p:spPr>
          <a:xfrm>
            <a:off x="7818120" y="3575304"/>
            <a:ext cx="3611880" cy="914400"/>
          </a:xfrm>
          <a:prstGeom prst="roundRect">
            <a:avLst>
              <a:gd name="adj" fmla="val 8000"/>
            </a:avLst>
          </a:prstGeom>
          <a:solidFill>
            <a:srgbClr val="F4F6FB"/>
          </a:solidFill>
          <a:ln w="12700">
            <a:solidFill>
              <a:srgbClr val="CADCFC"/>
            </a:solidFill>
            <a:prstDash val="solid"/>
          </a:ln>
        </p:spPr>
      </p:sp>
      <p:sp>
        <p:nvSpPr>
          <p:cNvPr id="16" name="Text 14"/>
          <p:cNvSpPr/>
          <p:nvPr/>
        </p:nvSpPr>
        <p:spPr>
          <a:xfrm>
            <a:off x="7955280" y="3575304"/>
            <a:ext cx="1005840" cy="914400"/>
          </a:xfrm>
          <a:prstGeom prst="rect">
            <a:avLst/>
          </a:prstGeom>
          <a:noFill/>
          <a:ln/>
        </p:spPr>
        <p:txBody>
          <a:bodyPr wrap="square" rtlCol="0" anchor="ctr"/>
          <a:lstStyle/>
          <a:p>
            <a:pPr algn="ctr" indent="0" marL="0">
              <a:buNone/>
            </a:pPr>
            <a:r>
              <a:rPr lang="en-US" sz="3000" b="1" dirty="0">
                <a:solidFill>
                  <a:srgbClr val="1E2761"/>
                </a:solidFill>
                <a:latin typeface="Cambria" pitchFamily="34" charset="0"/>
                <a:ea typeface="Cambria" pitchFamily="34" charset="-122"/>
                <a:cs typeface="Cambria" pitchFamily="34" charset="-120"/>
              </a:rPr>
              <a:t>3</a:t>
            </a:r>
            <a:endParaRPr lang="en-US" sz="3000" dirty="0"/>
          </a:p>
        </p:txBody>
      </p:sp>
      <p:sp>
        <p:nvSpPr>
          <p:cNvPr id="17" name="Text 15"/>
          <p:cNvSpPr/>
          <p:nvPr/>
        </p:nvSpPr>
        <p:spPr>
          <a:xfrm>
            <a:off x="9006840" y="3575304"/>
            <a:ext cx="2331720" cy="914400"/>
          </a:xfrm>
          <a:prstGeom prst="rect">
            <a:avLst/>
          </a:prstGeom>
          <a:noFill/>
          <a:ln/>
        </p:spPr>
        <p:txBody>
          <a:bodyPr wrap="square" rtlCol="0" anchor="ctr"/>
          <a:lstStyle/>
          <a:p>
            <a:pPr indent="0" marL="0">
              <a:buNone/>
            </a:pPr>
            <a:r>
              <a:rPr lang="en-US" sz="1100" dirty="0">
                <a:solidFill>
                  <a:srgbClr val="44506B"/>
                </a:solidFill>
                <a:latin typeface="Calibri" pitchFamily="34" charset="0"/>
                <a:ea typeface="Calibri" pitchFamily="34" charset="-122"/>
                <a:cs typeface="Calibri" pitchFamily="34" charset="-120"/>
              </a:rPr>
              <a:t>new threats</a:t>
            </a:r>
            <a:endParaRPr lang="en-US" sz="1100" dirty="0"/>
          </a:p>
          <a:p>
            <a:pPr indent="0" marL="0">
              <a:buNone/>
            </a:pPr>
            <a:r>
              <a:rPr lang="en-US" sz="1100" dirty="0">
                <a:solidFill>
                  <a:srgbClr val="44506B"/>
                </a:solidFill>
                <a:latin typeface="Calibri" pitchFamily="34" charset="0"/>
                <a:ea typeface="Calibri" pitchFamily="34" charset="-122"/>
                <a:cs typeface="Calibri" pitchFamily="34" charset="-120"/>
              </a:rPr>
              <a:t>introduced</a:t>
            </a:r>
            <a:endParaRPr lang="en-US" sz="1100" dirty="0"/>
          </a:p>
        </p:txBody>
      </p:sp>
      <p:sp>
        <p:nvSpPr>
          <p:cNvPr id="19" name="Text 16"/>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8A93AC"/>
                </a:solidFill>
                <a:latin typeface="Calibri" pitchFamily="34" charset="0"/>
                <a:ea typeface="Calibri" pitchFamily="34" charset="-122"/>
                <a:cs typeface="Calibri" pitchFamily="34" charset="-120"/>
              </a:rPr>
              <a:t>MCP 2026-07-28  |  Enterprise Security Architecture Briefing</a:t>
            </a:r>
            <a:endParaRPr lang="en-US" sz="900" dirty="0"/>
          </a:p>
        </p:txBody>
      </p:sp>
      <p:sp>
        <p:nvSpPr>
          <p:cNvPr id="20" name="Text 17"/>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8A93AC"/>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229600" cy="274320"/>
          </a:xfrm>
          <a:prstGeom prst="rect">
            <a:avLst/>
          </a:prstGeom>
          <a:noFill/>
          <a:ln/>
        </p:spPr>
        <p:txBody>
          <a:bodyPr wrap="square" rtlCol="0" anchor="ctr"/>
          <a:lstStyle/>
          <a:p>
            <a:pPr indent="0" marL="0">
              <a:buNone/>
            </a:pPr>
            <a:r>
              <a:rPr lang="en-US" sz="1200" b="1" spc="200" kern="0" dirty="0">
                <a:solidFill>
                  <a:srgbClr val="44506B"/>
                </a:solidFill>
                <a:latin typeface="Calibri" pitchFamily="34" charset="0"/>
                <a:ea typeface="Calibri" pitchFamily="34" charset="-122"/>
                <a:cs typeface="Calibri" pitchFamily="34" charset="-120"/>
              </a:rPr>
              <a:t>PROTOCOL CHANGES</a:t>
            </a:r>
            <a:endParaRPr lang="en-US" sz="1200" dirty="0"/>
          </a:p>
        </p:txBody>
      </p:sp>
      <p:sp>
        <p:nvSpPr>
          <p:cNvPr id="3" name="Text 1"/>
          <p:cNvSpPr/>
          <p:nvPr/>
        </p:nvSpPr>
        <p:spPr>
          <a:xfrm>
            <a:off x="548640" y="566928"/>
            <a:ext cx="1106424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Six SEPs drive the stateless release</a:t>
            </a:r>
            <a:endParaRPr lang="en-US" sz="3000" dirty="0"/>
          </a:p>
        </p:txBody>
      </p:sp>
      <p:sp>
        <p:nvSpPr>
          <p:cNvPr id="4" name="Shape 2"/>
          <p:cNvSpPr/>
          <p:nvPr/>
        </p:nvSpPr>
        <p:spPr>
          <a:xfrm>
            <a:off x="548640" y="1508760"/>
            <a:ext cx="3611880" cy="2331720"/>
          </a:xfrm>
          <a:prstGeom prst="roundRect">
            <a:avLst>
              <a:gd name="adj" fmla="val 2745"/>
            </a:avLst>
          </a:prstGeom>
          <a:solidFill>
            <a:srgbClr val="F4F6FB"/>
          </a:solidFill>
          <a:ln w="12700">
            <a:solidFill>
              <a:srgbClr val="CADCFC"/>
            </a:solidFill>
            <a:prstDash val="solid"/>
          </a:ln>
        </p:spPr>
      </p:sp>
      <p:sp>
        <p:nvSpPr>
          <p:cNvPr id="5" name="Shape 3"/>
          <p:cNvSpPr/>
          <p:nvPr/>
        </p:nvSpPr>
        <p:spPr>
          <a:xfrm>
            <a:off x="777240" y="1709928"/>
            <a:ext cx="1737360" cy="347472"/>
          </a:xfrm>
          <a:prstGeom prst="roundRect">
            <a:avLst>
              <a:gd name="adj" fmla="val 50000"/>
            </a:avLst>
          </a:prstGeom>
          <a:solidFill>
            <a:srgbClr val="1E2761"/>
          </a:solidFill>
          <a:ln/>
        </p:spPr>
      </p:sp>
      <p:sp>
        <p:nvSpPr>
          <p:cNvPr id="6" name="Text 4"/>
          <p:cNvSpPr/>
          <p:nvPr/>
        </p:nvSpPr>
        <p:spPr>
          <a:xfrm>
            <a:off x="777240" y="1709928"/>
            <a:ext cx="1737360" cy="347472"/>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SEP-2575 / 2567</a:t>
            </a:r>
            <a:endParaRPr lang="en-US" sz="1050" dirty="0"/>
          </a:p>
        </p:txBody>
      </p:sp>
      <p:sp>
        <p:nvSpPr>
          <p:cNvPr id="7" name="Text 5"/>
          <p:cNvSpPr/>
          <p:nvPr/>
        </p:nvSpPr>
        <p:spPr>
          <a:xfrm>
            <a:off x="777240" y="2167128"/>
            <a:ext cx="3154680" cy="50292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Handshake &amp; Session Removal</a:t>
            </a:r>
            <a:endParaRPr lang="en-US" sz="1450" dirty="0"/>
          </a:p>
        </p:txBody>
      </p:sp>
      <p:sp>
        <p:nvSpPr>
          <p:cNvPr id="8" name="Text 6"/>
          <p:cNvSpPr/>
          <p:nvPr/>
        </p:nvSpPr>
        <p:spPr>
          <a:xfrm>
            <a:off x="777240" y="2651760"/>
            <a:ext cx="3154680" cy="1005840"/>
          </a:xfrm>
          <a:prstGeom prst="rect">
            <a:avLst/>
          </a:prstGeom>
          <a:noFill/>
          <a:ln/>
        </p:spPr>
        <p:txBody>
          <a:bodyPr wrap="square" rtlCol="0" anchor="ctr"/>
          <a:lstStyle/>
          <a:p>
            <a:pPr indent="0" marL="0">
              <a:lnSpc>
                <a:spcPct val="115000"/>
              </a:lnSpc>
              <a:buNone/>
            </a:pPr>
            <a:r>
              <a:rPr lang="en-US" sz="1050" dirty="0">
                <a:solidFill>
                  <a:srgbClr val="44506B"/>
                </a:solidFill>
                <a:latin typeface="Calibri" pitchFamily="34" charset="0"/>
                <a:ea typeface="Calibri" pitchFamily="34" charset="-122"/>
                <a:cs typeface="Calibri" pitchFamily="34" charset="-120"/>
              </a:rPr>
              <a:t>initialize/initialized lifecycle and Mcp-Session-Id are gone. Client identity &amp; version ride inline in _meta on every request.</a:t>
            </a:r>
            <a:endParaRPr lang="en-US" sz="1050" dirty="0"/>
          </a:p>
        </p:txBody>
      </p:sp>
      <p:sp>
        <p:nvSpPr>
          <p:cNvPr id="9" name="Shape 7"/>
          <p:cNvSpPr/>
          <p:nvPr/>
        </p:nvSpPr>
        <p:spPr>
          <a:xfrm>
            <a:off x="4343400" y="1508760"/>
            <a:ext cx="3611880" cy="2331720"/>
          </a:xfrm>
          <a:prstGeom prst="roundRect">
            <a:avLst>
              <a:gd name="adj" fmla="val 2745"/>
            </a:avLst>
          </a:prstGeom>
          <a:solidFill>
            <a:srgbClr val="F4F6FB"/>
          </a:solidFill>
          <a:ln w="12700">
            <a:solidFill>
              <a:srgbClr val="CADCFC"/>
            </a:solidFill>
            <a:prstDash val="solid"/>
          </a:ln>
        </p:spPr>
      </p:sp>
      <p:sp>
        <p:nvSpPr>
          <p:cNvPr id="10" name="Shape 8"/>
          <p:cNvSpPr/>
          <p:nvPr/>
        </p:nvSpPr>
        <p:spPr>
          <a:xfrm>
            <a:off x="4572000" y="1709928"/>
            <a:ext cx="1737360" cy="347472"/>
          </a:xfrm>
          <a:prstGeom prst="roundRect">
            <a:avLst>
              <a:gd name="adj" fmla="val 50000"/>
            </a:avLst>
          </a:prstGeom>
          <a:solidFill>
            <a:srgbClr val="1E2761"/>
          </a:solidFill>
          <a:ln/>
        </p:spPr>
      </p:sp>
      <p:sp>
        <p:nvSpPr>
          <p:cNvPr id="11" name="Text 9"/>
          <p:cNvSpPr/>
          <p:nvPr/>
        </p:nvSpPr>
        <p:spPr>
          <a:xfrm>
            <a:off x="4572000" y="1709928"/>
            <a:ext cx="1737360" cy="347472"/>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SEP-2243</a:t>
            </a:r>
            <a:endParaRPr lang="en-US" sz="1050" dirty="0"/>
          </a:p>
        </p:txBody>
      </p:sp>
      <p:sp>
        <p:nvSpPr>
          <p:cNvPr id="12" name="Text 10"/>
          <p:cNvSpPr/>
          <p:nvPr/>
        </p:nvSpPr>
        <p:spPr>
          <a:xfrm>
            <a:off x="4572000" y="2167128"/>
            <a:ext cx="3154680" cy="50292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Header-Based Routing</a:t>
            </a:r>
            <a:endParaRPr lang="en-US" sz="1450" dirty="0"/>
          </a:p>
        </p:txBody>
      </p:sp>
      <p:sp>
        <p:nvSpPr>
          <p:cNvPr id="13" name="Text 11"/>
          <p:cNvSpPr/>
          <p:nvPr/>
        </p:nvSpPr>
        <p:spPr>
          <a:xfrm>
            <a:off x="4572000" y="2651760"/>
            <a:ext cx="3154680" cy="1005840"/>
          </a:xfrm>
          <a:prstGeom prst="rect">
            <a:avLst/>
          </a:prstGeom>
          <a:noFill/>
          <a:ln/>
        </p:spPr>
        <p:txBody>
          <a:bodyPr wrap="square" rtlCol="0" anchor="ctr"/>
          <a:lstStyle/>
          <a:p>
            <a:pPr indent="0" marL="0">
              <a:lnSpc>
                <a:spcPct val="115000"/>
              </a:lnSpc>
              <a:buNone/>
            </a:pPr>
            <a:r>
              <a:rPr lang="en-US" sz="1050" dirty="0">
                <a:solidFill>
                  <a:srgbClr val="44506B"/>
                </a:solidFill>
                <a:latin typeface="Calibri" pitchFamily="34" charset="0"/>
                <a:ea typeface="Calibri" pitchFamily="34" charset="-122"/>
                <a:cs typeface="Calibri" pitchFamily="34" charset="-120"/>
              </a:rPr>
              <a:t>Mcp-Method and Mcp-Name become required HTTP headers on Streamable HTTP — edge gateways route without body inspection.</a:t>
            </a:r>
            <a:endParaRPr lang="en-US" sz="1050" dirty="0"/>
          </a:p>
        </p:txBody>
      </p:sp>
      <p:sp>
        <p:nvSpPr>
          <p:cNvPr id="14" name="Shape 12"/>
          <p:cNvSpPr/>
          <p:nvPr/>
        </p:nvSpPr>
        <p:spPr>
          <a:xfrm>
            <a:off x="8138160" y="1508760"/>
            <a:ext cx="3611880" cy="2331720"/>
          </a:xfrm>
          <a:prstGeom prst="roundRect">
            <a:avLst>
              <a:gd name="adj" fmla="val 2745"/>
            </a:avLst>
          </a:prstGeom>
          <a:solidFill>
            <a:srgbClr val="F4F6FB"/>
          </a:solidFill>
          <a:ln w="12700">
            <a:solidFill>
              <a:srgbClr val="CADCFC"/>
            </a:solidFill>
            <a:prstDash val="solid"/>
          </a:ln>
        </p:spPr>
      </p:sp>
      <p:sp>
        <p:nvSpPr>
          <p:cNvPr id="15" name="Shape 13"/>
          <p:cNvSpPr/>
          <p:nvPr/>
        </p:nvSpPr>
        <p:spPr>
          <a:xfrm>
            <a:off x="8366760" y="1709928"/>
            <a:ext cx="1737360" cy="347472"/>
          </a:xfrm>
          <a:prstGeom prst="roundRect">
            <a:avLst>
              <a:gd name="adj" fmla="val 50000"/>
            </a:avLst>
          </a:prstGeom>
          <a:solidFill>
            <a:srgbClr val="1E2761"/>
          </a:solidFill>
          <a:ln/>
        </p:spPr>
      </p:sp>
      <p:sp>
        <p:nvSpPr>
          <p:cNvPr id="16" name="Text 14"/>
          <p:cNvSpPr/>
          <p:nvPr/>
        </p:nvSpPr>
        <p:spPr>
          <a:xfrm>
            <a:off x="8366760" y="1709928"/>
            <a:ext cx="1737360" cy="347472"/>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SEP-2549</a:t>
            </a:r>
            <a:endParaRPr lang="en-US" sz="1050" dirty="0"/>
          </a:p>
        </p:txBody>
      </p:sp>
      <p:sp>
        <p:nvSpPr>
          <p:cNvPr id="17" name="Text 15"/>
          <p:cNvSpPr/>
          <p:nvPr/>
        </p:nvSpPr>
        <p:spPr>
          <a:xfrm>
            <a:off x="8366760" y="2167128"/>
            <a:ext cx="3154680" cy="50292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Cacheable List Operations</a:t>
            </a:r>
            <a:endParaRPr lang="en-US" sz="1450" dirty="0"/>
          </a:p>
        </p:txBody>
      </p:sp>
      <p:sp>
        <p:nvSpPr>
          <p:cNvPr id="18" name="Text 16"/>
          <p:cNvSpPr/>
          <p:nvPr/>
        </p:nvSpPr>
        <p:spPr>
          <a:xfrm>
            <a:off x="8366760" y="2651760"/>
            <a:ext cx="3154680" cy="1005840"/>
          </a:xfrm>
          <a:prstGeom prst="rect">
            <a:avLst/>
          </a:prstGeom>
          <a:noFill/>
          <a:ln/>
        </p:spPr>
        <p:txBody>
          <a:bodyPr wrap="square" rtlCol="0" anchor="ctr"/>
          <a:lstStyle/>
          <a:p>
            <a:pPr indent="0" marL="0">
              <a:lnSpc>
                <a:spcPct val="115000"/>
              </a:lnSpc>
              <a:buNone/>
            </a:pPr>
            <a:r>
              <a:rPr lang="en-US" sz="1050" dirty="0">
                <a:solidFill>
                  <a:srgbClr val="44506B"/>
                </a:solidFill>
                <a:latin typeface="Calibri" pitchFamily="34" charset="0"/>
                <a:ea typeface="Calibri" pitchFamily="34" charset="-122"/>
                <a:cs typeface="Calibri" pitchFamily="34" charset="-120"/>
              </a:rPr>
              <a:t>ttlMs and cacheScope with deterministic ordering on tools/list, resources/list — keeps upstream prompt caches stable.</a:t>
            </a:r>
            <a:endParaRPr lang="en-US" sz="1050" dirty="0"/>
          </a:p>
        </p:txBody>
      </p:sp>
      <p:sp>
        <p:nvSpPr>
          <p:cNvPr id="19" name="Shape 17"/>
          <p:cNvSpPr/>
          <p:nvPr/>
        </p:nvSpPr>
        <p:spPr>
          <a:xfrm>
            <a:off x="548640" y="4069080"/>
            <a:ext cx="3611880" cy="2331720"/>
          </a:xfrm>
          <a:prstGeom prst="roundRect">
            <a:avLst>
              <a:gd name="adj" fmla="val 2745"/>
            </a:avLst>
          </a:prstGeom>
          <a:solidFill>
            <a:srgbClr val="F4F6FB"/>
          </a:solidFill>
          <a:ln w="12700">
            <a:solidFill>
              <a:srgbClr val="CADCFC"/>
            </a:solidFill>
            <a:prstDash val="solid"/>
          </a:ln>
        </p:spPr>
      </p:sp>
      <p:sp>
        <p:nvSpPr>
          <p:cNvPr id="20" name="Shape 18"/>
          <p:cNvSpPr/>
          <p:nvPr/>
        </p:nvSpPr>
        <p:spPr>
          <a:xfrm>
            <a:off x="777240" y="4270248"/>
            <a:ext cx="1737360" cy="347472"/>
          </a:xfrm>
          <a:prstGeom prst="roundRect">
            <a:avLst>
              <a:gd name="adj" fmla="val 50000"/>
            </a:avLst>
          </a:prstGeom>
          <a:solidFill>
            <a:srgbClr val="1E2761"/>
          </a:solidFill>
          <a:ln/>
        </p:spPr>
      </p:sp>
      <p:sp>
        <p:nvSpPr>
          <p:cNvPr id="21" name="Text 19"/>
          <p:cNvSpPr/>
          <p:nvPr/>
        </p:nvSpPr>
        <p:spPr>
          <a:xfrm>
            <a:off x="777240" y="4270248"/>
            <a:ext cx="1737360" cy="347472"/>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SEP-2322</a:t>
            </a:r>
            <a:endParaRPr lang="en-US" sz="1050" dirty="0"/>
          </a:p>
        </p:txBody>
      </p:sp>
      <p:sp>
        <p:nvSpPr>
          <p:cNvPr id="22" name="Text 20"/>
          <p:cNvSpPr/>
          <p:nvPr/>
        </p:nvSpPr>
        <p:spPr>
          <a:xfrm>
            <a:off x="777240" y="4727448"/>
            <a:ext cx="3154680" cy="50292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Multi Round-Trip Requests</a:t>
            </a:r>
            <a:endParaRPr lang="en-US" sz="1450" dirty="0"/>
          </a:p>
        </p:txBody>
      </p:sp>
      <p:sp>
        <p:nvSpPr>
          <p:cNvPr id="23" name="Text 21"/>
          <p:cNvSpPr/>
          <p:nvPr/>
        </p:nvSpPr>
        <p:spPr>
          <a:xfrm>
            <a:off x="777240" y="5212080"/>
            <a:ext cx="3154680" cy="1005840"/>
          </a:xfrm>
          <a:prstGeom prst="rect">
            <a:avLst/>
          </a:prstGeom>
          <a:noFill/>
          <a:ln/>
        </p:spPr>
        <p:txBody>
          <a:bodyPr wrap="square" rtlCol="0" anchor="ctr"/>
          <a:lstStyle/>
          <a:p>
            <a:pPr indent="0" marL="0">
              <a:lnSpc>
                <a:spcPct val="115000"/>
              </a:lnSpc>
              <a:buNone/>
            </a:pPr>
            <a:r>
              <a:rPr lang="en-US" sz="1050" dirty="0">
                <a:solidFill>
                  <a:srgbClr val="44506B"/>
                </a:solidFill>
                <a:latin typeface="Calibri" pitchFamily="34" charset="0"/>
                <a:ea typeface="Calibri" pitchFamily="34" charset="-122"/>
                <a:cs typeface="Calibri" pitchFamily="34" charset="-120"/>
              </a:rPr>
              <a:t>Server-to-client calls (sampling, elicitation) invert into client-driven retries carrying an input_required state token.</a:t>
            </a:r>
            <a:endParaRPr lang="en-US" sz="1050" dirty="0"/>
          </a:p>
        </p:txBody>
      </p:sp>
      <p:sp>
        <p:nvSpPr>
          <p:cNvPr id="24" name="Shape 22"/>
          <p:cNvSpPr/>
          <p:nvPr/>
        </p:nvSpPr>
        <p:spPr>
          <a:xfrm>
            <a:off x="4343400" y="4069080"/>
            <a:ext cx="3611880" cy="2331720"/>
          </a:xfrm>
          <a:prstGeom prst="roundRect">
            <a:avLst>
              <a:gd name="adj" fmla="val 2745"/>
            </a:avLst>
          </a:prstGeom>
          <a:solidFill>
            <a:srgbClr val="F4F6FB"/>
          </a:solidFill>
          <a:ln w="12700">
            <a:solidFill>
              <a:srgbClr val="CADCFC"/>
            </a:solidFill>
            <a:prstDash val="solid"/>
          </a:ln>
        </p:spPr>
      </p:sp>
      <p:sp>
        <p:nvSpPr>
          <p:cNvPr id="25" name="Shape 23"/>
          <p:cNvSpPr/>
          <p:nvPr/>
        </p:nvSpPr>
        <p:spPr>
          <a:xfrm>
            <a:off x="4572000" y="4270248"/>
            <a:ext cx="1737360" cy="347472"/>
          </a:xfrm>
          <a:prstGeom prst="roundRect">
            <a:avLst>
              <a:gd name="adj" fmla="val 50000"/>
            </a:avLst>
          </a:prstGeom>
          <a:solidFill>
            <a:srgbClr val="1E2761"/>
          </a:solidFill>
          <a:ln/>
        </p:spPr>
      </p:sp>
      <p:sp>
        <p:nvSpPr>
          <p:cNvPr id="26" name="Text 24"/>
          <p:cNvSpPr/>
          <p:nvPr/>
        </p:nvSpPr>
        <p:spPr>
          <a:xfrm>
            <a:off x="4572000" y="4270248"/>
            <a:ext cx="1737360" cy="347472"/>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SEP-2468 / 2352</a:t>
            </a:r>
            <a:endParaRPr lang="en-US" sz="1050" dirty="0"/>
          </a:p>
        </p:txBody>
      </p:sp>
      <p:sp>
        <p:nvSpPr>
          <p:cNvPr id="27" name="Text 25"/>
          <p:cNvSpPr/>
          <p:nvPr/>
        </p:nvSpPr>
        <p:spPr>
          <a:xfrm>
            <a:off x="4572000" y="4727448"/>
            <a:ext cx="3154680" cy="50292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OAuth &amp; Identity Hardening</a:t>
            </a:r>
            <a:endParaRPr lang="en-US" sz="1450" dirty="0"/>
          </a:p>
        </p:txBody>
      </p:sp>
      <p:sp>
        <p:nvSpPr>
          <p:cNvPr id="28" name="Text 26"/>
          <p:cNvSpPr/>
          <p:nvPr/>
        </p:nvSpPr>
        <p:spPr>
          <a:xfrm>
            <a:off x="4572000" y="5212080"/>
            <a:ext cx="3154680" cy="1005840"/>
          </a:xfrm>
          <a:prstGeom prst="rect">
            <a:avLst/>
          </a:prstGeom>
          <a:noFill/>
          <a:ln/>
        </p:spPr>
        <p:txBody>
          <a:bodyPr wrap="square" rtlCol="0" anchor="ctr"/>
          <a:lstStyle/>
          <a:p>
            <a:pPr indent="0" marL="0">
              <a:lnSpc>
                <a:spcPct val="115000"/>
              </a:lnSpc>
              <a:buNone/>
            </a:pPr>
            <a:r>
              <a:rPr lang="en-US" sz="1050" dirty="0">
                <a:solidFill>
                  <a:srgbClr val="44506B"/>
                </a:solidFill>
                <a:latin typeface="Calibri" pitchFamily="34" charset="0"/>
                <a:ea typeface="Calibri" pitchFamily="34" charset="-122"/>
                <a:cs typeface="Calibri" pitchFamily="34" charset="-120"/>
              </a:rPr>
              <a:t>Mandatory RFC 9207 iss validation; credentials bound to issuer; Dynamic Client Registration gives way to Client ID Metadata Documents.</a:t>
            </a:r>
            <a:endParaRPr lang="en-US" sz="1050" dirty="0"/>
          </a:p>
        </p:txBody>
      </p:sp>
      <p:sp>
        <p:nvSpPr>
          <p:cNvPr id="29" name="Shape 27"/>
          <p:cNvSpPr/>
          <p:nvPr/>
        </p:nvSpPr>
        <p:spPr>
          <a:xfrm>
            <a:off x="8138160" y="4069080"/>
            <a:ext cx="3611880" cy="2331720"/>
          </a:xfrm>
          <a:prstGeom prst="roundRect">
            <a:avLst>
              <a:gd name="adj" fmla="val 2745"/>
            </a:avLst>
          </a:prstGeom>
          <a:solidFill>
            <a:srgbClr val="F4F6FB"/>
          </a:solidFill>
          <a:ln w="12700">
            <a:solidFill>
              <a:srgbClr val="CADCFC"/>
            </a:solidFill>
            <a:prstDash val="solid"/>
          </a:ln>
        </p:spPr>
      </p:sp>
      <p:sp>
        <p:nvSpPr>
          <p:cNvPr id="30" name="Shape 28"/>
          <p:cNvSpPr/>
          <p:nvPr/>
        </p:nvSpPr>
        <p:spPr>
          <a:xfrm>
            <a:off x="8366760" y="4270248"/>
            <a:ext cx="1737360" cy="347472"/>
          </a:xfrm>
          <a:prstGeom prst="roundRect">
            <a:avLst>
              <a:gd name="adj" fmla="val 50000"/>
            </a:avLst>
          </a:prstGeom>
          <a:solidFill>
            <a:srgbClr val="1E2761"/>
          </a:solidFill>
          <a:ln/>
        </p:spPr>
      </p:sp>
      <p:sp>
        <p:nvSpPr>
          <p:cNvPr id="31" name="Text 29"/>
          <p:cNvSpPr/>
          <p:nvPr/>
        </p:nvSpPr>
        <p:spPr>
          <a:xfrm>
            <a:off x="8366760" y="4270248"/>
            <a:ext cx="1737360" cy="347472"/>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SEP-2577 / 2596</a:t>
            </a:r>
            <a:endParaRPr lang="en-US" sz="1050" dirty="0"/>
          </a:p>
        </p:txBody>
      </p:sp>
      <p:sp>
        <p:nvSpPr>
          <p:cNvPr id="32" name="Text 30"/>
          <p:cNvSpPr/>
          <p:nvPr/>
        </p:nvSpPr>
        <p:spPr>
          <a:xfrm>
            <a:off x="8366760" y="4727448"/>
            <a:ext cx="3154680" cy="50292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Deprecation &amp; Transport Cleanup</a:t>
            </a:r>
            <a:endParaRPr lang="en-US" sz="1450" dirty="0"/>
          </a:p>
        </p:txBody>
      </p:sp>
      <p:sp>
        <p:nvSpPr>
          <p:cNvPr id="33" name="Text 31"/>
          <p:cNvSpPr/>
          <p:nvPr/>
        </p:nvSpPr>
        <p:spPr>
          <a:xfrm>
            <a:off x="8366760" y="5212080"/>
            <a:ext cx="3154680" cy="1005840"/>
          </a:xfrm>
          <a:prstGeom prst="rect">
            <a:avLst/>
          </a:prstGeom>
          <a:noFill/>
          <a:ln/>
        </p:spPr>
        <p:txBody>
          <a:bodyPr wrap="square" rtlCol="0" anchor="ctr"/>
          <a:lstStyle/>
          <a:p>
            <a:pPr indent="0" marL="0">
              <a:lnSpc>
                <a:spcPct val="115000"/>
              </a:lnSpc>
              <a:buNone/>
            </a:pPr>
            <a:r>
              <a:rPr lang="en-US" sz="1050" dirty="0">
                <a:solidFill>
                  <a:srgbClr val="44506B"/>
                </a:solidFill>
                <a:latin typeface="Calibri" pitchFamily="34" charset="0"/>
                <a:ea typeface="Calibri" pitchFamily="34" charset="-122"/>
                <a:cs typeface="Calibri" pitchFamily="34" charset="-120"/>
              </a:rPr>
              <a:t>Roots, Sampling, Logging, and legacy HTTP+SSE enter a formal 12-month deprecation window under the new lifecycle policy.</a:t>
            </a:r>
            <a:endParaRPr lang="en-US" sz="1050" dirty="0"/>
          </a:p>
        </p:txBody>
      </p:sp>
      <p:sp>
        <p:nvSpPr>
          <p:cNvPr id="35" name="Text 32"/>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8A93AC"/>
                </a:solidFill>
                <a:latin typeface="Calibri" pitchFamily="34" charset="0"/>
                <a:ea typeface="Calibri" pitchFamily="34" charset="-122"/>
                <a:cs typeface="Calibri" pitchFamily="34" charset="-120"/>
              </a:rPr>
              <a:t>MCP 2026-07-28  |  Enterprise Security Architecture Briefing</a:t>
            </a:r>
            <a:endParaRPr lang="en-US" sz="900" dirty="0"/>
          </a:p>
        </p:txBody>
      </p:sp>
      <p:sp>
        <p:nvSpPr>
          <p:cNvPr id="36" name="Text 33"/>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8A93AC"/>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229600" cy="274320"/>
          </a:xfrm>
          <a:prstGeom prst="rect">
            <a:avLst/>
          </a:prstGeom>
          <a:noFill/>
          <a:ln/>
        </p:spPr>
        <p:txBody>
          <a:bodyPr wrap="square" rtlCol="0" anchor="ctr"/>
          <a:lstStyle/>
          <a:p>
            <a:pPr indent="0" marL="0">
              <a:buNone/>
            </a:pPr>
            <a:r>
              <a:rPr lang="en-US" sz="1200" b="1" spc="200" kern="0" dirty="0">
                <a:solidFill>
                  <a:srgbClr val="44506B"/>
                </a:solidFill>
                <a:latin typeface="Calibri" pitchFamily="34" charset="0"/>
                <a:ea typeface="Calibri" pitchFamily="34" charset="-122"/>
                <a:cs typeface="Calibri" pitchFamily="34" charset="-120"/>
              </a:rPr>
              <a:t>THREAT MATRIX — RESOLVED</a:t>
            </a:r>
            <a:endParaRPr lang="en-US" sz="1200" dirty="0"/>
          </a:p>
        </p:txBody>
      </p:sp>
      <p:sp>
        <p:nvSpPr>
          <p:cNvPr id="3" name="Text 1"/>
          <p:cNvSpPr/>
          <p:nvPr/>
        </p:nvSpPr>
        <p:spPr>
          <a:xfrm>
            <a:off x="548640" y="566928"/>
            <a:ext cx="1106424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Session-layer threats: structurally overcome</a:t>
            </a:r>
            <a:endParaRPr lang="en-US" sz="3000" dirty="0"/>
          </a:p>
        </p:txBody>
      </p:sp>
      <p:sp>
        <p:nvSpPr>
          <p:cNvPr id="4" name="Shape 2"/>
          <p:cNvSpPr/>
          <p:nvPr/>
        </p:nvSpPr>
        <p:spPr>
          <a:xfrm>
            <a:off x="548640" y="1508760"/>
            <a:ext cx="11064240" cy="1170432"/>
          </a:xfrm>
          <a:prstGeom prst="roundRect">
            <a:avLst>
              <a:gd name="adj" fmla="val 5469"/>
            </a:avLst>
          </a:prstGeom>
          <a:solidFill>
            <a:srgbClr val="F4F6FB"/>
          </a:solidFill>
          <a:ln w="12700">
            <a:solidFill>
              <a:srgbClr val="CADCFC"/>
            </a:solidFill>
            <a:prstDash val="solid"/>
          </a:ln>
        </p:spPr>
      </p:sp>
      <p:sp>
        <p:nvSpPr>
          <p:cNvPr id="5" name="Shape 3"/>
          <p:cNvSpPr/>
          <p:nvPr/>
        </p:nvSpPr>
        <p:spPr>
          <a:xfrm>
            <a:off x="777240" y="1920240"/>
            <a:ext cx="1417320" cy="347472"/>
          </a:xfrm>
          <a:prstGeom prst="roundRect">
            <a:avLst>
              <a:gd name="adj" fmla="val 50000"/>
            </a:avLst>
          </a:prstGeom>
          <a:solidFill>
            <a:srgbClr val="E5EFE1"/>
          </a:solidFill>
          <a:ln/>
        </p:spPr>
      </p:sp>
      <p:sp>
        <p:nvSpPr>
          <p:cNvPr id="6" name="Text 4"/>
          <p:cNvSpPr/>
          <p:nvPr/>
        </p:nvSpPr>
        <p:spPr>
          <a:xfrm>
            <a:off x="777240" y="1920240"/>
            <a:ext cx="1417320" cy="347472"/>
          </a:xfrm>
          <a:prstGeom prst="rect">
            <a:avLst/>
          </a:prstGeom>
          <a:noFill/>
          <a:ln/>
        </p:spPr>
        <p:txBody>
          <a:bodyPr wrap="square" rtlCol="0" anchor="ctr"/>
          <a:lstStyle/>
          <a:p>
            <a:pPr algn="ctr" indent="0" marL="0">
              <a:buNone/>
            </a:pPr>
            <a:r>
              <a:rPr lang="en-US" sz="1000" b="1" dirty="0">
                <a:solidFill>
                  <a:srgbClr val="2C5F2D"/>
                </a:solidFill>
                <a:latin typeface="Calibri" pitchFamily="34" charset="0"/>
                <a:ea typeface="Calibri" pitchFamily="34" charset="-122"/>
                <a:cs typeface="Calibri" pitchFamily="34" charset="-120"/>
              </a:rPr>
              <a:t>OVERCOME</a:t>
            </a:r>
            <a:endParaRPr lang="en-US" sz="1000" dirty="0"/>
          </a:p>
        </p:txBody>
      </p:sp>
      <p:sp>
        <p:nvSpPr>
          <p:cNvPr id="7" name="Text 5"/>
          <p:cNvSpPr/>
          <p:nvPr/>
        </p:nvSpPr>
        <p:spPr>
          <a:xfrm>
            <a:off x="2377440" y="1618488"/>
            <a:ext cx="3383280" cy="950976"/>
          </a:xfrm>
          <a:prstGeom prst="rect">
            <a:avLst/>
          </a:prstGeom>
          <a:noFill/>
          <a:ln/>
        </p:spPr>
        <p:txBody>
          <a:bodyPr wrap="square"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Session Hijacking / Fixation</a:t>
            </a:r>
            <a:endParaRPr lang="en-US" sz="1400" dirty="0"/>
          </a:p>
        </p:txBody>
      </p:sp>
      <p:sp>
        <p:nvSpPr>
          <p:cNvPr id="8" name="Text 6"/>
          <p:cNvSpPr/>
          <p:nvPr/>
        </p:nvSpPr>
        <p:spPr>
          <a:xfrm>
            <a:off x="5897880" y="1618488"/>
            <a:ext cx="5532120" cy="950976"/>
          </a:xfrm>
          <a:prstGeom prst="rect">
            <a:avLst/>
          </a:prstGeom>
          <a:noFill/>
          <a:ln/>
        </p:spPr>
        <p:txBody>
          <a:bodyPr wrap="square" rtlCol="0" anchor="ctr"/>
          <a:lstStyle/>
          <a:p>
            <a:pPr indent="0" marL="0">
              <a:lnSpc>
                <a:spcPct val="115000"/>
              </a:lnSpc>
              <a:buNone/>
            </a:pPr>
            <a:r>
              <a:rPr lang="en-US" sz="1100" dirty="0">
                <a:solidFill>
                  <a:srgbClr val="44506B"/>
                </a:solidFill>
                <a:latin typeface="Calibri" pitchFamily="34" charset="0"/>
                <a:ea typeface="Calibri" pitchFamily="34" charset="-122"/>
                <a:cs typeface="Calibri" pitchFamily="34" charset="-120"/>
              </a:rPr>
              <a:t>No Mcp-Session-Id or shared transport state — nothing exists at the transport layer to fixate or hijack.</a:t>
            </a:r>
            <a:endParaRPr lang="en-US" sz="1100" dirty="0"/>
          </a:p>
        </p:txBody>
      </p:sp>
      <p:sp>
        <p:nvSpPr>
          <p:cNvPr id="9" name="Shape 7"/>
          <p:cNvSpPr/>
          <p:nvPr/>
        </p:nvSpPr>
        <p:spPr>
          <a:xfrm>
            <a:off x="548640" y="2807208"/>
            <a:ext cx="11064240" cy="1170432"/>
          </a:xfrm>
          <a:prstGeom prst="roundRect">
            <a:avLst>
              <a:gd name="adj" fmla="val 5469"/>
            </a:avLst>
          </a:prstGeom>
          <a:solidFill>
            <a:srgbClr val="F4F6FB"/>
          </a:solidFill>
          <a:ln w="12700">
            <a:solidFill>
              <a:srgbClr val="CADCFC"/>
            </a:solidFill>
            <a:prstDash val="solid"/>
          </a:ln>
        </p:spPr>
      </p:sp>
      <p:sp>
        <p:nvSpPr>
          <p:cNvPr id="10" name="Shape 8"/>
          <p:cNvSpPr/>
          <p:nvPr/>
        </p:nvSpPr>
        <p:spPr>
          <a:xfrm>
            <a:off x="777240" y="3218688"/>
            <a:ext cx="1417320" cy="347472"/>
          </a:xfrm>
          <a:prstGeom prst="roundRect">
            <a:avLst>
              <a:gd name="adj" fmla="val 50000"/>
            </a:avLst>
          </a:prstGeom>
          <a:solidFill>
            <a:srgbClr val="E5EFE1"/>
          </a:solidFill>
          <a:ln/>
        </p:spPr>
      </p:sp>
      <p:sp>
        <p:nvSpPr>
          <p:cNvPr id="11" name="Text 9"/>
          <p:cNvSpPr/>
          <p:nvPr/>
        </p:nvSpPr>
        <p:spPr>
          <a:xfrm>
            <a:off x="777240" y="3218688"/>
            <a:ext cx="1417320" cy="347472"/>
          </a:xfrm>
          <a:prstGeom prst="rect">
            <a:avLst/>
          </a:prstGeom>
          <a:noFill/>
          <a:ln/>
        </p:spPr>
        <p:txBody>
          <a:bodyPr wrap="square" rtlCol="0" anchor="ctr"/>
          <a:lstStyle/>
          <a:p>
            <a:pPr algn="ctr" indent="0" marL="0">
              <a:buNone/>
            </a:pPr>
            <a:r>
              <a:rPr lang="en-US" sz="1000" b="1" dirty="0">
                <a:solidFill>
                  <a:srgbClr val="2C5F2D"/>
                </a:solidFill>
                <a:latin typeface="Calibri" pitchFamily="34" charset="0"/>
                <a:ea typeface="Calibri" pitchFamily="34" charset="-122"/>
                <a:cs typeface="Calibri" pitchFamily="34" charset="-120"/>
              </a:rPr>
              <a:t>OVERCOME</a:t>
            </a:r>
            <a:endParaRPr lang="en-US" sz="1000" dirty="0"/>
          </a:p>
        </p:txBody>
      </p:sp>
      <p:sp>
        <p:nvSpPr>
          <p:cNvPr id="12" name="Text 10"/>
          <p:cNvSpPr/>
          <p:nvPr/>
        </p:nvSpPr>
        <p:spPr>
          <a:xfrm>
            <a:off x="2377440" y="2916936"/>
            <a:ext cx="3383280" cy="950976"/>
          </a:xfrm>
          <a:prstGeom prst="rect">
            <a:avLst/>
          </a:prstGeom>
          <a:noFill/>
          <a:ln/>
        </p:spPr>
        <p:txBody>
          <a:bodyPr wrap="square"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OAuth AS Mix-Up Attacks</a:t>
            </a:r>
            <a:endParaRPr lang="en-US" sz="1400" dirty="0"/>
          </a:p>
        </p:txBody>
      </p:sp>
      <p:sp>
        <p:nvSpPr>
          <p:cNvPr id="13" name="Text 11"/>
          <p:cNvSpPr/>
          <p:nvPr/>
        </p:nvSpPr>
        <p:spPr>
          <a:xfrm>
            <a:off x="5897880" y="2916936"/>
            <a:ext cx="5532120" cy="950976"/>
          </a:xfrm>
          <a:prstGeom prst="rect">
            <a:avLst/>
          </a:prstGeom>
          <a:noFill/>
          <a:ln/>
        </p:spPr>
        <p:txBody>
          <a:bodyPr wrap="square" rtlCol="0" anchor="ctr"/>
          <a:lstStyle/>
          <a:p>
            <a:pPr indent="0" marL="0">
              <a:lnSpc>
                <a:spcPct val="115000"/>
              </a:lnSpc>
              <a:buNone/>
            </a:pPr>
            <a:r>
              <a:rPr lang="en-US" sz="1100" dirty="0">
                <a:solidFill>
                  <a:srgbClr val="44506B"/>
                </a:solidFill>
                <a:latin typeface="Calibri" pitchFamily="34" charset="0"/>
                <a:ea typeface="Calibri" pitchFamily="34" charset="-122"/>
                <a:cs typeface="Calibri" pitchFamily="34" charset="-120"/>
              </a:rPr>
              <a:t>RFC 9207 mandatory iss validation forces exact token-issuer matching before authorization code redemption (SEP-2468).</a:t>
            </a:r>
            <a:endParaRPr lang="en-US" sz="1100" dirty="0"/>
          </a:p>
        </p:txBody>
      </p:sp>
      <p:sp>
        <p:nvSpPr>
          <p:cNvPr id="14" name="Shape 12"/>
          <p:cNvSpPr/>
          <p:nvPr/>
        </p:nvSpPr>
        <p:spPr>
          <a:xfrm>
            <a:off x="548640" y="4105656"/>
            <a:ext cx="11064240" cy="1170432"/>
          </a:xfrm>
          <a:prstGeom prst="roundRect">
            <a:avLst>
              <a:gd name="adj" fmla="val 5469"/>
            </a:avLst>
          </a:prstGeom>
          <a:solidFill>
            <a:srgbClr val="F4F6FB"/>
          </a:solidFill>
          <a:ln w="12700">
            <a:solidFill>
              <a:srgbClr val="CADCFC"/>
            </a:solidFill>
            <a:prstDash val="solid"/>
          </a:ln>
        </p:spPr>
      </p:sp>
      <p:sp>
        <p:nvSpPr>
          <p:cNvPr id="15" name="Shape 13"/>
          <p:cNvSpPr/>
          <p:nvPr/>
        </p:nvSpPr>
        <p:spPr>
          <a:xfrm>
            <a:off x="777240" y="4517136"/>
            <a:ext cx="1417320" cy="347472"/>
          </a:xfrm>
          <a:prstGeom prst="roundRect">
            <a:avLst>
              <a:gd name="adj" fmla="val 50000"/>
            </a:avLst>
          </a:prstGeom>
          <a:solidFill>
            <a:srgbClr val="E5EFE1"/>
          </a:solidFill>
          <a:ln/>
        </p:spPr>
      </p:sp>
      <p:sp>
        <p:nvSpPr>
          <p:cNvPr id="16" name="Text 14"/>
          <p:cNvSpPr/>
          <p:nvPr/>
        </p:nvSpPr>
        <p:spPr>
          <a:xfrm>
            <a:off x="777240" y="4517136"/>
            <a:ext cx="1417320" cy="347472"/>
          </a:xfrm>
          <a:prstGeom prst="rect">
            <a:avLst/>
          </a:prstGeom>
          <a:noFill/>
          <a:ln/>
        </p:spPr>
        <p:txBody>
          <a:bodyPr wrap="square" rtlCol="0" anchor="ctr"/>
          <a:lstStyle/>
          <a:p>
            <a:pPr algn="ctr" indent="0" marL="0">
              <a:buNone/>
            </a:pPr>
            <a:r>
              <a:rPr lang="en-US" sz="1000" b="1" dirty="0">
                <a:solidFill>
                  <a:srgbClr val="2C5F2D"/>
                </a:solidFill>
                <a:latin typeface="Calibri" pitchFamily="34" charset="0"/>
                <a:ea typeface="Calibri" pitchFamily="34" charset="-122"/>
                <a:cs typeface="Calibri" pitchFamily="34" charset="-120"/>
              </a:rPr>
              <a:t>OVERCOME</a:t>
            </a:r>
            <a:endParaRPr lang="en-US" sz="1000" dirty="0"/>
          </a:p>
        </p:txBody>
      </p:sp>
      <p:sp>
        <p:nvSpPr>
          <p:cNvPr id="17" name="Text 15"/>
          <p:cNvSpPr/>
          <p:nvPr/>
        </p:nvSpPr>
        <p:spPr>
          <a:xfrm>
            <a:off x="2377440" y="4215384"/>
            <a:ext cx="3383280" cy="950976"/>
          </a:xfrm>
          <a:prstGeom prst="rect">
            <a:avLst/>
          </a:prstGeom>
          <a:noFill/>
          <a:ln/>
        </p:spPr>
        <p:txBody>
          <a:bodyPr wrap="square"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Rogue Client Registration</a:t>
            </a:r>
            <a:endParaRPr lang="en-US" sz="1400" dirty="0"/>
          </a:p>
        </p:txBody>
      </p:sp>
      <p:sp>
        <p:nvSpPr>
          <p:cNvPr id="18" name="Text 16"/>
          <p:cNvSpPr/>
          <p:nvPr/>
        </p:nvSpPr>
        <p:spPr>
          <a:xfrm>
            <a:off x="5897880" y="4215384"/>
            <a:ext cx="5532120" cy="950976"/>
          </a:xfrm>
          <a:prstGeom prst="rect">
            <a:avLst/>
          </a:prstGeom>
          <a:noFill/>
          <a:ln/>
        </p:spPr>
        <p:txBody>
          <a:bodyPr wrap="square" rtlCol="0" anchor="ctr"/>
          <a:lstStyle/>
          <a:p>
            <a:pPr indent="0" marL="0">
              <a:lnSpc>
                <a:spcPct val="115000"/>
              </a:lnSpc>
              <a:buNone/>
            </a:pPr>
            <a:r>
              <a:rPr lang="en-US" sz="1100" dirty="0">
                <a:solidFill>
                  <a:srgbClr val="44506B"/>
                </a:solidFill>
                <a:latin typeface="Calibri" pitchFamily="34" charset="0"/>
                <a:ea typeface="Calibri" pitchFamily="34" charset="-122"/>
                <a:cs typeface="Calibri" pitchFamily="34" charset="-120"/>
              </a:rPr>
              <a:t>Dynamic Client Registration gives way to static, issuer-bound Client ID Metadata Documents (SEP-2352).</a:t>
            </a:r>
            <a:endParaRPr lang="en-US" sz="1100" dirty="0"/>
          </a:p>
        </p:txBody>
      </p:sp>
      <p:sp>
        <p:nvSpPr>
          <p:cNvPr id="19" name="Shape 17"/>
          <p:cNvSpPr/>
          <p:nvPr/>
        </p:nvSpPr>
        <p:spPr>
          <a:xfrm>
            <a:off x="548640" y="5404104"/>
            <a:ext cx="11064240" cy="1170432"/>
          </a:xfrm>
          <a:prstGeom prst="roundRect">
            <a:avLst>
              <a:gd name="adj" fmla="val 5469"/>
            </a:avLst>
          </a:prstGeom>
          <a:solidFill>
            <a:srgbClr val="F4F6FB"/>
          </a:solidFill>
          <a:ln w="12700">
            <a:solidFill>
              <a:srgbClr val="CADCFC"/>
            </a:solidFill>
            <a:prstDash val="solid"/>
          </a:ln>
        </p:spPr>
      </p:sp>
      <p:sp>
        <p:nvSpPr>
          <p:cNvPr id="20" name="Shape 18"/>
          <p:cNvSpPr/>
          <p:nvPr/>
        </p:nvSpPr>
        <p:spPr>
          <a:xfrm>
            <a:off x="777240" y="5815584"/>
            <a:ext cx="1417320" cy="347472"/>
          </a:xfrm>
          <a:prstGeom prst="roundRect">
            <a:avLst>
              <a:gd name="adj" fmla="val 50000"/>
            </a:avLst>
          </a:prstGeom>
          <a:solidFill>
            <a:srgbClr val="E5EFE1"/>
          </a:solidFill>
          <a:ln/>
        </p:spPr>
      </p:sp>
      <p:sp>
        <p:nvSpPr>
          <p:cNvPr id="21" name="Text 19"/>
          <p:cNvSpPr/>
          <p:nvPr/>
        </p:nvSpPr>
        <p:spPr>
          <a:xfrm>
            <a:off x="777240" y="5815584"/>
            <a:ext cx="1417320" cy="347472"/>
          </a:xfrm>
          <a:prstGeom prst="rect">
            <a:avLst/>
          </a:prstGeom>
          <a:noFill/>
          <a:ln/>
        </p:spPr>
        <p:txBody>
          <a:bodyPr wrap="square" rtlCol="0" anchor="ctr"/>
          <a:lstStyle/>
          <a:p>
            <a:pPr algn="ctr" indent="0" marL="0">
              <a:buNone/>
            </a:pPr>
            <a:r>
              <a:rPr lang="en-US" sz="1000" b="1" dirty="0">
                <a:solidFill>
                  <a:srgbClr val="2C5F2D"/>
                </a:solidFill>
                <a:latin typeface="Calibri" pitchFamily="34" charset="0"/>
                <a:ea typeface="Calibri" pitchFamily="34" charset="-122"/>
                <a:cs typeface="Calibri" pitchFamily="34" charset="-120"/>
              </a:rPr>
              <a:t>OVERCOME</a:t>
            </a:r>
            <a:endParaRPr lang="en-US" sz="1000" dirty="0"/>
          </a:p>
        </p:txBody>
      </p:sp>
      <p:sp>
        <p:nvSpPr>
          <p:cNvPr id="22" name="Text 20"/>
          <p:cNvSpPr/>
          <p:nvPr/>
        </p:nvSpPr>
        <p:spPr>
          <a:xfrm>
            <a:off x="2377440" y="5513832"/>
            <a:ext cx="3383280" cy="950976"/>
          </a:xfrm>
          <a:prstGeom prst="rect">
            <a:avLst/>
          </a:prstGeom>
          <a:noFill/>
          <a:ln/>
        </p:spPr>
        <p:txBody>
          <a:bodyPr wrap="square"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Opaque Traffic Exploits</a:t>
            </a:r>
            <a:endParaRPr lang="en-US" sz="1400" dirty="0"/>
          </a:p>
        </p:txBody>
      </p:sp>
      <p:sp>
        <p:nvSpPr>
          <p:cNvPr id="23" name="Text 21"/>
          <p:cNvSpPr/>
          <p:nvPr/>
        </p:nvSpPr>
        <p:spPr>
          <a:xfrm>
            <a:off x="5897880" y="5513832"/>
            <a:ext cx="5532120" cy="950976"/>
          </a:xfrm>
          <a:prstGeom prst="rect">
            <a:avLst/>
          </a:prstGeom>
          <a:noFill/>
          <a:ln/>
        </p:spPr>
        <p:txBody>
          <a:bodyPr wrap="square" rtlCol="0" anchor="ctr"/>
          <a:lstStyle/>
          <a:p>
            <a:pPr indent="0" marL="0">
              <a:lnSpc>
                <a:spcPct val="115000"/>
              </a:lnSpc>
              <a:buNone/>
            </a:pPr>
            <a:r>
              <a:rPr lang="en-US" sz="1100" dirty="0">
                <a:solidFill>
                  <a:srgbClr val="44506B"/>
                </a:solidFill>
                <a:latin typeface="Calibri" pitchFamily="34" charset="0"/>
                <a:ea typeface="Calibri" pitchFamily="34" charset="-122"/>
                <a:cs typeface="Calibri" pitchFamily="34" charset="-120"/>
              </a:rPr>
              <a:t>Mcp-Method / Mcp-Name headers let WAFs and gateways filter and rate-limit without parsing JSON bodies (SEP-2243).</a:t>
            </a:r>
            <a:endParaRPr lang="en-US" sz="1100" dirty="0"/>
          </a:p>
        </p:txBody>
      </p:sp>
      <p:sp>
        <p:nvSpPr>
          <p:cNvPr id="25" name="Text 22"/>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8A93AC"/>
                </a:solidFill>
                <a:latin typeface="Calibri" pitchFamily="34" charset="0"/>
                <a:ea typeface="Calibri" pitchFamily="34" charset="-122"/>
                <a:cs typeface="Calibri" pitchFamily="34" charset="-120"/>
              </a:rPr>
              <a:t>MCP 2026-07-28  |  Enterprise Security Architecture Briefing</a:t>
            </a:r>
            <a:endParaRPr lang="en-US" sz="900" dirty="0"/>
          </a:p>
        </p:txBody>
      </p:sp>
      <p:sp>
        <p:nvSpPr>
          <p:cNvPr id="26" name="Text 23"/>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8A93A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229600" cy="274320"/>
          </a:xfrm>
          <a:prstGeom prst="rect">
            <a:avLst/>
          </a:prstGeom>
          <a:noFill/>
          <a:ln/>
        </p:spPr>
        <p:txBody>
          <a:bodyPr wrap="square" rtlCol="0" anchor="ctr"/>
          <a:lstStyle/>
          <a:p>
            <a:pPr indent="0" marL="0">
              <a:buNone/>
            </a:pPr>
            <a:r>
              <a:rPr lang="en-US" sz="1200" b="1" spc="200" kern="0" dirty="0">
                <a:solidFill>
                  <a:srgbClr val="44506B"/>
                </a:solidFill>
                <a:latin typeface="Calibri" pitchFamily="34" charset="0"/>
                <a:ea typeface="Calibri" pitchFamily="34" charset="-122"/>
                <a:cs typeface="Calibri" pitchFamily="34" charset="-120"/>
              </a:rPr>
              <a:t>THREAT MATRIX — UNCHANGED</a:t>
            </a:r>
            <a:endParaRPr lang="en-US" sz="1200" dirty="0"/>
          </a:p>
        </p:txBody>
      </p:sp>
      <p:sp>
        <p:nvSpPr>
          <p:cNvPr id="3" name="Text 1"/>
          <p:cNvSpPr/>
          <p:nvPr/>
        </p:nvSpPr>
        <p:spPr>
          <a:xfrm>
            <a:off x="548640" y="566928"/>
            <a:ext cx="1106424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Prompt &amp; supply-chain threats: still fully live</a:t>
            </a:r>
            <a:endParaRPr lang="en-US" sz="3000" dirty="0"/>
          </a:p>
        </p:txBody>
      </p:sp>
      <p:sp>
        <p:nvSpPr>
          <p:cNvPr id="4" name="Shape 2"/>
          <p:cNvSpPr/>
          <p:nvPr/>
        </p:nvSpPr>
        <p:spPr>
          <a:xfrm>
            <a:off x="548640" y="1508760"/>
            <a:ext cx="11064240" cy="1170432"/>
          </a:xfrm>
          <a:prstGeom prst="roundRect">
            <a:avLst>
              <a:gd name="adj" fmla="val 5469"/>
            </a:avLst>
          </a:prstGeom>
          <a:solidFill>
            <a:srgbClr val="F4F6FB"/>
          </a:solidFill>
          <a:ln w="12700">
            <a:solidFill>
              <a:srgbClr val="CADCFC"/>
            </a:solidFill>
            <a:prstDash val="solid"/>
          </a:ln>
        </p:spPr>
      </p:sp>
      <p:sp>
        <p:nvSpPr>
          <p:cNvPr id="5" name="Shape 3"/>
          <p:cNvSpPr/>
          <p:nvPr/>
        </p:nvSpPr>
        <p:spPr>
          <a:xfrm>
            <a:off x="777240" y="1920240"/>
            <a:ext cx="1417320" cy="347472"/>
          </a:xfrm>
          <a:prstGeom prst="roundRect">
            <a:avLst>
              <a:gd name="adj" fmla="val 50000"/>
            </a:avLst>
          </a:prstGeom>
          <a:solidFill>
            <a:srgbClr val="FBEBD6"/>
          </a:solidFill>
          <a:ln/>
        </p:spPr>
      </p:sp>
      <p:sp>
        <p:nvSpPr>
          <p:cNvPr id="6" name="Text 4"/>
          <p:cNvSpPr/>
          <p:nvPr/>
        </p:nvSpPr>
        <p:spPr>
          <a:xfrm>
            <a:off x="777240" y="1920240"/>
            <a:ext cx="1417320" cy="347472"/>
          </a:xfrm>
          <a:prstGeom prst="rect">
            <a:avLst/>
          </a:prstGeom>
          <a:noFill/>
          <a:ln/>
        </p:spPr>
        <p:txBody>
          <a:bodyPr wrap="square" rtlCol="0" anchor="ctr"/>
          <a:lstStyle/>
          <a:p>
            <a:pPr algn="ctr" indent="0" marL="0">
              <a:buNone/>
            </a:pPr>
            <a:r>
              <a:rPr lang="en-US" sz="1000" b="1" dirty="0">
                <a:solidFill>
                  <a:srgbClr val="9A5B12"/>
                </a:solidFill>
                <a:latin typeface="Calibri" pitchFamily="34" charset="0"/>
                <a:ea typeface="Calibri" pitchFamily="34" charset="-122"/>
                <a:cs typeface="Calibri" pitchFamily="34" charset="-120"/>
              </a:rPr>
              <a:t>REMAINING</a:t>
            </a:r>
            <a:endParaRPr lang="en-US" sz="1000" dirty="0"/>
          </a:p>
        </p:txBody>
      </p:sp>
      <p:sp>
        <p:nvSpPr>
          <p:cNvPr id="7" name="Text 5"/>
          <p:cNvSpPr/>
          <p:nvPr/>
        </p:nvSpPr>
        <p:spPr>
          <a:xfrm>
            <a:off x="2377440" y="1618488"/>
            <a:ext cx="3383280" cy="950976"/>
          </a:xfrm>
          <a:prstGeom prst="rect">
            <a:avLst/>
          </a:prstGeom>
          <a:noFill/>
          <a:ln/>
        </p:spPr>
        <p:txBody>
          <a:bodyPr wrap="square"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Prompt Injection</a:t>
            </a:r>
            <a:endParaRPr lang="en-US" sz="1400" dirty="0"/>
          </a:p>
        </p:txBody>
      </p:sp>
      <p:sp>
        <p:nvSpPr>
          <p:cNvPr id="8" name="Text 6"/>
          <p:cNvSpPr/>
          <p:nvPr/>
        </p:nvSpPr>
        <p:spPr>
          <a:xfrm>
            <a:off x="5897880" y="1618488"/>
            <a:ext cx="5532120" cy="950976"/>
          </a:xfrm>
          <a:prstGeom prst="rect">
            <a:avLst/>
          </a:prstGeom>
          <a:noFill/>
          <a:ln/>
        </p:spPr>
        <p:txBody>
          <a:bodyPr wrap="square" rtlCol="0" anchor="ctr"/>
          <a:lstStyle/>
          <a:p>
            <a:pPr indent="0" marL="0">
              <a:lnSpc>
                <a:spcPct val="115000"/>
              </a:lnSpc>
              <a:buNone/>
            </a:pPr>
            <a:r>
              <a:rPr lang="en-US" sz="1100" dirty="0">
                <a:solidFill>
                  <a:srgbClr val="44506B"/>
                </a:solidFill>
                <a:latin typeface="Calibri" pitchFamily="34" charset="0"/>
                <a:ea typeface="Calibri" pitchFamily="34" charset="-122"/>
                <a:cs typeface="Calibri" pitchFamily="34" charset="-120"/>
              </a:rPr>
              <a:t>Statelessness doesn't change model cognition — malicious payloads inside tool output can still hijack LLM reasoning.</a:t>
            </a:r>
            <a:endParaRPr lang="en-US" sz="1100" dirty="0"/>
          </a:p>
        </p:txBody>
      </p:sp>
      <p:sp>
        <p:nvSpPr>
          <p:cNvPr id="9" name="Shape 7"/>
          <p:cNvSpPr/>
          <p:nvPr/>
        </p:nvSpPr>
        <p:spPr>
          <a:xfrm>
            <a:off x="548640" y="2807208"/>
            <a:ext cx="11064240" cy="1170432"/>
          </a:xfrm>
          <a:prstGeom prst="roundRect">
            <a:avLst>
              <a:gd name="adj" fmla="val 5469"/>
            </a:avLst>
          </a:prstGeom>
          <a:solidFill>
            <a:srgbClr val="F4F6FB"/>
          </a:solidFill>
          <a:ln w="12700">
            <a:solidFill>
              <a:srgbClr val="CADCFC"/>
            </a:solidFill>
            <a:prstDash val="solid"/>
          </a:ln>
        </p:spPr>
      </p:sp>
      <p:sp>
        <p:nvSpPr>
          <p:cNvPr id="10" name="Shape 8"/>
          <p:cNvSpPr/>
          <p:nvPr/>
        </p:nvSpPr>
        <p:spPr>
          <a:xfrm>
            <a:off x="777240" y="3218688"/>
            <a:ext cx="1417320" cy="347472"/>
          </a:xfrm>
          <a:prstGeom prst="roundRect">
            <a:avLst>
              <a:gd name="adj" fmla="val 50000"/>
            </a:avLst>
          </a:prstGeom>
          <a:solidFill>
            <a:srgbClr val="FBEBD6"/>
          </a:solidFill>
          <a:ln/>
        </p:spPr>
      </p:sp>
      <p:sp>
        <p:nvSpPr>
          <p:cNvPr id="11" name="Text 9"/>
          <p:cNvSpPr/>
          <p:nvPr/>
        </p:nvSpPr>
        <p:spPr>
          <a:xfrm>
            <a:off x="777240" y="3218688"/>
            <a:ext cx="1417320" cy="347472"/>
          </a:xfrm>
          <a:prstGeom prst="rect">
            <a:avLst/>
          </a:prstGeom>
          <a:noFill/>
          <a:ln/>
        </p:spPr>
        <p:txBody>
          <a:bodyPr wrap="square" rtlCol="0" anchor="ctr"/>
          <a:lstStyle/>
          <a:p>
            <a:pPr algn="ctr" indent="0" marL="0">
              <a:buNone/>
            </a:pPr>
            <a:r>
              <a:rPr lang="en-US" sz="1000" b="1" dirty="0">
                <a:solidFill>
                  <a:srgbClr val="9A5B12"/>
                </a:solidFill>
                <a:latin typeface="Calibri" pitchFamily="34" charset="0"/>
                <a:ea typeface="Calibri" pitchFamily="34" charset="-122"/>
                <a:cs typeface="Calibri" pitchFamily="34" charset="-120"/>
              </a:rPr>
              <a:t>REMAINING</a:t>
            </a:r>
            <a:endParaRPr lang="en-US" sz="1000" dirty="0"/>
          </a:p>
        </p:txBody>
      </p:sp>
      <p:sp>
        <p:nvSpPr>
          <p:cNvPr id="12" name="Text 10"/>
          <p:cNvSpPr/>
          <p:nvPr/>
        </p:nvSpPr>
        <p:spPr>
          <a:xfrm>
            <a:off x="2377440" y="2916936"/>
            <a:ext cx="3383280" cy="950976"/>
          </a:xfrm>
          <a:prstGeom prst="rect">
            <a:avLst/>
          </a:prstGeom>
          <a:noFill/>
          <a:ln/>
        </p:spPr>
        <p:txBody>
          <a:bodyPr wrap="square"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Tool Description Hijack</a:t>
            </a:r>
            <a:endParaRPr lang="en-US" sz="1400" dirty="0"/>
          </a:p>
        </p:txBody>
      </p:sp>
      <p:sp>
        <p:nvSpPr>
          <p:cNvPr id="13" name="Text 11"/>
          <p:cNvSpPr/>
          <p:nvPr/>
        </p:nvSpPr>
        <p:spPr>
          <a:xfrm>
            <a:off x="5897880" y="2916936"/>
            <a:ext cx="5532120" cy="950976"/>
          </a:xfrm>
          <a:prstGeom prst="rect">
            <a:avLst/>
          </a:prstGeom>
          <a:noFill/>
          <a:ln/>
        </p:spPr>
        <p:txBody>
          <a:bodyPr wrap="square" rtlCol="0" anchor="ctr"/>
          <a:lstStyle/>
          <a:p>
            <a:pPr indent="0" marL="0">
              <a:lnSpc>
                <a:spcPct val="115000"/>
              </a:lnSpc>
              <a:buNone/>
            </a:pPr>
            <a:r>
              <a:rPr lang="en-US" sz="1100" dirty="0">
                <a:solidFill>
                  <a:srgbClr val="44506B"/>
                </a:solidFill>
                <a:latin typeface="Calibri" pitchFamily="34" charset="0"/>
                <a:ea typeface="Calibri" pitchFamily="34" charset="-122"/>
                <a:cs typeface="Calibri" pitchFamily="34" charset="-120"/>
              </a:rPr>
              <a:t>“Prefer this tool” instructions embedded in schemas remain viable; tool definitions still live in user-space prompts (Hou et al., 2025).</a:t>
            </a:r>
            <a:endParaRPr lang="en-US" sz="1100" dirty="0"/>
          </a:p>
        </p:txBody>
      </p:sp>
      <p:sp>
        <p:nvSpPr>
          <p:cNvPr id="14" name="Shape 12"/>
          <p:cNvSpPr/>
          <p:nvPr/>
        </p:nvSpPr>
        <p:spPr>
          <a:xfrm>
            <a:off x="548640" y="4105656"/>
            <a:ext cx="11064240" cy="1170432"/>
          </a:xfrm>
          <a:prstGeom prst="roundRect">
            <a:avLst>
              <a:gd name="adj" fmla="val 5469"/>
            </a:avLst>
          </a:prstGeom>
          <a:solidFill>
            <a:srgbClr val="F4F6FB"/>
          </a:solidFill>
          <a:ln w="12700">
            <a:solidFill>
              <a:srgbClr val="CADCFC"/>
            </a:solidFill>
            <a:prstDash val="solid"/>
          </a:ln>
        </p:spPr>
      </p:sp>
      <p:sp>
        <p:nvSpPr>
          <p:cNvPr id="15" name="Shape 13"/>
          <p:cNvSpPr/>
          <p:nvPr/>
        </p:nvSpPr>
        <p:spPr>
          <a:xfrm>
            <a:off x="777240" y="4517136"/>
            <a:ext cx="1417320" cy="347472"/>
          </a:xfrm>
          <a:prstGeom prst="roundRect">
            <a:avLst>
              <a:gd name="adj" fmla="val 50000"/>
            </a:avLst>
          </a:prstGeom>
          <a:solidFill>
            <a:srgbClr val="FBEBD6"/>
          </a:solidFill>
          <a:ln/>
        </p:spPr>
      </p:sp>
      <p:sp>
        <p:nvSpPr>
          <p:cNvPr id="16" name="Text 14"/>
          <p:cNvSpPr/>
          <p:nvPr/>
        </p:nvSpPr>
        <p:spPr>
          <a:xfrm>
            <a:off x="777240" y="4517136"/>
            <a:ext cx="1417320" cy="347472"/>
          </a:xfrm>
          <a:prstGeom prst="rect">
            <a:avLst/>
          </a:prstGeom>
          <a:noFill/>
          <a:ln/>
        </p:spPr>
        <p:txBody>
          <a:bodyPr wrap="square" rtlCol="0" anchor="ctr"/>
          <a:lstStyle/>
          <a:p>
            <a:pPr algn="ctr" indent="0" marL="0">
              <a:buNone/>
            </a:pPr>
            <a:r>
              <a:rPr lang="en-US" sz="1000" b="1" dirty="0">
                <a:solidFill>
                  <a:srgbClr val="9A5B12"/>
                </a:solidFill>
                <a:latin typeface="Calibri" pitchFamily="34" charset="0"/>
                <a:ea typeface="Calibri" pitchFamily="34" charset="-122"/>
                <a:cs typeface="Calibri" pitchFamily="34" charset="-120"/>
              </a:rPr>
              <a:t>REMAINING</a:t>
            </a:r>
            <a:endParaRPr lang="en-US" sz="1000" dirty="0"/>
          </a:p>
        </p:txBody>
      </p:sp>
      <p:sp>
        <p:nvSpPr>
          <p:cNvPr id="17" name="Text 15"/>
          <p:cNvSpPr/>
          <p:nvPr/>
        </p:nvSpPr>
        <p:spPr>
          <a:xfrm>
            <a:off x="2377440" y="4215384"/>
            <a:ext cx="3383280" cy="950976"/>
          </a:xfrm>
          <a:prstGeom prst="rect">
            <a:avLst/>
          </a:prstGeom>
          <a:noFill/>
          <a:ln/>
        </p:spPr>
        <p:txBody>
          <a:bodyPr wrap="square"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Supply-Chain Attacks</a:t>
            </a:r>
            <a:endParaRPr lang="en-US" sz="1400" dirty="0"/>
          </a:p>
        </p:txBody>
      </p:sp>
      <p:sp>
        <p:nvSpPr>
          <p:cNvPr id="18" name="Text 16"/>
          <p:cNvSpPr/>
          <p:nvPr/>
        </p:nvSpPr>
        <p:spPr>
          <a:xfrm>
            <a:off x="5897880" y="4215384"/>
            <a:ext cx="5532120" cy="950976"/>
          </a:xfrm>
          <a:prstGeom prst="rect">
            <a:avLst/>
          </a:prstGeom>
          <a:noFill/>
          <a:ln/>
        </p:spPr>
        <p:txBody>
          <a:bodyPr wrap="square" rtlCol="0" anchor="ctr"/>
          <a:lstStyle/>
          <a:p>
            <a:pPr indent="0" marL="0">
              <a:lnSpc>
                <a:spcPct val="115000"/>
              </a:lnSpc>
              <a:buNone/>
            </a:pPr>
            <a:r>
              <a:rPr lang="en-US" sz="1100" dirty="0">
                <a:solidFill>
                  <a:srgbClr val="44506B"/>
                </a:solidFill>
                <a:latin typeface="Calibri" pitchFamily="34" charset="0"/>
                <a:ea typeface="Calibri" pitchFamily="34" charset="-122"/>
                <a:cs typeface="Calibri" pitchFamily="34" charset="-120"/>
              </a:rPr>
              <a:t>Compromised third-party MCP servers can still return malicious context or exfiltrate agent parameters — needs zero-trust sandboxing.</a:t>
            </a:r>
            <a:endParaRPr lang="en-US" sz="1100" dirty="0"/>
          </a:p>
        </p:txBody>
      </p:sp>
      <p:sp>
        <p:nvSpPr>
          <p:cNvPr id="20" name="Text 17"/>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8A93AC"/>
                </a:solidFill>
                <a:latin typeface="Calibri" pitchFamily="34" charset="0"/>
                <a:ea typeface="Calibri" pitchFamily="34" charset="-122"/>
                <a:cs typeface="Calibri" pitchFamily="34" charset="-120"/>
              </a:rPr>
              <a:t>MCP 2026-07-28  |  Enterprise Security Architecture Briefing</a:t>
            </a:r>
            <a:endParaRPr lang="en-US" sz="900" dirty="0"/>
          </a:p>
        </p:txBody>
      </p:sp>
      <p:sp>
        <p:nvSpPr>
          <p:cNvPr id="21" name="Text 18"/>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8A93AC"/>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229600" cy="274320"/>
          </a:xfrm>
          <a:prstGeom prst="rect">
            <a:avLst/>
          </a:prstGeom>
          <a:noFill/>
          <a:ln/>
        </p:spPr>
        <p:txBody>
          <a:bodyPr wrap="square" rtlCol="0" anchor="ctr"/>
          <a:lstStyle/>
          <a:p>
            <a:pPr indent="0" marL="0">
              <a:buNone/>
            </a:pPr>
            <a:r>
              <a:rPr lang="en-US" sz="1200" b="1" spc="200" kern="0" dirty="0">
                <a:solidFill>
                  <a:srgbClr val="44506B"/>
                </a:solidFill>
                <a:latin typeface="Calibri" pitchFamily="34" charset="0"/>
                <a:ea typeface="Calibri" pitchFamily="34" charset="-122"/>
                <a:cs typeface="Calibri" pitchFamily="34" charset="-120"/>
              </a:rPr>
              <a:t>THREAT MATRIX — INTRODUCED</a:t>
            </a:r>
            <a:endParaRPr lang="en-US" sz="1200" dirty="0"/>
          </a:p>
        </p:txBody>
      </p:sp>
      <p:sp>
        <p:nvSpPr>
          <p:cNvPr id="3" name="Text 1"/>
          <p:cNvSpPr/>
          <p:nvPr/>
        </p:nvSpPr>
        <p:spPr>
          <a:xfrm>
            <a:off x="548640" y="566928"/>
            <a:ext cx="1106424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Stateless design creates three new threats</a:t>
            </a:r>
            <a:endParaRPr lang="en-US" sz="3000" dirty="0"/>
          </a:p>
        </p:txBody>
      </p:sp>
      <p:sp>
        <p:nvSpPr>
          <p:cNvPr id="4" name="Shape 2"/>
          <p:cNvSpPr/>
          <p:nvPr/>
        </p:nvSpPr>
        <p:spPr>
          <a:xfrm>
            <a:off x="548640" y="1508760"/>
            <a:ext cx="11064240" cy="1170432"/>
          </a:xfrm>
          <a:prstGeom prst="roundRect">
            <a:avLst>
              <a:gd name="adj" fmla="val 5469"/>
            </a:avLst>
          </a:prstGeom>
          <a:solidFill>
            <a:srgbClr val="F4F6FB"/>
          </a:solidFill>
          <a:ln w="12700">
            <a:solidFill>
              <a:srgbClr val="CADCFC"/>
            </a:solidFill>
            <a:prstDash val="solid"/>
          </a:ln>
        </p:spPr>
      </p:sp>
      <p:sp>
        <p:nvSpPr>
          <p:cNvPr id="5" name="Shape 3"/>
          <p:cNvSpPr/>
          <p:nvPr/>
        </p:nvSpPr>
        <p:spPr>
          <a:xfrm>
            <a:off x="777240" y="1920240"/>
            <a:ext cx="1417320" cy="347472"/>
          </a:xfrm>
          <a:prstGeom prst="roundRect">
            <a:avLst>
              <a:gd name="adj" fmla="val 50000"/>
            </a:avLst>
          </a:prstGeom>
          <a:solidFill>
            <a:srgbClr val="F6E1E1"/>
          </a:solidFill>
          <a:ln/>
        </p:spPr>
      </p:sp>
      <p:sp>
        <p:nvSpPr>
          <p:cNvPr id="6" name="Text 4"/>
          <p:cNvSpPr/>
          <p:nvPr/>
        </p:nvSpPr>
        <p:spPr>
          <a:xfrm>
            <a:off x="777240" y="1920240"/>
            <a:ext cx="1417320" cy="347472"/>
          </a:xfrm>
          <a:prstGeom prst="rect">
            <a:avLst/>
          </a:prstGeom>
          <a:noFill/>
          <a:ln/>
        </p:spPr>
        <p:txBody>
          <a:bodyPr wrap="square" rtlCol="0" anchor="ctr"/>
          <a:lstStyle/>
          <a:p>
            <a:pPr algn="ctr" indent="0" marL="0">
              <a:buNone/>
            </a:pPr>
            <a:r>
              <a:rPr lang="en-US" sz="1000" b="1" dirty="0">
                <a:solidFill>
                  <a:srgbClr val="8C1622"/>
                </a:solidFill>
                <a:latin typeface="Calibri" pitchFamily="34" charset="0"/>
                <a:ea typeface="Calibri" pitchFamily="34" charset="-122"/>
                <a:cs typeface="Calibri" pitchFamily="34" charset="-120"/>
              </a:rPr>
              <a:t>NEW THREAT</a:t>
            </a:r>
            <a:endParaRPr lang="en-US" sz="1000" dirty="0"/>
          </a:p>
        </p:txBody>
      </p:sp>
      <p:sp>
        <p:nvSpPr>
          <p:cNvPr id="7" name="Text 5"/>
          <p:cNvSpPr/>
          <p:nvPr/>
        </p:nvSpPr>
        <p:spPr>
          <a:xfrm>
            <a:off x="2377440" y="1618488"/>
            <a:ext cx="3383280" cy="950976"/>
          </a:xfrm>
          <a:prstGeom prst="rect">
            <a:avLst/>
          </a:prstGeom>
          <a:noFill/>
          <a:ln/>
        </p:spPr>
        <p:txBody>
          <a:bodyPr wrap="square"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Handle IDOR / Tampering</a:t>
            </a:r>
            <a:endParaRPr lang="en-US" sz="1400" dirty="0"/>
          </a:p>
        </p:txBody>
      </p:sp>
      <p:sp>
        <p:nvSpPr>
          <p:cNvPr id="8" name="Text 6"/>
          <p:cNvSpPr/>
          <p:nvPr/>
        </p:nvSpPr>
        <p:spPr>
          <a:xfrm>
            <a:off x="5897880" y="1618488"/>
            <a:ext cx="5532120" cy="950976"/>
          </a:xfrm>
          <a:prstGeom prst="rect">
            <a:avLst/>
          </a:prstGeom>
          <a:noFill/>
          <a:ln/>
        </p:spPr>
        <p:txBody>
          <a:bodyPr wrap="square" rtlCol="0" anchor="ctr"/>
          <a:lstStyle/>
          <a:p>
            <a:pPr indent="0" marL="0">
              <a:lnSpc>
                <a:spcPct val="115000"/>
              </a:lnSpc>
              <a:buNone/>
            </a:pPr>
            <a:r>
              <a:rPr lang="en-US" sz="1100" dirty="0">
                <a:solidFill>
                  <a:srgbClr val="44506B"/>
                </a:solidFill>
                <a:latin typeface="Calibri" pitchFamily="34" charset="0"/>
                <a:ea typeface="Calibri" pitchFamily="34" charset="-122"/>
                <a:cs typeface="Calibri" pitchFamily="34" charset="-120"/>
              </a:rPr>
              <a:t>Application state now travels as model-visible arguments; unsigned or predictable handles expose endpoints to Insecure Direct Object Reference.</a:t>
            </a:r>
            <a:endParaRPr lang="en-US" sz="1100" dirty="0"/>
          </a:p>
        </p:txBody>
      </p:sp>
      <p:sp>
        <p:nvSpPr>
          <p:cNvPr id="9" name="Shape 7"/>
          <p:cNvSpPr/>
          <p:nvPr/>
        </p:nvSpPr>
        <p:spPr>
          <a:xfrm>
            <a:off x="548640" y="2807208"/>
            <a:ext cx="11064240" cy="1170432"/>
          </a:xfrm>
          <a:prstGeom prst="roundRect">
            <a:avLst>
              <a:gd name="adj" fmla="val 5469"/>
            </a:avLst>
          </a:prstGeom>
          <a:solidFill>
            <a:srgbClr val="F4F6FB"/>
          </a:solidFill>
          <a:ln w="12700">
            <a:solidFill>
              <a:srgbClr val="CADCFC"/>
            </a:solidFill>
            <a:prstDash val="solid"/>
          </a:ln>
        </p:spPr>
      </p:sp>
      <p:sp>
        <p:nvSpPr>
          <p:cNvPr id="10" name="Shape 8"/>
          <p:cNvSpPr/>
          <p:nvPr/>
        </p:nvSpPr>
        <p:spPr>
          <a:xfrm>
            <a:off x="777240" y="3218688"/>
            <a:ext cx="1417320" cy="347472"/>
          </a:xfrm>
          <a:prstGeom prst="roundRect">
            <a:avLst>
              <a:gd name="adj" fmla="val 50000"/>
            </a:avLst>
          </a:prstGeom>
          <a:solidFill>
            <a:srgbClr val="F6E1E1"/>
          </a:solidFill>
          <a:ln/>
        </p:spPr>
      </p:sp>
      <p:sp>
        <p:nvSpPr>
          <p:cNvPr id="11" name="Text 9"/>
          <p:cNvSpPr/>
          <p:nvPr/>
        </p:nvSpPr>
        <p:spPr>
          <a:xfrm>
            <a:off x="777240" y="3218688"/>
            <a:ext cx="1417320" cy="347472"/>
          </a:xfrm>
          <a:prstGeom prst="rect">
            <a:avLst/>
          </a:prstGeom>
          <a:noFill/>
          <a:ln/>
        </p:spPr>
        <p:txBody>
          <a:bodyPr wrap="square" rtlCol="0" anchor="ctr"/>
          <a:lstStyle/>
          <a:p>
            <a:pPr algn="ctr" indent="0" marL="0">
              <a:buNone/>
            </a:pPr>
            <a:r>
              <a:rPr lang="en-US" sz="1000" b="1" dirty="0">
                <a:solidFill>
                  <a:srgbClr val="8C1622"/>
                </a:solidFill>
                <a:latin typeface="Calibri" pitchFamily="34" charset="0"/>
                <a:ea typeface="Calibri" pitchFamily="34" charset="-122"/>
                <a:cs typeface="Calibri" pitchFamily="34" charset="-120"/>
              </a:rPr>
              <a:t>NEW THREAT</a:t>
            </a:r>
            <a:endParaRPr lang="en-US" sz="1000" dirty="0"/>
          </a:p>
        </p:txBody>
      </p:sp>
      <p:sp>
        <p:nvSpPr>
          <p:cNvPr id="12" name="Text 10"/>
          <p:cNvSpPr/>
          <p:nvPr/>
        </p:nvSpPr>
        <p:spPr>
          <a:xfrm>
            <a:off x="2377440" y="2916936"/>
            <a:ext cx="3383280" cy="950976"/>
          </a:xfrm>
          <a:prstGeom prst="rect">
            <a:avLst/>
          </a:prstGeom>
          <a:noFill/>
          <a:ln/>
        </p:spPr>
        <p:txBody>
          <a:bodyPr wrap="square"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MRTR State Hijacking</a:t>
            </a:r>
            <a:endParaRPr lang="en-US" sz="1400" dirty="0"/>
          </a:p>
        </p:txBody>
      </p:sp>
      <p:sp>
        <p:nvSpPr>
          <p:cNvPr id="13" name="Text 11"/>
          <p:cNvSpPr/>
          <p:nvPr/>
        </p:nvSpPr>
        <p:spPr>
          <a:xfrm>
            <a:off x="5897880" y="2916936"/>
            <a:ext cx="5532120" cy="950976"/>
          </a:xfrm>
          <a:prstGeom prst="rect">
            <a:avLst/>
          </a:prstGeom>
          <a:noFill/>
          <a:ln/>
        </p:spPr>
        <p:txBody>
          <a:bodyPr wrap="square" rtlCol="0" anchor="ctr"/>
          <a:lstStyle/>
          <a:p>
            <a:pPr indent="0" marL="0">
              <a:lnSpc>
                <a:spcPct val="115000"/>
              </a:lnSpc>
              <a:buNone/>
            </a:pPr>
            <a:r>
              <a:rPr lang="en-US" sz="1100" dirty="0">
                <a:solidFill>
                  <a:srgbClr val="44506B"/>
                </a:solidFill>
                <a:latin typeface="Calibri" pitchFamily="34" charset="0"/>
                <a:ea typeface="Calibri" pitchFamily="34" charset="-122"/>
                <a:cs typeface="Calibri" pitchFamily="34" charset="-120"/>
              </a:rPr>
              <a:t>input_required state tokens are passed back and forth across client calls — interception or replay can bypass intermediate validation.</a:t>
            </a:r>
            <a:endParaRPr lang="en-US" sz="1100" dirty="0"/>
          </a:p>
        </p:txBody>
      </p:sp>
      <p:sp>
        <p:nvSpPr>
          <p:cNvPr id="14" name="Shape 12"/>
          <p:cNvSpPr/>
          <p:nvPr/>
        </p:nvSpPr>
        <p:spPr>
          <a:xfrm>
            <a:off x="548640" y="4105656"/>
            <a:ext cx="11064240" cy="1170432"/>
          </a:xfrm>
          <a:prstGeom prst="roundRect">
            <a:avLst>
              <a:gd name="adj" fmla="val 5469"/>
            </a:avLst>
          </a:prstGeom>
          <a:solidFill>
            <a:srgbClr val="F4F6FB"/>
          </a:solidFill>
          <a:ln w="12700">
            <a:solidFill>
              <a:srgbClr val="CADCFC"/>
            </a:solidFill>
            <a:prstDash val="solid"/>
          </a:ln>
        </p:spPr>
      </p:sp>
      <p:sp>
        <p:nvSpPr>
          <p:cNvPr id="15" name="Shape 13"/>
          <p:cNvSpPr/>
          <p:nvPr/>
        </p:nvSpPr>
        <p:spPr>
          <a:xfrm>
            <a:off x="777240" y="4517136"/>
            <a:ext cx="1417320" cy="347472"/>
          </a:xfrm>
          <a:prstGeom prst="roundRect">
            <a:avLst>
              <a:gd name="adj" fmla="val 50000"/>
            </a:avLst>
          </a:prstGeom>
          <a:solidFill>
            <a:srgbClr val="F6E1E1"/>
          </a:solidFill>
          <a:ln/>
        </p:spPr>
      </p:sp>
      <p:sp>
        <p:nvSpPr>
          <p:cNvPr id="16" name="Text 14"/>
          <p:cNvSpPr/>
          <p:nvPr/>
        </p:nvSpPr>
        <p:spPr>
          <a:xfrm>
            <a:off x="777240" y="4517136"/>
            <a:ext cx="1417320" cy="347472"/>
          </a:xfrm>
          <a:prstGeom prst="rect">
            <a:avLst/>
          </a:prstGeom>
          <a:noFill/>
          <a:ln/>
        </p:spPr>
        <p:txBody>
          <a:bodyPr wrap="square" rtlCol="0" anchor="ctr"/>
          <a:lstStyle/>
          <a:p>
            <a:pPr algn="ctr" indent="0" marL="0">
              <a:buNone/>
            </a:pPr>
            <a:r>
              <a:rPr lang="en-US" sz="1000" b="1" dirty="0">
                <a:solidFill>
                  <a:srgbClr val="8C1622"/>
                </a:solidFill>
                <a:latin typeface="Calibri" pitchFamily="34" charset="0"/>
                <a:ea typeface="Calibri" pitchFamily="34" charset="-122"/>
                <a:cs typeface="Calibri" pitchFamily="34" charset="-120"/>
              </a:rPr>
              <a:t>NEW THREAT</a:t>
            </a:r>
            <a:endParaRPr lang="en-US" sz="1000" dirty="0"/>
          </a:p>
        </p:txBody>
      </p:sp>
      <p:sp>
        <p:nvSpPr>
          <p:cNvPr id="17" name="Text 15"/>
          <p:cNvSpPr/>
          <p:nvPr/>
        </p:nvSpPr>
        <p:spPr>
          <a:xfrm>
            <a:off x="2377440" y="4215384"/>
            <a:ext cx="3383280" cy="950976"/>
          </a:xfrm>
          <a:prstGeom prst="rect">
            <a:avLst/>
          </a:prstGeom>
          <a:noFill/>
          <a:ln/>
        </p:spPr>
        <p:txBody>
          <a:bodyPr wrap="square"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Runtime Exception DoS</a:t>
            </a:r>
            <a:endParaRPr lang="en-US" sz="1400" dirty="0"/>
          </a:p>
        </p:txBody>
      </p:sp>
      <p:sp>
        <p:nvSpPr>
          <p:cNvPr id="18" name="Text 16"/>
          <p:cNvSpPr/>
          <p:nvPr/>
        </p:nvSpPr>
        <p:spPr>
          <a:xfrm>
            <a:off x="5897880" y="4215384"/>
            <a:ext cx="5532120" cy="950976"/>
          </a:xfrm>
          <a:prstGeom prst="rect">
            <a:avLst/>
          </a:prstGeom>
          <a:noFill/>
          <a:ln/>
        </p:spPr>
        <p:txBody>
          <a:bodyPr wrap="square" rtlCol="0" anchor="ctr"/>
          <a:lstStyle/>
          <a:p>
            <a:pPr indent="0" marL="0">
              <a:lnSpc>
                <a:spcPct val="115000"/>
              </a:lnSpc>
              <a:buNone/>
            </a:pPr>
            <a:r>
              <a:rPr lang="en-US" sz="1100" dirty="0">
                <a:solidFill>
                  <a:srgbClr val="44506B"/>
                </a:solidFill>
                <a:latin typeface="Calibri" pitchFamily="34" charset="0"/>
                <a:ea typeface="Calibri" pitchFamily="34" charset="-122"/>
                <a:cs typeface="Calibri" pitchFamily="34" charset="-120"/>
              </a:rPr>
              <a:t>Unmigrated code calling legacy ctx.elicit() on a stateless connection throws NoBackChannelError, potentially crashing worker agents.</a:t>
            </a:r>
            <a:endParaRPr lang="en-US" sz="1100" dirty="0"/>
          </a:p>
        </p:txBody>
      </p:sp>
      <p:sp>
        <p:nvSpPr>
          <p:cNvPr id="20" name="Text 17"/>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8A93AC"/>
                </a:solidFill>
                <a:latin typeface="Calibri" pitchFamily="34" charset="0"/>
                <a:ea typeface="Calibri" pitchFamily="34" charset="-122"/>
                <a:cs typeface="Calibri" pitchFamily="34" charset="-120"/>
              </a:rPr>
              <a:t>MCP 2026-07-28  |  Enterprise Security Architecture Briefing</a:t>
            </a:r>
            <a:endParaRPr lang="en-US" sz="900" dirty="0"/>
          </a:p>
        </p:txBody>
      </p:sp>
      <p:sp>
        <p:nvSpPr>
          <p:cNvPr id="21" name="Text 18"/>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8A93AC"/>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229600" cy="274320"/>
          </a:xfrm>
          <a:prstGeom prst="rect">
            <a:avLst/>
          </a:prstGeom>
          <a:noFill/>
          <a:ln/>
        </p:spPr>
        <p:txBody>
          <a:bodyPr wrap="square" rtlCol="0" anchor="ctr"/>
          <a:lstStyle/>
          <a:p>
            <a:pPr indent="0" marL="0">
              <a:buNone/>
            </a:pPr>
            <a:r>
              <a:rPr lang="en-US" sz="1200" b="1" spc="200" kern="0" dirty="0">
                <a:solidFill>
                  <a:srgbClr val="44506B"/>
                </a:solidFill>
                <a:latin typeface="Calibri" pitchFamily="34" charset="0"/>
                <a:ea typeface="Calibri" pitchFamily="34" charset="-122"/>
                <a:cs typeface="Calibri" pitchFamily="34" charset="-120"/>
              </a:rPr>
              <a:t>THE TRAP ARCHITECTS WILL GET WRONG</a:t>
            </a:r>
            <a:endParaRPr lang="en-US" sz="1200" dirty="0"/>
          </a:p>
        </p:txBody>
      </p:sp>
      <p:sp>
        <p:nvSpPr>
          <p:cNvPr id="3" name="Text 1"/>
          <p:cNvSpPr/>
          <p:nvPr/>
        </p:nvSpPr>
        <p:spPr>
          <a:xfrm>
            <a:off x="548640" y="566928"/>
            <a:ext cx="1106424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Stateless transport ≠ stateless application</a:t>
            </a:r>
            <a:endParaRPr lang="en-US" sz="3000" dirty="0"/>
          </a:p>
        </p:txBody>
      </p:sp>
      <p:sp>
        <p:nvSpPr>
          <p:cNvPr id="4" name="Shape 2"/>
          <p:cNvSpPr/>
          <p:nvPr/>
        </p:nvSpPr>
        <p:spPr>
          <a:xfrm>
            <a:off x="548640" y="1600200"/>
            <a:ext cx="5349240" cy="3337560"/>
          </a:xfrm>
          <a:prstGeom prst="roundRect">
            <a:avLst>
              <a:gd name="adj" fmla="val 2192"/>
            </a:avLst>
          </a:prstGeom>
          <a:solidFill>
            <a:srgbClr val="F4F6FB"/>
          </a:solidFill>
          <a:ln w="12700">
            <a:solidFill>
              <a:srgbClr val="CADCFC"/>
            </a:solidFill>
            <a:prstDash val="solid"/>
          </a:ln>
        </p:spPr>
      </p:sp>
      <p:sp>
        <p:nvSpPr>
          <p:cNvPr id="5" name="Text 3"/>
          <p:cNvSpPr/>
          <p:nvPr/>
        </p:nvSpPr>
        <p:spPr>
          <a:xfrm>
            <a:off x="868680" y="1828800"/>
            <a:ext cx="4572000" cy="320040"/>
          </a:xfrm>
          <a:prstGeom prst="rect">
            <a:avLst/>
          </a:prstGeom>
          <a:noFill/>
          <a:ln/>
        </p:spPr>
        <p:txBody>
          <a:bodyPr wrap="square" rtlCol="0" anchor="ctr"/>
          <a:lstStyle/>
          <a:p>
            <a:pPr indent="0" marL="0">
              <a:buNone/>
            </a:pPr>
            <a:r>
              <a:rPr lang="en-US" sz="1200" b="1" spc="150" kern="0" dirty="0">
                <a:solidFill>
                  <a:srgbClr val="2C5F2D"/>
                </a:solidFill>
                <a:latin typeface="Calibri" pitchFamily="34" charset="0"/>
                <a:ea typeface="Calibri" pitchFamily="34" charset="-122"/>
                <a:cs typeface="Calibri" pitchFamily="34" charset="-120"/>
              </a:rPr>
              <a:t>TRANSPORT LAYER</a:t>
            </a:r>
            <a:endParaRPr lang="en-US" sz="1200" dirty="0"/>
          </a:p>
        </p:txBody>
      </p:sp>
      <p:sp>
        <p:nvSpPr>
          <p:cNvPr id="6" name="Text 4"/>
          <p:cNvSpPr/>
          <p:nvPr/>
        </p:nvSpPr>
        <p:spPr>
          <a:xfrm>
            <a:off x="868680" y="2167128"/>
            <a:ext cx="4709160" cy="411480"/>
          </a:xfrm>
          <a:prstGeom prst="rect">
            <a:avLst/>
          </a:prstGeom>
          <a:noFill/>
          <a:ln/>
        </p:spPr>
        <p:txBody>
          <a:bodyPr wrap="square"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Now genuinely stateless</a:t>
            </a:r>
            <a:endParaRPr lang="en-US" sz="1700" dirty="0"/>
          </a:p>
        </p:txBody>
      </p:sp>
      <p:sp>
        <p:nvSpPr>
          <p:cNvPr id="7" name="Text 5"/>
          <p:cNvSpPr/>
          <p:nvPr/>
        </p:nvSpPr>
        <p:spPr>
          <a:xfrm>
            <a:off x="868680" y="2697480"/>
            <a:ext cx="4709160" cy="2011680"/>
          </a:xfrm>
          <a:prstGeom prst="rect">
            <a:avLst/>
          </a:prstGeom>
          <a:noFill/>
          <a:ln/>
        </p:spPr>
        <p:txBody>
          <a:bodyPr wrap="square" rtlCol="0" anchor="ctr"/>
          <a:lstStyle/>
          <a:p>
            <a:pPr indent="0" marL="0">
              <a:lnSpc>
                <a:spcPct val="130000"/>
              </a:lnSpc>
              <a:buNone/>
            </a:pPr>
            <a:r>
              <a:rPr lang="en-US" sz="1250" dirty="0">
                <a:solidFill>
                  <a:srgbClr val="44506B"/>
                </a:solidFill>
                <a:latin typeface="Calibri" pitchFamily="34" charset="0"/>
                <a:ea typeface="Calibri" pitchFamily="34" charset="-122"/>
                <a:cs typeface="Calibri" pitchFamily="34" charset="-120"/>
              </a:rPr>
              <a:t>No session store, no sticky routing, no held-open stream. Any request can land on any instance. This is where the 2026-07-28 spec delivers real, structural security wins.</a:t>
            </a:r>
            <a:endParaRPr lang="en-US" sz="1250" dirty="0"/>
          </a:p>
        </p:txBody>
      </p:sp>
      <p:sp>
        <p:nvSpPr>
          <p:cNvPr id="8" name="Shape 6"/>
          <p:cNvSpPr/>
          <p:nvPr/>
        </p:nvSpPr>
        <p:spPr>
          <a:xfrm>
            <a:off x="6172200" y="1600200"/>
            <a:ext cx="5349240" cy="3337560"/>
          </a:xfrm>
          <a:prstGeom prst="roundRect">
            <a:avLst>
              <a:gd name="adj" fmla="val 2192"/>
            </a:avLst>
          </a:prstGeom>
          <a:solidFill>
            <a:srgbClr val="1E2761"/>
          </a:solidFill>
          <a:ln/>
        </p:spPr>
      </p:sp>
      <p:sp>
        <p:nvSpPr>
          <p:cNvPr id="9" name="Text 7"/>
          <p:cNvSpPr/>
          <p:nvPr/>
        </p:nvSpPr>
        <p:spPr>
          <a:xfrm>
            <a:off x="6492240" y="1828800"/>
            <a:ext cx="4572000" cy="320040"/>
          </a:xfrm>
          <a:prstGeom prst="rect">
            <a:avLst/>
          </a:prstGeom>
          <a:noFill/>
          <a:ln/>
        </p:spPr>
        <p:txBody>
          <a:bodyPr wrap="square" rtlCol="0" anchor="ctr"/>
          <a:lstStyle/>
          <a:p>
            <a:pPr indent="0" marL="0">
              <a:buNone/>
            </a:pPr>
            <a:r>
              <a:rPr lang="en-US" sz="1200" b="1" spc="150" kern="0" dirty="0">
                <a:solidFill>
                  <a:srgbClr val="F2B84B"/>
                </a:solidFill>
                <a:latin typeface="Calibri" pitchFamily="34" charset="0"/>
                <a:ea typeface="Calibri" pitchFamily="34" charset="-122"/>
                <a:cs typeface="Calibri" pitchFamily="34" charset="-120"/>
              </a:rPr>
              <a:t>APPLICATION LAYER</a:t>
            </a:r>
            <a:endParaRPr lang="en-US" sz="1200" dirty="0"/>
          </a:p>
        </p:txBody>
      </p:sp>
      <p:sp>
        <p:nvSpPr>
          <p:cNvPr id="10" name="Text 8"/>
          <p:cNvSpPr/>
          <p:nvPr/>
        </p:nvSpPr>
        <p:spPr>
          <a:xfrm>
            <a:off x="6492240" y="2167128"/>
            <a:ext cx="4709160" cy="41148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Still fully your responsibility</a:t>
            </a:r>
            <a:endParaRPr lang="en-US" sz="1700" dirty="0"/>
          </a:p>
        </p:txBody>
      </p:sp>
      <p:sp>
        <p:nvSpPr>
          <p:cNvPr id="11" name="Text 9"/>
          <p:cNvSpPr/>
          <p:nvPr/>
        </p:nvSpPr>
        <p:spPr>
          <a:xfrm>
            <a:off x="6492240" y="2697480"/>
            <a:ext cx="4709160" cy="2011680"/>
          </a:xfrm>
          <a:prstGeom prst="rect">
            <a:avLst/>
          </a:prstGeom>
          <a:noFill/>
          <a:ln/>
        </p:spPr>
        <p:txBody>
          <a:bodyPr wrap="square" rtlCol="0" anchor="ctr"/>
          <a:lstStyle/>
          <a:p>
            <a:pPr indent="0" marL="0">
              <a:lnSpc>
                <a:spcPct val="130000"/>
              </a:lnSpc>
              <a:buNone/>
            </a:pPr>
            <a:r>
              <a:rPr lang="en-US" sz="1250" dirty="0">
                <a:solidFill>
                  <a:srgbClr val="CADCFC"/>
                </a:solidFill>
                <a:latin typeface="Calibri" pitchFamily="34" charset="0"/>
                <a:ea typeface="Calibri" pitchFamily="34" charset="-122"/>
                <a:cs typeface="Calibri" pitchFamily="34" charset="-120"/>
              </a:rPr>
              <a:t>If your server needs state across calls, it must mint an explicit handle (e.g. job_id) and hand it to the model as an ordinary tool argument. Unsigned or predictable handles are a direct path to IDOR and cross-tenant data access.</a:t>
            </a:r>
            <a:endParaRPr lang="en-US" sz="1250" dirty="0"/>
          </a:p>
        </p:txBody>
      </p:sp>
      <p:sp>
        <p:nvSpPr>
          <p:cNvPr id="12" name="Shape 10"/>
          <p:cNvSpPr/>
          <p:nvPr/>
        </p:nvSpPr>
        <p:spPr>
          <a:xfrm>
            <a:off x="548640" y="5166360"/>
            <a:ext cx="11064240" cy="868680"/>
          </a:xfrm>
          <a:prstGeom prst="roundRect">
            <a:avLst>
              <a:gd name="adj" fmla="val 8421"/>
            </a:avLst>
          </a:prstGeom>
          <a:solidFill>
            <a:srgbClr val="FBEBD6"/>
          </a:solidFill>
          <a:ln w="12700">
            <a:solidFill>
              <a:srgbClr val="E9C79A"/>
            </a:solidFill>
            <a:prstDash val="solid"/>
          </a:ln>
        </p:spPr>
      </p:sp>
      <p:sp>
        <p:nvSpPr>
          <p:cNvPr id="13" name="Text 11"/>
          <p:cNvSpPr/>
          <p:nvPr/>
        </p:nvSpPr>
        <p:spPr>
          <a:xfrm>
            <a:off x="868680" y="5166360"/>
            <a:ext cx="10424160" cy="868680"/>
          </a:xfrm>
          <a:prstGeom prst="rect">
            <a:avLst/>
          </a:prstGeom>
          <a:noFill/>
          <a:ln/>
        </p:spPr>
        <p:txBody>
          <a:bodyPr wrap="square" rtlCol="0" anchor="ctr"/>
          <a:lstStyle/>
          <a:p>
            <a:pPr indent="0" marL="0">
              <a:buNone/>
            </a:pPr>
            <a:r>
              <a:rPr lang="en-US" sz="1300" b="1" dirty="0">
                <a:solidFill>
                  <a:srgbClr val="9A5B12"/>
                </a:solidFill>
                <a:latin typeface="Calibri" pitchFamily="34" charset="0"/>
                <a:ea typeface="Calibri" pitchFamily="34" charset="-122"/>
                <a:cs typeface="Calibri" pitchFamily="34" charset="-120"/>
              </a:rPr>
              <a:t>Rule of thumb: if a handle is visible to the model, treat it like a bearer credential — sign it, scope it to a tenant, and validate on every call.</a:t>
            </a:r>
            <a:endParaRPr lang="en-US" sz="1300" dirty="0"/>
          </a:p>
        </p:txBody>
      </p:sp>
      <p:sp>
        <p:nvSpPr>
          <p:cNvPr id="15" name="Text 12"/>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8A93AC"/>
                </a:solidFill>
                <a:latin typeface="Calibri" pitchFamily="34" charset="0"/>
                <a:ea typeface="Calibri" pitchFamily="34" charset="-122"/>
                <a:cs typeface="Calibri" pitchFamily="34" charset="-120"/>
              </a:rPr>
              <a:t>MCP 2026-07-28  |  Enterprise Security Architecture Briefing</a:t>
            </a:r>
            <a:endParaRPr lang="en-US" sz="900" dirty="0"/>
          </a:p>
        </p:txBody>
      </p:sp>
      <p:sp>
        <p:nvSpPr>
          <p:cNvPr id="16" name="Text 13"/>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8A93AC"/>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229600" cy="274320"/>
          </a:xfrm>
          <a:prstGeom prst="rect">
            <a:avLst/>
          </a:prstGeom>
          <a:noFill/>
          <a:ln/>
        </p:spPr>
        <p:txBody>
          <a:bodyPr wrap="square" rtlCol="0" anchor="ctr"/>
          <a:lstStyle/>
          <a:p>
            <a:pPr indent="0" marL="0">
              <a:buNone/>
            </a:pPr>
            <a:r>
              <a:rPr lang="en-US" sz="1200" b="1" spc="200" kern="0" dirty="0">
                <a:solidFill>
                  <a:srgbClr val="44506B"/>
                </a:solidFill>
                <a:latin typeface="Calibri" pitchFamily="34" charset="0"/>
                <a:ea typeface="Calibri" pitchFamily="34" charset="-122"/>
                <a:cs typeface="Calibri" pitchFamily="34" charset="-120"/>
              </a:rPr>
              <a:t>DESIGN PATTERN A</a:t>
            </a:r>
            <a:endParaRPr lang="en-US" sz="1200" dirty="0"/>
          </a:p>
        </p:txBody>
      </p:sp>
      <p:sp>
        <p:nvSpPr>
          <p:cNvPr id="3" name="Text 1"/>
          <p:cNvSpPr/>
          <p:nvPr/>
        </p:nvSpPr>
        <p:spPr>
          <a:xfrm>
            <a:off x="548640" y="566928"/>
            <a:ext cx="1106424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Cryptographically signed state handles</a:t>
            </a:r>
            <a:endParaRPr lang="en-US" sz="3000" dirty="0"/>
          </a:p>
        </p:txBody>
      </p:sp>
      <p:sp>
        <p:nvSpPr>
          <p:cNvPr id="4" name="Text 2"/>
          <p:cNvSpPr/>
          <p:nvPr/>
        </p:nvSpPr>
        <p:spPr>
          <a:xfrm>
            <a:off x="548640" y="1417320"/>
            <a:ext cx="11064240" cy="457200"/>
          </a:xfrm>
          <a:prstGeom prst="rect">
            <a:avLst/>
          </a:prstGeom>
          <a:noFill/>
          <a:ln/>
        </p:spPr>
        <p:txBody>
          <a:bodyPr wrap="square" rtlCol="0" anchor="ctr"/>
          <a:lstStyle/>
          <a:p>
            <a:pPr indent="0" marL="0">
              <a:buNone/>
            </a:pPr>
            <a:r>
              <a:rPr lang="en-US" sz="1300" dirty="0">
                <a:solidFill>
                  <a:srgbClr val="44506B"/>
                </a:solidFill>
                <a:latin typeface="Calibri" pitchFamily="34" charset="0"/>
                <a:ea typeface="Calibri" pitchFamily="34" charset="-122"/>
                <a:cs typeface="Calibri" pitchFamily="34" charset="-120"/>
              </a:rPr>
              <a:t>Handles returned to the model must be HMAC-signed and validated against the caller's tenant on every subsequent call — never trust a bare job_id.</a:t>
            </a:r>
            <a:endParaRPr lang="en-US" sz="1300" dirty="0"/>
          </a:p>
        </p:txBody>
      </p:sp>
      <p:sp>
        <p:nvSpPr>
          <p:cNvPr id="5" name="Shape 3"/>
          <p:cNvSpPr/>
          <p:nvPr/>
        </p:nvSpPr>
        <p:spPr>
          <a:xfrm>
            <a:off x="548640" y="2011680"/>
            <a:ext cx="7315200" cy="4069080"/>
          </a:xfrm>
          <a:prstGeom prst="roundRect">
            <a:avLst>
              <a:gd name="adj" fmla="val 1348"/>
            </a:avLst>
          </a:prstGeom>
          <a:solidFill>
            <a:srgbClr val="1B2440"/>
          </a:solidFill>
          <a:ln/>
        </p:spPr>
      </p:sp>
      <p:sp>
        <p:nvSpPr>
          <p:cNvPr id="6" name="Text 4"/>
          <p:cNvSpPr/>
          <p:nvPr/>
        </p:nvSpPr>
        <p:spPr>
          <a:xfrm>
            <a:off x="777240" y="2194560"/>
            <a:ext cx="6858000" cy="3749040"/>
          </a:xfrm>
          <a:prstGeom prst="rect">
            <a:avLst/>
          </a:prstGeom>
          <a:noFill/>
          <a:ln/>
        </p:spPr>
        <p:txBody>
          <a:bodyPr wrap="square" rtlCol="0" anchor="ctr"/>
          <a:lstStyle/>
          <a:p>
            <a:pPr indent="0" marL="0">
              <a:lnSpc>
                <a:spcPct val="118000"/>
              </a:lnSpc>
              <a:buNone/>
            </a:pPr>
            <a:r>
              <a:rPr lang="en-US" sz="1050" dirty="0">
                <a:solidFill>
                  <a:srgbClr val="D7E0F5"/>
                </a:solidFill>
                <a:latin typeface="Courier New" pitchFamily="34" charset="0"/>
                <a:ea typeface="Courier New" pitchFamily="34" charset="-122"/>
                <a:cs typeface="Courier New" pitchFamily="34" charset="-120"/>
              </a:rPr>
              <a:t>def generate_secure_handle(tenant_id: str, job_id: str) -&gt; str:</a:t>
            </a:r>
            <a:endParaRPr lang="en-US" sz="1050" dirty="0"/>
          </a:p>
          <a:p>
            <a:pPr indent="0" marL="0">
              <a:lnSpc>
                <a:spcPct val="118000"/>
              </a:lnSpc>
              <a:buNone/>
            </a:pPr>
            <a:r>
              <a:rPr lang="en-US" sz="1050" dirty="0">
                <a:solidFill>
                  <a:srgbClr val="D7E0F5"/>
                </a:solidFill>
                <a:latin typeface="Courier New" pitchFamily="34" charset="0"/>
                <a:ea typeface="Courier New" pitchFamily="34" charset="-122"/>
                <a:cs typeface="Courier New" pitchFamily="34" charset="-120"/>
              </a:rPr>
              <a:t>    sig = hmac.new(SECRET_KEY, f"{tenant_id}:{job_id}".encode(),</a:t>
            </a:r>
            <a:endParaRPr lang="en-US" sz="1050" dirty="0"/>
          </a:p>
          <a:p>
            <a:pPr indent="0" marL="0">
              <a:lnSpc>
                <a:spcPct val="118000"/>
              </a:lnSpc>
              <a:buNone/>
            </a:pPr>
            <a:r>
              <a:rPr lang="en-US" sz="1050" dirty="0">
                <a:solidFill>
                  <a:srgbClr val="D7E0F5"/>
                </a:solidFill>
                <a:latin typeface="Courier New" pitchFamily="34" charset="0"/>
                <a:ea typeface="Courier New" pitchFamily="34" charset="-122"/>
                <a:cs typeface="Courier New" pitchFamily="34" charset="-120"/>
              </a:rPr>
              <a:t>                   hashlib.sha256).hexdigest()[:12]</a:t>
            </a:r>
            <a:endParaRPr lang="en-US" sz="1050" dirty="0"/>
          </a:p>
          <a:p>
            <a:pPr indent="0" marL="0">
              <a:lnSpc>
                <a:spcPct val="118000"/>
              </a:lnSpc>
              <a:buNone/>
            </a:pPr>
            <a:r>
              <a:rPr lang="en-US" sz="1050" dirty="0">
                <a:solidFill>
                  <a:srgbClr val="D7E0F5"/>
                </a:solidFill>
                <a:latin typeface="Courier New" pitchFamily="34" charset="0"/>
                <a:ea typeface="Courier New" pitchFamily="34" charset="-122"/>
                <a:cs typeface="Courier New" pitchFamily="34" charset="-120"/>
              </a:rPr>
              <a:t>    return f"{job_id}.{sig}"</a:t>
            </a:r>
            <a:endParaRPr lang="en-US" sz="1050" dirty="0"/>
          </a:p>
          <a:p>
            <a:pPr indent="0" marL="0">
              <a:lnSpc>
                <a:spcPct val="118000"/>
              </a:lnSpc>
              <a:buNone/>
            </a:pPr>
            <a:endParaRPr lang="en-US" sz="1050" dirty="0"/>
          </a:p>
          <a:p>
            <a:pPr indent="0" marL="0">
              <a:lnSpc>
                <a:spcPct val="118000"/>
              </a:lnSpc>
              <a:buNone/>
            </a:pPr>
            <a:r>
              <a:rPr lang="en-US" sz="1050" dirty="0">
                <a:solidFill>
                  <a:srgbClr val="D7E0F5"/>
                </a:solidFill>
                <a:latin typeface="Courier New" pitchFamily="34" charset="0"/>
                <a:ea typeface="Courier New" pitchFamily="34" charset="-122"/>
                <a:cs typeface="Courier New" pitchFamily="34" charset="-120"/>
              </a:rPr>
              <a:t>@mcp.tool()</a:t>
            </a:r>
            <a:endParaRPr lang="en-US" sz="1050" dirty="0"/>
          </a:p>
          <a:p>
            <a:pPr indent="0" marL="0">
              <a:lnSpc>
                <a:spcPct val="118000"/>
              </a:lnSpc>
              <a:buNone/>
            </a:pPr>
            <a:r>
              <a:rPr lang="en-US" sz="1050" dirty="0">
                <a:solidFill>
                  <a:srgbClr val="D7E0F5"/>
                </a:solidFill>
                <a:latin typeface="Courier New" pitchFamily="34" charset="0"/>
                <a:ea typeface="Courier New" pitchFamily="34" charset="-122"/>
                <a:cs typeface="Courier New" pitchFamily="34" charset="-120"/>
              </a:rPr>
              <a:t>def start_export(dataset: str) -&gt; str:</a:t>
            </a:r>
            <a:endParaRPr lang="en-US" sz="1050" dirty="0"/>
          </a:p>
          <a:p>
            <a:pPr indent="0" marL="0">
              <a:lnSpc>
                <a:spcPct val="118000"/>
              </a:lnSpc>
              <a:buNone/>
            </a:pPr>
            <a:r>
              <a:rPr lang="en-US" sz="1050" dirty="0">
                <a:solidFill>
                  <a:srgbClr val="D7E0F5"/>
                </a:solidFill>
                <a:latin typeface="Courier New" pitchFamily="34" charset="0"/>
                <a:ea typeface="Courier New" pitchFamily="34" charset="-122"/>
                <a:cs typeface="Courier New" pitchFamily="34" charset="-120"/>
              </a:rPr>
              <a:t>    job_id = f"job_{uuid.uuid4().hex[:8]}"</a:t>
            </a:r>
            <a:endParaRPr lang="en-US" sz="1050" dirty="0"/>
          </a:p>
          <a:p>
            <a:pPr indent="0" marL="0">
              <a:lnSpc>
                <a:spcPct val="118000"/>
              </a:lnSpc>
              <a:buNone/>
            </a:pPr>
            <a:r>
              <a:rPr lang="en-US" sz="1050" dirty="0">
                <a:solidFill>
                  <a:srgbClr val="D7E0F5"/>
                </a:solidFill>
                <a:latin typeface="Courier New" pitchFamily="34" charset="0"/>
                <a:ea typeface="Courier New" pitchFamily="34" charset="-122"/>
                <a:cs typeface="Courier New" pitchFamily="34" charset="-120"/>
              </a:rPr>
              <a:t>    return generate_secure_handle("tenant_acme", job_id)   # signed handle</a:t>
            </a:r>
            <a:endParaRPr lang="en-US" sz="1050" dirty="0"/>
          </a:p>
          <a:p>
            <a:pPr indent="0" marL="0">
              <a:lnSpc>
                <a:spcPct val="118000"/>
              </a:lnSpc>
              <a:buNone/>
            </a:pPr>
            <a:endParaRPr lang="en-US" sz="1050" dirty="0"/>
          </a:p>
          <a:p>
            <a:pPr indent="0" marL="0">
              <a:lnSpc>
                <a:spcPct val="118000"/>
              </a:lnSpc>
              <a:buNone/>
            </a:pPr>
            <a:r>
              <a:rPr lang="en-US" sz="1050" dirty="0">
                <a:solidFill>
                  <a:srgbClr val="D7E0F5"/>
                </a:solidFill>
                <a:latin typeface="Courier New" pitchFamily="34" charset="0"/>
                <a:ea typeface="Courier New" pitchFamily="34" charset="-122"/>
                <a:cs typeface="Courier New" pitchFamily="34" charset="-120"/>
              </a:rPr>
              <a:t>@mcp.tool()</a:t>
            </a:r>
            <a:endParaRPr lang="en-US" sz="1050" dirty="0"/>
          </a:p>
          <a:p>
            <a:pPr indent="0" marL="0">
              <a:lnSpc>
                <a:spcPct val="118000"/>
              </a:lnSpc>
              <a:buNone/>
            </a:pPr>
            <a:r>
              <a:rPr lang="en-US" sz="1050" dirty="0">
                <a:solidFill>
                  <a:srgbClr val="D7E0F5"/>
                </a:solidFill>
                <a:latin typeface="Courier New" pitchFamily="34" charset="0"/>
                <a:ea typeface="Courier New" pitchFamily="34" charset="-122"/>
                <a:cs typeface="Courier New" pitchFamily="34" charset="-120"/>
              </a:rPr>
              <a:t>def check_export(job_handle: str) -&gt; dict:</a:t>
            </a:r>
            <a:endParaRPr lang="en-US" sz="1050" dirty="0"/>
          </a:p>
          <a:p>
            <a:pPr indent="0" marL="0">
              <a:lnSpc>
                <a:spcPct val="118000"/>
              </a:lnSpc>
              <a:buNone/>
            </a:pPr>
            <a:r>
              <a:rPr lang="en-US" sz="1050" dirty="0">
                <a:solidFill>
                  <a:srgbClr val="D7E0F5"/>
                </a:solidFill>
                <a:latin typeface="Courier New" pitchFamily="34" charset="0"/>
                <a:ea typeface="Courier New" pitchFamily="34" charset="-122"/>
                <a:cs typeface="Courier New" pitchFamily="34" charset="-120"/>
              </a:rPr>
              <a:t>    job_id, sig = job_handle.split(".")</a:t>
            </a:r>
            <a:endParaRPr lang="en-US" sz="1050" dirty="0"/>
          </a:p>
          <a:p>
            <a:pPr indent="0" marL="0">
              <a:lnSpc>
                <a:spcPct val="118000"/>
              </a:lnSpc>
              <a:buNone/>
            </a:pPr>
            <a:r>
              <a:rPr lang="en-US" sz="1050" dirty="0">
                <a:solidFill>
                  <a:srgbClr val="D7E0F5"/>
                </a:solidFill>
                <a:latin typeface="Courier New" pitchFamily="34" charset="0"/>
                <a:ea typeface="Courier New" pitchFamily="34" charset="-122"/>
                <a:cs typeface="Courier New" pitchFamily="34" charset="-120"/>
              </a:rPr>
              <a:t>    expected = hmac.new(SECRET_KEY, f"tenant_acme:{job_id}".encode(),</a:t>
            </a:r>
            <a:endParaRPr lang="en-US" sz="1050" dirty="0"/>
          </a:p>
          <a:p>
            <a:pPr indent="0" marL="0">
              <a:lnSpc>
                <a:spcPct val="118000"/>
              </a:lnSpc>
              <a:buNone/>
            </a:pPr>
            <a:r>
              <a:rPr lang="en-US" sz="1050" dirty="0">
                <a:solidFill>
                  <a:srgbClr val="D7E0F5"/>
                </a:solidFill>
                <a:latin typeface="Courier New" pitchFamily="34" charset="0"/>
                <a:ea typeface="Courier New" pitchFamily="34" charset="-122"/>
                <a:cs typeface="Courier New" pitchFamily="34" charset="-120"/>
              </a:rPr>
              <a:t>                        hashlib.sha256).hexdigest()[:12]</a:t>
            </a:r>
            <a:endParaRPr lang="en-US" sz="1050" dirty="0"/>
          </a:p>
          <a:p>
            <a:pPr indent="0" marL="0">
              <a:lnSpc>
                <a:spcPct val="118000"/>
              </a:lnSpc>
              <a:buNone/>
            </a:pPr>
            <a:r>
              <a:rPr lang="en-US" sz="1050" dirty="0">
                <a:solidFill>
                  <a:srgbClr val="D7E0F5"/>
                </a:solidFill>
                <a:latin typeface="Courier New" pitchFamily="34" charset="0"/>
                <a:ea typeface="Courier New" pitchFamily="34" charset="-122"/>
                <a:cs typeface="Courier New" pitchFamily="34" charset="-120"/>
              </a:rPr>
              <a:t>    if not hmac.compare_digest(sig, expected):</a:t>
            </a:r>
            <a:endParaRPr lang="en-US" sz="1050" dirty="0"/>
          </a:p>
          <a:p>
            <a:pPr indent="0" marL="0">
              <a:lnSpc>
                <a:spcPct val="118000"/>
              </a:lnSpc>
              <a:buNone/>
            </a:pPr>
            <a:r>
              <a:rPr lang="en-US" sz="1050" dirty="0">
                <a:solidFill>
                  <a:srgbClr val="D7E0F5"/>
                </a:solidFill>
                <a:latin typeface="Courier New" pitchFamily="34" charset="0"/>
                <a:ea typeface="Courier New" pitchFamily="34" charset="-122"/>
                <a:cs typeface="Courier New" pitchFamily="34" charset="-120"/>
              </a:rPr>
              <a:t>        raise ValueError("Unauthorized handle tampering detected")</a:t>
            </a:r>
            <a:endParaRPr lang="en-US" sz="1050" dirty="0"/>
          </a:p>
          <a:p>
            <a:pPr indent="0" marL="0">
              <a:lnSpc>
                <a:spcPct val="118000"/>
              </a:lnSpc>
              <a:buNone/>
            </a:pPr>
            <a:r>
              <a:rPr lang="en-US" sz="1050" dirty="0">
                <a:solidFill>
                  <a:srgbClr val="D7E0F5"/>
                </a:solidFill>
                <a:latin typeface="Courier New" pitchFamily="34" charset="0"/>
                <a:ea typeface="Courier New" pitchFamily="34" charset="-122"/>
                <a:cs typeface="Courier New" pitchFamily="34" charset="-120"/>
              </a:rPr>
              <a:t>    return {"status": "completed", "job_id": job_id}</a:t>
            </a:r>
            <a:endParaRPr lang="en-US" sz="1050" dirty="0"/>
          </a:p>
        </p:txBody>
      </p:sp>
      <p:sp>
        <p:nvSpPr>
          <p:cNvPr id="7" name="Shape 5"/>
          <p:cNvSpPr/>
          <p:nvPr/>
        </p:nvSpPr>
        <p:spPr>
          <a:xfrm>
            <a:off x="8138160" y="2011680"/>
            <a:ext cx="3474720" cy="1234440"/>
          </a:xfrm>
          <a:prstGeom prst="roundRect">
            <a:avLst>
              <a:gd name="adj" fmla="val 5185"/>
            </a:avLst>
          </a:prstGeom>
          <a:solidFill>
            <a:srgbClr val="F4F6FB"/>
          </a:solidFill>
          <a:ln w="12700">
            <a:solidFill>
              <a:srgbClr val="CADCFC"/>
            </a:solidFill>
            <a:prstDash val="solid"/>
          </a:ln>
        </p:spPr>
      </p:sp>
      <p:sp>
        <p:nvSpPr>
          <p:cNvPr id="8" name="Text 6"/>
          <p:cNvSpPr/>
          <p:nvPr/>
        </p:nvSpPr>
        <p:spPr>
          <a:xfrm>
            <a:off x="8366760" y="2139696"/>
            <a:ext cx="3017520" cy="274320"/>
          </a:xfrm>
          <a:prstGeom prst="rect">
            <a:avLst/>
          </a:prstGeom>
          <a:noFill/>
          <a:ln/>
        </p:spPr>
        <p:txBody>
          <a:bodyPr wrap="square" rtlCol="0" anchor="ctr"/>
          <a:lstStyle/>
          <a:p>
            <a:pPr indent="0" marL="0">
              <a:buNone/>
            </a:pPr>
            <a:r>
              <a:rPr lang="en-US" sz="1100" b="1" spc="150" kern="0" dirty="0">
                <a:solidFill>
                  <a:srgbClr val="1E2761"/>
                </a:solidFill>
                <a:latin typeface="Calibri" pitchFamily="34" charset="0"/>
                <a:ea typeface="Calibri" pitchFamily="34" charset="-122"/>
                <a:cs typeface="Calibri" pitchFamily="34" charset="-120"/>
              </a:rPr>
              <a:t>SIGN</a:t>
            </a:r>
            <a:endParaRPr lang="en-US" sz="1100" dirty="0"/>
          </a:p>
        </p:txBody>
      </p:sp>
      <p:sp>
        <p:nvSpPr>
          <p:cNvPr id="9" name="Text 7"/>
          <p:cNvSpPr/>
          <p:nvPr/>
        </p:nvSpPr>
        <p:spPr>
          <a:xfrm>
            <a:off x="8366760" y="2423160"/>
            <a:ext cx="3017520" cy="749808"/>
          </a:xfrm>
          <a:prstGeom prst="rect">
            <a:avLst/>
          </a:prstGeom>
          <a:noFill/>
          <a:ln/>
        </p:spPr>
        <p:txBody>
          <a:bodyPr wrap="square" rtlCol="0" anchor="ctr"/>
          <a:lstStyle/>
          <a:p>
            <a:pPr indent="0" marL="0">
              <a:lnSpc>
                <a:spcPct val="115000"/>
              </a:lnSpc>
              <a:buNone/>
            </a:pPr>
            <a:r>
              <a:rPr lang="en-US" sz="1050" dirty="0">
                <a:solidFill>
                  <a:srgbClr val="44506B"/>
                </a:solidFill>
                <a:latin typeface="Calibri" pitchFamily="34" charset="0"/>
                <a:ea typeface="Calibri" pitchFamily="34" charset="-122"/>
                <a:cs typeface="Calibri" pitchFamily="34" charset="-120"/>
              </a:rPr>
              <a:t>HMAC over tenant_id + job_id stops guessable or forged handles.</a:t>
            </a:r>
            <a:endParaRPr lang="en-US" sz="1050" dirty="0"/>
          </a:p>
        </p:txBody>
      </p:sp>
      <p:sp>
        <p:nvSpPr>
          <p:cNvPr id="10" name="Shape 8"/>
          <p:cNvSpPr/>
          <p:nvPr/>
        </p:nvSpPr>
        <p:spPr>
          <a:xfrm>
            <a:off x="8138160" y="3383280"/>
            <a:ext cx="3474720" cy="1234440"/>
          </a:xfrm>
          <a:prstGeom prst="roundRect">
            <a:avLst>
              <a:gd name="adj" fmla="val 5185"/>
            </a:avLst>
          </a:prstGeom>
          <a:solidFill>
            <a:srgbClr val="F4F6FB"/>
          </a:solidFill>
          <a:ln w="12700">
            <a:solidFill>
              <a:srgbClr val="CADCFC"/>
            </a:solidFill>
            <a:prstDash val="solid"/>
          </a:ln>
        </p:spPr>
      </p:sp>
      <p:sp>
        <p:nvSpPr>
          <p:cNvPr id="11" name="Text 9"/>
          <p:cNvSpPr/>
          <p:nvPr/>
        </p:nvSpPr>
        <p:spPr>
          <a:xfrm>
            <a:off x="8366760" y="3511296"/>
            <a:ext cx="3017520" cy="274320"/>
          </a:xfrm>
          <a:prstGeom prst="rect">
            <a:avLst/>
          </a:prstGeom>
          <a:noFill/>
          <a:ln/>
        </p:spPr>
        <p:txBody>
          <a:bodyPr wrap="square" rtlCol="0" anchor="ctr"/>
          <a:lstStyle/>
          <a:p>
            <a:pPr indent="0" marL="0">
              <a:buNone/>
            </a:pPr>
            <a:r>
              <a:rPr lang="en-US" sz="1100" b="1" spc="150" kern="0" dirty="0">
                <a:solidFill>
                  <a:srgbClr val="1E2761"/>
                </a:solidFill>
                <a:latin typeface="Calibri" pitchFamily="34" charset="0"/>
                <a:ea typeface="Calibri" pitchFamily="34" charset="-122"/>
                <a:cs typeface="Calibri" pitchFamily="34" charset="-120"/>
              </a:rPr>
              <a:t>SCOPE</a:t>
            </a:r>
            <a:endParaRPr lang="en-US" sz="1100" dirty="0"/>
          </a:p>
        </p:txBody>
      </p:sp>
      <p:sp>
        <p:nvSpPr>
          <p:cNvPr id="12" name="Text 10"/>
          <p:cNvSpPr/>
          <p:nvPr/>
        </p:nvSpPr>
        <p:spPr>
          <a:xfrm>
            <a:off x="8366760" y="3794760"/>
            <a:ext cx="3017520" cy="749808"/>
          </a:xfrm>
          <a:prstGeom prst="rect">
            <a:avLst/>
          </a:prstGeom>
          <a:noFill/>
          <a:ln/>
        </p:spPr>
        <p:txBody>
          <a:bodyPr wrap="square" rtlCol="0" anchor="ctr"/>
          <a:lstStyle/>
          <a:p>
            <a:pPr indent="0" marL="0">
              <a:lnSpc>
                <a:spcPct val="115000"/>
              </a:lnSpc>
              <a:buNone/>
            </a:pPr>
            <a:r>
              <a:rPr lang="en-US" sz="1050" dirty="0">
                <a:solidFill>
                  <a:srgbClr val="44506B"/>
                </a:solidFill>
                <a:latin typeface="Calibri" pitchFamily="34" charset="0"/>
                <a:ea typeface="Calibri" pitchFamily="34" charset="-122"/>
                <a:cs typeface="Calibri" pitchFamily="34" charset="-120"/>
              </a:rPr>
              <a:t>Every check re-derives the expected signature against the caller's own tenant — no cross-tenant reuse.</a:t>
            </a:r>
            <a:endParaRPr lang="en-US" sz="1050" dirty="0"/>
          </a:p>
        </p:txBody>
      </p:sp>
      <p:sp>
        <p:nvSpPr>
          <p:cNvPr id="13" name="Shape 11"/>
          <p:cNvSpPr/>
          <p:nvPr/>
        </p:nvSpPr>
        <p:spPr>
          <a:xfrm>
            <a:off x="8138160" y="4754880"/>
            <a:ext cx="3474720" cy="1234440"/>
          </a:xfrm>
          <a:prstGeom prst="roundRect">
            <a:avLst>
              <a:gd name="adj" fmla="val 5185"/>
            </a:avLst>
          </a:prstGeom>
          <a:solidFill>
            <a:srgbClr val="F4F6FB"/>
          </a:solidFill>
          <a:ln w="12700">
            <a:solidFill>
              <a:srgbClr val="CADCFC"/>
            </a:solidFill>
            <a:prstDash val="solid"/>
          </a:ln>
        </p:spPr>
      </p:sp>
      <p:sp>
        <p:nvSpPr>
          <p:cNvPr id="14" name="Text 12"/>
          <p:cNvSpPr/>
          <p:nvPr/>
        </p:nvSpPr>
        <p:spPr>
          <a:xfrm>
            <a:off x="8366760" y="4882896"/>
            <a:ext cx="3017520" cy="274320"/>
          </a:xfrm>
          <a:prstGeom prst="rect">
            <a:avLst/>
          </a:prstGeom>
          <a:noFill/>
          <a:ln/>
        </p:spPr>
        <p:txBody>
          <a:bodyPr wrap="square" rtlCol="0" anchor="ctr"/>
          <a:lstStyle/>
          <a:p>
            <a:pPr indent="0" marL="0">
              <a:buNone/>
            </a:pPr>
            <a:r>
              <a:rPr lang="en-US" sz="1100" b="1" spc="150" kern="0" dirty="0">
                <a:solidFill>
                  <a:srgbClr val="1E2761"/>
                </a:solidFill>
                <a:latin typeface="Calibri" pitchFamily="34" charset="0"/>
                <a:ea typeface="Calibri" pitchFamily="34" charset="-122"/>
                <a:cs typeface="Calibri" pitchFamily="34" charset="-120"/>
              </a:rPr>
              <a:t>REJECT</a:t>
            </a:r>
            <a:endParaRPr lang="en-US" sz="1100" dirty="0"/>
          </a:p>
        </p:txBody>
      </p:sp>
      <p:sp>
        <p:nvSpPr>
          <p:cNvPr id="15" name="Text 13"/>
          <p:cNvSpPr/>
          <p:nvPr/>
        </p:nvSpPr>
        <p:spPr>
          <a:xfrm>
            <a:off x="8366760" y="5166360"/>
            <a:ext cx="3017520" cy="749808"/>
          </a:xfrm>
          <a:prstGeom prst="rect">
            <a:avLst/>
          </a:prstGeom>
          <a:noFill/>
          <a:ln/>
        </p:spPr>
        <p:txBody>
          <a:bodyPr wrap="square" rtlCol="0" anchor="ctr"/>
          <a:lstStyle/>
          <a:p>
            <a:pPr indent="0" marL="0">
              <a:lnSpc>
                <a:spcPct val="115000"/>
              </a:lnSpc>
              <a:buNone/>
            </a:pPr>
            <a:r>
              <a:rPr lang="en-US" sz="1050" dirty="0">
                <a:solidFill>
                  <a:srgbClr val="44506B"/>
                </a:solidFill>
                <a:latin typeface="Calibri" pitchFamily="34" charset="0"/>
                <a:ea typeface="Calibri" pitchFamily="34" charset="-122"/>
                <a:cs typeface="Calibri" pitchFamily="34" charset="-120"/>
              </a:rPr>
              <a:t>compare_digest() defeats timing attacks; mismatches raise, not silently pass.</a:t>
            </a:r>
            <a:endParaRPr lang="en-US" sz="1050" dirty="0"/>
          </a:p>
        </p:txBody>
      </p:sp>
      <p:sp>
        <p:nvSpPr>
          <p:cNvPr id="17" name="Text 14"/>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8A93AC"/>
                </a:solidFill>
                <a:latin typeface="Calibri" pitchFamily="34" charset="0"/>
                <a:ea typeface="Calibri" pitchFamily="34" charset="-122"/>
                <a:cs typeface="Calibri" pitchFamily="34" charset="-120"/>
              </a:rPr>
              <a:t>MCP 2026-07-28  |  Enterprise Security Architecture Briefing</a:t>
            </a:r>
            <a:endParaRPr lang="en-US" sz="900" dirty="0"/>
          </a:p>
        </p:txBody>
      </p:sp>
      <p:sp>
        <p:nvSpPr>
          <p:cNvPr id="18" name="Text 15"/>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8A93AC"/>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229600" cy="274320"/>
          </a:xfrm>
          <a:prstGeom prst="rect">
            <a:avLst/>
          </a:prstGeom>
          <a:noFill/>
          <a:ln/>
        </p:spPr>
        <p:txBody>
          <a:bodyPr wrap="square" rtlCol="0" anchor="ctr"/>
          <a:lstStyle/>
          <a:p>
            <a:pPr indent="0" marL="0">
              <a:buNone/>
            </a:pPr>
            <a:r>
              <a:rPr lang="en-US" sz="1200" b="1" spc="200" kern="0" dirty="0">
                <a:solidFill>
                  <a:srgbClr val="44506B"/>
                </a:solidFill>
                <a:latin typeface="Calibri" pitchFamily="34" charset="0"/>
                <a:ea typeface="Calibri" pitchFamily="34" charset="-122"/>
                <a:cs typeface="Calibri" pitchFamily="34" charset="-120"/>
              </a:rPr>
              <a:t>DESIGN PATTERN B</a:t>
            </a:r>
            <a:endParaRPr lang="en-US" sz="1200" dirty="0"/>
          </a:p>
        </p:txBody>
      </p:sp>
      <p:sp>
        <p:nvSpPr>
          <p:cNvPr id="3" name="Text 1"/>
          <p:cNvSpPr/>
          <p:nvPr/>
        </p:nvSpPr>
        <p:spPr>
          <a:xfrm>
            <a:off x="548640" y="566928"/>
            <a:ext cx="1106424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MRTR replaces server-initiated back-channels</a:t>
            </a:r>
            <a:endParaRPr lang="en-US" sz="3000" dirty="0"/>
          </a:p>
        </p:txBody>
      </p:sp>
      <p:sp>
        <p:nvSpPr>
          <p:cNvPr id="4" name="Text 2"/>
          <p:cNvSpPr/>
          <p:nvPr/>
        </p:nvSpPr>
        <p:spPr>
          <a:xfrm>
            <a:off x="548640" y="1417320"/>
            <a:ext cx="11064240" cy="457200"/>
          </a:xfrm>
          <a:prstGeom prst="rect">
            <a:avLst/>
          </a:prstGeom>
          <a:noFill/>
          <a:ln/>
        </p:spPr>
        <p:txBody>
          <a:bodyPr wrap="square" rtlCol="0" anchor="ctr"/>
          <a:lstStyle/>
          <a:p>
            <a:pPr indent="0" marL="0">
              <a:buNone/>
            </a:pPr>
            <a:r>
              <a:rPr lang="en-US" sz="1300" dirty="0">
                <a:solidFill>
                  <a:srgbClr val="44506B"/>
                </a:solidFill>
                <a:latin typeface="Calibri" pitchFamily="34" charset="0"/>
                <a:ea typeface="Calibri" pitchFamily="34" charset="-122"/>
                <a:cs typeface="Calibri" pitchFamily="34" charset="-120"/>
              </a:rPr>
              <a:t>Legacy ctx.elicit() / create_message() are deprecated and throw NoBackChannelError on stateless connections. Elicitation now runs as an ordinary client-driven retry loop.</a:t>
            </a:r>
            <a:endParaRPr lang="en-US" sz="1300" dirty="0"/>
          </a:p>
        </p:txBody>
      </p:sp>
      <p:sp>
        <p:nvSpPr>
          <p:cNvPr id="5" name="Shape 3"/>
          <p:cNvSpPr/>
          <p:nvPr/>
        </p:nvSpPr>
        <p:spPr>
          <a:xfrm>
            <a:off x="548640" y="2331720"/>
            <a:ext cx="2606040" cy="1508760"/>
          </a:xfrm>
          <a:prstGeom prst="roundRect">
            <a:avLst>
              <a:gd name="adj" fmla="val 4848"/>
            </a:avLst>
          </a:prstGeom>
          <a:solidFill>
            <a:srgbClr val="1E2761"/>
          </a:solidFill>
          <a:ln/>
        </p:spPr>
      </p:sp>
      <p:sp>
        <p:nvSpPr>
          <p:cNvPr id="6" name="Shape 4"/>
          <p:cNvSpPr/>
          <p:nvPr/>
        </p:nvSpPr>
        <p:spPr>
          <a:xfrm>
            <a:off x="713232" y="2478024"/>
            <a:ext cx="2276856" cy="292608"/>
          </a:xfrm>
          <a:prstGeom prst="roundRect">
            <a:avLst>
              <a:gd name="adj" fmla="val 50000"/>
            </a:avLst>
          </a:prstGeom>
          <a:solidFill>
            <a:srgbClr val="F2B84B"/>
          </a:solidFill>
          <a:ln/>
        </p:spPr>
      </p:sp>
      <p:sp>
        <p:nvSpPr>
          <p:cNvPr id="7" name="Text 5"/>
          <p:cNvSpPr/>
          <p:nvPr/>
        </p:nvSpPr>
        <p:spPr>
          <a:xfrm>
            <a:off x="713232" y="2478024"/>
            <a:ext cx="2276856" cy="292608"/>
          </a:xfrm>
          <a:prstGeom prst="rect">
            <a:avLst/>
          </a:prstGeom>
          <a:noFill/>
          <a:ln/>
        </p:spPr>
        <p:txBody>
          <a:bodyPr wrap="square"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713232" y="2834640"/>
            <a:ext cx="2276856" cy="292608"/>
          </a:xfrm>
          <a:prstGeom prst="rect">
            <a:avLst/>
          </a:prstGeom>
          <a:noFill/>
          <a:ln/>
        </p:spPr>
        <p:txBody>
          <a:bodyPr wrap="square" rtlCol="0" anchor="ctr"/>
          <a:lstStyle/>
          <a:p>
            <a:pPr indent="0" marL="0">
              <a:buNone/>
            </a:pPr>
            <a:r>
              <a:rPr lang="en-US" sz="1050" b="1" dirty="0">
                <a:solidFill>
                  <a:srgbClr val="CADCFC"/>
                </a:solidFill>
                <a:latin typeface="Calibri" pitchFamily="34" charset="0"/>
                <a:ea typeface="Calibri" pitchFamily="34" charset="-122"/>
                <a:cs typeface="Calibri" pitchFamily="34" charset="-120"/>
              </a:rPr>
              <a:t>Client → Server</a:t>
            </a:r>
            <a:endParaRPr lang="en-US" sz="1050" dirty="0"/>
          </a:p>
        </p:txBody>
      </p:sp>
      <p:sp>
        <p:nvSpPr>
          <p:cNvPr id="9" name="Text 7"/>
          <p:cNvSpPr/>
          <p:nvPr/>
        </p:nvSpPr>
        <p:spPr>
          <a:xfrm>
            <a:off x="713232" y="3108960"/>
            <a:ext cx="2276856" cy="27432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tools/call</a:t>
            </a:r>
            <a:endParaRPr lang="en-US" sz="1300" dirty="0"/>
          </a:p>
        </p:txBody>
      </p:sp>
      <p:sp>
        <p:nvSpPr>
          <p:cNvPr id="10" name="Text 8"/>
          <p:cNvSpPr/>
          <p:nvPr/>
        </p:nvSpPr>
        <p:spPr>
          <a:xfrm>
            <a:off x="713232" y="3410712"/>
            <a:ext cx="2276856" cy="384048"/>
          </a:xfrm>
          <a:prstGeom prst="rect">
            <a:avLst/>
          </a:prstGeom>
          <a:noFill/>
          <a:ln/>
        </p:spPr>
        <p:txBody>
          <a:bodyPr wrap="square" rtlCol="0" anchor="ctr"/>
          <a:lstStyle/>
          <a:p>
            <a:pPr indent="0" marL="0">
              <a:buNone/>
            </a:pPr>
            <a:r>
              <a:rPr lang="en-US" sz="850" dirty="0">
                <a:solidFill>
                  <a:srgbClr val="CADCFC"/>
                </a:solidFill>
                <a:latin typeface="Courier New" pitchFamily="34" charset="0"/>
                <a:ea typeface="Courier New" pitchFamily="34" charset="-122"/>
                <a:cs typeface="Courier New" pitchFamily="34" charset="-120"/>
              </a:rPr>
              <a:t>approve_transfer(amount: 50000)</a:t>
            </a:r>
            <a:endParaRPr lang="en-US" sz="850" dirty="0"/>
          </a:p>
        </p:txBody>
      </p:sp>
      <p:sp>
        <p:nvSpPr>
          <p:cNvPr id="11" name="Shape 9"/>
          <p:cNvSpPr/>
          <p:nvPr/>
        </p:nvSpPr>
        <p:spPr>
          <a:xfrm rot="5400000">
            <a:off x="3172968" y="2985516"/>
            <a:ext cx="164592" cy="201168"/>
          </a:xfrm>
          <a:prstGeom prst="triangle">
            <a:avLst/>
          </a:prstGeom>
          <a:solidFill>
            <a:srgbClr val="1E2761"/>
          </a:solidFill>
          <a:ln/>
        </p:spPr>
      </p:sp>
      <p:sp>
        <p:nvSpPr>
          <p:cNvPr id="12" name="Shape 10"/>
          <p:cNvSpPr/>
          <p:nvPr/>
        </p:nvSpPr>
        <p:spPr>
          <a:xfrm>
            <a:off x="3355848" y="2331720"/>
            <a:ext cx="2606040" cy="1508760"/>
          </a:xfrm>
          <a:prstGeom prst="roundRect">
            <a:avLst>
              <a:gd name="adj" fmla="val 4848"/>
            </a:avLst>
          </a:prstGeom>
          <a:solidFill>
            <a:srgbClr val="3A4C8C"/>
          </a:solidFill>
          <a:ln/>
        </p:spPr>
      </p:sp>
      <p:sp>
        <p:nvSpPr>
          <p:cNvPr id="13" name="Shape 11"/>
          <p:cNvSpPr/>
          <p:nvPr/>
        </p:nvSpPr>
        <p:spPr>
          <a:xfrm>
            <a:off x="3520440" y="2478024"/>
            <a:ext cx="2276856" cy="292608"/>
          </a:xfrm>
          <a:prstGeom prst="roundRect">
            <a:avLst>
              <a:gd name="adj" fmla="val 50000"/>
            </a:avLst>
          </a:prstGeom>
          <a:solidFill>
            <a:srgbClr val="F2B84B"/>
          </a:solidFill>
          <a:ln/>
        </p:spPr>
      </p:sp>
      <p:sp>
        <p:nvSpPr>
          <p:cNvPr id="14" name="Text 12"/>
          <p:cNvSpPr/>
          <p:nvPr/>
        </p:nvSpPr>
        <p:spPr>
          <a:xfrm>
            <a:off x="3520440" y="2478024"/>
            <a:ext cx="2276856" cy="292608"/>
          </a:xfrm>
          <a:prstGeom prst="rect">
            <a:avLst/>
          </a:prstGeom>
          <a:noFill/>
          <a:ln/>
        </p:spPr>
        <p:txBody>
          <a:bodyPr wrap="square"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2</a:t>
            </a:r>
            <a:endParaRPr lang="en-US" sz="1100" dirty="0"/>
          </a:p>
        </p:txBody>
      </p:sp>
      <p:sp>
        <p:nvSpPr>
          <p:cNvPr id="15" name="Text 13"/>
          <p:cNvSpPr/>
          <p:nvPr/>
        </p:nvSpPr>
        <p:spPr>
          <a:xfrm>
            <a:off x="3520440" y="2834640"/>
            <a:ext cx="2276856" cy="292608"/>
          </a:xfrm>
          <a:prstGeom prst="rect">
            <a:avLst/>
          </a:prstGeom>
          <a:noFill/>
          <a:ln/>
        </p:spPr>
        <p:txBody>
          <a:bodyPr wrap="square" rtlCol="0" anchor="ctr"/>
          <a:lstStyle/>
          <a:p>
            <a:pPr indent="0" marL="0">
              <a:buNone/>
            </a:pPr>
            <a:r>
              <a:rPr lang="en-US" sz="1050" b="1" dirty="0">
                <a:solidFill>
                  <a:srgbClr val="CADCFC"/>
                </a:solidFill>
                <a:latin typeface="Calibri" pitchFamily="34" charset="0"/>
                <a:ea typeface="Calibri" pitchFamily="34" charset="-122"/>
                <a:cs typeface="Calibri" pitchFamily="34" charset="-120"/>
              </a:rPr>
              <a:t>Server → Client</a:t>
            </a:r>
            <a:endParaRPr lang="en-US" sz="1050" dirty="0"/>
          </a:p>
        </p:txBody>
      </p:sp>
      <p:sp>
        <p:nvSpPr>
          <p:cNvPr id="16" name="Text 14"/>
          <p:cNvSpPr/>
          <p:nvPr/>
        </p:nvSpPr>
        <p:spPr>
          <a:xfrm>
            <a:off x="3520440" y="3108960"/>
            <a:ext cx="2276856" cy="27432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input_required</a:t>
            </a:r>
            <a:endParaRPr lang="en-US" sz="1300" dirty="0"/>
          </a:p>
        </p:txBody>
      </p:sp>
      <p:sp>
        <p:nvSpPr>
          <p:cNvPr id="17" name="Text 15"/>
          <p:cNvSpPr/>
          <p:nvPr/>
        </p:nvSpPr>
        <p:spPr>
          <a:xfrm>
            <a:off x="3520440" y="3410712"/>
            <a:ext cx="2276856" cy="384048"/>
          </a:xfrm>
          <a:prstGeom prst="rect">
            <a:avLst/>
          </a:prstGeom>
          <a:noFill/>
          <a:ln/>
        </p:spPr>
        <p:txBody>
          <a:bodyPr wrap="square" rtlCol="0" anchor="ctr"/>
          <a:lstStyle/>
          <a:p>
            <a:pPr indent="0" marL="0">
              <a:buNone/>
            </a:pPr>
            <a:r>
              <a:rPr lang="en-US" sz="850" dirty="0">
                <a:solidFill>
                  <a:srgbClr val="CADCFC"/>
                </a:solidFill>
                <a:latin typeface="Courier New" pitchFamily="34" charset="0"/>
                <a:ea typeface="Courier New" pitchFamily="34" charset="-122"/>
                <a:cs typeface="Courier New" pitchFamily="34" charset="-120"/>
              </a:rPr>
              <a:t>stateToken: token_abc123 “Provide 2FA code”</a:t>
            </a:r>
            <a:endParaRPr lang="en-US" sz="850" dirty="0"/>
          </a:p>
        </p:txBody>
      </p:sp>
      <p:sp>
        <p:nvSpPr>
          <p:cNvPr id="18" name="Shape 16"/>
          <p:cNvSpPr/>
          <p:nvPr/>
        </p:nvSpPr>
        <p:spPr>
          <a:xfrm rot="5400000">
            <a:off x="5980176" y="2985516"/>
            <a:ext cx="164592" cy="201168"/>
          </a:xfrm>
          <a:prstGeom prst="triangle">
            <a:avLst/>
          </a:prstGeom>
          <a:solidFill>
            <a:srgbClr val="1E2761"/>
          </a:solidFill>
          <a:ln/>
        </p:spPr>
      </p:sp>
      <p:sp>
        <p:nvSpPr>
          <p:cNvPr id="19" name="Shape 17"/>
          <p:cNvSpPr/>
          <p:nvPr/>
        </p:nvSpPr>
        <p:spPr>
          <a:xfrm>
            <a:off x="6163056" y="2331720"/>
            <a:ext cx="2606040" cy="1508760"/>
          </a:xfrm>
          <a:prstGeom prst="roundRect">
            <a:avLst>
              <a:gd name="adj" fmla="val 4848"/>
            </a:avLst>
          </a:prstGeom>
          <a:solidFill>
            <a:srgbClr val="1E2761"/>
          </a:solidFill>
          <a:ln/>
        </p:spPr>
      </p:sp>
      <p:sp>
        <p:nvSpPr>
          <p:cNvPr id="20" name="Shape 18"/>
          <p:cNvSpPr/>
          <p:nvPr/>
        </p:nvSpPr>
        <p:spPr>
          <a:xfrm>
            <a:off x="6327648" y="2478024"/>
            <a:ext cx="2276856" cy="292608"/>
          </a:xfrm>
          <a:prstGeom prst="roundRect">
            <a:avLst>
              <a:gd name="adj" fmla="val 50000"/>
            </a:avLst>
          </a:prstGeom>
          <a:solidFill>
            <a:srgbClr val="F2B84B"/>
          </a:solidFill>
          <a:ln/>
        </p:spPr>
      </p:sp>
      <p:sp>
        <p:nvSpPr>
          <p:cNvPr id="21" name="Text 19"/>
          <p:cNvSpPr/>
          <p:nvPr/>
        </p:nvSpPr>
        <p:spPr>
          <a:xfrm>
            <a:off x="6327648" y="2478024"/>
            <a:ext cx="2276856" cy="292608"/>
          </a:xfrm>
          <a:prstGeom prst="rect">
            <a:avLst/>
          </a:prstGeom>
          <a:noFill/>
          <a:ln/>
        </p:spPr>
        <p:txBody>
          <a:bodyPr wrap="square"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3</a:t>
            </a:r>
            <a:endParaRPr lang="en-US" sz="1100" dirty="0"/>
          </a:p>
        </p:txBody>
      </p:sp>
      <p:sp>
        <p:nvSpPr>
          <p:cNvPr id="22" name="Text 20"/>
          <p:cNvSpPr/>
          <p:nvPr/>
        </p:nvSpPr>
        <p:spPr>
          <a:xfrm>
            <a:off x="6327648" y="2834640"/>
            <a:ext cx="2276856" cy="292608"/>
          </a:xfrm>
          <a:prstGeom prst="rect">
            <a:avLst/>
          </a:prstGeom>
          <a:noFill/>
          <a:ln/>
        </p:spPr>
        <p:txBody>
          <a:bodyPr wrap="square" rtlCol="0" anchor="ctr"/>
          <a:lstStyle/>
          <a:p>
            <a:pPr indent="0" marL="0">
              <a:buNone/>
            </a:pPr>
            <a:r>
              <a:rPr lang="en-US" sz="1050" b="1" dirty="0">
                <a:solidFill>
                  <a:srgbClr val="CADCFC"/>
                </a:solidFill>
                <a:latin typeface="Calibri" pitchFamily="34" charset="0"/>
                <a:ea typeface="Calibri" pitchFamily="34" charset="-122"/>
                <a:cs typeface="Calibri" pitchFamily="34" charset="-120"/>
              </a:rPr>
              <a:t>Client → User</a:t>
            </a:r>
            <a:endParaRPr lang="en-US" sz="1050" dirty="0"/>
          </a:p>
        </p:txBody>
      </p:sp>
      <p:sp>
        <p:nvSpPr>
          <p:cNvPr id="23" name="Text 21"/>
          <p:cNvSpPr/>
          <p:nvPr/>
        </p:nvSpPr>
        <p:spPr>
          <a:xfrm>
            <a:off x="6327648" y="3108960"/>
            <a:ext cx="2276856" cy="27432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prompt</a:t>
            </a:r>
            <a:endParaRPr lang="en-US" sz="1300" dirty="0"/>
          </a:p>
        </p:txBody>
      </p:sp>
      <p:sp>
        <p:nvSpPr>
          <p:cNvPr id="24" name="Text 22"/>
          <p:cNvSpPr/>
          <p:nvPr/>
        </p:nvSpPr>
        <p:spPr>
          <a:xfrm>
            <a:off x="6327648" y="3410712"/>
            <a:ext cx="2276856" cy="384048"/>
          </a:xfrm>
          <a:prstGeom prst="rect">
            <a:avLst/>
          </a:prstGeom>
          <a:noFill/>
          <a:ln/>
        </p:spPr>
        <p:txBody>
          <a:bodyPr wrap="square" rtlCol="0" anchor="ctr"/>
          <a:lstStyle/>
          <a:p>
            <a:pPr indent="0" marL="0">
              <a:buNone/>
            </a:pPr>
            <a:r>
              <a:rPr lang="en-US" sz="850" dirty="0">
                <a:solidFill>
                  <a:srgbClr val="CADCFC"/>
                </a:solidFill>
                <a:latin typeface="Courier New" pitchFamily="34" charset="0"/>
                <a:ea typeface="Courier New" pitchFamily="34" charset="-122"/>
                <a:cs typeface="Courier New" pitchFamily="34" charset="-120"/>
              </a:rPr>
              <a:t>Human operator enters 2FA code</a:t>
            </a:r>
            <a:endParaRPr lang="en-US" sz="850" dirty="0"/>
          </a:p>
        </p:txBody>
      </p:sp>
      <p:sp>
        <p:nvSpPr>
          <p:cNvPr id="25" name="Shape 23"/>
          <p:cNvSpPr/>
          <p:nvPr/>
        </p:nvSpPr>
        <p:spPr>
          <a:xfrm rot="5400000">
            <a:off x="8787384" y="2985516"/>
            <a:ext cx="164592" cy="201168"/>
          </a:xfrm>
          <a:prstGeom prst="triangle">
            <a:avLst/>
          </a:prstGeom>
          <a:solidFill>
            <a:srgbClr val="1E2761"/>
          </a:solidFill>
          <a:ln/>
        </p:spPr>
      </p:sp>
      <p:sp>
        <p:nvSpPr>
          <p:cNvPr id="26" name="Shape 24"/>
          <p:cNvSpPr/>
          <p:nvPr/>
        </p:nvSpPr>
        <p:spPr>
          <a:xfrm>
            <a:off x="8970264" y="2331720"/>
            <a:ext cx="2606040" cy="1508760"/>
          </a:xfrm>
          <a:prstGeom prst="roundRect">
            <a:avLst>
              <a:gd name="adj" fmla="val 4848"/>
            </a:avLst>
          </a:prstGeom>
          <a:solidFill>
            <a:srgbClr val="3A4C8C"/>
          </a:solidFill>
          <a:ln/>
        </p:spPr>
      </p:sp>
      <p:sp>
        <p:nvSpPr>
          <p:cNvPr id="27" name="Shape 25"/>
          <p:cNvSpPr/>
          <p:nvPr/>
        </p:nvSpPr>
        <p:spPr>
          <a:xfrm>
            <a:off x="9134856" y="2478024"/>
            <a:ext cx="2276856" cy="292608"/>
          </a:xfrm>
          <a:prstGeom prst="roundRect">
            <a:avLst>
              <a:gd name="adj" fmla="val 50000"/>
            </a:avLst>
          </a:prstGeom>
          <a:solidFill>
            <a:srgbClr val="F2B84B"/>
          </a:solidFill>
          <a:ln/>
        </p:spPr>
      </p:sp>
      <p:sp>
        <p:nvSpPr>
          <p:cNvPr id="28" name="Text 26"/>
          <p:cNvSpPr/>
          <p:nvPr/>
        </p:nvSpPr>
        <p:spPr>
          <a:xfrm>
            <a:off x="9134856" y="2478024"/>
            <a:ext cx="2276856" cy="292608"/>
          </a:xfrm>
          <a:prstGeom prst="rect">
            <a:avLst/>
          </a:prstGeom>
          <a:noFill/>
          <a:ln/>
        </p:spPr>
        <p:txBody>
          <a:bodyPr wrap="square"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4</a:t>
            </a:r>
            <a:endParaRPr lang="en-US" sz="1100" dirty="0"/>
          </a:p>
        </p:txBody>
      </p:sp>
      <p:sp>
        <p:nvSpPr>
          <p:cNvPr id="29" name="Text 27"/>
          <p:cNvSpPr/>
          <p:nvPr/>
        </p:nvSpPr>
        <p:spPr>
          <a:xfrm>
            <a:off x="9134856" y="2834640"/>
            <a:ext cx="2276856" cy="292608"/>
          </a:xfrm>
          <a:prstGeom prst="rect">
            <a:avLst/>
          </a:prstGeom>
          <a:noFill/>
          <a:ln/>
        </p:spPr>
        <p:txBody>
          <a:bodyPr wrap="square" rtlCol="0" anchor="ctr"/>
          <a:lstStyle/>
          <a:p>
            <a:pPr indent="0" marL="0">
              <a:buNone/>
            </a:pPr>
            <a:r>
              <a:rPr lang="en-US" sz="1050" b="1" dirty="0">
                <a:solidFill>
                  <a:srgbClr val="CADCFC"/>
                </a:solidFill>
                <a:latin typeface="Calibri" pitchFamily="34" charset="0"/>
                <a:ea typeface="Calibri" pitchFamily="34" charset="-122"/>
                <a:cs typeface="Calibri" pitchFamily="34" charset="-120"/>
              </a:rPr>
              <a:t>Client → Server</a:t>
            </a:r>
            <a:endParaRPr lang="en-US" sz="1050" dirty="0"/>
          </a:p>
        </p:txBody>
      </p:sp>
      <p:sp>
        <p:nvSpPr>
          <p:cNvPr id="30" name="Text 28"/>
          <p:cNvSpPr/>
          <p:nvPr/>
        </p:nvSpPr>
        <p:spPr>
          <a:xfrm>
            <a:off x="9134856" y="3108960"/>
            <a:ext cx="2276856" cy="27432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tools/call (retry)</a:t>
            </a:r>
            <a:endParaRPr lang="en-US" sz="1300" dirty="0"/>
          </a:p>
        </p:txBody>
      </p:sp>
      <p:sp>
        <p:nvSpPr>
          <p:cNvPr id="31" name="Text 29"/>
          <p:cNvSpPr/>
          <p:nvPr/>
        </p:nvSpPr>
        <p:spPr>
          <a:xfrm>
            <a:off x="9134856" y="3410712"/>
            <a:ext cx="2276856" cy="384048"/>
          </a:xfrm>
          <a:prstGeom prst="rect">
            <a:avLst/>
          </a:prstGeom>
          <a:noFill/>
          <a:ln/>
        </p:spPr>
        <p:txBody>
          <a:bodyPr wrap="square" rtlCol="0" anchor="ctr"/>
          <a:lstStyle/>
          <a:p>
            <a:pPr indent="0" marL="0">
              <a:buNone/>
            </a:pPr>
            <a:r>
              <a:rPr lang="en-US" sz="850" dirty="0">
                <a:solidFill>
                  <a:srgbClr val="CADCFC"/>
                </a:solidFill>
                <a:latin typeface="Courier New" pitchFamily="34" charset="0"/>
                <a:ea typeface="Courier New" pitchFamily="34" charset="-122"/>
                <a:cs typeface="Courier New" pitchFamily="34" charset="-120"/>
              </a:rPr>
              <a:t>inputResponses: {2fa_code}, stateToken</a:t>
            </a:r>
            <a:endParaRPr lang="en-US" sz="850" dirty="0"/>
          </a:p>
        </p:txBody>
      </p:sp>
      <p:sp>
        <p:nvSpPr>
          <p:cNvPr id="32" name="Shape 30"/>
          <p:cNvSpPr/>
          <p:nvPr/>
        </p:nvSpPr>
        <p:spPr>
          <a:xfrm>
            <a:off x="548640" y="4343400"/>
            <a:ext cx="11064240" cy="1554480"/>
          </a:xfrm>
          <a:prstGeom prst="roundRect">
            <a:avLst>
              <a:gd name="adj" fmla="val 4706"/>
            </a:avLst>
          </a:prstGeom>
          <a:solidFill>
            <a:srgbClr val="F6E1E1"/>
          </a:solidFill>
          <a:ln w="12700">
            <a:solidFill>
              <a:srgbClr val="E3B3B3"/>
            </a:solidFill>
            <a:prstDash val="solid"/>
          </a:ln>
        </p:spPr>
      </p:sp>
      <p:sp>
        <p:nvSpPr>
          <p:cNvPr id="33" name="Text 31"/>
          <p:cNvSpPr/>
          <p:nvPr/>
        </p:nvSpPr>
        <p:spPr>
          <a:xfrm>
            <a:off x="868680" y="4526280"/>
            <a:ext cx="10058400" cy="292608"/>
          </a:xfrm>
          <a:prstGeom prst="rect">
            <a:avLst/>
          </a:prstGeom>
          <a:noFill/>
          <a:ln/>
        </p:spPr>
        <p:txBody>
          <a:bodyPr wrap="square" rtlCol="0" anchor="ctr"/>
          <a:lstStyle/>
          <a:p>
            <a:pPr indent="0" marL="0">
              <a:buNone/>
            </a:pPr>
            <a:r>
              <a:rPr lang="en-US" sz="1150" b="1" spc="100" kern="0" dirty="0">
                <a:solidFill>
                  <a:srgbClr val="8C1622"/>
                </a:solidFill>
                <a:latin typeface="Calibri" pitchFamily="34" charset="0"/>
                <a:ea typeface="Calibri" pitchFamily="34" charset="-122"/>
                <a:cs typeface="Calibri" pitchFamily="34" charset="-120"/>
              </a:rPr>
              <a:t>NEW ATTACK SURFACE: MRTR STATE HIJACKING</a:t>
            </a:r>
            <a:endParaRPr lang="en-US" sz="1150" dirty="0"/>
          </a:p>
        </p:txBody>
      </p:sp>
      <p:sp>
        <p:nvSpPr>
          <p:cNvPr id="34" name="Text 32"/>
          <p:cNvSpPr/>
          <p:nvPr/>
        </p:nvSpPr>
        <p:spPr>
          <a:xfrm>
            <a:off x="868680" y="4846320"/>
            <a:ext cx="10424160" cy="960120"/>
          </a:xfrm>
          <a:prstGeom prst="rect">
            <a:avLst/>
          </a:prstGeom>
          <a:noFill/>
          <a:ln/>
        </p:spPr>
        <p:txBody>
          <a:bodyPr wrap="square" rtlCol="0" anchor="ctr"/>
          <a:lstStyle/>
          <a:p>
            <a:pPr indent="0" marL="0">
              <a:lnSpc>
                <a:spcPct val="125000"/>
              </a:lnSpc>
              <a:buNone/>
            </a:pPr>
            <a:r>
              <a:rPr lang="en-US" sz="1200" dirty="0">
                <a:solidFill>
                  <a:srgbClr val="44506B"/>
                </a:solidFill>
                <a:latin typeface="Calibri" pitchFamily="34" charset="0"/>
                <a:ea typeface="Calibri" pitchFamily="34" charset="-122"/>
                <a:cs typeface="Calibri" pitchFamily="34" charset="-120"/>
              </a:rPr>
              <a:t>stateToken is the entire trust boundary between legs 2 and 4. Treat it exactly like a signed handle: short-lived, single-use, bound to the originating session and tenant, and rejected on replay. An intercepted or predictable token lets an attacker complete a sensitive action — like the transfer approval above — without ever holding valid credentials.</a:t>
            </a:r>
            <a:endParaRPr lang="en-US" sz="1200" dirty="0"/>
          </a:p>
        </p:txBody>
      </p:sp>
      <p:sp>
        <p:nvSpPr>
          <p:cNvPr id="36" name="Text 33"/>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8A93AC"/>
                </a:solidFill>
                <a:latin typeface="Calibri" pitchFamily="34" charset="0"/>
                <a:ea typeface="Calibri" pitchFamily="34" charset="-122"/>
                <a:cs typeface="Calibri" pitchFamily="34" charset="-120"/>
              </a:rPr>
              <a:t>MCP 2026-07-28  |  Enterprise Security Architecture Briefing</a:t>
            </a:r>
            <a:endParaRPr lang="en-US" sz="900" dirty="0"/>
          </a:p>
        </p:txBody>
      </p:sp>
      <p:sp>
        <p:nvSpPr>
          <p:cNvPr id="37" name="Text 34"/>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8A93AC"/>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229600" cy="274320"/>
          </a:xfrm>
          <a:prstGeom prst="rect">
            <a:avLst/>
          </a:prstGeom>
          <a:noFill/>
          <a:ln/>
        </p:spPr>
        <p:txBody>
          <a:bodyPr wrap="square" rtlCol="0" anchor="ctr"/>
          <a:lstStyle/>
          <a:p>
            <a:pPr indent="0" marL="0">
              <a:buNone/>
            </a:pPr>
            <a:r>
              <a:rPr lang="en-US" sz="1200" b="1" spc="200" kern="0" dirty="0">
                <a:solidFill>
                  <a:srgbClr val="44506B"/>
                </a:solidFill>
                <a:latin typeface="Calibri" pitchFamily="34" charset="0"/>
                <a:ea typeface="Calibri" pitchFamily="34" charset="-122"/>
                <a:cs typeface="Calibri" pitchFamily="34" charset="-120"/>
              </a:rPr>
              <a:t>TARGET ARCHITECTURE</a:t>
            </a:r>
            <a:endParaRPr lang="en-US" sz="1200" dirty="0"/>
          </a:p>
        </p:txBody>
      </p:sp>
      <p:sp>
        <p:nvSpPr>
          <p:cNvPr id="3" name="Text 1"/>
          <p:cNvSpPr/>
          <p:nvPr/>
        </p:nvSpPr>
        <p:spPr>
          <a:xfrm>
            <a:off x="548640" y="566928"/>
            <a:ext cx="1106424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Zero-trust MCP gateway policy</a:t>
            </a:r>
            <a:endParaRPr lang="en-US" sz="3000" dirty="0"/>
          </a:p>
        </p:txBody>
      </p:sp>
      <p:sp>
        <p:nvSpPr>
          <p:cNvPr id="4" name="Shape 2"/>
          <p:cNvSpPr/>
          <p:nvPr/>
        </p:nvSpPr>
        <p:spPr>
          <a:xfrm>
            <a:off x="548640" y="1554480"/>
            <a:ext cx="11064240" cy="1051560"/>
          </a:xfrm>
          <a:prstGeom prst="roundRect">
            <a:avLst>
              <a:gd name="adj" fmla="val 6087"/>
            </a:avLst>
          </a:prstGeom>
          <a:solidFill>
            <a:srgbClr val="F4F6FB"/>
          </a:solidFill>
          <a:ln w="12700">
            <a:solidFill>
              <a:srgbClr val="CADCFC"/>
            </a:solidFill>
            <a:prstDash val="solid"/>
          </a:ln>
        </p:spPr>
      </p:sp>
      <p:sp>
        <p:nvSpPr>
          <p:cNvPr id="5" name="Shape 3"/>
          <p:cNvSpPr/>
          <p:nvPr/>
        </p:nvSpPr>
        <p:spPr>
          <a:xfrm>
            <a:off x="548640" y="1554480"/>
            <a:ext cx="502920" cy="1051560"/>
          </a:xfrm>
          <a:prstGeom prst="roundRect">
            <a:avLst>
              <a:gd name="adj" fmla="val 12727"/>
            </a:avLst>
          </a:prstGeom>
          <a:solidFill>
            <a:srgbClr val="1E2761"/>
          </a:solidFill>
          <a:ln/>
        </p:spPr>
      </p:sp>
      <p:sp>
        <p:nvSpPr>
          <p:cNvPr id="6" name="Text 4"/>
          <p:cNvSpPr/>
          <p:nvPr/>
        </p:nvSpPr>
        <p:spPr>
          <a:xfrm>
            <a:off x="548640" y="1554480"/>
            <a:ext cx="502920" cy="105156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280160" y="1682496"/>
            <a:ext cx="3291840" cy="795528"/>
          </a:xfrm>
          <a:prstGeom prst="rect">
            <a:avLst/>
          </a:prstGeom>
          <a:noFill/>
          <a:ln/>
        </p:spPr>
        <p:txBody>
          <a:bodyPr wrap="square"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Edge Routing &amp; Header Inspection</a:t>
            </a:r>
            <a:endParaRPr lang="en-US" sz="1350" dirty="0"/>
          </a:p>
        </p:txBody>
      </p:sp>
      <p:sp>
        <p:nvSpPr>
          <p:cNvPr id="8" name="Text 6"/>
          <p:cNvSpPr/>
          <p:nvPr/>
        </p:nvSpPr>
        <p:spPr>
          <a:xfrm>
            <a:off x="4709160" y="1682496"/>
            <a:ext cx="6720840" cy="795528"/>
          </a:xfrm>
          <a:prstGeom prst="rect">
            <a:avLst/>
          </a:prstGeom>
          <a:noFill/>
          <a:ln/>
        </p:spPr>
        <p:txBody>
          <a:bodyPr wrap="square" rtlCol="0" anchor="ctr"/>
          <a:lstStyle/>
          <a:p>
            <a:pPr indent="0" marL="0">
              <a:lnSpc>
                <a:spcPct val="115000"/>
              </a:lnSpc>
              <a:buNone/>
            </a:pPr>
            <a:r>
              <a:rPr lang="en-US" sz="1100" dirty="0">
                <a:solidFill>
                  <a:srgbClr val="44506B"/>
                </a:solidFill>
                <a:latin typeface="Calibri" pitchFamily="34" charset="0"/>
                <a:ea typeface="Calibri" pitchFamily="34" charset="-122"/>
                <a:cs typeface="Calibri" pitchFamily="34" charset="-120"/>
              </a:rPr>
              <a:t>Configure WAF/API Gateway rules on Mcp-Method and Mcp-Name. Block disallowed tool calls at the perimeter, before they reach the LLM inference pipeline.</a:t>
            </a:r>
            <a:endParaRPr lang="en-US" sz="1100" dirty="0"/>
          </a:p>
        </p:txBody>
      </p:sp>
      <p:sp>
        <p:nvSpPr>
          <p:cNvPr id="9" name="Shape 7"/>
          <p:cNvSpPr/>
          <p:nvPr/>
        </p:nvSpPr>
        <p:spPr>
          <a:xfrm>
            <a:off x="548640" y="2743200"/>
            <a:ext cx="11064240" cy="1051560"/>
          </a:xfrm>
          <a:prstGeom prst="roundRect">
            <a:avLst>
              <a:gd name="adj" fmla="val 6087"/>
            </a:avLst>
          </a:prstGeom>
          <a:solidFill>
            <a:srgbClr val="F4F6FB"/>
          </a:solidFill>
          <a:ln w="12700">
            <a:solidFill>
              <a:srgbClr val="CADCFC"/>
            </a:solidFill>
            <a:prstDash val="solid"/>
          </a:ln>
        </p:spPr>
      </p:sp>
      <p:sp>
        <p:nvSpPr>
          <p:cNvPr id="10" name="Shape 8"/>
          <p:cNvSpPr/>
          <p:nvPr/>
        </p:nvSpPr>
        <p:spPr>
          <a:xfrm>
            <a:off x="548640" y="2743200"/>
            <a:ext cx="502920" cy="1051560"/>
          </a:xfrm>
          <a:prstGeom prst="roundRect">
            <a:avLst>
              <a:gd name="adj" fmla="val 12727"/>
            </a:avLst>
          </a:prstGeom>
          <a:solidFill>
            <a:srgbClr val="1E2761"/>
          </a:solidFill>
          <a:ln/>
        </p:spPr>
      </p:sp>
      <p:sp>
        <p:nvSpPr>
          <p:cNvPr id="11" name="Text 9"/>
          <p:cNvSpPr/>
          <p:nvPr/>
        </p:nvSpPr>
        <p:spPr>
          <a:xfrm>
            <a:off x="548640" y="2743200"/>
            <a:ext cx="502920" cy="105156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p:nvPr/>
        </p:nvSpPr>
        <p:spPr>
          <a:xfrm>
            <a:off x="1280160" y="2871216"/>
            <a:ext cx="3291840" cy="795528"/>
          </a:xfrm>
          <a:prstGeom prst="rect">
            <a:avLst/>
          </a:prstGeom>
          <a:noFill/>
          <a:ln/>
        </p:spPr>
        <p:txBody>
          <a:bodyPr wrap="square"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OAuth 2.0 &amp; RFC 9207 Compliance</a:t>
            </a:r>
            <a:endParaRPr lang="en-US" sz="1350" dirty="0"/>
          </a:p>
        </p:txBody>
      </p:sp>
      <p:sp>
        <p:nvSpPr>
          <p:cNvPr id="13" name="Text 11"/>
          <p:cNvSpPr/>
          <p:nvPr/>
        </p:nvSpPr>
        <p:spPr>
          <a:xfrm>
            <a:off x="4709160" y="2871216"/>
            <a:ext cx="6720840" cy="795528"/>
          </a:xfrm>
          <a:prstGeom prst="rect">
            <a:avLst/>
          </a:prstGeom>
          <a:noFill/>
          <a:ln/>
        </p:spPr>
        <p:txBody>
          <a:bodyPr wrap="square" rtlCol="0" anchor="ctr"/>
          <a:lstStyle/>
          <a:p>
            <a:pPr indent="0" marL="0">
              <a:lnSpc>
                <a:spcPct val="115000"/>
              </a:lnSpc>
              <a:buNone/>
            </a:pPr>
            <a:r>
              <a:rPr lang="en-US" sz="1100" dirty="0">
                <a:solidFill>
                  <a:srgbClr val="44506B"/>
                </a:solidFill>
                <a:latin typeface="Calibri" pitchFamily="34" charset="0"/>
                <a:ea typeface="Calibri" pitchFamily="34" charset="-122"/>
                <a:cs typeface="Calibri" pitchFamily="34" charset="-120"/>
              </a:rPr>
              <a:t>Enforce strict iss validation across all client instances. Deprecate dynamic client onboarding in favor of pre-registered Client ID Metadata Documents.</a:t>
            </a:r>
            <a:endParaRPr lang="en-US" sz="1100" dirty="0"/>
          </a:p>
        </p:txBody>
      </p:sp>
      <p:sp>
        <p:nvSpPr>
          <p:cNvPr id="14" name="Shape 12"/>
          <p:cNvSpPr/>
          <p:nvPr/>
        </p:nvSpPr>
        <p:spPr>
          <a:xfrm>
            <a:off x="548640" y="3931920"/>
            <a:ext cx="11064240" cy="1051560"/>
          </a:xfrm>
          <a:prstGeom prst="roundRect">
            <a:avLst>
              <a:gd name="adj" fmla="val 6087"/>
            </a:avLst>
          </a:prstGeom>
          <a:solidFill>
            <a:srgbClr val="F4F6FB"/>
          </a:solidFill>
          <a:ln w="12700">
            <a:solidFill>
              <a:srgbClr val="CADCFC"/>
            </a:solidFill>
            <a:prstDash val="solid"/>
          </a:ln>
        </p:spPr>
      </p:sp>
      <p:sp>
        <p:nvSpPr>
          <p:cNvPr id="15" name="Shape 13"/>
          <p:cNvSpPr/>
          <p:nvPr/>
        </p:nvSpPr>
        <p:spPr>
          <a:xfrm>
            <a:off x="548640" y="3931920"/>
            <a:ext cx="502920" cy="1051560"/>
          </a:xfrm>
          <a:prstGeom prst="roundRect">
            <a:avLst>
              <a:gd name="adj" fmla="val 12727"/>
            </a:avLst>
          </a:prstGeom>
          <a:solidFill>
            <a:srgbClr val="1E2761"/>
          </a:solidFill>
          <a:ln/>
        </p:spPr>
      </p:sp>
      <p:sp>
        <p:nvSpPr>
          <p:cNvPr id="16" name="Text 14"/>
          <p:cNvSpPr/>
          <p:nvPr/>
        </p:nvSpPr>
        <p:spPr>
          <a:xfrm>
            <a:off x="548640" y="3931920"/>
            <a:ext cx="502920" cy="105156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p:nvPr/>
        </p:nvSpPr>
        <p:spPr>
          <a:xfrm>
            <a:off x="1280160" y="4059936"/>
            <a:ext cx="3291840" cy="795528"/>
          </a:xfrm>
          <a:prstGeom prst="rect">
            <a:avLst/>
          </a:prstGeom>
          <a:noFill/>
          <a:ln/>
        </p:spPr>
        <p:txBody>
          <a:bodyPr wrap="square"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Deterministic Cache Governance</a:t>
            </a:r>
            <a:endParaRPr lang="en-US" sz="1350" dirty="0"/>
          </a:p>
        </p:txBody>
      </p:sp>
      <p:sp>
        <p:nvSpPr>
          <p:cNvPr id="18" name="Text 16"/>
          <p:cNvSpPr/>
          <p:nvPr/>
        </p:nvSpPr>
        <p:spPr>
          <a:xfrm>
            <a:off x="4709160" y="4059936"/>
            <a:ext cx="6720840" cy="795528"/>
          </a:xfrm>
          <a:prstGeom prst="rect">
            <a:avLst/>
          </a:prstGeom>
          <a:noFill/>
          <a:ln/>
        </p:spPr>
        <p:txBody>
          <a:bodyPr wrap="square" rtlCol="0" anchor="ctr"/>
          <a:lstStyle/>
          <a:p>
            <a:pPr indent="0" marL="0">
              <a:lnSpc>
                <a:spcPct val="115000"/>
              </a:lnSpc>
              <a:buNone/>
            </a:pPr>
            <a:r>
              <a:rPr lang="en-US" sz="1100" dirty="0">
                <a:solidFill>
                  <a:srgbClr val="44506B"/>
                </a:solidFill>
                <a:latin typeface="Calibri" pitchFamily="34" charset="0"/>
                <a:ea typeface="Calibri" pitchFamily="34" charset="-122"/>
                <a:cs typeface="Calibri" pitchFamily="34" charset="-120"/>
              </a:rPr>
              <a:t>Mandate ttlMs and cacheScope on all resource and tool lists to control downstream prompt token cost and eliminate cache-key collisions.</a:t>
            </a:r>
            <a:endParaRPr lang="en-US" sz="1100" dirty="0"/>
          </a:p>
        </p:txBody>
      </p:sp>
      <p:sp>
        <p:nvSpPr>
          <p:cNvPr id="19" name="Shape 17"/>
          <p:cNvSpPr/>
          <p:nvPr/>
        </p:nvSpPr>
        <p:spPr>
          <a:xfrm>
            <a:off x="548640" y="5120640"/>
            <a:ext cx="11064240" cy="1051560"/>
          </a:xfrm>
          <a:prstGeom prst="roundRect">
            <a:avLst>
              <a:gd name="adj" fmla="val 6087"/>
            </a:avLst>
          </a:prstGeom>
          <a:solidFill>
            <a:srgbClr val="F4F6FB"/>
          </a:solidFill>
          <a:ln w="12700">
            <a:solidFill>
              <a:srgbClr val="CADCFC"/>
            </a:solidFill>
            <a:prstDash val="solid"/>
          </a:ln>
        </p:spPr>
      </p:sp>
      <p:sp>
        <p:nvSpPr>
          <p:cNvPr id="20" name="Shape 18"/>
          <p:cNvSpPr/>
          <p:nvPr/>
        </p:nvSpPr>
        <p:spPr>
          <a:xfrm>
            <a:off x="548640" y="5120640"/>
            <a:ext cx="502920" cy="1051560"/>
          </a:xfrm>
          <a:prstGeom prst="roundRect">
            <a:avLst>
              <a:gd name="adj" fmla="val 12727"/>
            </a:avLst>
          </a:prstGeom>
          <a:solidFill>
            <a:srgbClr val="1E2761"/>
          </a:solidFill>
          <a:ln/>
        </p:spPr>
      </p:sp>
      <p:sp>
        <p:nvSpPr>
          <p:cNvPr id="21" name="Text 19"/>
          <p:cNvSpPr/>
          <p:nvPr/>
        </p:nvSpPr>
        <p:spPr>
          <a:xfrm>
            <a:off x="548640" y="5120640"/>
            <a:ext cx="502920" cy="105156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2" name="Text 20"/>
          <p:cNvSpPr/>
          <p:nvPr/>
        </p:nvSpPr>
        <p:spPr>
          <a:xfrm>
            <a:off x="1280160" y="5248656"/>
            <a:ext cx="3291840" cy="795528"/>
          </a:xfrm>
          <a:prstGeom prst="rect">
            <a:avLst/>
          </a:prstGeom>
          <a:noFill/>
          <a:ln/>
        </p:spPr>
        <p:txBody>
          <a:bodyPr wrap="square"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Egress Rate-Limiting &amp; Cost Control</a:t>
            </a:r>
            <a:endParaRPr lang="en-US" sz="1350" dirty="0"/>
          </a:p>
        </p:txBody>
      </p:sp>
      <p:sp>
        <p:nvSpPr>
          <p:cNvPr id="23" name="Text 21"/>
          <p:cNvSpPr/>
          <p:nvPr/>
        </p:nvSpPr>
        <p:spPr>
          <a:xfrm>
            <a:off x="4709160" y="5248656"/>
            <a:ext cx="6720840" cy="795528"/>
          </a:xfrm>
          <a:prstGeom prst="rect">
            <a:avLst/>
          </a:prstGeom>
          <a:noFill/>
          <a:ln/>
        </p:spPr>
        <p:txBody>
          <a:bodyPr wrap="square" rtlCol="0" anchor="ctr"/>
          <a:lstStyle/>
          <a:p>
            <a:pPr indent="0" marL="0">
              <a:lnSpc>
                <a:spcPct val="115000"/>
              </a:lnSpc>
              <a:buNone/>
            </a:pPr>
            <a:r>
              <a:rPr lang="en-US" sz="1100" dirty="0">
                <a:solidFill>
                  <a:srgbClr val="44506B"/>
                </a:solidFill>
                <a:latin typeface="Calibri" pitchFamily="34" charset="0"/>
                <a:ea typeface="Calibri" pitchFamily="34" charset="-122"/>
                <a:cs typeface="Calibri" pitchFamily="34" charset="-120"/>
              </a:rPr>
              <a:t>Use standard 429 responses, enabled by header-based metering, to prevent runaway agent loops from consuming enterprise API budgets.</a:t>
            </a:r>
            <a:endParaRPr lang="en-US" sz="1100" dirty="0"/>
          </a:p>
        </p:txBody>
      </p:sp>
      <p:sp>
        <p:nvSpPr>
          <p:cNvPr id="25" name="Text 22"/>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8A93AC"/>
                </a:solidFill>
                <a:latin typeface="Calibri" pitchFamily="34" charset="0"/>
                <a:ea typeface="Calibri" pitchFamily="34" charset="-122"/>
                <a:cs typeface="Calibri" pitchFamily="34" charset="-120"/>
              </a:rPr>
              <a:t>MCP 2026-07-28  |  Enterprise Security Architecture Briefing</a:t>
            </a:r>
            <a:endParaRPr lang="en-US" sz="900" dirty="0"/>
          </a:p>
        </p:txBody>
      </p:sp>
      <p:sp>
        <p:nvSpPr>
          <p:cNvPr id="26" name="Text 23"/>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8A93AC"/>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229600" cy="274320"/>
          </a:xfrm>
          <a:prstGeom prst="rect">
            <a:avLst/>
          </a:prstGeom>
          <a:noFill/>
          <a:ln/>
        </p:spPr>
        <p:txBody>
          <a:bodyPr wrap="square" rtlCol="0" anchor="ctr"/>
          <a:lstStyle/>
          <a:p>
            <a:pPr indent="0" marL="0">
              <a:buNone/>
            </a:pPr>
            <a:r>
              <a:rPr lang="en-US" sz="1200" b="1" spc="200" kern="0" dirty="0">
                <a:solidFill>
                  <a:srgbClr val="44506B"/>
                </a:solidFill>
                <a:latin typeface="Calibri" pitchFamily="34" charset="0"/>
                <a:ea typeface="Calibri" pitchFamily="34" charset="-122"/>
                <a:cs typeface="Calibri" pitchFamily="34" charset="-120"/>
              </a:rPr>
              <a:t>ENTERPRISE READINESS</a:t>
            </a:r>
            <a:endParaRPr lang="en-US" sz="1200" dirty="0"/>
          </a:p>
        </p:txBody>
      </p:sp>
      <p:sp>
        <p:nvSpPr>
          <p:cNvPr id="3" name="Text 1"/>
          <p:cNvSpPr/>
          <p:nvPr/>
        </p:nvSpPr>
        <p:spPr>
          <a:xfrm>
            <a:off x="548640" y="566928"/>
            <a:ext cx="1106424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Migration &amp; governance checklist</a:t>
            </a:r>
            <a:endParaRPr lang="en-US" sz="3000" dirty="0"/>
          </a:p>
        </p:txBody>
      </p:sp>
      <p:sp>
        <p:nvSpPr>
          <p:cNvPr id="4" name="Shape 2"/>
          <p:cNvSpPr/>
          <p:nvPr/>
        </p:nvSpPr>
        <p:spPr>
          <a:xfrm>
            <a:off x="548640" y="1600200"/>
            <a:ext cx="5349240" cy="868680"/>
          </a:xfrm>
          <a:prstGeom prst="roundRect">
            <a:avLst>
              <a:gd name="adj" fmla="val 7368"/>
            </a:avLst>
          </a:prstGeom>
          <a:solidFill>
            <a:srgbClr val="F4F6FB"/>
          </a:solidFill>
          <a:ln w="12700">
            <a:solidFill>
              <a:srgbClr val="CADCFC"/>
            </a:solidFill>
            <a:prstDash val="solid"/>
          </a:ln>
        </p:spPr>
      </p:sp>
      <p:sp>
        <p:nvSpPr>
          <p:cNvPr id="5" name="Shape 3"/>
          <p:cNvSpPr/>
          <p:nvPr/>
        </p:nvSpPr>
        <p:spPr>
          <a:xfrm>
            <a:off x="731520" y="1897380"/>
            <a:ext cx="274320" cy="274320"/>
          </a:xfrm>
          <a:prstGeom prst="roundRect">
            <a:avLst>
              <a:gd name="adj" fmla="val 20000"/>
            </a:avLst>
          </a:prstGeom>
          <a:solidFill>
            <a:srgbClr val="FFFFFF"/>
          </a:solidFill>
          <a:ln w="19050">
            <a:solidFill>
              <a:srgbClr val="1E2761"/>
            </a:solidFill>
            <a:prstDash val="solid"/>
          </a:ln>
        </p:spPr>
      </p:sp>
      <p:sp>
        <p:nvSpPr>
          <p:cNvPr id="6" name="Text 4"/>
          <p:cNvSpPr/>
          <p:nvPr/>
        </p:nvSpPr>
        <p:spPr>
          <a:xfrm>
            <a:off x="1143000" y="1673352"/>
            <a:ext cx="4526280" cy="722376"/>
          </a:xfrm>
          <a:prstGeom prst="rect">
            <a:avLst/>
          </a:prstGeom>
          <a:noFill/>
          <a:ln/>
        </p:spPr>
        <p:txBody>
          <a:bodyPr wrap="square" rtlCol="0" anchor="ctr"/>
          <a:lstStyle/>
          <a:p>
            <a:pPr indent="0" marL="0">
              <a:lnSpc>
                <a:spcPct val="110000"/>
              </a:lnSpc>
              <a:buNone/>
            </a:pPr>
            <a:r>
              <a:rPr lang="en-US" sz="1200" dirty="0">
                <a:solidFill>
                  <a:srgbClr val="44506B"/>
                </a:solidFill>
                <a:latin typeface="Calibri" pitchFamily="34" charset="0"/>
                <a:ea typeface="Calibri" pitchFamily="34" charset="-122"/>
                <a:cs typeface="Calibri" pitchFamily="34" charset="-120"/>
              </a:rPr>
              <a:t>Upgrade to SDK v2.x (pin mcp&gt;=2.0.0); replace legacy FastMCP with MCPServer</a:t>
            </a:r>
            <a:endParaRPr lang="en-US" sz="1200" dirty="0"/>
          </a:p>
        </p:txBody>
      </p:sp>
      <p:sp>
        <p:nvSpPr>
          <p:cNvPr id="7" name="Shape 5"/>
          <p:cNvSpPr/>
          <p:nvPr/>
        </p:nvSpPr>
        <p:spPr>
          <a:xfrm>
            <a:off x="6263640" y="1600200"/>
            <a:ext cx="5349240" cy="868680"/>
          </a:xfrm>
          <a:prstGeom prst="roundRect">
            <a:avLst>
              <a:gd name="adj" fmla="val 7368"/>
            </a:avLst>
          </a:prstGeom>
          <a:solidFill>
            <a:srgbClr val="F4F6FB"/>
          </a:solidFill>
          <a:ln w="12700">
            <a:solidFill>
              <a:srgbClr val="CADCFC"/>
            </a:solidFill>
            <a:prstDash val="solid"/>
          </a:ln>
        </p:spPr>
      </p:sp>
      <p:sp>
        <p:nvSpPr>
          <p:cNvPr id="8" name="Shape 6"/>
          <p:cNvSpPr/>
          <p:nvPr/>
        </p:nvSpPr>
        <p:spPr>
          <a:xfrm>
            <a:off x="6446520" y="1897380"/>
            <a:ext cx="274320" cy="274320"/>
          </a:xfrm>
          <a:prstGeom prst="roundRect">
            <a:avLst>
              <a:gd name="adj" fmla="val 20000"/>
            </a:avLst>
          </a:prstGeom>
          <a:solidFill>
            <a:srgbClr val="FFFFFF"/>
          </a:solidFill>
          <a:ln w="19050">
            <a:solidFill>
              <a:srgbClr val="1E2761"/>
            </a:solidFill>
            <a:prstDash val="solid"/>
          </a:ln>
        </p:spPr>
      </p:sp>
      <p:sp>
        <p:nvSpPr>
          <p:cNvPr id="9" name="Text 7"/>
          <p:cNvSpPr/>
          <p:nvPr/>
        </p:nvSpPr>
        <p:spPr>
          <a:xfrm>
            <a:off x="6858000" y="1673352"/>
            <a:ext cx="4526280" cy="722376"/>
          </a:xfrm>
          <a:prstGeom prst="rect">
            <a:avLst/>
          </a:prstGeom>
          <a:noFill/>
          <a:ln/>
        </p:spPr>
        <p:txBody>
          <a:bodyPr wrap="square" rtlCol="0" anchor="ctr"/>
          <a:lstStyle/>
          <a:p>
            <a:pPr indent="0" marL="0">
              <a:lnSpc>
                <a:spcPct val="110000"/>
              </a:lnSpc>
              <a:buNone/>
            </a:pPr>
            <a:r>
              <a:rPr lang="en-US" sz="1200" dirty="0">
                <a:solidFill>
                  <a:srgbClr val="44506B"/>
                </a:solidFill>
                <a:latin typeface="Calibri" pitchFamily="34" charset="0"/>
                <a:ea typeface="Calibri" pitchFamily="34" charset="-122"/>
                <a:cs typeface="Calibri" pitchFamily="34" charset="-120"/>
              </a:rPr>
              <a:t>Decommission sticky sessions, ARR affinity, and shared Redis session stores</a:t>
            </a:r>
            <a:endParaRPr lang="en-US" sz="1200" dirty="0"/>
          </a:p>
        </p:txBody>
      </p:sp>
      <p:sp>
        <p:nvSpPr>
          <p:cNvPr id="10" name="Shape 8"/>
          <p:cNvSpPr/>
          <p:nvPr/>
        </p:nvSpPr>
        <p:spPr>
          <a:xfrm>
            <a:off x="548640" y="2633472"/>
            <a:ext cx="5349240" cy="868680"/>
          </a:xfrm>
          <a:prstGeom prst="roundRect">
            <a:avLst>
              <a:gd name="adj" fmla="val 7368"/>
            </a:avLst>
          </a:prstGeom>
          <a:solidFill>
            <a:srgbClr val="F4F6FB"/>
          </a:solidFill>
          <a:ln w="12700">
            <a:solidFill>
              <a:srgbClr val="CADCFC"/>
            </a:solidFill>
            <a:prstDash val="solid"/>
          </a:ln>
        </p:spPr>
      </p:sp>
      <p:sp>
        <p:nvSpPr>
          <p:cNvPr id="11" name="Shape 9"/>
          <p:cNvSpPr/>
          <p:nvPr/>
        </p:nvSpPr>
        <p:spPr>
          <a:xfrm>
            <a:off x="731520" y="2930652"/>
            <a:ext cx="274320" cy="274320"/>
          </a:xfrm>
          <a:prstGeom prst="roundRect">
            <a:avLst>
              <a:gd name="adj" fmla="val 20000"/>
            </a:avLst>
          </a:prstGeom>
          <a:solidFill>
            <a:srgbClr val="FFFFFF"/>
          </a:solidFill>
          <a:ln w="19050">
            <a:solidFill>
              <a:srgbClr val="1E2761"/>
            </a:solidFill>
            <a:prstDash val="solid"/>
          </a:ln>
        </p:spPr>
      </p:sp>
      <p:sp>
        <p:nvSpPr>
          <p:cNvPr id="12" name="Text 10"/>
          <p:cNvSpPr/>
          <p:nvPr/>
        </p:nvSpPr>
        <p:spPr>
          <a:xfrm>
            <a:off x="1143000" y="2706624"/>
            <a:ext cx="4526280" cy="722376"/>
          </a:xfrm>
          <a:prstGeom prst="rect">
            <a:avLst/>
          </a:prstGeom>
          <a:noFill/>
          <a:ln/>
        </p:spPr>
        <p:txBody>
          <a:bodyPr wrap="square" rtlCol="0" anchor="ctr"/>
          <a:lstStyle/>
          <a:p>
            <a:pPr indent="0" marL="0">
              <a:lnSpc>
                <a:spcPct val="110000"/>
              </a:lnSpc>
              <a:buNone/>
            </a:pPr>
            <a:r>
              <a:rPr lang="en-US" sz="1200" dirty="0">
                <a:solidFill>
                  <a:srgbClr val="44506B"/>
                </a:solidFill>
                <a:latin typeface="Calibri" pitchFamily="34" charset="0"/>
                <a:ea typeface="Calibri" pitchFamily="34" charset="-122"/>
                <a:cs typeface="Calibri" pitchFamily="34" charset="-120"/>
              </a:rPr>
              <a:t>Audit for ctx.elicit() / create_message() — refactor to MRTR input_required flow</a:t>
            </a:r>
            <a:endParaRPr lang="en-US" sz="1200" dirty="0"/>
          </a:p>
        </p:txBody>
      </p:sp>
      <p:sp>
        <p:nvSpPr>
          <p:cNvPr id="13" name="Shape 11"/>
          <p:cNvSpPr/>
          <p:nvPr/>
        </p:nvSpPr>
        <p:spPr>
          <a:xfrm>
            <a:off x="6263640" y="2633472"/>
            <a:ext cx="5349240" cy="868680"/>
          </a:xfrm>
          <a:prstGeom prst="roundRect">
            <a:avLst>
              <a:gd name="adj" fmla="val 7368"/>
            </a:avLst>
          </a:prstGeom>
          <a:solidFill>
            <a:srgbClr val="F4F6FB"/>
          </a:solidFill>
          <a:ln w="12700">
            <a:solidFill>
              <a:srgbClr val="CADCFC"/>
            </a:solidFill>
            <a:prstDash val="solid"/>
          </a:ln>
        </p:spPr>
      </p:sp>
      <p:sp>
        <p:nvSpPr>
          <p:cNvPr id="14" name="Shape 12"/>
          <p:cNvSpPr/>
          <p:nvPr/>
        </p:nvSpPr>
        <p:spPr>
          <a:xfrm>
            <a:off x="6446520" y="2930652"/>
            <a:ext cx="274320" cy="274320"/>
          </a:xfrm>
          <a:prstGeom prst="roundRect">
            <a:avLst>
              <a:gd name="adj" fmla="val 20000"/>
            </a:avLst>
          </a:prstGeom>
          <a:solidFill>
            <a:srgbClr val="FFFFFF"/>
          </a:solidFill>
          <a:ln w="19050">
            <a:solidFill>
              <a:srgbClr val="1E2761"/>
            </a:solidFill>
            <a:prstDash val="solid"/>
          </a:ln>
        </p:spPr>
      </p:sp>
      <p:sp>
        <p:nvSpPr>
          <p:cNvPr id="15" name="Text 13"/>
          <p:cNvSpPr/>
          <p:nvPr/>
        </p:nvSpPr>
        <p:spPr>
          <a:xfrm>
            <a:off x="6858000" y="2706624"/>
            <a:ext cx="4526280" cy="722376"/>
          </a:xfrm>
          <a:prstGeom prst="rect">
            <a:avLst/>
          </a:prstGeom>
          <a:noFill/>
          <a:ln/>
        </p:spPr>
        <p:txBody>
          <a:bodyPr wrap="square" rtlCol="0" anchor="ctr"/>
          <a:lstStyle/>
          <a:p>
            <a:pPr indent="0" marL="0">
              <a:lnSpc>
                <a:spcPct val="110000"/>
              </a:lnSpc>
              <a:buNone/>
            </a:pPr>
            <a:r>
              <a:rPr lang="en-US" sz="1200" dirty="0">
                <a:solidFill>
                  <a:srgbClr val="44506B"/>
                </a:solidFill>
                <a:latin typeface="Calibri" pitchFamily="34" charset="0"/>
                <a:ea typeface="Calibri" pitchFamily="34" charset="-122"/>
                <a:cs typeface="Calibri" pitchFamily="34" charset="-120"/>
              </a:rPr>
              <a:t>Cryptographically sign (HMAC) every state handle; scope it to caller tenant</a:t>
            </a:r>
            <a:endParaRPr lang="en-US" sz="1200" dirty="0"/>
          </a:p>
        </p:txBody>
      </p:sp>
      <p:sp>
        <p:nvSpPr>
          <p:cNvPr id="16" name="Shape 14"/>
          <p:cNvSpPr/>
          <p:nvPr/>
        </p:nvSpPr>
        <p:spPr>
          <a:xfrm>
            <a:off x="548640" y="3666744"/>
            <a:ext cx="5349240" cy="868680"/>
          </a:xfrm>
          <a:prstGeom prst="roundRect">
            <a:avLst>
              <a:gd name="adj" fmla="val 7368"/>
            </a:avLst>
          </a:prstGeom>
          <a:solidFill>
            <a:srgbClr val="F4F6FB"/>
          </a:solidFill>
          <a:ln w="12700">
            <a:solidFill>
              <a:srgbClr val="CADCFC"/>
            </a:solidFill>
            <a:prstDash val="solid"/>
          </a:ln>
        </p:spPr>
      </p:sp>
      <p:sp>
        <p:nvSpPr>
          <p:cNvPr id="17" name="Shape 15"/>
          <p:cNvSpPr/>
          <p:nvPr/>
        </p:nvSpPr>
        <p:spPr>
          <a:xfrm>
            <a:off x="731520" y="3963924"/>
            <a:ext cx="274320" cy="274320"/>
          </a:xfrm>
          <a:prstGeom prst="roundRect">
            <a:avLst>
              <a:gd name="adj" fmla="val 20000"/>
            </a:avLst>
          </a:prstGeom>
          <a:solidFill>
            <a:srgbClr val="FFFFFF"/>
          </a:solidFill>
          <a:ln w="19050">
            <a:solidFill>
              <a:srgbClr val="1E2761"/>
            </a:solidFill>
            <a:prstDash val="solid"/>
          </a:ln>
        </p:spPr>
      </p:sp>
      <p:sp>
        <p:nvSpPr>
          <p:cNvPr id="18" name="Text 16"/>
          <p:cNvSpPr/>
          <p:nvPr/>
        </p:nvSpPr>
        <p:spPr>
          <a:xfrm>
            <a:off x="1143000" y="3739896"/>
            <a:ext cx="4526280" cy="722376"/>
          </a:xfrm>
          <a:prstGeom prst="rect">
            <a:avLst/>
          </a:prstGeom>
          <a:noFill/>
          <a:ln/>
        </p:spPr>
        <p:txBody>
          <a:bodyPr wrap="square" rtlCol="0" anchor="ctr"/>
          <a:lstStyle/>
          <a:p>
            <a:pPr indent="0" marL="0">
              <a:lnSpc>
                <a:spcPct val="110000"/>
              </a:lnSpc>
              <a:buNone/>
            </a:pPr>
            <a:r>
              <a:rPr lang="en-US" sz="1200" dirty="0">
                <a:solidFill>
                  <a:srgbClr val="44506B"/>
                </a:solidFill>
                <a:latin typeface="Calibri" pitchFamily="34" charset="0"/>
                <a:ea typeface="Calibri" pitchFamily="34" charset="-122"/>
                <a:cs typeface="Calibri" pitchFamily="34" charset="-120"/>
              </a:rPr>
              <a:t>Update Envoy/WAF routing to key off Mcp-Method, Mcp-Name, MCP-Protocol-Version</a:t>
            </a:r>
            <a:endParaRPr lang="en-US" sz="1200" dirty="0"/>
          </a:p>
        </p:txBody>
      </p:sp>
      <p:sp>
        <p:nvSpPr>
          <p:cNvPr id="19" name="Shape 17"/>
          <p:cNvSpPr/>
          <p:nvPr/>
        </p:nvSpPr>
        <p:spPr>
          <a:xfrm>
            <a:off x="6263640" y="3666744"/>
            <a:ext cx="5349240" cy="868680"/>
          </a:xfrm>
          <a:prstGeom prst="roundRect">
            <a:avLst>
              <a:gd name="adj" fmla="val 7368"/>
            </a:avLst>
          </a:prstGeom>
          <a:solidFill>
            <a:srgbClr val="F4F6FB"/>
          </a:solidFill>
          <a:ln w="12700">
            <a:solidFill>
              <a:srgbClr val="CADCFC"/>
            </a:solidFill>
            <a:prstDash val="solid"/>
          </a:ln>
        </p:spPr>
      </p:sp>
      <p:sp>
        <p:nvSpPr>
          <p:cNvPr id="20" name="Shape 18"/>
          <p:cNvSpPr/>
          <p:nvPr/>
        </p:nvSpPr>
        <p:spPr>
          <a:xfrm>
            <a:off x="6446520" y="3963924"/>
            <a:ext cx="274320" cy="274320"/>
          </a:xfrm>
          <a:prstGeom prst="roundRect">
            <a:avLst>
              <a:gd name="adj" fmla="val 20000"/>
            </a:avLst>
          </a:prstGeom>
          <a:solidFill>
            <a:srgbClr val="FFFFFF"/>
          </a:solidFill>
          <a:ln w="19050">
            <a:solidFill>
              <a:srgbClr val="1E2761"/>
            </a:solidFill>
            <a:prstDash val="solid"/>
          </a:ln>
        </p:spPr>
      </p:sp>
      <p:sp>
        <p:nvSpPr>
          <p:cNvPr id="21" name="Text 19"/>
          <p:cNvSpPr/>
          <p:nvPr/>
        </p:nvSpPr>
        <p:spPr>
          <a:xfrm>
            <a:off x="6858000" y="3739896"/>
            <a:ext cx="4526280" cy="722376"/>
          </a:xfrm>
          <a:prstGeom prst="rect">
            <a:avLst/>
          </a:prstGeom>
          <a:noFill/>
          <a:ln/>
        </p:spPr>
        <p:txBody>
          <a:bodyPr wrap="square" rtlCol="0" anchor="ctr"/>
          <a:lstStyle/>
          <a:p>
            <a:pPr indent="0" marL="0">
              <a:lnSpc>
                <a:spcPct val="110000"/>
              </a:lnSpc>
              <a:buNone/>
            </a:pPr>
            <a:r>
              <a:rPr lang="en-US" sz="1200" dirty="0">
                <a:solidFill>
                  <a:srgbClr val="44506B"/>
                </a:solidFill>
                <a:latin typeface="Calibri" pitchFamily="34" charset="0"/>
                <a:ea typeface="Calibri" pitchFamily="34" charset="-122"/>
                <a:cs typeface="Calibri" pitchFamily="34" charset="-120"/>
              </a:rPr>
              <a:t>Validate iss (RFC 9207) on every client; plan the DCR → CIMD migration</a:t>
            </a:r>
            <a:endParaRPr lang="en-US" sz="1200" dirty="0"/>
          </a:p>
        </p:txBody>
      </p:sp>
      <p:sp>
        <p:nvSpPr>
          <p:cNvPr id="23" name="Text 20"/>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8A93AC"/>
                </a:solidFill>
                <a:latin typeface="Calibri" pitchFamily="34" charset="0"/>
                <a:ea typeface="Calibri" pitchFamily="34" charset="-122"/>
                <a:cs typeface="Calibri" pitchFamily="34" charset="-120"/>
              </a:rPr>
              <a:t>MCP 2026-07-28  |  Enterprise Security Architecture Briefing</a:t>
            </a:r>
            <a:endParaRPr lang="en-US" sz="900" dirty="0"/>
          </a:p>
        </p:txBody>
      </p:sp>
      <p:sp>
        <p:nvSpPr>
          <p:cNvPr id="24" name="Text 21"/>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8A93AC"/>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640080" y="502920"/>
            <a:ext cx="8229600" cy="365760"/>
          </a:xfrm>
          <a:prstGeom prst="rect">
            <a:avLst/>
          </a:prstGeom>
          <a:noFill/>
          <a:ln/>
        </p:spPr>
        <p:txBody>
          <a:bodyPr wrap="square"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SOURCES &amp; FURTHER READING</a:t>
            </a:r>
            <a:endParaRPr lang="en-US" sz="1300" dirty="0"/>
          </a:p>
        </p:txBody>
      </p:sp>
      <p:sp>
        <p:nvSpPr>
          <p:cNvPr id="3" name="Text 1"/>
          <p:cNvSpPr/>
          <p:nvPr/>
        </p:nvSpPr>
        <p:spPr>
          <a:xfrm>
            <a:off x="594360" y="822960"/>
            <a:ext cx="7315200" cy="64008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Appendix</a:t>
            </a:r>
            <a:endParaRPr lang="en-US" sz="2800" dirty="0"/>
          </a:p>
        </p:txBody>
      </p:sp>
      <p:sp>
        <p:nvSpPr>
          <p:cNvPr id="4" name="Text 2"/>
          <p:cNvSpPr/>
          <p:nvPr/>
        </p:nvSpPr>
        <p:spPr>
          <a:xfrm>
            <a:off x="640080" y="1691640"/>
            <a:ext cx="3017520" cy="548640"/>
          </a:xfrm>
          <a:prstGeom prst="rect">
            <a:avLst/>
          </a:prstGeom>
          <a:noFill/>
          <a:ln/>
        </p:spPr>
        <p:txBody>
          <a:bodyPr wrap="square" rtlCol="0" anchor="ctr"/>
          <a:lstStyle/>
          <a:p>
            <a:pPr indent="0" marL="0">
              <a:buNone/>
            </a:pPr>
            <a:r>
              <a:rPr lang="en-US" sz="1200" b="1" dirty="0">
                <a:solidFill>
                  <a:srgbClr val="F2B84B"/>
                </a:solidFill>
                <a:latin typeface="Calibri" pitchFamily="34" charset="0"/>
                <a:ea typeface="Calibri" pitchFamily="34" charset="-122"/>
                <a:cs typeface="Calibri" pitchFamily="34" charset="-120"/>
              </a:rPr>
              <a:t>Official specification</a:t>
            </a:r>
            <a:endParaRPr lang="en-US" sz="1200" dirty="0"/>
          </a:p>
        </p:txBody>
      </p:sp>
      <p:sp>
        <p:nvSpPr>
          <p:cNvPr id="5" name="Text 3"/>
          <p:cNvSpPr/>
          <p:nvPr/>
        </p:nvSpPr>
        <p:spPr>
          <a:xfrm>
            <a:off x="3749040" y="1691640"/>
            <a:ext cx="7772400" cy="548640"/>
          </a:xfrm>
          <a:prstGeom prst="rect">
            <a:avLst/>
          </a:prstGeom>
          <a:noFill/>
          <a:ln/>
        </p:spPr>
        <p:txBody>
          <a:bodyPr wrap="square" rtlCol="0" anchor="ctr"/>
          <a:lstStyle/>
          <a:p>
            <a:pPr indent="0" marL="0">
              <a:lnSpc>
                <a:spcPct val="110000"/>
              </a:lnSpc>
              <a:buNone/>
            </a:pPr>
            <a:r>
              <a:rPr lang="en-US" sz="1200" dirty="0">
                <a:solidFill>
                  <a:srgbClr val="CADCFC"/>
                </a:solidFill>
                <a:latin typeface="Calibri" pitchFamily="34" charset="0"/>
                <a:ea typeface="Calibri" pitchFamily="34" charset="-122"/>
                <a:cs typeface="Calibri" pitchFamily="34" charset="-120"/>
              </a:rPr>
              <a:t>modelcontextprotocol.io/specification/2026-07-28 and its full changelog</a:t>
            </a:r>
            <a:endParaRPr lang="en-US" sz="1200" dirty="0"/>
          </a:p>
        </p:txBody>
      </p:sp>
      <p:sp>
        <p:nvSpPr>
          <p:cNvPr id="6" name="Text 4"/>
          <p:cNvSpPr/>
          <p:nvPr/>
        </p:nvSpPr>
        <p:spPr>
          <a:xfrm>
            <a:off x="640080" y="2350008"/>
            <a:ext cx="3017520" cy="548640"/>
          </a:xfrm>
          <a:prstGeom prst="rect">
            <a:avLst/>
          </a:prstGeom>
          <a:noFill/>
          <a:ln/>
        </p:spPr>
        <p:txBody>
          <a:bodyPr wrap="square" rtlCol="0" anchor="ctr"/>
          <a:lstStyle/>
          <a:p>
            <a:pPr indent="0" marL="0">
              <a:buNone/>
            </a:pPr>
            <a:r>
              <a:rPr lang="en-US" sz="1200" b="1" dirty="0">
                <a:solidFill>
                  <a:srgbClr val="F2B84B"/>
                </a:solidFill>
                <a:latin typeface="Calibri" pitchFamily="34" charset="0"/>
                <a:ea typeface="Calibri" pitchFamily="34" charset="-122"/>
                <a:cs typeface="Calibri" pitchFamily="34" charset="-120"/>
              </a:rPr>
              <a:t>Release announcement</a:t>
            </a:r>
            <a:endParaRPr lang="en-US" sz="1200" dirty="0"/>
          </a:p>
        </p:txBody>
      </p:sp>
      <p:sp>
        <p:nvSpPr>
          <p:cNvPr id="7" name="Text 5"/>
          <p:cNvSpPr/>
          <p:nvPr/>
        </p:nvSpPr>
        <p:spPr>
          <a:xfrm>
            <a:off x="3749040" y="2350008"/>
            <a:ext cx="7772400" cy="548640"/>
          </a:xfrm>
          <a:prstGeom prst="rect">
            <a:avLst/>
          </a:prstGeom>
          <a:noFill/>
          <a:ln/>
        </p:spPr>
        <p:txBody>
          <a:bodyPr wrap="square" rtlCol="0" anchor="ctr"/>
          <a:lstStyle/>
          <a:p>
            <a:pPr indent="0" marL="0">
              <a:lnSpc>
                <a:spcPct val="110000"/>
              </a:lnSpc>
              <a:buNone/>
            </a:pPr>
            <a:r>
              <a:rPr lang="en-US" sz="1200" dirty="0">
                <a:solidFill>
                  <a:srgbClr val="CADCFC"/>
                </a:solidFill>
                <a:latin typeface="Calibri" pitchFamily="34" charset="0"/>
                <a:ea typeface="Calibri" pitchFamily="34" charset="-122"/>
                <a:cs typeface="Calibri" pitchFamily="34" charset="-120"/>
              </a:rPr>
              <a:t>blog.modelcontextprotocol.io/posts/2026-07-28/</a:t>
            </a:r>
            <a:endParaRPr lang="en-US" sz="1200" dirty="0"/>
          </a:p>
        </p:txBody>
      </p:sp>
      <p:sp>
        <p:nvSpPr>
          <p:cNvPr id="8" name="Text 6"/>
          <p:cNvSpPr/>
          <p:nvPr/>
        </p:nvSpPr>
        <p:spPr>
          <a:xfrm>
            <a:off x="640080" y="3008376"/>
            <a:ext cx="3017520" cy="548640"/>
          </a:xfrm>
          <a:prstGeom prst="rect">
            <a:avLst/>
          </a:prstGeom>
          <a:noFill/>
          <a:ln/>
        </p:spPr>
        <p:txBody>
          <a:bodyPr wrap="square" rtlCol="0" anchor="ctr"/>
          <a:lstStyle/>
          <a:p>
            <a:pPr indent="0" marL="0">
              <a:buNone/>
            </a:pPr>
            <a:r>
              <a:rPr lang="en-US" sz="1200" b="1" dirty="0">
                <a:solidFill>
                  <a:srgbClr val="F2B84B"/>
                </a:solidFill>
                <a:latin typeface="Calibri" pitchFamily="34" charset="0"/>
                <a:ea typeface="Calibri" pitchFamily="34" charset="-122"/>
                <a:cs typeface="Calibri" pitchFamily="34" charset="-120"/>
              </a:rPr>
              <a:t>Practitioner analysis</a:t>
            </a:r>
            <a:endParaRPr lang="en-US" sz="1200" dirty="0"/>
          </a:p>
        </p:txBody>
      </p:sp>
      <p:sp>
        <p:nvSpPr>
          <p:cNvPr id="9" name="Text 7"/>
          <p:cNvSpPr/>
          <p:nvPr/>
        </p:nvSpPr>
        <p:spPr>
          <a:xfrm>
            <a:off x="3749040" y="3008376"/>
            <a:ext cx="7772400" cy="548640"/>
          </a:xfrm>
          <a:prstGeom prst="rect">
            <a:avLst/>
          </a:prstGeom>
          <a:noFill/>
          <a:ln/>
        </p:spPr>
        <p:txBody>
          <a:bodyPr wrap="square" rtlCol="0" anchor="ctr"/>
          <a:lstStyle/>
          <a:p>
            <a:pPr indent="0" marL="0">
              <a:lnSpc>
                <a:spcPct val="110000"/>
              </a:lnSpc>
              <a:buNone/>
            </a:pPr>
            <a:r>
              <a:rPr lang="en-US" sz="1200" dirty="0">
                <a:solidFill>
                  <a:srgbClr val="CADCFC"/>
                </a:solidFill>
                <a:latin typeface="Calibri" pitchFamily="34" charset="0"/>
                <a:ea typeface="Calibri" pitchFamily="34" charset="-122"/>
                <a:cs typeface="Calibri" pitchFamily="34" charset="-120"/>
              </a:rPr>
              <a:t>dev.to/krlz — “MCP Went Stateless: What the 2026-07-28 Spec Actually Changes”</a:t>
            </a:r>
            <a:endParaRPr lang="en-US" sz="1200" dirty="0"/>
          </a:p>
        </p:txBody>
      </p:sp>
      <p:sp>
        <p:nvSpPr>
          <p:cNvPr id="10" name="Text 8"/>
          <p:cNvSpPr/>
          <p:nvPr/>
        </p:nvSpPr>
        <p:spPr>
          <a:xfrm>
            <a:off x="640080" y="3666744"/>
            <a:ext cx="3017520" cy="548640"/>
          </a:xfrm>
          <a:prstGeom prst="rect">
            <a:avLst/>
          </a:prstGeom>
          <a:noFill/>
          <a:ln/>
        </p:spPr>
        <p:txBody>
          <a:bodyPr wrap="square" rtlCol="0" anchor="ctr"/>
          <a:lstStyle/>
          <a:p>
            <a:pPr indent="0" marL="0">
              <a:buNone/>
            </a:pPr>
            <a:r>
              <a:rPr lang="en-US" sz="1200" b="1" dirty="0">
                <a:solidFill>
                  <a:srgbClr val="F2B84B"/>
                </a:solidFill>
                <a:latin typeface="Calibri" pitchFamily="34" charset="0"/>
                <a:ea typeface="Calibri" pitchFamily="34" charset="-122"/>
                <a:cs typeface="Calibri" pitchFamily="34" charset="-120"/>
              </a:rPr>
              <a:t>Independent commentary</a:t>
            </a:r>
            <a:endParaRPr lang="en-US" sz="1200" dirty="0"/>
          </a:p>
        </p:txBody>
      </p:sp>
      <p:sp>
        <p:nvSpPr>
          <p:cNvPr id="11" name="Text 9"/>
          <p:cNvSpPr/>
          <p:nvPr/>
        </p:nvSpPr>
        <p:spPr>
          <a:xfrm>
            <a:off x="3749040" y="3666744"/>
            <a:ext cx="7772400" cy="548640"/>
          </a:xfrm>
          <a:prstGeom prst="rect">
            <a:avLst/>
          </a:prstGeom>
          <a:noFill/>
          <a:ln/>
        </p:spPr>
        <p:txBody>
          <a:bodyPr wrap="square" rtlCol="0" anchor="ctr"/>
          <a:lstStyle/>
          <a:p>
            <a:pPr indent="0" marL="0">
              <a:lnSpc>
                <a:spcPct val="110000"/>
              </a:lnSpc>
              <a:buNone/>
            </a:pPr>
            <a:r>
              <a:rPr lang="en-US" sz="1200" dirty="0">
                <a:solidFill>
                  <a:srgbClr val="CADCFC"/>
                </a:solidFill>
                <a:latin typeface="Calibri" pitchFamily="34" charset="0"/>
                <a:ea typeface="Calibri" pitchFamily="34" charset="-122"/>
                <a:cs typeface="Calibri" pitchFamily="34" charset="-120"/>
              </a:rPr>
              <a:t>Simon Willison, “Stateless MCP” (simonwillison.net, Jul 31 2026)</a:t>
            </a:r>
            <a:endParaRPr lang="en-US" sz="1200" dirty="0"/>
          </a:p>
        </p:txBody>
      </p:sp>
      <p:sp>
        <p:nvSpPr>
          <p:cNvPr id="12" name="Text 10"/>
          <p:cNvSpPr/>
          <p:nvPr/>
        </p:nvSpPr>
        <p:spPr>
          <a:xfrm>
            <a:off x="640080" y="4325112"/>
            <a:ext cx="3017520" cy="548640"/>
          </a:xfrm>
          <a:prstGeom prst="rect">
            <a:avLst/>
          </a:prstGeom>
          <a:noFill/>
          <a:ln/>
        </p:spPr>
        <p:txBody>
          <a:bodyPr wrap="square" rtlCol="0" anchor="ctr"/>
          <a:lstStyle/>
          <a:p>
            <a:pPr indent="0" marL="0">
              <a:buNone/>
            </a:pPr>
            <a:r>
              <a:rPr lang="en-US" sz="1200" b="1" dirty="0">
                <a:solidFill>
                  <a:srgbClr val="F2B84B"/>
                </a:solidFill>
                <a:latin typeface="Calibri" pitchFamily="34" charset="0"/>
                <a:ea typeface="Calibri" pitchFamily="34" charset="-122"/>
                <a:cs typeface="Calibri" pitchFamily="34" charset="-120"/>
              </a:rPr>
              <a:t>Threat taxonomy</a:t>
            </a:r>
            <a:endParaRPr lang="en-US" sz="1200" dirty="0"/>
          </a:p>
        </p:txBody>
      </p:sp>
      <p:sp>
        <p:nvSpPr>
          <p:cNvPr id="13" name="Text 11"/>
          <p:cNvSpPr/>
          <p:nvPr/>
        </p:nvSpPr>
        <p:spPr>
          <a:xfrm>
            <a:off x="3749040" y="4325112"/>
            <a:ext cx="7772400" cy="548640"/>
          </a:xfrm>
          <a:prstGeom prst="rect">
            <a:avLst/>
          </a:prstGeom>
          <a:noFill/>
          <a:ln/>
        </p:spPr>
        <p:txBody>
          <a:bodyPr wrap="square" rtlCol="0" anchor="ctr"/>
          <a:lstStyle/>
          <a:p>
            <a:pPr indent="0" marL="0">
              <a:lnSpc>
                <a:spcPct val="110000"/>
              </a:lnSpc>
              <a:buNone/>
            </a:pPr>
            <a:r>
              <a:rPr lang="en-US" sz="1200" dirty="0">
                <a:solidFill>
                  <a:srgbClr val="CADCFC"/>
                </a:solidFill>
                <a:latin typeface="Calibri" pitchFamily="34" charset="0"/>
                <a:ea typeface="Calibri" pitchFamily="34" charset="-122"/>
                <a:cs typeface="Calibri" pitchFamily="34" charset="-120"/>
              </a:rPr>
              <a:t>Hou, Zhao, Wang &amp; Wang, “MCP: Landscape, Security Threats &amp; Future Research Directions,” arXiv:2503.23278</a:t>
            </a:r>
            <a:endParaRPr lang="en-US" sz="1200" dirty="0"/>
          </a:p>
        </p:txBody>
      </p:sp>
      <p:sp>
        <p:nvSpPr>
          <p:cNvPr id="14" name="Text 12"/>
          <p:cNvSpPr/>
          <p:nvPr/>
        </p:nvSpPr>
        <p:spPr>
          <a:xfrm>
            <a:off x="640080" y="4983480"/>
            <a:ext cx="3017520" cy="548640"/>
          </a:xfrm>
          <a:prstGeom prst="rect">
            <a:avLst/>
          </a:prstGeom>
          <a:noFill/>
          <a:ln/>
        </p:spPr>
        <p:txBody>
          <a:bodyPr wrap="square" rtlCol="0" anchor="ctr"/>
          <a:lstStyle/>
          <a:p>
            <a:pPr indent="0" marL="0">
              <a:buNone/>
            </a:pPr>
            <a:r>
              <a:rPr lang="en-US" sz="1200" b="1" dirty="0">
                <a:solidFill>
                  <a:srgbClr val="F2B84B"/>
                </a:solidFill>
                <a:latin typeface="Calibri" pitchFamily="34" charset="0"/>
                <a:ea typeface="Calibri" pitchFamily="34" charset="-122"/>
                <a:cs typeface="Calibri" pitchFamily="34" charset="-120"/>
              </a:rPr>
              <a:t>Security benchmarks</a:t>
            </a:r>
            <a:endParaRPr lang="en-US" sz="1200" dirty="0"/>
          </a:p>
        </p:txBody>
      </p:sp>
      <p:sp>
        <p:nvSpPr>
          <p:cNvPr id="15" name="Text 13"/>
          <p:cNvSpPr/>
          <p:nvPr/>
        </p:nvSpPr>
        <p:spPr>
          <a:xfrm>
            <a:off x="3749040" y="4983480"/>
            <a:ext cx="7772400" cy="548640"/>
          </a:xfrm>
          <a:prstGeom prst="rect">
            <a:avLst/>
          </a:prstGeom>
          <a:noFill/>
          <a:ln/>
        </p:spPr>
        <p:txBody>
          <a:bodyPr wrap="square" rtlCol="0" anchor="ctr"/>
          <a:lstStyle/>
          <a:p>
            <a:pPr indent="0" marL="0">
              <a:lnSpc>
                <a:spcPct val="110000"/>
              </a:lnSpc>
              <a:buNone/>
            </a:pPr>
            <a:r>
              <a:rPr lang="en-US" sz="1200" dirty="0">
                <a:solidFill>
                  <a:srgbClr val="CADCFC"/>
                </a:solidFill>
                <a:latin typeface="Calibri" pitchFamily="34" charset="0"/>
                <a:ea typeface="Calibri" pitchFamily="34" charset="-122"/>
                <a:cs typeface="Calibri" pitchFamily="34" charset="-120"/>
              </a:rPr>
              <a:t>Radosevich &amp; Halloran, MCP Safety Audit (arXiv:2504.03767); Yang et al., MCPSecBench (arXiv:2508.13220)</a:t>
            </a:r>
            <a:endParaRPr lang="en-US" sz="1200" dirty="0"/>
          </a:p>
        </p:txBody>
      </p:sp>
      <p:sp>
        <p:nvSpPr>
          <p:cNvPr id="16" name="Text 14"/>
          <p:cNvSpPr/>
          <p:nvPr/>
        </p:nvSpPr>
        <p:spPr>
          <a:xfrm>
            <a:off x="640080" y="5989320"/>
            <a:ext cx="10881360" cy="548640"/>
          </a:xfrm>
          <a:prstGeom prst="rect">
            <a:avLst/>
          </a:prstGeom>
          <a:noFill/>
          <a:ln/>
        </p:spPr>
        <p:txBody>
          <a:bodyPr wrap="square" rtlCol="0" anchor="ctr"/>
          <a:lstStyle/>
          <a:p>
            <a:pPr indent="0" marL="0">
              <a:buNone/>
            </a:pPr>
            <a:r>
              <a:rPr lang="en-US" sz="1000" i="1" dirty="0">
                <a:solidFill>
                  <a:srgbClr val="8A93AC"/>
                </a:solidFill>
                <a:latin typeface="Calibri" pitchFamily="34" charset="0"/>
                <a:ea typeface="Calibri" pitchFamily="34" charset="-122"/>
                <a:cs typeface="Calibri" pitchFamily="34" charset="-120"/>
              </a:rPr>
              <a:t>Note: dates and version identifiers in this briefing reflect information available as of August 2026 and should be reconfirmed against the live specification before governance sign-off.</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2026-08-11T11:44:52Z</dcterms:created>
  <dcterms:modified xsi:type="dcterms:W3CDTF">2026-08-11T11:44:52Z</dcterms:modified>
</cp:coreProperties>
</file>