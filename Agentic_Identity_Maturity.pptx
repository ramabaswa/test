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64592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822960"/>
            <a:ext cx="3840480" cy="3840480"/>
          </a:xfrm>
          <a:prstGeom prst="ellipse">
            <a:avLst/>
          </a:prstGeom>
          <a:solidFill>
            <a:srgbClr val="232C66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-91440"/>
            <a:ext cx="2377440" cy="2377440"/>
          </a:xfrm>
          <a:prstGeom prst="ellipse">
            <a:avLst/>
          </a:prstGeom>
          <a:ln w="19050">
            <a:solidFill>
              <a:srgbClr val="2EC4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02920"/>
            <a:ext cx="7187184" cy="310896"/>
          </a:xfrm>
          <a:prstGeom prst="roundRect">
            <a:avLst>
              <a:gd name="adj" fmla="val 50000"/>
            </a:avLst>
          </a:prstGeom>
          <a:solidFill>
            <a:srgbClr val="2A335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7187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  ·  EXECUTIVE BRIEFING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Identity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530352" y="29718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Maturing Identity &amp; Access Management from Human-Centric to Agentic AI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48640" y="3977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7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OAuth, OIDC, and SAML break down for autonomous agents — and the staged roadmap to a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verifiable, zero-trust agent identity fabric.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309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F7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Adapted from Cloud Security Alliance, "Agentic AI Identity &amp; Access Management: A New Approach" (2025)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066544" cy="310896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IAM Was Never Built for Autonomous Agents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2.1, OIDC, and SAML assume a predictable human behind every session. Agentic AI breaks that assumption at every layer.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2670048" cy="2331720"/>
          </a:xfrm>
          <a:prstGeom prst="roundRect">
            <a:avLst>
              <a:gd name="adj" fmla="val 313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25400" dir="5400000">
              <a:srgbClr val="0B0F2E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04088" y="23774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home/claude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9631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4088" y="301752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Coarse Scopes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04088" y="3447288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scopes can't express "all photos from last week" or row-level SQL filters that agents need in real time.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74136" y="2148840"/>
            <a:ext cx="2670048" cy="2331720"/>
          </a:xfrm>
          <a:prstGeom prst="roundRect">
            <a:avLst>
              <a:gd name="adj" fmla="val 313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25400" dir="5400000">
              <a:srgbClr val="0B0F2E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75304" y="23774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76" y="249631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75304" y="301752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 Identity Model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75304" y="3447288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and SAML can't distinguish a human session from an autonomous agent acting on its own reasoning.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45352" y="2148840"/>
            <a:ext cx="2670048" cy="2331720"/>
          </a:xfrm>
          <a:prstGeom prst="roundRect">
            <a:avLst>
              <a:gd name="adj" fmla="val 313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25400" dir="5400000">
              <a:srgbClr val="0B0F2E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46520" y="23774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home/claude/icons/syn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49631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46520" y="301752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Time-Scoped, Not Usage-Scoped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46520" y="3447288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valid for the token lifetime (~1hr) regardless of behavior — agents can be compromised mid-session.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9116568" y="2148840"/>
            <a:ext cx="2670048" cy="2331720"/>
          </a:xfrm>
          <a:prstGeom prst="roundRect">
            <a:avLst>
              <a:gd name="adj" fmla="val 313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25400" dir="5400000">
              <a:srgbClr val="0B0F2E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317736" y="23774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3" descr="/home/claude/icons/netwo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2496312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17736" y="301752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Delegation Chains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9317736" y="3447288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Agent A spawns Agent B spawns Agent C, OAuth has no clear, auditable way to pass scoped authority downstream.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502920" y="47091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identity explosion, confused-deputy access, and audit trails that can't attribute action to agent instance.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Identity Maturity  |  Enterprise Architecture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Scale Problem Is Already Here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adoption is outrunning identity architecture — every metric points the same direction.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2670048" cy="3246120"/>
          </a:xfrm>
          <a:prstGeom prst="roundRect">
            <a:avLst>
              <a:gd name="adj" fmla="val 3425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2468880"/>
            <a:ext cx="2340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685800" y="3566160"/>
            <a:ext cx="2304288" cy="0"/>
          </a:xfrm>
          <a:prstGeom prst="line">
            <a:avLst/>
          </a:prstGeom>
          <a:noFill/>
          <a:ln w="12700">
            <a:solidFill>
              <a:srgbClr val="3740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703320"/>
            <a:ext cx="23042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enterprises expect to deploy AI agents within a year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983480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Allganize, 2025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74136" y="2148840"/>
            <a:ext cx="2670048" cy="3246120"/>
          </a:xfrm>
          <a:prstGeom prst="roundRect">
            <a:avLst>
              <a:gd name="adj" fmla="val 3425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538728" y="2468880"/>
            <a:ext cx="2340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148x</a:t>
            </a:r>
            <a:endParaRPr lang="en-US" sz="4400" dirty="0"/>
          </a:p>
        </p:txBody>
      </p:sp>
      <p:sp>
        <p:nvSpPr>
          <p:cNvPr id="13" name="Shape 11"/>
          <p:cNvSpPr/>
          <p:nvPr/>
        </p:nvSpPr>
        <p:spPr>
          <a:xfrm>
            <a:off x="3557016" y="3566160"/>
            <a:ext cx="2304288" cy="0"/>
          </a:xfrm>
          <a:prstGeom prst="line">
            <a:avLst/>
          </a:prstGeom>
          <a:noFill/>
          <a:ln w="12700">
            <a:solidFill>
              <a:srgbClr val="3740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57016" y="3703320"/>
            <a:ext cx="23042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authentication requests per hour from AI workloads vs. humans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57016" y="4983480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Okta benchmark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45352" y="2148840"/>
            <a:ext cx="2670048" cy="3246120"/>
          </a:xfrm>
          <a:prstGeom prst="roundRect">
            <a:avLst>
              <a:gd name="adj" fmla="val 3425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9944" y="2468880"/>
            <a:ext cx="2340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1000s</a:t>
            </a:r>
            <a:endParaRPr lang="en-US" sz="4400" dirty="0"/>
          </a:p>
        </p:txBody>
      </p:sp>
      <p:sp>
        <p:nvSpPr>
          <p:cNvPr id="18" name="Shape 16"/>
          <p:cNvSpPr/>
          <p:nvPr/>
        </p:nvSpPr>
        <p:spPr>
          <a:xfrm>
            <a:off x="6428232" y="3566160"/>
            <a:ext cx="2304288" cy="0"/>
          </a:xfrm>
          <a:prstGeom prst="line">
            <a:avLst/>
          </a:prstGeom>
          <a:noFill/>
          <a:ln w="12700">
            <a:solidFill>
              <a:srgbClr val="3740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8232" y="3703320"/>
            <a:ext cx="23042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ephemeral agent identities replacing hundreds of human accounts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28232" y="4983480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CSA, 2025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116568" y="2148840"/>
            <a:ext cx="2670048" cy="3246120"/>
          </a:xfrm>
          <a:prstGeom prst="roundRect">
            <a:avLst>
              <a:gd name="adj" fmla="val 3425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9281160" y="2468880"/>
            <a:ext cx="2340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 hr</a:t>
            </a:r>
            <a:endParaRPr lang="en-US" sz="4400" dirty="0"/>
          </a:p>
        </p:txBody>
      </p:sp>
      <p:sp>
        <p:nvSpPr>
          <p:cNvPr id="23" name="Shape 21"/>
          <p:cNvSpPr/>
          <p:nvPr/>
        </p:nvSpPr>
        <p:spPr>
          <a:xfrm>
            <a:off x="9299448" y="3566160"/>
            <a:ext cx="2304288" cy="0"/>
          </a:xfrm>
          <a:prstGeom prst="line">
            <a:avLst/>
          </a:prstGeom>
          <a:noFill/>
          <a:ln w="12700">
            <a:solidFill>
              <a:srgbClr val="37406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99448" y="3703320"/>
            <a:ext cx="23042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OAuth token lifetime — time-scoped trust, not usage-scoped trust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99448" y="4983480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2.1 spec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Identity Maturity  |  Enterprise Architecture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090672" cy="310896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FRAMEWORK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Capability Maturity Drives Identity Requirements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agents evolve from simple tools to digital teammates, identity must evolve from static credentials to verifiable, dynamic trust.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027932" y="2560320"/>
            <a:ext cx="219456" cy="219456"/>
          </a:xfrm>
          <a:prstGeom prst="ellipse">
            <a:avLst/>
          </a:prstGeom>
          <a:solidFill>
            <a:srgbClr val="E8EBF6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05740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5B6584"/>
          </a:solidFill>
          <a:ln/>
          <a:effectLst>
            <a:outerShdw sx="100000" sy="100000" kx="0" ky="0" algn="bl" rotWithShape="0" blurRad="101600" dist="25400" dir="5400000">
              <a:srgbClr val="0B0F2E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313432"/>
            <a:ext cx="566928" cy="566928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9" name="Image 0" descr="/home/claude/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450592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22585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Agents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463040" y="26517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Single-task tools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02920" y="356616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5F7FC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372160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Need: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1520" y="405079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accounts, API keys, basic OAuth client-credentials flow.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776972" y="2560320"/>
            <a:ext cx="219456" cy="219456"/>
          </a:xfrm>
          <a:prstGeom prst="ellipse">
            <a:avLst/>
          </a:prstGeom>
          <a:solidFill>
            <a:srgbClr val="E8EBF6"/>
          </a:solidFill>
          <a:ln/>
        </p:spPr>
      </p:sp>
      <p:sp>
        <p:nvSpPr>
          <p:cNvPr id="16" name="Shape 13"/>
          <p:cNvSpPr/>
          <p:nvPr/>
        </p:nvSpPr>
        <p:spPr>
          <a:xfrm>
            <a:off x="4251960" y="205740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5400000">
              <a:srgbClr val="0B0F2E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480560" y="2313432"/>
            <a:ext cx="566928" cy="566928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18" name="Image 1" descr="/home/claude/icons/proje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450592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12080" y="22585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Agents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5212080" y="26517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Multi-step, multi-agent goals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4251960" y="356616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5F7FC"/>
          </a:solidFill>
          <a:ln/>
        </p:spPr>
      </p:sp>
      <p:sp>
        <p:nvSpPr>
          <p:cNvPr id="22" name="Text 18"/>
          <p:cNvSpPr/>
          <p:nvPr/>
        </p:nvSpPr>
        <p:spPr>
          <a:xfrm>
            <a:off x="4480560" y="372160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Need: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480560" y="405079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Agent-aware identity, scoped delegation, dynamic context-based access.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8001000" y="205740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F6B5B"/>
          </a:solidFill>
          <a:ln/>
          <a:effectLst>
            <a:outerShdw sx="100000" sy="100000" kx="0" ky="0" algn="bl" rotWithShape="0" blurRad="101600" dist="25400" dir="5400000">
              <a:srgbClr val="0B0F2E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8229600" y="2313432"/>
            <a:ext cx="566928" cy="566928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26" name="Image 2" descr="/home/claude/icons/ro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450592"/>
            <a:ext cx="292608" cy="29260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961120" y="22585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Employees</a:t>
            </a:r>
            <a:endParaRPr lang="en-US" sz="1700" dirty="0"/>
          </a:p>
        </p:txBody>
      </p:sp>
      <p:sp>
        <p:nvSpPr>
          <p:cNvPr id="28" name="Text 23"/>
          <p:cNvSpPr/>
          <p:nvPr/>
        </p:nvSpPr>
        <p:spPr>
          <a:xfrm>
            <a:off x="8961120" y="26517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4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Team-integrated, adaptive, tool-creating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8001000" y="356616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5F7FC"/>
          </a:solidFill>
          <a:ln/>
        </p:spPr>
      </p:sp>
      <p:sp>
        <p:nvSpPr>
          <p:cNvPr id="30" name="Text 25"/>
          <p:cNvSpPr/>
          <p:nvPr/>
        </p:nvSpPr>
        <p:spPr>
          <a:xfrm>
            <a:off x="8229600" y="372160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Need: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8229600" y="405079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Agent ID (DID/VC), zero-trust PBAC, unified global session control.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502920" y="5440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isn't only about agent sophistication — it's about whether your identity fabric can keep pace with it.</a:t>
            </a:r>
            <a:endParaRPr lang="en-US" sz="1250" dirty="0"/>
          </a:p>
        </p:txBody>
      </p:sp>
      <p:sp>
        <p:nvSpPr>
          <p:cNvPr id="33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Identity Maturity  |  Enterprise Architecture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798064" cy="310896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Agentic Identity Maturity Model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levels — from human-only IAM to a fully verifiable, zero-trust, cross-protocol agent identity fabric.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552651" y="2441448"/>
            <a:ext cx="9056218" cy="0"/>
          </a:xfrm>
          <a:prstGeom prst="line">
            <a:avLst/>
          </a:prstGeom>
          <a:noFill/>
          <a:ln w="25400">
            <a:solidFill>
              <a:srgbClr val="C7C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05763" y="2057400"/>
            <a:ext cx="493776" cy="493776"/>
          </a:xfrm>
          <a:prstGeom prst="ellipse">
            <a:avLst/>
          </a:prstGeom>
          <a:solidFill>
            <a:srgbClr val="5B6584"/>
          </a:solidFill>
          <a:ln/>
        </p:spPr>
      </p:sp>
      <p:sp>
        <p:nvSpPr>
          <p:cNvPr id="8" name="Text 6"/>
          <p:cNvSpPr/>
          <p:nvPr/>
        </p:nvSpPr>
        <p:spPr>
          <a:xfrm>
            <a:off x="1305763" y="20574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02920" y="2743200"/>
            <a:ext cx="2099462" cy="288036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B0F2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14907" y="2971800"/>
            <a:ext cx="475488" cy="475488"/>
          </a:xfrm>
          <a:prstGeom prst="ellipse">
            <a:avLst/>
          </a:prstGeom>
          <a:solidFill>
            <a:srgbClr val="5B6584"/>
          </a:solidFill>
          <a:ln/>
        </p:spPr>
      </p:sp>
      <p:pic>
        <p:nvPicPr>
          <p:cNvPr id="11" name="Image 0" descr="/home/claude/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5491" y="3072384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12648" y="3538728"/>
            <a:ext cx="18800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Human-Centric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30936" y="4050792"/>
            <a:ext cx="184343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OAuth/OIDC/SAML only. Agents borrow human or service-account credentials.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569818" y="2057400"/>
            <a:ext cx="493776" cy="493776"/>
          </a:xfrm>
          <a:prstGeom prst="ellipse">
            <a:avLst/>
          </a:prstGeom>
          <a:solidFill>
            <a:srgbClr val="5B6584"/>
          </a:solidFill>
          <a:ln/>
        </p:spPr>
      </p:sp>
      <p:sp>
        <p:nvSpPr>
          <p:cNvPr id="15" name="Text 12"/>
          <p:cNvSpPr/>
          <p:nvPr/>
        </p:nvSpPr>
        <p:spPr>
          <a:xfrm>
            <a:off x="3569818" y="20574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2766974" y="2743200"/>
            <a:ext cx="2099462" cy="288036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B0F2E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578962" y="2971800"/>
            <a:ext cx="475488" cy="475488"/>
          </a:xfrm>
          <a:prstGeom prst="ellipse">
            <a:avLst/>
          </a:prstGeom>
          <a:solidFill>
            <a:srgbClr val="5B6584"/>
          </a:solidFill>
          <a:ln/>
        </p:spPr>
      </p:sp>
      <p:pic>
        <p:nvPicPr>
          <p:cNvPr id="18" name="Image 1" descr="/home/claude/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546" y="3072384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876702" y="3538728"/>
            <a:ext cx="18800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Bolt-On NHI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2894990" y="4050792"/>
            <a:ext cx="184343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accounts + static secrets for agents. No agent-aware policy.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833872" y="2057400"/>
            <a:ext cx="493776" cy="49377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2" name="Text 18"/>
          <p:cNvSpPr/>
          <p:nvPr/>
        </p:nvSpPr>
        <p:spPr>
          <a:xfrm>
            <a:off x="5833872" y="20574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031029" y="2743200"/>
            <a:ext cx="2099462" cy="288036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B0F2E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843016" y="2971800"/>
            <a:ext cx="475488" cy="475488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5" name="Image 2" descr="/home/claude/icons/id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072384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140757" y="3538728"/>
            <a:ext cx="18800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Agent ID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5159045" y="4050792"/>
            <a:ext cx="184343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DIDs + Verifiable Credentials. Agents get cryptographic, self-sovereign identity.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8097926" y="2057400"/>
            <a:ext cx="493776" cy="49377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4"/>
          <p:cNvSpPr/>
          <p:nvPr/>
        </p:nvSpPr>
        <p:spPr>
          <a:xfrm>
            <a:off x="8097926" y="20574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7295083" y="2743200"/>
            <a:ext cx="2099462" cy="288036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B0F2E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8107070" y="297180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3" descr="/home/claude/icons/co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7654" y="3072384"/>
            <a:ext cx="274320" cy="2743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04811" y="3538728"/>
            <a:ext cx="18800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Authorization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7423099" y="4050792"/>
            <a:ext cx="184343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ABAC/PBAC + JIT credentials + Agent Naming Service discovery.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10361981" y="2057400"/>
            <a:ext cx="493776" cy="493776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36" name="Text 30"/>
          <p:cNvSpPr/>
          <p:nvPr/>
        </p:nvSpPr>
        <p:spPr>
          <a:xfrm>
            <a:off x="10361981" y="20574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7" name="Shape 31"/>
          <p:cNvSpPr/>
          <p:nvPr/>
        </p:nvSpPr>
        <p:spPr>
          <a:xfrm>
            <a:off x="9559138" y="2743200"/>
            <a:ext cx="2099462" cy="288036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B0F2E">
                <a:alpha val="10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10371125" y="2971800"/>
            <a:ext cx="475488" cy="475488"/>
          </a:xfrm>
          <a:prstGeom prst="ellipse">
            <a:avLst/>
          </a:prstGeom>
          <a:solidFill>
            <a:srgbClr val="FF6B5B"/>
          </a:solidFill>
          <a:ln/>
        </p:spPr>
      </p:sp>
      <p:pic>
        <p:nvPicPr>
          <p:cNvPr id="39" name="Image 4" descr="/home/claude/icons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1709" y="3072384"/>
            <a:ext cx="274320" cy="27432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9668866" y="3538728"/>
            <a:ext cx="18800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Fabric</a:t>
            </a:r>
            <a:endParaRPr lang="en-US" sz="1250" dirty="0"/>
          </a:p>
        </p:txBody>
      </p:sp>
      <p:sp>
        <p:nvSpPr>
          <p:cNvPr id="41" name="Text 34"/>
          <p:cNvSpPr/>
          <p:nvPr/>
        </p:nvSpPr>
        <p:spPr>
          <a:xfrm>
            <a:off x="9687154" y="4050792"/>
            <a:ext cx="184343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global session layer, continuous monitoring, cross-protocol revocation.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502920" y="58064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enterprises today sit at Level 0–1</a:t>
            </a:r>
            <a:endParaRPr lang="en-US" sz="1100" dirty="0"/>
          </a:p>
        </p:txBody>
      </p:sp>
      <p:sp>
        <p:nvSpPr>
          <p:cNvPr id="43" name="Text 36"/>
          <p:cNvSpPr/>
          <p:nvPr/>
        </p:nvSpPr>
        <p:spPr>
          <a:xfrm>
            <a:off x="7726680" y="58064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state for agentic AI at scale: Level 3–4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Identity Maturity  |  Enterprise Architecture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4114800" cy="310896"/>
          </a:xfrm>
          <a:prstGeom prst="roundRect">
            <a:avLst>
              <a:gd name="adj" fmla="val 50000"/>
            </a:avLst>
          </a:prstGeom>
          <a:solidFill>
            <a:srgbClr val="5B658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0–1 · CURRENT STATE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Most Enterprises Start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Human-centric IAM, extended with bolt-on non-human identities (NHIs) for automation.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5486400" cy="4069080"/>
          </a:xfrm>
          <a:prstGeom prst="roundRect">
            <a:avLst>
              <a:gd name="adj" fmla="val 1798"/>
            </a:avLst>
          </a:prstGeom>
          <a:solidFill>
            <a:srgbClr val="F5F7F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48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</a:t>
            </a:r>
            <a:endParaRPr lang="en-US" sz="1500" dirty="0"/>
          </a:p>
        </p:txBody>
      </p:sp>
      <p:pic>
        <p:nvPicPr>
          <p:cNvPr id="8" name="Image 0" descr="/home/claude/icons/warning_co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633472"/>
            <a:ext cx="164592" cy="1645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254203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authenticate via OAuth 2.1 client-credentials flow or inherited service-account roles</a:t>
            </a:r>
            <a:endParaRPr lang="en-US" sz="1150" dirty="0"/>
          </a:p>
        </p:txBody>
      </p:sp>
      <p:pic>
        <p:nvPicPr>
          <p:cNvPr id="10" name="Image 1" descr="/home/claude/icons/warning_cor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91840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320040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secrets and certificates (PKI) act as surrogate authentication — no behavioral verification</a:t>
            </a:r>
            <a:endParaRPr lang="en-US" sz="1150" dirty="0"/>
          </a:p>
        </p:txBody>
      </p:sp>
      <p:pic>
        <p:nvPicPr>
          <p:cNvPr id="12" name="Image 2" descr="/home/claude/icons/warning_cor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50208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385876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derived from the human deployer's LDAP/AD group membership</a:t>
            </a:r>
            <a:endParaRPr lang="en-US" sz="1150" dirty="0"/>
          </a:p>
        </p:txBody>
      </p:sp>
      <p:pic>
        <p:nvPicPr>
          <p:cNvPr id="14" name="Image 3" descr="/home/claude/icons/warning_cor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608576"/>
            <a:ext cx="164592" cy="1645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451713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distinction between human sessions and autonomous agent actions in logs</a:t>
            </a:r>
            <a:endParaRPr lang="en-US" sz="1150" dirty="0"/>
          </a:p>
        </p:txBody>
      </p:sp>
      <p:pic>
        <p:nvPicPr>
          <p:cNvPr id="16" name="Image 4" descr="/home/claude/icons/warning_cor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266944"/>
            <a:ext cx="164592" cy="16459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51560" y="517550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Coarse, broad scopes — agents are over-privileged relative to actual task needs</a:t>
            </a:r>
            <a:endParaRPr lang="en-US" sz="1150" dirty="0"/>
          </a:p>
        </p:txBody>
      </p:sp>
      <p:sp>
        <p:nvSpPr>
          <p:cNvPr id="18" name="Shape 11"/>
          <p:cNvSpPr/>
          <p:nvPr/>
        </p:nvSpPr>
        <p:spPr>
          <a:xfrm>
            <a:off x="6172200" y="1965960"/>
            <a:ext cx="5532120" cy="4069080"/>
          </a:xfrm>
          <a:prstGeom prst="roundRect">
            <a:avLst>
              <a:gd name="adj" fmla="val 1798"/>
            </a:avLst>
          </a:prstGeom>
          <a:solidFill>
            <a:srgbClr val="1E2761"/>
          </a:solidFill>
          <a:ln/>
        </p:spPr>
      </p:sp>
      <p:sp>
        <p:nvSpPr>
          <p:cNvPr id="19" name="Text 12"/>
          <p:cNvSpPr/>
          <p:nvPr/>
        </p:nvSpPr>
        <p:spPr>
          <a:xfrm>
            <a:off x="6446520" y="2148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Exposure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6446520" y="2606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Confused deputy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6446520" y="289864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C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inherit system-level access broader than the task — and broader than the requesting user authorized.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6446520" y="34472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ambiguity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6446520" y="373989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C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can't reliably attribute an action to a specific agent instance vs. the human or service it runs under.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6446520" y="42885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privilege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6446520" y="458114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C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retain access tied to human owners long after role changes — privilege accumulates silently.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6446520" y="51297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revocation at scale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6446520" y="542239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C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Killing one compromised agent's access often requires manual, per-system token invalidation.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Identity Maturity  |  Enterprise Architecture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383280" cy="310896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· FOUNDATION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Verifiable Agent ID Foundation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API keys with cryptographically anchored, self-sovereign Agent IDs — the bedrock every later capability depends 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2670048" cy="3337560"/>
          </a:xfrm>
          <a:prstGeom prst="roundRect">
            <a:avLst>
              <a:gd name="adj" fmla="val 274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5400000">
              <a:srgbClr val="0B0F2E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45336" y="233172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home/claude/icons/fingerpr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478024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7512" y="3063240"/>
            <a:ext cx="2340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Identifiers (DIDs)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3675888"/>
            <a:ext cx="2304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 unique, persistent, cryptographically verifiable root identity per agent instance — controlled by the agent or its controller, not a single IdP.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74136" y="2103120"/>
            <a:ext cx="2670048" cy="3337560"/>
          </a:xfrm>
          <a:prstGeom prst="roundRect">
            <a:avLst>
              <a:gd name="adj" fmla="val 274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5400000">
              <a:srgbClr val="0B0F2E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16552" y="233172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icons/id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56" y="2478024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38728" y="3063240"/>
            <a:ext cx="2340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Credentials (VCs)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57016" y="3675888"/>
            <a:ext cx="2304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Digitally signed attestations of role, capability, compliance, and provenance — e.g. SOXComplianceCertified, FinancialRiskAnalystRole.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45352" y="2103120"/>
            <a:ext cx="2670048" cy="3337560"/>
          </a:xfrm>
          <a:prstGeom prst="roundRect">
            <a:avLst>
              <a:gd name="adj" fmla="val 274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5400000">
              <a:srgbClr val="0B0F2E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87768" y="233172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home/claude/icons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072" y="2478024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09944" y="3063240"/>
            <a:ext cx="2340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Proofs (ZKPs)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28232" y="3675888"/>
            <a:ext cx="2304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disclosure — agents prove an attribute (e.g., clearance level) without revealing underlying sensitive data.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9116568" y="2103120"/>
            <a:ext cx="2670048" cy="3337560"/>
          </a:xfrm>
          <a:prstGeom prst="roundRect">
            <a:avLst>
              <a:gd name="adj" fmla="val 274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5400000">
              <a:srgbClr val="0B0F2E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0158984" y="233172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3" descr="/home/claude/icons/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5288" y="2478024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81160" y="3063240"/>
            <a:ext cx="2340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Naming Service (ANS)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9299448" y="3675888"/>
            <a:ext cx="2304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DNS-like, capability-aware discovery: find agents by what they can verifiably do, not just by name.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502920" y="56235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criteria: </a:t>
            </a:r>
            <a:pPr indent="0" marL="0"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production agent has a unique DID; at least role and compliance attestations are issued as VCs; ANS resolves capability, not just name.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Identity Maturity  |  Enterprise Architecture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4992624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DYNAMIC AUTHORIZATION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From Static Scopes to Dynamic, Just-in-Time Access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decisions evaluated in real time, scoped to the task, and expiring automatically.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icons/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212848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20756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&amp; Policy-Based Access Control (ABAC/PBAC)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2377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evaluated against agent identity, resource sensitivity, environment, and risk — not a fixed role.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3017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127248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29900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Just-in-Time (JIT) Credentials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97280" y="32918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VCs issued for a specific job, auto-expiring in minutes, not hours.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3931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home/claude/icons/rou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041648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39044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Delegation Chains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097280" y="42062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requested_actor / actor_token patterns trace authority from human → orchestrator → sub-agent.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02920" y="48463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3" descr="/home/claude/icons/balan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956048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97280" y="48188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Intent-Based Authorization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097280" y="51206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evaluate the purpose behind a request, not just the static scope string.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7178040" y="2103120"/>
            <a:ext cx="4526280" cy="3611880"/>
          </a:xfrm>
          <a:prstGeom prst="roundRect">
            <a:avLst>
              <a:gd name="adj" fmla="val 2025"/>
            </a:avLst>
          </a:prstGeom>
          <a:solidFill>
            <a:srgbClr val="141A47"/>
          </a:solidFill>
          <a:ln/>
        </p:spPr>
      </p:sp>
      <p:sp>
        <p:nvSpPr>
          <p:cNvPr id="23" name="Text 17"/>
          <p:cNvSpPr/>
          <p:nvPr/>
        </p:nvSpPr>
        <p:spPr>
          <a:xfrm>
            <a:off x="7452360" y="2286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Access in Practice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7452360" y="2743200"/>
            <a:ext cx="310896" cy="31089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5" name="Text 19"/>
          <p:cNvSpPr/>
          <p:nvPr/>
        </p:nvSpPr>
        <p:spPr>
          <a:xfrm>
            <a:off x="7452360" y="2743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7882128" y="272491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requests scoped task credential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7607808" y="3054096"/>
            <a:ext cx="0" cy="256032"/>
          </a:xfrm>
          <a:prstGeom prst="line">
            <a:avLst/>
          </a:prstGeom>
          <a:noFill/>
          <a:ln w="19050">
            <a:solidFill>
              <a:srgbClr val="37406F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452360" y="3310128"/>
            <a:ext cx="310896" cy="31089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9" name="Text 23"/>
          <p:cNvSpPr/>
          <p:nvPr/>
        </p:nvSpPr>
        <p:spPr>
          <a:xfrm>
            <a:off x="7452360" y="3310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7882128" y="329184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verifies primary DID + policy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7607808" y="3621024"/>
            <a:ext cx="0" cy="256032"/>
          </a:xfrm>
          <a:prstGeom prst="line">
            <a:avLst/>
          </a:prstGeom>
          <a:noFill/>
          <a:ln w="19050">
            <a:solidFill>
              <a:srgbClr val="37406F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7452360" y="3877056"/>
            <a:ext cx="310896" cy="31089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3" name="Text 27"/>
          <p:cNvSpPr/>
          <p:nvPr/>
        </p:nvSpPr>
        <p:spPr>
          <a:xfrm>
            <a:off x="7452360" y="3877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7882128" y="385876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Time-bound VC issued (e.g., 15 min)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7607808" y="4187952"/>
            <a:ext cx="0" cy="256032"/>
          </a:xfrm>
          <a:prstGeom prst="line">
            <a:avLst/>
          </a:prstGeom>
          <a:noFill/>
          <a:ln w="19050">
            <a:solidFill>
              <a:srgbClr val="37406F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7452360" y="4443984"/>
            <a:ext cx="310896" cy="31089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7" name="Text 31"/>
          <p:cNvSpPr/>
          <p:nvPr/>
        </p:nvSpPr>
        <p:spPr>
          <a:xfrm>
            <a:off x="7452360" y="4443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7882128" y="4425696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uses VC for that job only</a:t>
            </a:r>
            <a:endParaRPr lang="en-US" sz="1150" dirty="0"/>
          </a:p>
        </p:txBody>
      </p:sp>
      <p:sp>
        <p:nvSpPr>
          <p:cNvPr id="39" name="Shape 33"/>
          <p:cNvSpPr/>
          <p:nvPr/>
        </p:nvSpPr>
        <p:spPr>
          <a:xfrm>
            <a:off x="7607808" y="4754880"/>
            <a:ext cx="0" cy="256032"/>
          </a:xfrm>
          <a:prstGeom prst="line">
            <a:avLst/>
          </a:prstGeom>
          <a:noFill/>
          <a:ln w="19050">
            <a:solidFill>
              <a:srgbClr val="37406F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7452360" y="5010912"/>
            <a:ext cx="310896" cy="31089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41" name="Text 35"/>
          <p:cNvSpPr/>
          <p:nvPr/>
        </p:nvSpPr>
        <p:spPr>
          <a:xfrm>
            <a:off x="7452360" y="5010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2" name="Text 36"/>
          <p:cNvSpPr/>
          <p:nvPr/>
        </p:nvSpPr>
        <p:spPr>
          <a:xfrm>
            <a:off x="7882128" y="499262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auto-expires or is revoked</a:t>
            </a:r>
            <a:endParaRPr lang="en-US" sz="1150" dirty="0"/>
          </a:p>
        </p:txBody>
      </p:sp>
      <p:sp>
        <p:nvSpPr>
          <p:cNvPr id="43" name="Text 3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Identity Maturity  |  Enterprise Architecture</a:t>
            </a:r>
            <a:endParaRPr lang="en-US" sz="900" dirty="0"/>
          </a:p>
        </p:txBody>
      </p:sp>
      <p:sp>
        <p:nvSpPr>
          <p:cNvPr id="44" name="Text 3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675888" cy="310896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675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TARGET STATE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Unified, Cross-Protocol Zero-Trust Fabric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capstone capability: consistent policy enforcement and instant global revocation across every agent protocol (A2A, MCP, ACP).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2670048" cy="3246120"/>
          </a:xfrm>
          <a:prstGeom prst="roundRect">
            <a:avLst>
              <a:gd name="adj" fmla="val 2740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563624" y="2377440"/>
            <a:ext cx="548640" cy="548640"/>
          </a:xfrm>
          <a:prstGeom prst="ellipse">
            <a:avLst/>
          </a:prstGeom>
          <a:solidFill>
            <a:srgbClr val="FF6B5B"/>
          </a:solidFill>
          <a:ln/>
        </p:spPr>
      </p:sp>
      <p:pic>
        <p:nvPicPr>
          <p:cNvPr id="8" name="Image 0" descr="/home/claude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0784" y="251460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7512" y="3063240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Cross-Protocol Session Authority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85800" y="3840480"/>
            <a:ext cx="23042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oversight of every active agent session, regardless of transport.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74136" y="2148840"/>
            <a:ext cx="2670048" cy="3246120"/>
          </a:xfrm>
          <a:prstGeom prst="roundRect">
            <a:avLst>
              <a:gd name="adj" fmla="val 2740"/>
            </a:avLst>
          </a:prstGeom>
          <a:solidFill>
            <a:srgbClr val="1E2761"/>
          </a:solidFill>
          <a:ln/>
        </p:spPr>
      </p:sp>
      <p:sp>
        <p:nvSpPr>
          <p:cNvPr id="12" name="Shape 9"/>
          <p:cNvSpPr/>
          <p:nvPr/>
        </p:nvSpPr>
        <p:spPr>
          <a:xfrm>
            <a:off x="4434840" y="2377440"/>
            <a:ext cx="548640" cy="548640"/>
          </a:xfrm>
          <a:prstGeom prst="ellipse">
            <a:avLst/>
          </a:prstGeom>
          <a:solidFill>
            <a:srgbClr val="FF6B5B"/>
          </a:solidFill>
          <a:ln/>
        </p:spPr>
      </p:sp>
      <p:pic>
        <p:nvPicPr>
          <p:cNvPr id="13" name="Image 1" descr="/home/claude/icons/syn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51460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38728" y="3063240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Enforcement Middleware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557016" y="3840480"/>
            <a:ext cx="23042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plugins enforce policy locally, in real time, at each protocol gateway.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45352" y="2148840"/>
            <a:ext cx="2670048" cy="3246120"/>
          </a:xfrm>
          <a:prstGeom prst="roundRect">
            <a:avLst>
              <a:gd name="adj" fmla="val 2740"/>
            </a:avLst>
          </a:prstGeom>
          <a:solidFill>
            <a:srgbClr val="1E2761"/>
          </a:solidFill>
          <a:ln/>
        </p:spPr>
      </p:sp>
      <p:sp>
        <p:nvSpPr>
          <p:cNvPr id="17" name="Shape 13"/>
          <p:cNvSpPr/>
          <p:nvPr/>
        </p:nvSpPr>
        <p:spPr>
          <a:xfrm>
            <a:off x="7306056" y="2377440"/>
            <a:ext cx="548640" cy="548640"/>
          </a:xfrm>
          <a:prstGeom prst="ellipse">
            <a:avLst/>
          </a:prstGeom>
          <a:solidFill>
            <a:srgbClr val="FF6B5B"/>
          </a:solidFill>
          <a:ln/>
        </p:spPr>
      </p:sp>
      <p:pic>
        <p:nvPicPr>
          <p:cNvPr id="18" name="Image 2" descr="/home/claude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216" y="251460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09944" y="3063240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State Synchronizer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428232" y="3840480"/>
            <a:ext cx="23042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ledger of session validity — single source of truth for revocation.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9116568" y="2148840"/>
            <a:ext cx="2670048" cy="3246120"/>
          </a:xfrm>
          <a:prstGeom prst="roundRect">
            <a:avLst>
              <a:gd name="adj" fmla="val 2740"/>
            </a:avLst>
          </a:prstGeom>
          <a:solidFill>
            <a:srgbClr val="1E2761"/>
          </a:solidFill>
          <a:ln/>
        </p:spPr>
      </p:sp>
      <p:sp>
        <p:nvSpPr>
          <p:cNvPr id="22" name="Shape 17"/>
          <p:cNvSpPr/>
          <p:nvPr/>
        </p:nvSpPr>
        <p:spPr>
          <a:xfrm>
            <a:off x="10177272" y="2377440"/>
            <a:ext cx="548640" cy="548640"/>
          </a:xfrm>
          <a:prstGeom prst="ellipse">
            <a:avLst/>
          </a:prstGeom>
          <a:solidFill>
            <a:srgbClr val="FF6B5B"/>
          </a:solidFill>
          <a:ln/>
        </p:spPr>
      </p:sp>
      <p:pic>
        <p:nvPicPr>
          <p:cNvPr id="23" name="Image 3" descr="/home/claude/icons/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4432" y="251460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81160" y="3063240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&amp; Trust Scoring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9299448" y="3840480"/>
            <a:ext cx="23042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baselines + dynamic trust scores drive adaptive, risk-based policy.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502920" y="55778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</a:t>
            </a:r>
            <a:pPr indent="0" marL="0">
              <a:buNone/>
            </a:pPr>
            <a:r>
              <a:rPr lang="en-US" sz="1250" dirty="0">
                <a:solidFill>
                  <a:srgbClr val="D4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global logout for a compromised agent instantly terminates access everywhere — A2A, MCP, and internal APIs alike.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Identity Maturity  |  Enterprise Architecture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675888" cy="310896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675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Four-Layer Agentic IAM Architecture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maturity level builds one layer — by Level 4, all four operate together as a single fabric.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10607040" cy="868680"/>
          </a:xfrm>
          <a:prstGeom prst="roundRect">
            <a:avLst>
              <a:gd name="adj" fmla="val 7368"/>
            </a:avLst>
          </a:prstGeom>
          <a:solidFill>
            <a:srgbClr val="FF6B5B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" y="2244852"/>
            <a:ext cx="493776" cy="49377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78408" y="22448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91640" y="216712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Global Session Management &amp; Policy Enforcement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91640" y="25146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Cross-Protocol Session Authority · Adapter Enforcement Middleware · Session State Synchronizer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3090672"/>
            <a:ext cx="1060704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978408" y="3278124"/>
            <a:ext cx="493776" cy="49377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78408" y="32781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91640" y="32004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Access Control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91640" y="354787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Decision / Administration / Information Points · ABAC, PBAC, JIT access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4123944"/>
            <a:ext cx="10607040" cy="868680"/>
          </a:xfrm>
          <a:prstGeom prst="roundRect">
            <a:avLst>
              <a:gd name="adj" fmla="val 7368"/>
            </a:avLst>
          </a:prstGeom>
          <a:solidFill>
            <a:srgbClr val="3D4A8A"/>
          </a:solidFill>
          <a:ln/>
        </p:spPr>
      </p:sp>
      <p:sp>
        <p:nvSpPr>
          <p:cNvPr id="17" name="Shape 15"/>
          <p:cNvSpPr/>
          <p:nvPr/>
        </p:nvSpPr>
        <p:spPr>
          <a:xfrm>
            <a:off x="978408" y="4311396"/>
            <a:ext cx="493776" cy="49377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78408" y="43113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91640" y="423367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Discovery &amp; Trust Establishment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91640" y="4581144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Naming Service (ANS) · DID resolvers · Reputation &amp; trust frameworks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5157216"/>
            <a:ext cx="10607040" cy="868680"/>
          </a:xfrm>
          <a:prstGeom prst="roundRect">
            <a:avLst>
              <a:gd name="adj" fmla="val 7368"/>
            </a:avLst>
          </a:prstGeom>
          <a:solidFill>
            <a:srgbClr val="5B6584"/>
          </a:solidFill>
          <a:ln/>
        </p:spPr>
      </p:sp>
      <p:sp>
        <p:nvSpPr>
          <p:cNvPr id="22" name="Shape 20"/>
          <p:cNvSpPr/>
          <p:nvPr/>
        </p:nvSpPr>
        <p:spPr>
          <a:xfrm>
            <a:off x="978408" y="5344668"/>
            <a:ext cx="493776" cy="49377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78408" y="53446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691640" y="5266944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Credential Management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691640" y="5614416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registries · VC issuers/verifiers · Agent wallets · Key management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 rot="16200000">
            <a:off x="45720" y="4572000"/>
            <a:ext cx="685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builds bottom-up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Identity Maturity  |  Enterprise Architecture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236976" cy="310896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DECISION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Deployment Model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progression doesn't require one model — most enterprises land on a hybrid.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057400"/>
            <a:ext cx="2670048" cy="3657600"/>
          </a:xfrm>
          <a:prstGeom prst="roundRect">
            <a:avLst>
              <a:gd name="adj" fmla="val 274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5400000">
              <a:srgbClr val="0B0F2E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057400"/>
            <a:ext cx="2670048" cy="777240"/>
          </a:xfrm>
          <a:prstGeom prst="rect">
            <a:avLst/>
          </a:prstGeom>
          <a:solidFill>
            <a:srgbClr val="5B6584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057400"/>
            <a:ext cx="2670048" cy="777240"/>
          </a:xfrm>
          <a:prstGeom prst="roundRect">
            <a:avLst>
              <a:gd name="adj" fmla="val 9412"/>
            </a:avLst>
          </a:prstGeom>
          <a:solidFill>
            <a:srgbClr val="5B6584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2468880"/>
            <a:ext cx="2670048" cy="365760"/>
          </a:xfrm>
          <a:prstGeom prst="rect">
            <a:avLst/>
          </a:prstGeom>
          <a:solidFill>
            <a:srgbClr val="5B6584"/>
          </a:solidFill>
          <a:ln/>
        </p:spPr>
      </p:sp>
      <p:pic>
        <p:nvPicPr>
          <p:cNvPr id="10" name="Image 0" descr="/home/claude/icons/bui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221992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69848" y="2221992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85800" y="2971800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85800" y="320040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Enterprise-internal agents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85800" y="3749040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85800" y="3977640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governance, unified audit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85800" y="4663440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85800" y="489204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failure; vendor lock-in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374136" y="2057400"/>
            <a:ext cx="2670048" cy="3657600"/>
          </a:xfrm>
          <a:prstGeom prst="roundRect">
            <a:avLst>
              <a:gd name="adj" fmla="val 274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5400000">
              <a:srgbClr val="0B0F2E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374136" y="2057400"/>
            <a:ext cx="2670048" cy="7772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0" name="Shape 17"/>
          <p:cNvSpPr/>
          <p:nvPr/>
        </p:nvSpPr>
        <p:spPr>
          <a:xfrm>
            <a:off x="3374136" y="2057400"/>
            <a:ext cx="2670048" cy="777240"/>
          </a:xfrm>
          <a:prstGeom prst="roundRect">
            <a:avLst>
              <a:gd name="adj" fmla="val 9412"/>
            </a:avLst>
          </a:prstGeom>
          <a:solidFill>
            <a:srgbClr val="2EC4B6"/>
          </a:solidFill>
          <a:ln/>
        </p:spPr>
      </p:sp>
      <p:sp>
        <p:nvSpPr>
          <p:cNvPr id="21" name="Shape 18"/>
          <p:cNvSpPr/>
          <p:nvPr/>
        </p:nvSpPr>
        <p:spPr>
          <a:xfrm>
            <a:off x="3374136" y="2468880"/>
            <a:ext cx="2670048" cy="365760"/>
          </a:xfrm>
          <a:prstGeom prst="rect">
            <a:avLst/>
          </a:prstGeom>
          <a:solidFill>
            <a:srgbClr val="2EC4B6"/>
          </a:solidFill>
          <a:ln/>
        </p:spPr>
      </p:sp>
      <p:pic>
        <p:nvPicPr>
          <p:cNvPr id="22" name="Image 1" descr="/home/claude/icons/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4" y="2221992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941064" y="2221992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3557016" y="2971800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3557016" y="320040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cross-org ecosystems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3557016" y="3749040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3557016" y="3977640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point of control; agent sovereignty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3557016" y="4663440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3557016" y="489204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complexity; DLT performance limits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6245352" y="2057400"/>
            <a:ext cx="2670048" cy="3657600"/>
          </a:xfrm>
          <a:prstGeom prst="roundRect">
            <a:avLst>
              <a:gd name="adj" fmla="val 274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5400000">
              <a:srgbClr val="0B0F2E">
                <a:alpha val="1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245352" y="2057400"/>
            <a:ext cx="2670048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Shape 28"/>
          <p:cNvSpPr/>
          <p:nvPr/>
        </p:nvSpPr>
        <p:spPr>
          <a:xfrm>
            <a:off x="6245352" y="2057400"/>
            <a:ext cx="2670048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33" name="Shape 29"/>
          <p:cNvSpPr/>
          <p:nvPr/>
        </p:nvSpPr>
        <p:spPr>
          <a:xfrm>
            <a:off x="6245352" y="2468880"/>
            <a:ext cx="2670048" cy="36576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4" name="Image 2" descr="/home/claude/icons/handshak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221992"/>
            <a:ext cx="274320" cy="27432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812280" y="2221992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</a:t>
            </a:r>
            <a:endParaRPr lang="en-US" sz="1350" dirty="0"/>
          </a:p>
        </p:txBody>
      </p:sp>
      <p:sp>
        <p:nvSpPr>
          <p:cNvPr id="36" name="Text 31"/>
          <p:cNvSpPr/>
          <p:nvPr/>
        </p:nvSpPr>
        <p:spPr>
          <a:xfrm>
            <a:off x="6428232" y="2971800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6428232" y="320040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consortia, multi-unit enterprise</a:t>
            </a:r>
            <a:endParaRPr lang="en-US" sz="1050" dirty="0"/>
          </a:p>
        </p:txBody>
      </p:sp>
      <p:sp>
        <p:nvSpPr>
          <p:cNvPr id="38" name="Text 33"/>
          <p:cNvSpPr/>
          <p:nvPr/>
        </p:nvSpPr>
        <p:spPr>
          <a:xfrm>
            <a:off x="6428232" y="3749040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6428232" y="3977640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+ interoperability balance</a:t>
            </a:r>
            <a:endParaRPr lang="en-US" sz="1050" dirty="0"/>
          </a:p>
        </p:txBody>
      </p:sp>
      <p:sp>
        <p:nvSpPr>
          <p:cNvPr id="40" name="Text 35"/>
          <p:cNvSpPr/>
          <p:nvPr/>
        </p:nvSpPr>
        <p:spPr>
          <a:xfrm>
            <a:off x="6428232" y="4663440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6428232" y="489204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trust management overhead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9116568" y="2057400"/>
            <a:ext cx="2670048" cy="3657600"/>
          </a:xfrm>
          <a:prstGeom prst="roundRect">
            <a:avLst>
              <a:gd name="adj" fmla="val 274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5400000">
              <a:srgbClr val="0B0F2E">
                <a:alpha val="10000"/>
              </a:srgbClr>
            </a:outerShdw>
          </a:effectLst>
        </p:spPr>
      </p:sp>
      <p:sp>
        <p:nvSpPr>
          <p:cNvPr id="43" name="Shape 38"/>
          <p:cNvSpPr/>
          <p:nvPr/>
        </p:nvSpPr>
        <p:spPr>
          <a:xfrm>
            <a:off x="9116568" y="2057400"/>
            <a:ext cx="2670048" cy="777240"/>
          </a:xfrm>
          <a:prstGeom prst="rect">
            <a:avLst/>
          </a:prstGeom>
          <a:solidFill>
            <a:srgbClr val="FF6B5B"/>
          </a:solidFill>
          <a:ln/>
        </p:spPr>
      </p:sp>
      <p:sp>
        <p:nvSpPr>
          <p:cNvPr id="44" name="Shape 39"/>
          <p:cNvSpPr/>
          <p:nvPr/>
        </p:nvSpPr>
        <p:spPr>
          <a:xfrm>
            <a:off x="9116568" y="2057400"/>
            <a:ext cx="2670048" cy="777240"/>
          </a:xfrm>
          <a:prstGeom prst="roundRect">
            <a:avLst>
              <a:gd name="adj" fmla="val 9412"/>
            </a:avLst>
          </a:prstGeom>
          <a:solidFill>
            <a:srgbClr val="FF6B5B"/>
          </a:solidFill>
          <a:ln/>
        </p:spPr>
      </p:sp>
      <p:sp>
        <p:nvSpPr>
          <p:cNvPr id="45" name="Shape 40"/>
          <p:cNvSpPr/>
          <p:nvPr/>
        </p:nvSpPr>
        <p:spPr>
          <a:xfrm>
            <a:off x="9116568" y="2468880"/>
            <a:ext cx="2670048" cy="365760"/>
          </a:xfrm>
          <a:prstGeom prst="rect">
            <a:avLst/>
          </a:prstGeom>
          <a:solidFill>
            <a:srgbClr val="FF6B5B"/>
          </a:solidFill>
          <a:ln/>
        </p:spPr>
      </p:sp>
      <p:pic>
        <p:nvPicPr>
          <p:cNvPr id="46" name="Image 3" descr="/home/claude/icons/cub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2221992"/>
            <a:ext cx="274320" cy="274320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9683496" y="2221992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(Recommended)</a:t>
            </a:r>
            <a:endParaRPr lang="en-US" sz="1350" dirty="0"/>
          </a:p>
        </p:txBody>
      </p:sp>
      <p:sp>
        <p:nvSpPr>
          <p:cNvPr id="48" name="Text 42"/>
          <p:cNvSpPr/>
          <p:nvPr/>
        </p:nvSpPr>
        <p:spPr>
          <a:xfrm>
            <a:off x="9299448" y="2971800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</a:t>
            </a:r>
            <a:endParaRPr lang="en-US" sz="1000" dirty="0"/>
          </a:p>
        </p:txBody>
      </p:sp>
      <p:sp>
        <p:nvSpPr>
          <p:cNvPr id="49" name="Text 43"/>
          <p:cNvSpPr/>
          <p:nvPr/>
        </p:nvSpPr>
        <p:spPr>
          <a:xfrm>
            <a:off x="9299448" y="320040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regulated enterprises</a:t>
            </a:r>
            <a:endParaRPr lang="en-US" sz="1050" dirty="0"/>
          </a:p>
        </p:txBody>
      </p:sp>
      <p:sp>
        <p:nvSpPr>
          <p:cNvPr id="50" name="Text 44"/>
          <p:cNvSpPr/>
          <p:nvPr/>
        </p:nvSpPr>
        <p:spPr>
          <a:xfrm>
            <a:off x="9299448" y="3749040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000" dirty="0"/>
          </a:p>
        </p:txBody>
      </p:sp>
      <p:sp>
        <p:nvSpPr>
          <p:cNvPr id="51" name="Text 45"/>
          <p:cNvSpPr/>
          <p:nvPr/>
        </p:nvSpPr>
        <p:spPr>
          <a:xfrm>
            <a:off x="9299448" y="3977640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core, federated edges</a:t>
            </a:r>
            <a:endParaRPr lang="en-US" sz="1050" dirty="0"/>
          </a:p>
        </p:txBody>
      </p:sp>
      <p:sp>
        <p:nvSpPr>
          <p:cNvPr id="52" name="Text 46"/>
          <p:cNvSpPr/>
          <p:nvPr/>
        </p:nvSpPr>
        <p:spPr>
          <a:xfrm>
            <a:off x="9299448" y="4663440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</a:t>
            </a:r>
            <a:endParaRPr lang="en-US" sz="1000" dirty="0"/>
          </a:p>
        </p:txBody>
      </p:sp>
      <p:sp>
        <p:nvSpPr>
          <p:cNvPr id="53" name="Text 47"/>
          <p:cNvSpPr/>
          <p:nvPr/>
        </p:nvSpPr>
        <p:spPr>
          <a:xfrm>
            <a:off x="9299448" y="489204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deliberate component-level design</a:t>
            </a:r>
            <a:endParaRPr lang="en-US" sz="1050" dirty="0"/>
          </a:p>
        </p:txBody>
      </p:sp>
      <p:sp>
        <p:nvSpPr>
          <p:cNvPr id="54" name="Text 4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Identity Maturity  |  Enterprise Architecture</a:t>
            </a:r>
            <a:endParaRPr lang="en-US" sz="900" dirty="0"/>
          </a:p>
        </p:txBody>
      </p:sp>
      <p:sp>
        <p:nvSpPr>
          <p:cNvPr id="55" name="Text 4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944368" cy="310896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COVERAGE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Maturity Directly Reduces MAESTRO-Mapped Threat Exposure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maturity level closes specific threat classes identified in the MAESTRO 7-layer agentic threat model.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057400"/>
            <a:ext cx="111556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57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57400" y="2057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Class (MAESTRO)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12280" y="2057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Introduced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514600"/>
            <a:ext cx="11155680" cy="841248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2752344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5B6584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7523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L0–1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57400" y="2587752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Confused deputy, stale privilege, audit ambiguity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12280" y="2587752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addressed — agents inherit broad, static access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355848"/>
            <a:ext cx="1115568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3593592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2EC4B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5935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57400" y="3429000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spoofing / agent impersonation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12280" y="3429000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DID verification + VC status checks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4197096"/>
            <a:ext cx="11155680" cy="841248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443484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434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57400" y="4270248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replay, privilege escalation via delegation chains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12280" y="4270248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Nonce-bound, time-limited VCs + scoped delegation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5038344"/>
            <a:ext cx="1115568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5276088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FF6B5B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52760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057400" y="5111496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agent lingering access across systems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812280" y="5111496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cross-protocol global session revocation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Identity Maturity  |  Enterprise Architecture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090672" cy="310896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PROGRESS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to Track Maturity in Production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metrics that prove the identity fabric is maturing — not just architecturally, but in daily operation.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28600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8" name="Image 0" descr="/home/claude/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239572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22402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Success Rate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85800" y="28803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agent authentications succeeding without manual intervention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51960" y="21031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12" name="Shape 9"/>
          <p:cNvSpPr/>
          <p:nvPr/>
        </p:nvSpPr>
        <p:spPr>
          <a:xfrm>
            <a:off x="4434840" y="228600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3" name="Image 1" descr="/home/claude/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239572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29200" y="22402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Latency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434840" y="28803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to grant/deny an access request — must stay low at agent speed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001000" y="21031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17" name="Shape 13"/>
          <p:cNvSpPr/>
          <p:nvPr/>
        </p:nvSpPr>
        <p:spPr>
          <a:xfrm>
            <a:off x="8183880" y="228600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8" name="Image 2" descr="/home/claude/icons/bo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395728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778240" y="22402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Revocation Time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8183880" y="28803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fully revoke a compromised agent across every connected system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02920" y="37033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22" name="Shape 17"/>
          <p:cNvSpPr/>
          <p:nvPr/>
        </p:nvSpPr>
        <p:spPr>
          <a:xfrm>
            <a:off x="685800" y="388620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3" name="Image 3" descr="/home/claud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3995928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80160" y="3840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Integrity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85800" y="44805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agent actions with verifiable, signed, non-repudiable log entries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251960" y="37033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27" name="Shape 21"/>
          <p:cNvSpPr/>
          <p:nvPr/>
        </p:nvSpPr>
        <p:spPr>
          <a:xfrm>
            <a:off x="4434840" y="388620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8" name="Image 4" descr="/home/claude/icons/ey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4568" y="3995928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029200" y="3840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Rate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4434840" y="44805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violations / behavioral deviations caught before causing impact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8001000" y="37033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32" name="Shape 25"/>
          <p:cNvSpPr/>
          <p:nvPr/>
        </p:nvSpPr>
        <p:spPr>
          <a:xfrm>
            <a:off x="8183880" y="388620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33" name="Image 5" descr="/home/claude/icons/searc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3608" y="3995928"/>
            <a:ext cx="237744" cy="23774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778240" y="3840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Discovery Success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8183880" y="44805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ANS capability queries resolving to a verified, authorized agent</a:t>
            </a:r>
            <a:endParaRPr lang="en-US" sz="1050" dirty="0"/>
          </a:p>
        </p:txBody>
      </p:sp>
      <p:sp>
        <p:nvSpPr>
          <p:cNvPr id="36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Identity Maturity  |  Enterprise Architecture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968496" cy="310896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PATH FORWARD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Phased Roadmap to Agentic Identity Maturity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investment to deliver risk reduction early, without blocking near-term agent initiatives.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057400"/>
            <a:ext cx="2670048" cy="3520440"/>
          </a:xfrm>
          <a:prstGeom prst="roundRect">
            <a:avLst>
              <a:gd name="adj" fmla="val 274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5400000">
              <a:srgbClr val="0B0F2E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258568"/>
            <a:ext cx="2304288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25856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mo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581912" y="277063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0" descr="/home/claude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0784" y="2898648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67512" y="342900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&amp; Inventory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85800" y="3977640"/>
            <a:ext cx="23042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all agents/NHIs in flight. Identify confused-deputy and over-privilege risk in current OAuth/service-account usage.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374136" y="2057400"/>
            <a:ext cx="2670048" cy="3520440"/>
          </a:xfrm>
          <a:prstGeom prst="roundRect">
            <a:avLst>
              <a:gd name="adj" fmla="val 274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5400000">
              <a:srgbClr val="0B0F2E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557016" y="2258568"/>
            <a:ext cx="2304288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3557016" y="225856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3–9 mo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453128" y="277063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1" descr="/home/claude/icons/id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898648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38728" y="342900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DID/VC Foundation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3557016" y="3977640"/>
            <a:ext cx="23042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Agent ID issuance for one domain. Stand up ANS capability discovery for that domain's agents.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245352" y="2057400"/>
            <a:ext cx="2670048" cy="3520440"/>
          </a:xfrm>
          <a:prstGeom prst="roundRect">
            <a:avLst>
              <a:gd name="adj" fmla="val 274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5400000">
              <a:srgbClr val="0B0F2E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428232" y="2258568"/>
            <a:ext cx="2304288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2" name="Text 18"/>
          <p:cNvSpPr/>
          <p:nvPr/>
        </p:nvSpPr>
        <p:spPr>
          <a:xfrm>
            <a:off x="6428232" y="225856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9–18 mo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7324344" y="277063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2" descr="/home/claude/icons/co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216" y="2898648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409944" y="342900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Policy &amp; JIT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6428232" y="3977640"/>
            <a:ext cx="23042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static scopes with ABAC/PBAC policy engine. Introduce JIT, time-bound credentials for ephemeral agents.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9116568" y="2057400"/>
            <a:ext cx="2670048" cy="3520440"/>
          </a:xfrm>
          <a:prstGeom prst="roundRect">
            <a:avLst>
              <a:gd name="adj" fmla="val 2740"/>
            </a:avLst>
          </a:prstGeom>
          <a:solidFill>
            <a:srgbClr val="FF6B5B"/>
          </a:solidFill>
          <a:ln/>
          <a:effectLst>
            <a:outerShdw sx="100000" sy="100000" kx="0" ky="0" algn="bl" rotWithShape="0" blurRad="88900" dist="25400" dir="5400000">
              <a:srgbClr val="0B0F2E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9299448" y="2258568"/>
            <a:ext cx="2304288" cy="365760"/>
          </a:xfrm>
          <a:prstGeom prst="roundRect">
            <a:avLst>
              <a:gd name="adj" fmla="val 50000"/>
            </a:avLst>
          </a:prstGeom>
          <a:solidFill>
            <a:srgbClr val="141A47"/>
          </a:solidFill>
          <a:ln/>
        </p:spPr>
      </p:sp>
      <p:sp>
        <p:nvSpPr>
          <p:cNvPr id="29" name="Text 24"/>
          <p:cNvSpPr/>
          <p:nvPr/>
        </p:nvSpPr>
        <p:spPr>
          <a:xfrm>
            <a:off x="9299448" y="225856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 mo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10195560" y="277063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3" descr="/home/claude/icons/shield_navy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4432" y="2898648"/>
            <a:ext cx="256032" cy="25603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281160" y="342900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 &amp; Enforce Globally</a:t>
            </a:r>
            <a:endParaRPr lang="en-US" sz="1350" dirty="0"/>
          </a:p>
        </p:txBody>
      </p:sp>
      <p:sp>
        <p:nvSpPr>
          <p:cNvPr id="33" name="Text 27"/>
          <p:cNvSpPr/>
          <p:nvPr/>
        </p:nvSpPr>
        <p:spPr>
          <a:xfrm>
            <a:off x="9299448" y="3977640"/>
            <a:ext cx="23042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E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cross-protocol Session Authority. Achieve single-action global revocation across A2A, MCP, and internal APIs.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502920" y="57607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</a:t>
            </a:r>
            <a:pPr indent="0" marL="0"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an architecture review to map current agent inventory against this model and select the pilot domain for Phase 2.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Identity Maturity  |  Enterprise Architecture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Identity: Maturing from Traditional to Agentic IAM</dc:title>
  <dc:subject>PptxGenJS Presentation</dc:subject>
  <dc:creator>Enterprise Architecture</dc:creator>
  <cp:lastModifiedBy>Enterprise Architecture</cp:lastModifiedBy>
  <cp:revision>1</cp:revision>
  <dcterms:created xsi:type="dcterms:W3CDTF">2026-06-29T19:44:03Z</dcterms:created>
  <dcterms:modified xsi:type="dcterms:W3CDTF">2026-06-29T19:44:03Z</dcterms:modified>
</cp:coreProperties>
</file>