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framing this as a technical deep-dive, not a vendor pitch. The goal: align the team on why our current MCP integration pattern won't survive the next phase of agent rollout, and walk through MCP Mesh as the architectural answer, with a concrete starter-template and migration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Five-part structure: problem, before/after, mechanics, starter kit, migration.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framing is deliberate: raw MCP gives zero opinion on deployment, discovery, scaling, or tracing. That gap is what we fill by hand today, ad hoc, per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roughly what our current claims/eligibility/prior-auth MCP integration looks like: each agent talks to specific tool endpoints it was wired to at build time. Every new agent or tool means another set of point-to-point connections, configs, and deployment artifacts to hand-maintain.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where we already feel pain today: tool changes that ripple through redeploys, agents that can't scale independently, zero cross-agent tracing, and a pile of hand-maintained K8s YAML per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definition before the diagram: a service mesh, specifically for MCP. Same DDDI idea as Istio/Linkerd does for HTTP services, but resolving agent capabilities, not just network routes.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directly with slide 4: instead of a tangle of hardcoded links, every agent registers capabilities with one registry. Discovery happens through capability name and tags; actual calls go agent-to-agent directly once resolved, so the registry isn't a bottleneck in the data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down this row by row if the audience wants detail, but the two rows that usually land hardest with engineers are 'adding an agent' and 'deploying 5 agents' — those are the ones our team has felt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DDDI is the headline differentiator versus LangGraph/CrewAI/AutoGen, none of which resolve dependencies across machines at runtime. Emphasize re-wire: if a Claude-backed reasoning agent goes down, the mesh can fail over to a deterministic API-based agent automatically, then fail back when it recovers, with zero code change and zero redeploy.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exact pattern from the MCP Mesh docs: tag groups score by how many tags match. More specific tag combinations score higher and win the resolution, with automatic failover to the next-best match if the top pick becomes unhealthy.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calling out for ARB and security stakeholders specifically: every non-trivial resolver decision is recorded in an event log and replayable via meshctl audit. That's the audit trail needed in a HIPAA-constrained environment when something routes unexpectedly.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shape exists in Java (MeshTool / MeshAgent annotations) and TypeScript (addTool / mesh()). This is the snippet to leave on screen longest for the dev team, since it's the entire mental model in ten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MCP Mesh project's own framing of the gap, and it matches our experience scaffolding claims/eligibility/prior-auth agents by hand. The natural next question from the room is how we actually generate those 5 files - that's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directly answers how we create MCP starter templates. meshctl scaffold is a code generator, not just a doc generator - it emits a working agent file pre-wired with the mesh.agent / mesh.tool shape, a Dockerfile, and observability hooks. Our job as EA is to define the org-specific scaffold variant: which base image, which logging fields, which mTLS defaults are mandatory in every template before a team can register an agent on the production mesh.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day-one developer experience we'd standardize on: scaffold, run locally, confirm discovery, exercise with tracing - all before a PR is opened. The mocking note matters for the SDLC gates conversation: because mocks are just unregistered agents, they structurally can't leak into a CI/CD pipeline the way an in-code mock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full lifecycle map from the MCP Mesh docs, and it matches our own SDLC gates almost one-to-one: learn/develop maps to our dev sandbox, test maps to our integration gate, deploy/secure maps to our ARB-reviewed promotion to staging and prod, observe maps to our ongoing monitoring obligations.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Relevant because our agent landscape isn't single-language: claims and eligibility tooling skews Python, some core platform services are Java/Spring. The mesh removes language as a reason to duplicate integration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for security and ARB stakeholders specifically. Three-layer security model: registration trust establishes identity, mTLS authenticates every hop, header propagation enables authorization decisions further downstream - this is the kind of layered control our HIPAA-constrained environment requires, and it's mesh-native rather than something each team bolts on inconsistently.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answer to 'how to transition.' We don't need to rewrite our claims/eligibility/prior-auth agents on day one - Phase 1 is a thin adapter that registers them with the mesh registry as-is. Phase 2 happens organically as those agents come up for other work. Phase 3 is the formal cutover once coverage is high enough that point-to-point configs are dead weight.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 to give teams an honest off-ramp here - this isn't 'mesh everything.' A single-team prototype tool genuinely doesn't need mesh overhead. This framework is what we'd put in the EA guidance doc for teams deciding whether to onboard.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concretely: nominate a pilot agent, get registry infra up this sprint, scaffold it live as a team exercise, and EA commits to drafting the org-required scaffold defaults so every future agent starts from a compliant template, not a blank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image" Target="../media/image-15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1.png"/><Relationship Id="rId3" Type="http://schemas.openxmlformats.org/officeDocument/2006/relationships/image" Target="../media/image-18-1.png"/><Relationship Id="rId4" Type="http://schemas.openxmlformats.org/officeDocument/2006/relationships/image" Target="../media/image-18-4.png"/><Relationship Id="rId5" Type="http://schemas.openxmlformats.org/officeDocument/2006/relationships/image" Target="../media/image-18-4.png"/><Relationship Id="rId6" Type="http://schemas.openxmlformats.org/officeDocument/2006/relationships/image" Target="../media/image-18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463040"/>
            <a:ext cx="3840480" cy="384048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108960"/>
            <a:ext cx="2377440" cy="237744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2920"/>
            <a:ext cx="566928" cy="566928"/>
          </a:xfrm>
          <a:prstGeom prst="ellipse">
            <a:avLst/>
          </a:prstGeom>
          <a:solidFill>
            <a:srgbClr val="5EC8C2"/>
          </a:solidFill>
          <a:ln/>
        </p:spPr>
      </p:sp>
      <p:pic>
        <p:nvPicPr>
          <p:cNvPr id="5" name="Image 0" descr="/home/claude/mcpmesh-deck/icons/netwo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479" y="630479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5303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  ·  AGENTIC AI PLATFORM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16916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Mesh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point-to-point MCP servers to a production-grade,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self-discovering agent mesh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02920" y="3794760"/>
            <a:ext cx="914400" cy="0"/>
          </a:xfrm>
          <a:prstGeom prst="line">
            <a:avLst/>
          </a:prstGeom>
          <a:noFill/>
          <a:ln w="38100">
            <a:solidFill>
              <a:srgbClr val="E883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39776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plain MCP stops scaling — and how a mesh layer, starter templates, and a phased rollout get us to production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Briefing for Engineering &amp; Platform Teams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353312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1353312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703320" y="1353312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hand-rolled MCP integration breaks down past a handful of agents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" y="2066544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80160" y="2066544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&amp; After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03320" y="2066544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point-to-point sprawl vs. a registry-based mesh architecture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724912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" y="2779776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80160" y="2779776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03320" y="2779776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DDDI, capability discovery, tag-based routing, the resolver pipeline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438144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" y="3493008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80160" y="3493008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Templates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03320" y="3493008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meshctl scaffold gives every team a production-shaped agent on day one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151376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" y="42062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80160" y="4206240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Path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03320" y="4206240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phased plan to move existing MCP servers onto the mesh without a rewrite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Mesh Briefing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C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Agents Is Easy.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Deploying Them Isn't.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44475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framework we've evaluated — LangGraph, CrewAI, AutoGen, raw MCP SDKs — answers the same question well: how do I write agent logic? None of them answer the operational question we actually get paid to solve.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359152"/>
            <a:ext cx="310896" cy="310896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6" name="Image 0" descr="/home/claude/mcpmesh-deck/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152" y="2429104"/>
            <a:ext cx="170993" cy="1709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340864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deploy 10+ MCP servers to Kubernetes consistently?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57200" y="2816352"/>
            <a:ext cx="310896" cy="310896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9" name="Image 1" descr="/home/claude/mcpmesh-deck/icons/sear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152" y="2886304"/>
            <a:ext cx="170993" cy="17099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2798064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agents discover each other at runtime — without hardcoded URLs?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457200" y="3273552"/>
            <a:ext cx="310896" cy="310896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2" name="Image 2" descr="/home/claude/mcpmesh-deck/icons/sear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152" y="3343504"/>
            <a:ext cx="170993" cy="17099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" y="3255264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scale one agent independently of the other nine?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457200" y="3730752"/>
            <a:ext cx="310896" cy="310896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5" name="Image 3" descr="/home/claude/mcpmesh-deck/icons/searc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152" y="3800704"/>
            <a:ext cx="170993" cy="17099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14400" y="3712464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trace a request across five hops when something breaks?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457200" y="4370832"/>
            <a:ext cx="8229600" cy="411480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18" name="Text 12"/>
          <p:cNvSpPr/>
          <p:nvPr/>
        </p:nvSpPr>
        <p:spPr>
          <a:xfrm>
            <a:off x="640080" y="437083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from most frameworks: </a:t>
            </a:r>
            <a:pPr indent="0" marL="0">
              <a:buNone/>
            </a:pPr>
            <a:r>
              <a:rPr lang="en-US" sz="1350" b="1" i="1" dirty="0">
                <a:solidFill>
                  <a:srgbClr val="E8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“That's your problem.”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Mesh Briefing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Today: Point-to-Point MCP Integration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257300" y="1773936"/>
            <a:ext cx="868680" cy="1828800"/>
          </a:xfrm>
          <a:prstGeom prst="line">
            <a:avLst/>
          </a:prstGeom>
          <a:noFill/>
          <a:ln w="15875">
            <a:solidFill>
              <a:srgbClr val="C7CC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57300" y="1773936"/>
            <a:ext cx="2651760" cy="1828800"/>
          </a:xfrm>
          <a:prstGeom prst="line">
            <a:avLst/>
          </a:prstGeom>
          <a:noFill/>
          <a:ln w="15875">
            <a:solidFill>
              <a:srgbClr val="C7CC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2125980" y="1773936"/>
            <a:ext cx="914400" cy="1828800"/>
          </a:xfrm>
          <a:prstGeom prst="line">
            <a:avLst/>
          </a:prstGeom>
          <a:noFill/>
          <a:ln w="15875">
            <a:solidFill>
              <a:srgbClr val="C7CC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40380" y="1773936"/>
            <a:ext cx="868680" cy="1828800"/>
          </a:xfrm>
          <a:prstGeom prst="line">
            <a:avLst/>
          </a:prstGeom>
          <a:noFill/>
          <a:ln w="15875">
            <a:solidFill>
              <a:srgbClr val="C7CC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40380" y="1773936"/>
            <a:ext cx="2651760" cy="1828800"/>
          </a:xfrm>
          <a:prstGeom prst="line">
            <a:avLst/>
          </a:prstGeom>
          <a:noFill/>
          <a:ln w="15875">
            <a:solidFill>
              <a:srgbClr val="C7CC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2125980" y="1773936"/>
            <a:ext cx="2697480" cy="1828800"/>
          </a:xfrm>
          <a:prstGeom prst="line">
            <a:avLst/>
          </a:prstGeom>
          <a:noFill/>
          <a:ln w="15875">
            <a:solidFill>
              <a:srgbClr val="C7CC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3909060" y="1773936"/>
            <a:ext cx="914400" cy="1828800"/>
          </a:xfrm>
          <a:prstGeom prst="line">
            <a:avLst/>
          </a:prstGeom>
          <a:noFill/>
          <a:ln w="15875">
            <a:solidFill>
              <a:srgbClr val="C7CC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3460" y="1773936"/>
            <a:ext cx="868680" cy="1828800"/>
          </a:xfrm>
          <a:prstGeom prst="line">
            <a:avLst/>
          </a:prstGeom>
          <a:noFill/>
          <a:ln w="15875">
            <a:solidFill>
              <a:srgbClr val="C7CC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3909060" y="1773936"/>
            <a:ext cx="2697480" cy="1828800"/>
          </a:xfrm>
          <a:prstGeom prst="line">
            <a:avLst/>
          </a:prstGeom>
          <a:noFill/>
          <a:ln w="15875">
            <a:solidFill>
              <a:srgbClr val="C7CC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5692140" y="1773936"/>
            <a:ext cx="914400" cy="1828800"/>
          </a:xfrm>
          <a:prstGeom prst="line">
            <a:avLst/>
          </a:prstGeom>
          <a:noFill/>
          <a:ln w="15875">
            <a:solidFill>
              <a:srgbClr val="C7CC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1773936"/>
            <a:ext cx="1783080" cy="9144"/>
          </a:xfrm>
          <a:prstGeom prst="line">
            <a:avLst/>
          </a:prstGeom>
          <a:noFill/>
          <a:ln w="15875">
            <a:solidFill>
              <a:srgbClr val="C7CC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40380" y="1773936"/>
            <a:ext cx="1783080" cy="9144"/>
          </a:xfrm>
          <a:prstGeom prst="line">
            <a:avLst/>
          </a:prstGeom>
          <a:noFill/>
          <a:ln w="15875">
            <a:solidFill>
              <a:srgbClr val="C7CC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23460" y="1773936"/>
            <a:ext cx="1783080" cy="9144"/>
          </a:xfrm>
          <a:prstGeom prst="line">
            <a:avLst/>
          </a:prstGeom>
          <a:noFill/>
          <a:ln w="15875">
            <a:solidFill>
              <a:srgbClr val="C7CC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1417320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1417320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331720" y="1417320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331720" y="1417320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0" y="1417320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0" y="1417320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897880" y="1417320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897880" y="1417320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417320" y="3246120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417320" y="3246120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Tool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0" y="3246120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200400" y="3246120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EOB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Tool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83480" y="3246120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83480" y="3246120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Tool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4224528"/>
            <a:ext cx="822960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2245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agent means new hardcoded endpoints, new Dockerfiles, new YAML, new auth wiring — </a:t>
            </a:r>
            <a:pPr indent="0" marL="0">
              <a:buNone/>
            </a:pPr>
            <a:r>
              <a:rPr lang="en-US" sz="1250" b="1" dirty="0">
                <a:solidFill>
                  <a:srgbClr val="E8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agents → N² hand-built connections.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&amp; After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Plain MCP Hits a Wall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39319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49961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mcpmesh-deck/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238" y="1602486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463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Discovery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58368" y="1956816"/>
            <a:ext cx="35295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agent’s endpoint is hardcoded. Adding a tool means redeploying every consumer that needs it.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0" y="1298448"/>
            <a:ext cx="39319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73168" y="1499616"/>
            <a:ext cx="457200" cy="457200"/>
          </a:xfrm>
          <a:prstGeom prst="ellipse">
            <a:avLst/>
          </a:prstGeom>
          <a:solidFill>
            <a:srgbClr val="8B7FD4"/>
          </a:solidFill>
          <a:ln/>
        </p:spPr>
      </p:sp>
      <p:pic>
        <p:nvPicPr>
          <p:cNvPr id="11" name="Image 1" descr="/home/claude/mcpmesh-deck/icons/cha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038" y="1602486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463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Independent Scaling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773168" y="1956816"/>
            <a:ext cx="35295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bundled into shared processes or services scale together — one hot path drags the rest along.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2898648"/>
            <a:ext cx="39319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8368" y="3099816"/>
            <a:ext cx="457200" cy="457200"/>
          </a:xfrm>
          <a:prstGeom prst="ellipse">
            <a:avLst/>
          </a:prstGeom>
          <a:solidFill>
            <a:srgbClr val="E8836B"/>
          </a:solidFill>
          <a:ln/>
        </p:spPr>
      </p:sp>
      <p:pic>
        <p:nvPicPr>
          <p:cNvPr id="16" name="Image 2" descr="/home/claude/mcpmesh-deck/icons/ey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238" y="3202686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3063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Observability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58368" y="3557016"/>
            <a:ext cx="35295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failed claims lookup crossing 4 hops has no trace. Debugging means grepping logs across services by hand.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0" y="2898648"/>
            <a:ext cx="39319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73168" y="3099816"/>
            <a:ext cx="457200" cy="457200"/>
          </a:xfrm>
          <a:prstGeom prst="ellipse">
            <a:avLst/>
          </a:prstGeom>
          <a:solidFill>
            <a:srgbClr val="5EC8C2"/>
          </a:solidFill>
          <a:ln/>
        </p:spPr>
      </p:sp>
      <p:pic>
        <p:nvPicPr>
          <p:cNvPr id="21" name="Image 3" descr="/home/claude/mcpmesh-deck/icons/filecod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038" y="3202686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94960" y="3063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File Sprawl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773168" y="3557016"/>
            <a:ext cx="35295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ships its own Dockerfile, deployment.yaml, service.yaml, configmap — 50+ files for 5 agents.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&amp; After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C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MCP Mesh?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open-source, enterprise-grade distributed service mesh purpose-built for MCP agents. You write business logic as plain functions; the mesh discovers, connects, heals, and traces — across languages, machines, and clouds.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2423160"/>
            <a:ext cx="384048" cy="384048"/>
          </a:xfrm>
          <a:prstGeom prst="ellipse">
            <a:avLst/>
          </a:prstGeom>
          <a:solidFill>
            <a:srgbClr val="5EC8C2"/>
          </a:solidFill>
          <a:ln/>
        </p:spPr>
      </p:sp>
      <p:pic>
        <p:nvPicPr>
          <p:cNvPr id="6" name="Image 0" descr="/home/claude/mcpmesh-deck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2519172"/>
            <a:ext cx="192024" cy="1920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432304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DDDI  — 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Dynamic Dependency Injection — wiring resolved at runtime, no restarts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898648"/>
            <a:ext cx="384048" cy="384048"/>
          </a:xfrm>
          <a:prstGeom prst="ellipse">
            <a:avLst/>
          </a:prstGeom>
          <a:solidFill>
            <a:srgbClr val="5EC8C2"/>
          </a:solidFill>
          <a:ln/>
        </p:spPr>
      </p:sp>
      <p:pic>
        <p:nvPicPr>
          <p:cNvPr id="9" name="Image 1" descr="/home/claude/mcpmesh-deck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" y="2994660"/>
            <a:ext cx="192024" cy="1920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290779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Kubernetes-Native  — 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charts, health checks, horizontal scaling out of the box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3374136"/>
            <a:ext cx="384048" cy="384048"/>
          </a:xfrm>
          <a:prstGeom prst="ellipse">
            <a:avLst/>
          </a:prstGeom>
          <a:solidFill>
            <a:srgbClr val="5EC8C2"/>
          </a:solidFill>
          <a:ln/>
        </p:spPr>
      </p:sp>
      <p:pic>
        <p:nvPicPr>
          <p:cNvPr id="12" name="Image 2" descr="/home/claude/mcpmesh-deck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3470148"/>
            <a:ext cx="192024" cy="1920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33832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 — 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Java, and TypeScript agents discover and call each other natively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57200" y="3849624"/>
            <a:ext cx="384048" cy="384048"/>
          </a:xfrm>
          <a:prstGeom prst="ellipse">
            <a:avLst/>
          </a:prstGeom>
          <a:solidFill>
            <a:srgbClr val="5EC8C2"/>
          </a:solidFill>
          <a:ln/>
        </p:spPr>
      </p:sp>
      <p:pic>
        <p:nvPicPr>
          <p:cNvPr id="15" name="Image 3" descr="/home/claude/mcpmesh-deck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" y="3945636"/>
            <a:ext cx="192024" cy="19202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60120" y="385876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Multi-Protocol  — 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MCP, Google A2A, and REST bridging — same code, any caller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Mesh Architecture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Mesh: Registry-Mediated Discovery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749040" y="137160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749040" y="13716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flipH="1">
            <a:off x="1211580" y="2057400"/>
            <a:ext cx="3360420" cy="1188720"/>
          </a:xfrm>
          <a:prstGeom prst="line">
            <a:avLst/>
          </a:prstGeom>
          <a:noFill/>
          <a:ln w="22225">
            <a:solidFill>
              <a:srgbClr val="5EC8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3246120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3246120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 flipH="1">
            <a:off x="2948940" y="2057400"/>
            <a:ext cx="1623060" cy="1188720"/>
          </a:xfrm>
          <a:prstGeom prst="line">
            <a:avLst/>
          </a:prstGeom>
          <a:noFill/>
          <a:ln w="22225">
            <a:solidFill>
              <a:srgbClr val="5EC8C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3246120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40280" y="3246120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2057400"/>
            <a:ext cx="1211580" cy="1188720"/>
          </a:xfrm>
          <a:prstGeom prst="line">
            <a:avLst/>
          </a:prstGeom>
          <a:noFill/>
          <a:ln w="22225">
            <a:solidFill>
              <a:srgbClr val="5EC8C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74920" y="3246120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74920" y="3246120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0" y="2057400"/>
            <a:ext cx="2948940" cy="1188720"/>
          </a:xfrm>
          <a:prstGeom prst="line">
            <a:avLst/>
          </a:prstGeom>
          <a:noFill/>
          <a:ln w="22225">
            <a:solidFill>
              <a:srgbClr val="5EC8C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12280" y="3246120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12280" y="3246120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971800" y="211226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· discover · heartbeat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0" y="3602736"/>
            <a:ext cx="1417320" cy="0"/>
          </a:xfrm>
          <a:prstGeom prst="line">
            <a:avLst/>
          </a:prstGeom>
          <a:noFill/>
          <a:ln w="25400">
            <a:solidFill>
              <a:srgbClr val="E8836B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3657600" y="331012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8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call — once resolved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4297680"/>
            <a:ext cx="8229600" cy="5120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29768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register capabilities once. 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registry resolves dependencies and injects live connections — add, remove, or upgrade agents with zero downstream redeploys.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&amp; After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vs. After, Concretely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92024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E3E7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3258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377440" y="1325880"/>
            <a:ext cx="315468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E3E7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87168" y="132588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MCP (Point-to-Point)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532120" y="1325880"/>
            <a:ext cx="315468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E3E7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41848" y="132588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Mesh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1920240" cy="457200"/>
          </a:xfrm>
          <a:prstGeom prst="rect">
            <a:avLst/>
          </a:prstGeom>
          <a:solidFill>
            <a:srgbClr val="EFF2FA"/>
          </a:solidFill>
          <a:ln w="6350">
            <a:solidFill>
              <a:srgbClr val="E3E7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7830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377440" y="1783080"/>
            <a:ext cx="3154680" cy="457200"/>
          </a:xfrm>
          <a:prstGeom prst="rect">
            <a:avLst/>
          </a:prstGeom>
          <a:solidFill>
            <a:srgbClr val="EFF2FA"/>
          </a:solidFill>
          <a:ln w="6350">
            <a:solidFill>
              <a:srgbClr val="E3E7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7168" y="178308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URLs / config files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532120" y="1783080"/>
            <a:ext cx="3154680" cy="457200"/>
          </a:xfrm>
          <a:prstGeom prst="rect">
            <a:avLst/>
          </a:prstGeom>
          <a:solidFill>
            <a:srgbClr val="EFF2FA"/>
          </a:solidFill>
          <a:ln w="6350">
            <a:solidFill>
              <a:srgbClr val="E3E7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41848" y="178308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+ tag-based, runtime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240280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2402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an agent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377440" y="2240280"/>
            <a:ext cx="3154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87168" y="224028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Redeploy every consumer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32120" y="2240280"/>
            <a:ext cx="3154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41848" y="224028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Auto-discovered, zero downstream changes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2697480"/>
            <a:ext cx="1920240" cy="457200"/>
          </a:xfrm>
          <a:prstGeom prst="rect">
            <a:avLst/>
          </a:prstGeom>
          <a:solidFill>
            <a:srgbClr val="EFF2FA"/>
          </a:solidFill>
          <a:ln w="6350">
            <a:solidFill>
              <a:srgbClr val="E3E7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26974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377440" y="2697480"/>
            <a:ext cx="3154680" cy="457200"/>
          </a:xfrm>
          <a:prstGeom prst="rect">
            <a:avLst/>
          </a:prstGeom>
          <a:solidFill>
            <a:srgbClr val="EFF2FA"/>
          </a:solidFill>
          <a:ln w="6350">
            <a:solidFill>
              <a:srgbClr val="E3E7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87168" y="269748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/ manual per service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532120" y="2697480"/>
            <a:ext cx="3154680" cy="457200"/>
          </a:xfrm>
          <a:prstGeom prst="rect">
            <a:avLst/>
          </a:prstGeom>
          <a:solidFill>
            <a:srgbClr val="EFF2FA"/>
          </a:solidFill>
          <a:ln w="6350">
            <a:solidFill>
              <a:srgbClr val="E3E7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41848" y="269748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pods, per-agent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3154680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31546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5 agents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377440" y="3154680"/>
            <a:ext cx="3154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87168" y="315468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files, weeks of hand work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532120" y="3154680"/>
            <a:ext cx="3154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41848" y="315468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files + meshctl scaffold, 1 command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3611880"/>
            <a:ext cx="1920240" cy="457200"/>
          </a:xfrm>
          <a:prstGeom prst="rect">
            <a:avLst/>
          </a:prstGeom>
          <a:solidFill>
            <a:srgbClr val="EFF2FA"/>
          </a:solidFill>
          <a:ln w="6350">
            <a:solidFill>
              <a:srgbClr val="E3E7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36118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377440" y="3611880"/>
            <a:ext cx="3154680" cy="457200"/>
          </a:xfrm>
          <a:prstGeom prst="rect">
            <a:avLst/>
          </a:prstGeom>
          <a:solidFill>
            <a:srgbClr val="EFF2FA"/>
          </a:solidFill>
          <a:ln w="6350">
            <a:solidFill>
              <a:srgbClr val="E3E7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87168" y="361188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 log correlation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532120" y="3611880"/>
            <a:ext cx="3154680" cy="457200"/>
          </a:xfrm>
          <a:prstGeom prst="rect">
            <a:avLst/>
          </a:prstGeom>
          <a:solidFill>
            <a:srgbClr val="EFF2FA"/>
          </a:solidFill>
          <a:ln w="6350">
            <a:solidFill>
              <a:srgbClr val="E3E7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41848" y="361188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Grafana + distributed tracing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7200" y="4069080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" y="40690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handling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377440" y="4069080"/>
            <a:ext cx="3154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87168" y="406908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retry / circuit-break code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532120" y="4069080"/>
            <a:ext cx="3154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41848" y="406908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failover &amp; graceful degradation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&amp; After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DDDI: Distributed Dynamic Dependency Injection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dependency injection wires services together inside one process, at startup. DDDI does the same job — but across the network, across languages, and continuously, not just once at boot.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1938528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97864" y="2240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mcpmesh-deck/icons/filecod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0734" y="234315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0352" y="21671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80720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85216" y="3099816"/>
            <a:ext cx="16824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 declares a dependency by capability name — no URL, no host, no port.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414016" y="2948940"/>
            <a:ext cx="109728" cy="0"/>
          </a:xfrm>
          <a:prstGeom prst="line">
            <a:avLst/>
          </a:prstGeom>
          <a:noFill/>
          <a:ln w="22225">
            <a:solidFill>
              <a:srgbClr val="E8836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42032" y="2057400"/>
            <a:ext cx="1938528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82696" y="2240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/home/claude/mcpmesh-deck/icons/sear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5566" y="2343150"/>
            <a:ext cx="251460" cy="2514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15184" y="21671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633472" y="280720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670048" y="3099816"/>
            <a:ext cx="16824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registry matches capability, tags, version, and schema against live providers.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498848" y="2948940"/>
            <a:ext cx="109728" cy="0"/>
          </a:xfrm>
          <a:prstGeom prst="line">
            <a:avLst/>
          </a:prstGeom>
          <a:noFill/>
          <a:ln w="22225">
            <a:solidFill>
              <a:srgbClr val="E8836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626864" y="2057400"/>
            <a:ext cx="1938528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367528" y="2240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2" descr="/home/claude/mcpmesh-deck/icons/plu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398" y="2343150"/>
            <a:ext cx="251460" cy="2514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00016" y="21671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718304" y="280720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754880" y="3099816"/>
            <a:ext cx="16824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proxy is injected into Agent A's function at call time — same process or remote.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583680" y="2948940"/>
            <a:ext cx="109728" cy="0"/>
          </a:xfrm>
          <a:prstGeom prst="line">
            <a:avLst/>
          </a:prstGeom>
          <a:noFill/>
          <a:ln w="22225">
            <a:solidFill>
              <a:srgbClr val="E8836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711696" y="2057400"/>
            <a:ext cx="1938528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452360" y="2240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3" descr="/home/claude/mcpmesh-deck/icons/sync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230" y="2343150"/>
            <a:ext cx="251460" cy="2514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784848" y="21671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6803136" y="280720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Re-wire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6839712" y="3099816"/>
            <a:ext cx="16824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provider dies or a better one appears, the mesh swaps the proxy. No restart.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 &amp; Tag-Based Selection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register a capability name plus descriptive tags. Consumers ask for a capability and optionally require or prefer tags — the mesh scores and picks deterministically.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977640" cy="2606040"/>
          </a:xfrm>
          <a:prstGeom prst="roundRect">
            <a:avLst>
              <a:gd name="adj" fmla="val 2105"/>
            </a:avLst>
          </a:prstGeom>
          <a:solidFill>
            <a:srgbClr val="141B4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66544"/>
            <a:ext cx="3611880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9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@mesh.tool(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9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capability="llm",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9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tags=["+anthropic","+sonnet"]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9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9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claude_provider(): ...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9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@mesh.tool(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9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capability="llm",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9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tags=["+gemini"]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9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9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gemini_provider(): ...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9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scored: anthropic+sonnet=2,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9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gemini=1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09160" y="19202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scored matching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2359152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23591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(+anthropic, +sonnet)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589520" y="2450592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5EC8C2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0" y="245059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2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2926080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2926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(+gemini)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89520" y="301752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8B7FD4"/>
          </a:solidFill>
          <a:ln/>
        </p:spPr>
      </p:sp>
      <p:sp>
        <p:nvSpPr>
          <p:cNvPr id="15" name="Text 13"/>
          <p:cNvSpPr/>
          <p:nvPr/>
        </p:nvSpPr>
        <p:spPr>
          <a:xfrm>
            <a:off x="7589520" y="30175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09160" y="356616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score wins and is injected. If it later becomes unhealthy, the mesh falls back to the next-highest scorer automatically — then fails back when it recovers.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C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Resolver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multiple providers register the same capability, the registry runs four filter stages, in order, to pick a winner — every decision is logged and replayable.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1514246" cy="1783080"/>
          </a:xfrm>
          <a:prstGeom prst="roundRect">
            <a:avLst>
              <a:gd name="adj" fmla="val 4227"/>
            </a:avLst>
          </a:prstGeom>
          <a:solidFill>
            <a:srgbClr val="141B4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402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C8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13313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990088"/>
            <a:ext cx="133136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Exact-name match against the indexed capability registry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1989734" y="3040380"/>
            <a:ext cx="128016" cy="0"/>
          </a:xfrm>
          <a:prstGeom prst="line">
            <a:avLst/>
          </a:prstGeom>
          <a:noFill/>
          <a:ln w="19050">
            <a:solidFill>
              <a:srgbClr val="5EC8C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36038" y="2148840"/>
            <a:ext cx="1514246" cy="1783080"/>
          </a:xfrm>
          <a:prstGeom prst="roundRect">
            <a:avLst>
              <a:gd name="adj" fmla="val 4227"/>
            </a:avLst>
          </a:prstGeom>
          <a:solidFill>
            <a:srgbClr val="141B47"/>
          </a:solidFill>
          <a:ln/>
        </p:spPr>
      </p:sp>
      <p:sp>
        <p:nvSpPr>
          <p:cNvPr id="11" name="Text 9"/>
          <p:cNvSpPr/>
          <p:nvPr/>
        </p:nvSpPr>
        <p:spPr>
          <a:xfrm>
            <a:off x="2227478" y="22402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C8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27478" y="2606040"/>
            <a:ext cx="13313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227478" y="2990088"/>
            <a:ext cx="133136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/ preferred / excluded tag scoring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3668573" y="3040380"/>
            <a:ext cx="128016" cy="0"/>
          </a:xfrm>
          <a:prstGeom prst="line">
            <a:avLst/>
          </a:prstGeom>
          <a:noFill/>
          <a:ln w="19050">
            <a:solidFill>
              <a:srgbClr val="5EC8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14877" y="2148840"/>
            <a:ext cx="1514246" cy="1783080"/>
          </a:xfrm>
          <a:prstGeom prst="roundRect">
            <a:avLst>
              <a:gd name="adj" fmla="val 4227"/>
            </a:avLst>
          </a:prstGeom>
          <a:solidFill>
            <a:srgbClr val="141B47"/>
          </a:solidFill>
          <a:ln/>
        </p:spPr>
      </p:sp>
      <p:sp>
        <p:nvSpPr>
          <p:cNvPr id="16" name="Text 14"/>
          <p:cNvSpPr/>
          <p:nvPr/>
        </p:nvSpPr>
        <p:spPr>
          <a:xfrm>
            <a:off x="3906317" y="22402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C8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06317" y="2606040"/>
            <a:ext cx="13313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906317" y="2990088"/>
            <a:ext cx="133136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Semver constraint check (e.g. &gt;=2.0.0)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5347411" y="3040380"/>
            <a:ext cx="128016" cy="0"/>
          </a:xfrm>
          <a:prstGeom prst="line">
            <a:avLst/>
          </a:prstGeom>
          <a:noFill/>
          <a:ln w="19050">
            <a:solidFill>
              <a:srgbClr val="5EC8C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93715" y="2148840"/>
            <a:ext cx="1514246" cy="1783080"/>
          </a:xfrm>
          <a:prstGeom prst="roundRect">
            <a:avLst>
              <a:gd name="adj" fmla="val 4227"/>
            </a:avLst>
          </a:prstGeom>
          <a:solidFill>
            <a:srgbClr val="141B47"/>
          </a:solidFill>
          <a:ln/>
        </p:spPr>
      </p:sp>
      <p:sp>
        <p:nvSpPr>
          <p:cNvPr id="21" name="Text 19"/>
          <p:cNvSpPr/>
          <p:nvPr/>
        </p:nvSpPr>
        <p:spPr>
          <a:xfrm>
            <a:off x="5585155" y="22402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C8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85155" y="2606040"/>
            <a:ext cx="13313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585155" y="2990088"/>
            <a:ext cx="133136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canonical output-shape check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7026250" y="3040380"/>
            <a:ext cx="128016" cy="0"/>
          </a:xfrm>
          <a:prstGeom prst="line">
            <a:avLst/>
          </a:prstGeom>
          <a:noFill/>
          <a:ln w="19050">
            <a:solidFill>
              <a:srgbClr val="5EC8C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72554" y="2148840"/>
            <a:ext cx="1514246" cy="1783080"/>
          </a:xfrm>
          <a:prstGeom prst="roundRect">
            <a:avLst>
              <a:gd name="adj" fmla="val 4227"/>
            </a:avLst>
          </a:prstGeom>
          <a:solidFill>
            <a:srgbClr val="E8836B"/>
          </a:solidFill>
          <a:ln/>
        </p:spPr>
      </p:sp>
      <p:sp>
        <p:nvSpPr>
          <p:cNvPr id="26" name="Text 24"/>
          <p:cNvSpPr/>
          <p:nvPr/>
        </p:nvSpPr>
        <p:spPr>
          <a:xfrm>
            <a:off x="7263994" y="22402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63994" y="2606040"/>
            <a:ext cx="13313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Tiebreaker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263994" y="2990088"/>
            <a:ext cx="133136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FF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HighestScoreFirst picks the winner from survivors</a:t>
            </a:r>
            <a:endParaRPr lang="en-US" sz="870" dirty="0"/>
          </a:p>
        </p:txBody>
      </p:sp>
      <p:sp>
        <p:nvSpPr>
          <p:cNvPr id="29" name="Text 27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EC8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meshctl audit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replays any resolver decision — critical for explaining why an agent called a particular provider during incident review.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 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Boilerplate — Two Decorators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HTTP clients, no service discovery code, no retry logic to hand-write. Business logic stays business logic.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8229600" cy="2468880"/>
          </a:xfrm>
          <a:prstGeom prst="roundRect">
            <a:avLst>
              <a:gd name="adj" fmla="val 2222"/>
            </a:avLst>
          </a:prstGeom>
          <a:solidFill>
            <a:srgbClr val="141B4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01952"/>
            <a:ext cx="777240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9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@app.tool()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9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@mesh.tool(capability="analyze_data", dependencies=["db_service", "ml_service"])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9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analyze(data, db_service=None, ml_service=None):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9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db_service and ml_service are injected automatically by the mesh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9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records = await db_service(query=data) if db_service else {}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9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await ml_service(data=records) if ml_service else {}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9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@mesh.agent(name="claims-analyzer", port=8080)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9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ClaimsAnalyzerAgent: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9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3708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8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@mesh.tool  </a:t>
            </a:r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a function as a callable, discoverable capability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17720" y="43708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8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@mesh.agent  </a:t>
            </a:r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the class with the mesh — health, heartbeat, lifecycle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COMPARISON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Deploying 5 Agents: Files &amp; Effort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15875">
            <a:solidFill>
              <a:srgbClr val="E7AF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36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MCP MESH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3474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agent-1/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|- Dockerfile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|- deployment.yaml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|- service.yaml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`- configmap.yaml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agent-2/  ... (repeat x4 more)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service-discovery/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`- (build your own)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monitoring/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`- (set up yourself)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3593592"/>
            <a:ext cx="3474720" cy="384048"/>
          </a:xfrm>
          <a:prstGeom prst="rect">
            <a:avLst/>
          </a:prstGeom>
          <a:solidFill>
            <a:srgbClr val="FBEAE5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5935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files · weeks of work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2788920"/>
          </a:xfrm>
          <a:prstGeom prst="roundRect">
            <a:avLst>
              <a:gd name="adj" fmla="val 229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1536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C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MCP MESH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83480" y="1874520"/>
            <a:ext cx="3474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9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 Python files,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9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each with @mesh.agent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9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meshctl scaffold \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9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--compose --observability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9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83480" y="3593592"/>
            <a:ext cx="3474720" cy="384048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35935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C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files + 1 command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Templates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CREATE STARTER TEMPLATES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meshctl scaffold: Production-Shaped on Day One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agent starts from a generated template, not a blank file. The CLI bakes in our required shape — capability registration, health checks, observability hooks — before a single line of business logic is written.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993392"/>
            <a:ext cx="8229600" cy="1417320"/>
          </a:xfrm>
          <a:prstGeom prst="roundRect">
            <a:avLst>
              <a:gd name="adj" fmla="val 3871"/>
            </a:avLst>
          </a:prstGeom>
          <a:solidFill>
            <a:srgbClr val="141B4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176272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9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meshctl scaffold --name prior-auth-agent --agent-type tool          # plain tool agent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9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meshctl scaffold llm --vendor claude --lang python --name fwa-reasoner   # LLM-backed agent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9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meshctl scaffold llm-provider --vendor claude --lang python --name llm-gateway  # provider agent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3749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8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404164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capability agent — the default for FWA, eligibility, EOB lookups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365760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3749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8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83280" y="404164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agent wired to a provider by tag — e.g. Claude- or Gemini-backed analysis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0" y="365760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3749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8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llm-provider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72200" y="404164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an LLM vendor as a mesh capability other agents can depend 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Templates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C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TEMPLATES IN PRACTICE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Scaffold to Running Agent in Minutes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5EC8C2"/>
          </a:solidFill>
          <a:ln/>
        </p:spPr>
      </p:sp>
      <p:pic>
        <p:nvPicPr>
          <p:cNvPr id="5" name="Image 0" descr="/home/claude/mcpmesh-deck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18288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35331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meshctl scaffold --name prior-auth-agent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960120" y="166420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agent.py, Dockerfile, and a README — already shaped to mesh conventions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2084832"/>
            <a:ext cx="365760" cy="365760"/>
          </a:xfrm>
          <a:prstGeom prst="ellipse">
            <a:avLst/>
          </a:prstGeom>
          <a:solidFill>
            <a:srgbClr val="5EC8C2"/>
          </a:solidFill>
          <a:ln/>
        </p:spPr>
      </p:sp>
      <p:pic>
        <p:nvPicPr>
          <p:cNvPr id="9" name="Image 1" descr="/home/claude/mcpmesh-deck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76272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206654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meshctl start prior-auth-agent.py --watch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960120" y="2377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 with hot reload; registers with the local registry automatically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2798064"/>
            <a:ext cx="365760" cy="365760"/>
          </a:xfrm>
          <a:prstGeom prst="ellipse">
            <a:avLst/>
          </a:prstGeom>
          <a:solidFill>
            <a:srgbClr val="5EC8C2"/>
          </a:solidFill>
          <a:ln/>
        </p:spPr>
      </p:sp>
      <p:pic>
        <p:nvPicPr>
          <p:cNvPr id="13" name="Image 2" descr="/home/claude/mcpmesh-deck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89504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277977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meshctl list --tools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960120" y="309067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new capability is discoverable by every other agent on the mesh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57200" y="3511296"/>
            <a:ext cx="365760" cy="365760"/>
          </a:xfrm>
          <a:prstGeom prst="ellipse">
            <a:avLst/>
          </a:prstGeom>
          <a:solidFill>
            <a:srgbClr val="5EC8C2"/>
          </a:solidFill>
          <a:ln/>
        </p:spPr>
      </p:sp>
      <p:pic>
        <p:nvPicPr>
          <p:cNvPr id="17" name="Image 3" descr="/home/claude/mcpmesh-deck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602736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60120" y="349300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meshctl call prior_auth_check --trace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960120" y="380390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 the tool end-to-end with a full distributed trace, before it ever ships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57200" y="4498848"/>
            <a:ext cx="8229600" cy="365760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21" name="Text 15"/>
          <p:cNvSpPr/>
          <p:nvPr/>
        </p:nvSpPr>
        <p:spPr>
          <a:xfrm>
            <a:off x="640080" y="449884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Zero-config mocking: a teammate can stand up a mock agent under the same capability name while a real dependency isn’t ready — no mock framework, no risk of it shipping to prod.</a:t>
            </a:r>
            <a:endParaRPr lang="en-US" sz="930" dirty="0"/>
          </a:p>
        </p:txBody>
      </p:sp>
      <p:sp>
        <p:nvSpPr>
          <p:cNvPr id="22" name="Text 16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Templates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Mesh, Every Stage — Learn to Observe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264920" cy="1691640"/>
          </a:xfrm>
          <a:prstGeom prst="roundRect">
            <a:avLst>
              <a:gd name="adj" fmla="val 506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709928"/>
            <a:ext cx="117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2075688"/>
            <a:ext cx="117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meshctl man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731264" y="2354580"/>
            <a:ext cx="109728" cy="0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50136" y="1508760"/>
            <a:ext cx="1264920" cy="1691640"/>
          </a:xfrm>
          <a:prstGeom prst="roundRect">
            <a:avLst>
              <a:gd name="adj" fmla="val 5060"/>
            </a:avLst>
          </a:prstGeom>
          <a:solidFill>
            <a:srgbClr val="5EC8C2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95856" y="1709928"/>
            <a:ext cx="117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895856" y="2075688"/>
            <a:ext cx="117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meshctl scaffold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24200" y="2354580"/>
            <a:ext cx="109728" cy="0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3072" y="1508760"/>
            <a:ext cx="1264920" cy="1691640"/>
          </a:xfrm>
          <a:prstGeom prst="roundRect">
            <a:avLst>
              <a:gd name="adj" fmla="val 506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88792" y="1709928"/>
            <a:ext cx="117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88792" y="2075688"/>
            <a:ext cx="117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meshctl call --trace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17136" y="2354580"/>
            <a:ext cx="109728" cy="0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36008" y="1508760"/>
            <a:ext cx="1264920" cy="1691640"/>
          </a:xfrm>
          <a:prstGeom prst="roundRect">
            <a:avLst>
              <a:gd name="adj" fmla="val 5060"/>
            </a:avLst>
          </a:prstGeom>
          <a:solidFill>
            <a:srgbClr val="5EC8C2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81728" y="1709928"/>
            <a:ext cx="117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81728" y="2075688"/>
            <a:ext cx="117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helm install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10072" y="2354580"/>
            <a:ext cx="109728" cy="0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28944" y="1508760"/>
            <a:ext cx="1264920" cy="1691640"/>
          </a:xfrm>
          <a:prstGeom prst="roundRect">
            <a:avLst>
              <a:gd name="adj" fmla="val 5060"/>
            </a:avLst>
          </a:prstGeom>
          <a:solidFill>
            <a:srgbClr val="E8836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74664" y="1709928"/>
            <a:ext cx="117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074664" y="2075688"/>
            <a:ext cx="117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mTLS / Vault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303008" y="2354580"/>
            <a:ext cx="109728" cy="0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21880" y="1508760"/>
            <a:ext cx="1264920" cy="1691640"/>
          </a:xfrm>
          <a:prstGeom prst="roundRect">
            <a:avLst>
              <a:gd name="adj" fmla="val 506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67600" y="1709928"/>
            <a:ext cx="117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467600" y="2075688"/>
            <a:ext cx="117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Grafana / Tempo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 flipH="1">
            <a:off x="2482596" y="3364992"/>
            <a:ext cx="5571744" cy="0"/>
          </a:xfrm>
          <a:prstGeom prst="line">
            <a:avLst/>
          </a:prstGeom>
          <a:noFill/>
          <a:ln w="19050">
            <a:solidFill>
              <a:srgbClr val="E8836B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2482596" y="3401568"/>
            <a:ext cx="5571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8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feeds back into the next dev cycle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agent code runs unchanged from a laptop, to Docker Compose, to a Kubernetes cluster — only the deployment target changes.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&amp; Operations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Language. Any Protocol. Same Mesh.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840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7647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0391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@mesh.tool decorators — FastAPI integration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459736"/>
            <a:ext cx="3840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532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28072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@MeshTool annotations — Spring Boot starter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3227832"/>
            <a:ext cx="3840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3009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35753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addTool() — Express integration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40416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in different languages discover and call each other natively via a shared core — no REST shim required.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63440" y="1325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691640"/>
            <a:ext cx="4023360" cy="658368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1764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C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46320" y="2039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— the mesh's primary transport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2459736"/>
            <a:ext cx="4023360" cy="658368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2532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C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46320" y="2807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Agent-to-Agent v1.0 — consume or expose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3227832"/>
            <a:ext cx="4023360" cy="658368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33009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C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846320" y="35753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mesh tools to non-mesh callers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63440" y="40416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@mesh.tool code can serve an MCP client today and an A2A producer surface tomorrow — no rewrite.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&amp; Operations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C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READINESS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 &amp; Security, Not Bolted 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EC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29184" cy="329184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6" name="Image 0" descr="/home/claude/mcpmesh-deck/icons/ch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266" y="1811426"/>
            <a:ext cx="181051" cy="1810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7099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tracing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914400" y="19842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traces every tool call and LLM hop across the full call chain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57200" y="2487168"/>
            <a:ext cx="329184" cy="329184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0" name="Image 1" descr="/home/claude/mcpmesh-deck/icons/cha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" y="2561234"/>
            <a:ext cx="181051" cy="18105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24597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dashboards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914400" y="273405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Pre-configured agent health, latency, and throughput panels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57200" y="3236976"/>
            <a:ext cx="329184" cy="329184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4" name="Image 2" descr="/home/claude/mcpmesh-deck/icons/cha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66" y="3311042"/>
            <a:ext cx="181051" cy="18105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4400" y="32095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meshctl audit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914400" y="348386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any resolver decision for incident review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663440" y="1371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663440" y="1737360"/>
            <a:ext cx="329184" cy="329184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9" name="Image 3" descr="/home/claude/mcpmesh-deck/icons/shiel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7506" y="1811426"/>
            <a:ext cx="181051" cy="18105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120640" y="17099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trust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5120640" y="19842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agent identity before it's allowed to register a capability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4663440" y="2487168"/>
            <a:ext cx="329184" cy="329184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23" name="Image 4" descr="/home/claude/mcpmesh-deck/icons/shiel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7506" y="2561234"/>
            <a:ext cx="181051" cy="18105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20640" y="24597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Agent-to-agent mTLS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5120640" y="273405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inter-agent call is authenticated, not just the edge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4663440" y="3236976"/>
            <a:ext cx="329184" cy="329184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27" name="Image 5" descr="/home/claude/mcpmesh-deck/icons/shiel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7506" y="3311042"/>
            <a:ext cx="181051" cy="181051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120640" y="32095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propagation</a:t>
            </a:r>
            <a:endParaRPr lang="en-US" sz="1150" dirty="0"/>
          </a:p>
        </p:txBody>
      </p:sp>
      <p:sp>
        <p:nvSpPr>
          <p:cNvPr id="29" name="Text 21"/>
          <p:cNvSpPr/>
          <p:nvPr/>
        </p:nvSpPr>
        <p:spPr>
          <a:xfrm>
            <a:off x="5120640" y="34838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fine-grained authorization decisions downstream</a:t>
            </a:r>
            <a:endParaRPr lang="en-US" sz="950" dirty="0"/>
          </a:p>
        </p:txBody>
      </p:sp>
      <p:sp>
        <p:nvSpPr>
          <p:cNvPr id="30" name="Text 22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&amp; Operations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TRANSITION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Phased Migration — No Big-Bang Rewrite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38528" cy="2331720"/>
          </a:xfrm>
          <a:prstGeom prst="roundRect">
            <a:avLst>
              <a:gd name="adj" fmla="val 330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499616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EC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216152" y="1755648"/>
            <a:ext cx="420624" cy="420624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7" name="Image 0" descr="/home/claude/mcpmesh-deck/icons/rocke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0792" y="1850288"/>
            <a:ext cx="231343" cy="2313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267712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03504" y="2578608"/>
            <a:ext cx="16459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one new, low-risk agent on the mesh (e.g. FWA lookup) alongside existing MCP servers, unchanged.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414016" y="2537460"/>
            <a:ext cx="109728" cy="0"/>
          </a:xfrm>
          <a:prstGeom prst="line">
            <a:avLst/>
          </a:prstGeom>
          <a:noFill/>
          <a:ln w="22225">
            <a:solidFill>
              <a:srgbClr val="E883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371600"/>
            <a:ext cx="1938528" cy="2331720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651760" y="1499616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300984" y="175564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/home/claude/mcpmesh-deck/icons/plu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5624" y="1850288"/>
            <a:ext cx="231343" cy="23134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33472" y="2267712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688336" y="2578608"/>
            <a:ext cx="16459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MCP servers register with the mesh registry via a thin adapter — logic untouched, discovery gained.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498848" y="2537460"/>
            <a:ext cx="109728" cy="0"/>
          </a:xfrm>
          <a:prstGeom prst="line">
            <a:avLst/>
          </a:prstGeom>
          <a:noFill/>
          <a:ln w="22225">
            <a:solidFill>
              <a:srgbClr val="E8836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626864" y="1371600"/>
            <a:ext cx="1938528" cy="2331720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4736592" y="1499616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5385816" y="175564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2" descr="/home/claude/mcpmesh-deck/icons/sync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0456" y="1850288"/>
            <a:ext cx="231343" cy="23134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18304" y="2267712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773168" y="2578608"/>
            <a:ext cx="16459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High-churn agents are rewritten using @mesh.tool/@mesh.agent natively as they come up for other changes.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6583680" y="2537460"/>
            <a:ext cx="109728" cy="0"/>
          </a:xfrm>
          <a:prstGeom prst="line">
            <a:avLst/>
          </a:prstGeom>
          <a:noFill/>
          <a:ln w="22225">
            <a:solidFill>
              <a:srgbClr val="E8836B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711696" y="1371600"/>
            <a:ext cx="1938528" cy="2331720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6821424" y="1499616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7470648" y="175564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3" descr="/home/claude/mcpmesh-deck/icons/flag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5288" y="1850288"/>
            <a:ext cx="231343" cy="231343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803136" y="2267712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Over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6858000" y="2578608"/>
            <a:ext cx="16459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Point-to-point configs are retired; the registry becomes the single source of discovery for all agents.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457200" y="3913632"/>
            <a:ext cx="82296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2" name="Text 26"/>
          <p:cNvSpPr/>
          <p:nvPr/>
        </p:nvSpPr>
        <p:spPr>
          <a:xfrm>
            <a:off x="640080" y="39136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EC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requires no logic rewrite — the adapter pattern lets existing MCP servers gain discovery on week one.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Path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Does This Apply to a Given Team?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19050">
            <a:solidFill>
              <a:srgbClr val="C5E8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54480"/>
            <a:ext cx="384048" cy="384048"/>
          </a:xfrm>
          <a:prstGeom prst="ellipse">
            <a:avLst/>
          </a:prstGeom>
          <a:solidFill>
            <a:srgbClr val="5EC8C2"/>
          </a:solidFill>
          <a:ln/>
        </p:spPr>
      </p:sp>
      <p:pic>
        <p:nvPicPr>
          <p:cNvPr id="6" name="Image 0" descr="/home/claude/mcpmesh-deck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779" y="1640891"/>
            <a:ext cx="211226" cy="2112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159105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the mesh when…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85800" y="214884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3+ agents need to call each other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85800" y="253288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Independent scaling per agent matters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85800" y="291693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Cross-team agent ownership exists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85800" y="330098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Production tracing / audit is required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85800" y="368503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Multiple languages are in play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754880" y="1371600"/>
            <a:ext cx="3931920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19050">
            <a:solidFill>
              <a:srgbClr val="E7AFA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56048" y="1554480"/>
            <a:ext cx="384048" cy="384048"/>
          </a:xfrm>
          <a:prstGeom prst="ellipse">
            <a:avLst/>
          </a:prstGeom>
          <a:solidFill>
            <a:srgbClr val="E8836B"/>
          </a:solidFill>
          <a:ln/>
        </p:spPr>
      </p:sp>
      <p:pic>
        <p:nvPicPr>
          <p:cNvPr id="15" name="Image 1" descr="/home/claude/mcpmesh-deck/icons/time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2459" y="1640891"/>
            <a:ext cx="211226" cy="21122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68112" y="159105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MCP is still fine when…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4983480" y="214884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single team owns 1-2 isolated tools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4983480" y="253288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cross-agent discovery is needed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983480" y="291693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It's a short-lived prototype or POC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983480" y="330098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There's no plan to scale past pilot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Path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3474720" cy="347472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C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Run the Pilot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38912" cy="438912"/>
          </a:xfrm>
          <a:prstGeom prst="ellipse">
            <a:avLst/>
          </a:prstGeom>
          <a:solidFill>
            <a:srgbClr val="E8836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91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6733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low-risk agent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51560" y="19476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Nominate a candidate — FWA lookup or similar — for the Phase 0 pilot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350008"/>
            <a:ext cx="438912" cy="438912"/>
          </a:xfrm>
          <a:prstGeom prst="ellipse">
            <a:avLst/>
          </a:prstGeom>
          <a:solidFill>
            <a:srgbClr val="E8836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50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23317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registry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51560" y="260604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meshctl + registry to a non-prod namespace this sprint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008376"/>
            <a:ext cx="438912" cy="438912"/>
          </a:xfrm>
          <a:prstGeom prst="ellipse">
            <a:avLst/>
          </a:prstGeom>
          <a:solidFill>
            <a:srgbClr val="E8836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08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2990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it live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51560" y="32644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meshctl scaffold together as a team, end to end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666744"/>
            <a:ext cx="438912" cy="438912"/>
          </a:xfrm>
          <a:prstGeom prst="ellipse">
            <a:avLst/>
          </a:prstGeom>
          <a:solidFill>
            <a:srgbClr val="E8836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666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364845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our org defaults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51560" y="392277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drafts the required scaffold variant: base image, logging, mTLS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434840"/>
            <a:ext cx="8229600" cy="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5537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mcp-mesh.ai  ·  Questions to EA: open a thread in #agentic-platform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Mesh: From Point-to-Point MCP to a Production Agent Mesh</dc:title>
  <dc:subject>PptxGenJS Presentation</dc:subject>
  <dc:creator>Enterprise Architecture</dc:creator>
  <cp:lastModifiedBy>Enterprise Architecture</cp:lastModifiedBy>
  <cp:revision>1</cp:revision>
  <dcterms:created xsi:type="dcterms:W3CDTF">2026-06-26T12:21:58Z</dcterms:created>
  <dcterms:modified xsi:type="dcterms:W3CDTF">2026-06-26T12:21:58Z</dcterms:modified>
</cp:coreProperties>
</file>