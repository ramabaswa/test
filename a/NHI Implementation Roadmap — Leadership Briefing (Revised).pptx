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82985"/>
  </p:normalViewPr>
  <p:slideViewPr>
    <p:cSldViewPr snapToGrid="0" snapToObjects="1">
      <p:cViewPr varScale="1">
        <p:scale>
          <a:sx n="169" d="100"/>
          <a:sy n="169" d="100"/>
        </p:scale>
        <p:origin x="216" y="2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41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1. This slide shows the concrete component inventory for December 31, 2026 delivery. Every box has a verified GA/preview status from product documentation — no marketing claims.
2. IDENTITY SOURCES: Cloud IAM (AWS/GCP/Azure), SaaS/OAuth apps, CI/CD secrets, AI agents/MCP, on-prem AD. These are the inputs to discovery.
3. NHI INTELLIGENCE (Oasis — GA): Agentless discovery across multi-cloud and on-prem. Classification by type, owner, application, environment, risk level. Ownership attribution using ML heuristics with CMDB enrichment. Posture/risk scoring based on credential age, exposure level, privilege depth. Blast radius analysis quantifying operational impact of compromise.
4. GOVERNANCE &amp; POLICY: Agent 365 registry GA May 1, 2026 ($15/user/month). Entra Agent ID auto-provisioned for every new agent since July 2026 (no opt-out). Conditional Access for agents is GA for delegated-access agents (acting on behalf of user) and public preview for own-access agents. ID Governance provides access packages, lifecycle workflows, sponsors. Policy-as-Code (OPA/OpenFGA) is NOT STARTED — direction identified per NHIDecision.pdf.
5. ACCESS &amp; ENFORCEMENT: Azure APIM provides rate limiting, IP filtering, correlation IDs, audit logging. Foundry AI Gateway governance is PREVIEW — routes MCP traffic through APIM for enforcement. MCP auth is GA: supports key-based, Entra Agent Identity, Project Managed Identity, OAuth Identity Passthrough, Managed OAuth, Custom OAuth, Unauthenticated. Guardrails: content safety controls GA, network egress controls PREVIEW. Token Broker is CONCEPT ONLY — must be built under either option per NHIDecision.pdf.
6. DETECTION &amp; RESPONSE: Oasis Scout provides ITDR for NHIs using AuthPrint threat actor fingerprints. Foundry provides end-to-end agent tracing, metrics, evaluations, Application Insights integration. Behavioral anomaly detection monitors for deviations. Telemetry pipeline uses Dynatrace + Splunk (discovery stage per NHIDecision.pdf). Remediation loop: Oasis triggers revocation/rotation, Entra enforces.
7. EXISTING STACK (from NHIDecision.pdf page 3): Pantheon control plane, agentgateway, Entra ID, Okta, SailPoint, Azure API Management, PostgreSQL audit store, Dynatrace, planned Splunk integration.
8. Key gap: Token Broker (concept only, size S), Policy Engine (OPA/OpenFGA direction identified, nothing built, size S), Identity Mapping Layer (token broker extension, size S) — all require custom build regardless of Oasis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(oasis-</a:t>
            </a:r>
            <a:r>
              <a:rPr lang="en-US" sz="1200" b="1" dirty="0" err="1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eval.xlsx</a:t>
            </a:r>
            <a:r>
              <a:rPr lang="en-US" sz="12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n-US" sz="1200" b="1" dirty="0" err="1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NHIDecision.pdf</a:t>
            </a:r>
            <a:r>
              <a:rPr lang="en-US" sz="12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marks 51/57 YES. Decision doc confirms token brokerage, A2A </a:t>
            </a:r>
            <a:r>
              <a:rPr lang="en-US" sz="12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</a:t>
            </a: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fine-grained entitlements, and policy-as-code are roadmap or custom-build. Cyera acquisition completed Sept 3, 2026 ($1B) — Oasis operates as "Cyera Identity" pillar.</a:t>
            </a:r>
            <a:endParaRPr lang="en-US" sz="1200" dirty="0"/>
          </a:p>
          <a:p>
            <a:br>
              <a:rPr lang="en-US" dirty="0"/>
            </a:br>
            <a:r>
              <a:rPr lang="en-US" dirty="0"/>
              <a:t>TALKING POINTS:
1. This table is built from verified product documentation — Microsoft Learn pages and Oasis Security blog/product pages. Every GA/preview status is sourced.
2. NHI section: Oasis is GA across discovery, inventory, lifecycle, posture, drift monitoring, toxic combinations. Entra covers Azure-native resources and Agent ID lifecycle. Foundry has no NHI discovery capability.
3. AAM section — the critical differences:
4. Agent Registration: All three provide this. Entra Agent ID auto-provisioned since July 2026 (no opt-out). Foundry auto-creates at deploy time.
5. Intent Understanding: Oasis provides structured intent (resource, operation, scope, purpose). Foundry has RAI guardrails but not intent analysis. Entra has none.
6. OBO Flow: NOT FOUND on any Oasis page. Entra provides native OAuth 2.0 OBO. Foundry provides OAuth Identity Passthrough — user-delegated access where Foundry stores and refreshes credentials.
7. MCP Authentication: NOT FOUND on any Oasis page. Foundry supports 7 auth types: key-based, Entra Agent Identity, Project Managed Identity, OAuth Identity Passthrough, Managed OAuth, Custom OAuth, Unauthenticated. Entra provides token to https://mcp.ai.azure.com with Azure RBAC.
8. Token Brokerage: NOT FOUND on any Oasis page. NHIDecision.pdf confirms this is roadmap, not shipped. No platform provides this — must be built (size S per decision doc).
9. A2A AuthZ: Foundry has A2A v1.0 (GA) and v0.3 (preview). Oasis and Entra do not provide this.
10. Cross-check finding: The oasis-eval.xlsx marks 51/57 capabilities YES. But NHIDecision.pdf states that token brokerage, fine-grained entitlements, identity mapping, and A2A authorization are roadmap items or require custom work. The eval spreadsheet does not include these capabilities at all — they are absent, not even marked PARTIAL.
11. Cyera acquisition: Completed September 3, 2026. Valued at ~$1B. Oasis now operates as "Cyera Identity" pillar. KuppingerCole flags buyer mismatch (identity team vs data security team budgets) and integration bandwidth (third acquisition in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1. This is the 12-step end-to-end sequence flow from our draw.io North Star architecture. It shows exactly what happens when an AI agent requests access to an enterprise resource.
2. Step 1 — Authenticate: Agent authenticates using Entra Agent ID. Since July 2026, every new agent gets an Agent ID automatically (no opt-out). Uses OAuth 2.0.
3. Step 2 — Token Issued: Entra issues a JWT access token. For MCP server access, the token is scoped to https://mcp.ai.azure.com. Azure RBAC applies to all operations.
4. Steps 3-4 — APIM + Validate: Azure API Management validates the token, enforces rate limits, IP restrictions, adds correlation IDs for tracing. This is the policy enforcement point.
5. Step 5 — AI Gateway: Foundry AI Gateway routes MCP traffic through a governed entry point (PREVIEW). Only new MCP tools created in the Foundry portal are routed. Tools using managed OAuth are excluded.
6. Step 6 — AAM Context: Oasis AAM analyzes the agent request — prompt, tool call, or action plan — and converts it into structured intent: resource, operation, scope, purpose. This is the intent understanding capability.
7. Steps 7-8 — PDP + Risk Gate: The Policy Decision Point evaluates the request. Entra Conditional Access checks agent context, risk, device compliance. Oasis provides posture/risk score based on credential age, exposure, privilege depth. The Risk Confidence Gate determines if the risk score meets the threshold — if yes, proceed; if no, escalate to human-in-the-loop.
8. Step 9 — Credential Issued: If permitted, Oasis provisions a JIT ephemeral identity scoped to the required action. No standing privileges, no long-lived secrets. Auto-decommissioned when task ends. Alternatively, Azure Key Vault provides the secret.
9. Steps 10-11 — Access + Telemetry: Agent accesses the target system with scoped permissions. Dynatrace and Splunk log the access event. Oasis Scout continuously monitors for behavioral anomalies using AuthPrint threat actor fingerprints.
10. Step 12 — Remediation: If an anomaly is detected, Oasis triggers remediation: revoke credentials, rotate secrets, decommission the identity. Entra and Key Vault enforce the revocation. The feedback loop (dashed arrow) closes back to Step 1.
11. Key insight: Oasis sits in Steps 6, 9, and 12 — intent analysis, JIT credential provisioning, and threat detection/remediation. Foundry + Entra own Steps 1-5 and 7-8 — authentication, token issuance, APIM enforcement, MCP routing, Conditional Access. The gap is Steps 7-8 where the PDP and Risk Gate need a custom policy engine (OPA/OpenFGA) that does not exist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*"On Slide 2, we present a realistic assessment of our out-of-the-box deliverable capabilities by December 31, 2026, across NHI, Agent Access Management, and Governance.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must address two critical evaluation findings from our technical analysis: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regarding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Oasis Security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theoretically, vendor materials like oasis-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eval.xlsx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mark almost all AAM features as fully supported 'YES'. Our technical audit confirmed that while Oasis is exceptional at out-of-band discovery, posture scoring, and credential lifecycle governance, its inline runtime authorization, custom MCP wrapper support,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GitOps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/Platform-as-Code capabilities are either non-existent or on future roadmaps. Oasis's API surface is thin, requiring manual console click-ops that do not align with our automated enterprise deployment models.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regarding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Foundry and Copilot Studio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stakeholders suggested Foundry could handle complete AAM. Our analysis confirms Foundry excels at native agent registry, dynamic scoping within Azure, and standard OBO flows. However, Foundry does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natively solve fine-grained agent-to-agent authorization or custom MCP server authentication wrapped over legacy APIs.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for 12/31/2026, we are pairing Oasis for out-of-band NHI discovery with Entra, APIM,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agentgateway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runtime enforcement, while building lightweight custom modules for our Token Broker and fine-grained authorization engine."*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1. Left column: 14 capabilities deliverable by Dec 31 if Oasis AAM is adopted. All marked GA based on product documentation.
2. Right column: What we lose without Oasis, plus the 9 build items from NHIDecision.pdf page 3-4 with T-shirt sizes.
3. The NHIDecision.pdf (page 3) lists the existing stack: Pantheon control plane, agentgateway, Entra ID, Okta, SailPoint, Azure API Management, PostgreSQL audit store, Dynatrace, planned Splunk.
4. Build items from NHIDecision.pdf:
   - Token Broker (S): Delegated OAuth, per-user token brokerage, downstream credential exchange. Concept only — required under either option.
   - Fine-grained Authorization Engine (S): OPA/OpenFGA/SpiceDB direction identified. Nothing built.
   - Identity Mapping Layer (S): Maps Entra identities to downstream system identities. Token broker extension.
   - Agent Registry and Discovery (XS): Azure API Center implemented but not broadly rolled out.
   - Lifecycle Governance (S): Certification, review, decommissioning, governance reporting. Not started.
   - Credential Management and Rotation (S): Partial via existing IAM stack.
   - A2A Authorization and Federation Onboarding (S): Agent gateway extension — required under either option.
   - Policy Administration as Code (S): GitOps, CI/CD, CEL expressions, gateway config. Patterns identified, automation not built.
   - Audit and Traceability (XS): Already logging inside Platform. Dynatrace and Splunk in discovery stage.
5. NHIDecision.pdf recommendation: Do not adopt Oasis AAM as foundational. Keep agentgateway + Entra. Keep Oasis as optional for NHI discovery/inventory outside runtime authZ path.
6. Three findings driving the recommendation: (1) Oasis does not remove agentgateway — adds second control plane. (2) Hardest capabilities (token brokerage, fine-grained entitlements, identity mapping, A2A authZ) require custom work regardless. (3) Operating model mismatch — thin API surface, manual administration, not platform-as-code.
7. Risks from NHIDecision.pdf page 4-5: Governance gap during build (NHI controls arrive later), we own the roadmap and failures, estimate uncertainty (sizing is directional and unvalidated), key-person concentration (deep design context with small group). Mitigation: Record decision as ADR, prioritize minimum viable architecture, sequence registry and audit traceability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1. This is the North Star — the full reference architecture based on the ComponentCapabilities.draw.io we created. The * marks overlapping capabilities across multiple NHIMG products.
2. NEW tools to introduce (gold tags):
   - Wiz: Cloud security posture management, complements Oasis for risk scoring
   - SailPoint: IGA and lifecycle governance for NHI certification, review, decommissioning
   - OPA / OpenFGA: Policy-as-code engine for fine-grained authorization (direction identified in NHIDecision.pdf)
   - ServiceNow: Compliance and audit workflow integration
   - Akeyless: PAM and vaulting for machine identity secrets management
   - SPIFFE / SPIRE: Cloud-native workload identity framework (marked PARTIAL in oasis-eval.xlsx)
   - OpenTelemetry: Unified observability pipeline
   - Splunk SOAR: Security orchestration, automation, and response
3. Existing tools (purple tags): Oasis, Entra, Agent 365, Key Vault — already in the Dec 31 delivery.
4. The AAM overlay shows the agent lifecycle: Registration (Agent 365), Intent (Oasis), AuthZ (Entra CA + OPA), Session (Oasis JIT), Audit (Foundry tracing), Remediation (Oasis + Entra).
5. The remediation feedback loop (dashed) closes from Detection back to Identity Sources.
6. Datastores: NHI Graph DB (Oasis), Azure Key Vault (secrets), Audit/Evidence Store (PostgreSQL).
7. This is NOT delivered by Dec 31. Dec 31 covers: registry, discovery MVP, APIM enforcement, basic guardrails, telemetry. The North Star adds: policy engine, PAM, workload identity, SOAR, full lifecycle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1. This slide breaks the North Star into four sections with concrete tool coverage and gaps.
2. NHI Control Plane: Oasis is primary — discovery, graph, ownership, posture, classification, drift monitoring. Gap: No API contract between NHI and AAM planes. No event bus for real-time synchronization.
3. AAM Plane: Registration covered by Agent 365 + Entra Agent ID (GA). Intent by Oasis (GA). MCP Auth by Foundry (GA, 7 auth types). OBO by Foundry (GA, OAuth Identity Passthrough). Token Brokerage is a GAP — must be built (size S per NHIDecision.pdf). A2A AuthZ partial (Foundry A2A v1.0 GA).
4. Governance &amp; Policy: IGA needs SailPoint (NEW). Policy-as-Code needs OPA/OpenFGA (NEW) — direction identified in NHIDecision.pdf but nothing built. Compliance needs ServiceNow (NEW). Entra provides Conditional Access (GA), Access Packages (GA), Agent Lifecycle Workflows (GA). Gap: No GitOps/CI-CD automation for policy changes — critical for platform-as-code operating model.
5. Observability &amp; Remediation: OpenTelemetry (NEW) for unified monitoring. Oasis Scout (GA) for ITDR using AuthPrint. Foundry tracing (GA) with App Insights. Splunk SOAR (NEW) for incident response. Third-party runtime security: Palo Alto Prisma AIRS + Zenity (GA) for prompt injection, data leakage, tool misuse detection. Remediation: Oasis triggers, Entra/Key Vault enforces. Gap: No disaster recovery plan, no tenant isolation, single PDP is a bottleneck.
6. The Dec 31 delivery covers the foundation: registry, discovery, APIM enforcement, basic guardrails, telemetry. The North Star adds: policy engine, PAM, workload identity, SOAR, full lifecycle governance, event bus, GitOps automation.
7. Decision on Oasis AAM does not change the North Star architecture — it changes the timeline. With Oasis, AAM capabilities arrive sooner. Without Oasis, they become 9 backlog items (T-shirt sizes from NHIDecision.pdf).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foundry/agents/overvie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oasis.security/blog/introducing-oasis-agentic-access-management" TargetMode="External"/><Relationship Id="rId4" Type="http://schemas.openxmlformats.org/officeDocument/2006/relationships/hyperlink" Target="https://learn.microsoft.com/en-us/azure/foundry/agents/how-to/mcp-authenticatio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himg.org/product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azure/foundry/agents/overview" TargetMode="External"/><Relationship Id="rId4" Type="http://schemas.openxmlformats.org/officeDocument/2006/relationships/hyperlink" Target="https://www.oasis.security/produc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himg.org/product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oasis.security/agentic-access-management" TargetMode="External"/><Relationship Id="rId4" Type="http://schemas.openxmlformats.org/officeDocument/2006/relationships/hyperlink" Target="https://learn.microsoft.com/en-us/azure/foundry/agents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for December 31, 2026 Delivery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33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component inventory — verified GA/preview status from product documentation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20040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SOURCES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2194560" cy="320040"/>
          </a:xfrm>
          <a:prstGeom prst="rect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INTELLIGENCE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2011680" cy="320040"/>
          </a:xfrm>
          <a:prstGeom prst="rect">
            <a:avLst/>
          </a:prstGeom>
          <a:solidFill>
            <a:srgbClr val="D79B00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POLICY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32320" y="1005840"/>
            <a:ext cx="2194560" cy="320040"/>
          </a:xfrm>
          <a:prstGeom prst="rect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ENFORCEMENT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509760" y="1005840"/>
            <a:ext cx="22860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463040"/>
            <a:ext cx="2011680" cy="5029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 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057400"/>
            <a:ext cx="2011680" cy="5029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OAuth Apps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2011680" cy="5029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51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Secrets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/ MCP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2011680" cy="5029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1463040"/>
            <a:ext cx="2194560" cy="50292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0604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Inventory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(agentless, multi-cloud)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06040" y="18135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27" name="Shape 25"/>
          <p:cNvSpPr/>
          <p:nvPr/>
        </p:nvSpPr>
        <p:spPr>
          <a:xfrm>
            <a:off x="4201328" y="175006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1328" y="175006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0" y="2057400"/>
            <a:ext cx="2194560" cy="50292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Context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(type, owner, risk level)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06040" y="24079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32" name="Shape 30"/>
          <p:cNvSpPr/>
          <p:nvPr/>
        </p:nvSpPr>
        <p:spPr>
          <a:xfrm>
            <a:off x="4201328" y="234442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1328" y="234442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560320" y="2651760"/>
            <a:ext cx="2194560" cy="50292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Attribution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 + CMDB enrichment)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6040" y="30022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37" name="Shape 35"/>
          <p:cNvSpPr/>
          <p:nvPr/>
        </p:nvSpPr>
        <p:spPr>
          <a:xfrm>
            <a:off x="4201328" y="293878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1328" y="293878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560320" y="3246120"/>
            <a:ext cx="2194560" cy="50292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/ Risk Scoring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(credential age, exposure)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06040" y="3596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42" name="Shape 40"/>
          <p:cNvSpPr/>
          <p:nvPr/>
        </p:nvSpPr>
        <p:spPr>
          <a:xfrm>
            <a:off x="4201328" y="353314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1328" y="353314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60320" y="3840480"/>
            <a:ext cx="2194560" cy="50292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0604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Analysis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419100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47" name="Shape 45"/>
          <p:cNvSpPr/>
          <p:nvPr/>
        </p:nvSpPr>
        <p:spPr>
          <a:xfrm>
            <a:off x="4201328" y="412750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1328" y="412750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937760" y="1463040"/>
            <a:ext cx="2011680" cy="5029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365 — GA May 2026)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83480" y="18135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365</a:t>
            </a:r>
            <a:endParaRPr lang="en-US" sz="800" b="1" dirty="0"/>
          </a:p>
        </p:txBody>
      </p:sp>
      <p:sp>
        <p:nvSpPr>
          <p:cNvPr id="52" name="Shape 50"/>
          <p:cNvSpPr/>
          <p:nvPr/>
        </p:nvSpPr>
        <p:spPr>
          <a:xfrm>
            <a:off x="6395888" y="176276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95888" y="176276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937760" y="2057400"/>
            <a:ext cx="2011680" cy="5029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(auto-provisioned since Jul 2026)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83480" y="24079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800" b="1" dirty="0"/>
          </a:p>
        </p:txBody>
      </p:sp>
      <p:sp>
        <p:nvSpPr>
          <p:cNvPr id="57" name="Shape 55"/>
          <p:cNvSpPr/>
          <p:nvPr/>
        </p:nvSpPr>
        <p:spPr>
          <a:xfrm>
            <a:off x="6395888" y="235712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95888" y="235712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937760" y="2651760"/>
            <a:ext cx="2011680" cy="5029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83480" y="2651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for Agents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 for delegated, preview own-access)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83480" y="30022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800" b="1" dirty="0"/>
          </a:p>
        </p:txBody>
      </p:sp>
      <p:sp>
        <p:nvSpPr>
          <p:cNvPr id="62" name="Shape 60"/>
          <p:cNvSpPr/>
          <p:nvPr/>
        </p:nvSpPr>
        <p:spPr>
          <a:xfrm>
            <a:off x="6395888" y="2951480"/>
            <a:ext cx="553552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95888" y="295148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937760" y="3246120"/>
            <a:ext cx="2011680" cy="5029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8348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Governance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(access packages, lifecycle)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983480" y="35966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800" b="1" dirty="0"/>
          </a:p>
        </p:txBody>
      </p:sp>
      <p:sp>
        <p:nvSpPr>
          <p:cNvPr id="67" name="Shape 65"/>
          <p:cNvSpPr/>
          <p:nvPr/>
        </p:nvSpPr>
        <p:spPr>
          <a:xfrm>
            <a:off x="6395888" y="3545840"/>
            <a:ext cx="55355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95888" y="354584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937760" y="3840480"/>
            <a:ext cx="2011680" cy="50292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8348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(OPA/OpenFGA — not started)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983480" y="41910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00" b="1" dirty="0"/>
          </a:p>
        </p:txBody>
      </p:sp>
      <p:sp>
        <p:nvSpPr>
          <p:cNvPr id="72" name="Shape 70"/>
          <p:cNvSpPr/>
          <p:nvPr/>
        </p:nvSpPr>
        <p:spPr>
          <a:xfrm>
            <a:off x="6395888" y="4140200"/>
            <a:ext cx="553552" cy="201168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95888" y="4140200"/>
            <a:ext cx="55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132320" y="1463040"/>
            <a:ext cx="2194560" cy="50292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7804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/ API Gateway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 limit, IP filter, audit)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178040" y="18262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</a:t>
            </a:r>
            <a:endParaRPr lang="en-US" sz="800" b="1" dirty="0"/>
          </a:p>
        </p:txBody>
      </p:sp>
      <p:sp>
        <p:nvSpPr>
          <p:cNvPr id="77" name="Shape 75"/>
          <p:cNvSpPr/>
          <p:nvPr/>
        </p:nvSpPr>
        <p:spPr>
          <a:xfrm>
            <a:off x="8819048" y="1780603"/>
            <a:ext cx="50783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19048" y="1780603"/>
            <a:ext cx="50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132320" y="2057400"/>
            <a:ext cx="2194560" cy="50292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7804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Governance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(preview — MCP routing via APIM)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178040" y="24206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800" b="1" dirty="0"/>
          </a:p>
        </p:txBody>
      </p:sp>
      <p:sp>
        <p:nvSpPr>
          <p:cNvPr id="82" name="Shape 80"/>
          <p:cNvSpPr/>
          <p:nvPr/>
        </p:nvSpPr>
        <p:spPr>
          <a:xfrm>
            <a:off x="8819048" y="2374963"/>
            <a:ext cx="507832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819048" y="2374963"/>
            <a:ext cx="50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132320" y="2651760"/>
            <a:ext cx="2194560" cy="50292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78040" y="2651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(key, Entra Agent ID, OAuth passthrough)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178040" y="30149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800" b="1" dirty="0"/>
          </a:p>
        </p:txBody>
      </p:sp>
      <p:sp>
        <p:nvSpPr>
          <p:cNvPr id="87" name="Shape 85"/>
          <p:cNvSpPr/>
          <p:nvPr/>
        </p:nvSpPr>
        <p:spPr>
          <a:xfrm>
            <a:off x="8819048" y="2969323"/>
            <a:ext cx="507832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19048" y="2969323"/>
            <a:ext cx="50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132320" y="3246120"/>
            <a:ext cx="2194560" cy="50292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780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(content safety, egress controls)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178040" y="36093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800" b="1" dirty="0"/>
          </a:p>
        </p:txBody>
      </p:sp>
      <p:sp>
        <p:nvSpPr>
          <p:cNvPr id="92" name="Shape 90"/>
          <p:cNvSpPr/>
          <p:nvPr/>
        </p:nvSpPr>
        <p:spPr>
          <a:xfrm>
            <a:off x="8819048" y="3563683"/>
            <a:ext cx="507832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19048" y="3563683"/>
            <a:ext cx="50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132320" y="3840480"/>
            <a:ext cx="2194560" cy="50292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17804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Broker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 only — build required)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178040" y="42037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00" b="1" dirty="0"/>
          </a:p>
        </p:txBody>
      </p:sp>
      <p:sp>
        <p:nvSpPr>
          <p:cNvPr id="97" name="Shape 95"/>
          <p:cNvSpPr/>
          <p:nvPr/>
        </p:nvSpPr>
        <p:spPr>
          <a:xfrm>
            <a:off x="8819048" y="4158043"/>
            <a:ext cx="507832" cy="201168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19048" y="4158043"/>
            <a:ext cx="50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9509760" y="1463040"/>
            <a:ext cx="2286000" cy="50292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55548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Scout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(ITDR — AuthPrint fingerprints)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555480" y="18135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102" name="Shape 100"/>
          <p:cNvSpPr/>
          <p:nvPr/>
        </p:nvSpPr>
        <p:spPr>
          <a:xfrm>
            <a:off x="11320422" y="1750060"/>
            <a:ext cx="475337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320422" y="1750060"/>
            <a:ext cx="475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9509760" y="2057400"/>
            <a:ext cx="2286000" cy="50292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5554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Tracing &amp; Evals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(end-to-end, App Insights)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9555480" y="24079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800" b="1" dirty="0"/>
          </a:p>
        </p:txBody>
      </p:sp>
      <p:sp>
        <p:nvSpPr>
          <p:cNvPr id="107" name="Shape 105"/>
          <p:cNvSpPr/>
          <p:nvPr/>
        </p:nvSpPr>
        <p:spPr>
          <a:xfrm>
            <a:off x="11320422" y="2344420"/>
            <a:ext cx="475337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1320422" y="2344420"/>
            <a:ext cx="475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9509760" y="2651760"/>
            <a:ext cx="2286000" cy="50292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55548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9555480" y="30022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800" b="1" dirty="0"/>
          </a:p>
        </p:txBody>
      </p:sp>
      <p:sp>
        <p:nvSpPr>
          <p:cNvPr id="112" name="Shape 110"/>
          <p:cNvSpPr/>
          <p:nvPr/>
        </p:nvSpPr>
        <p:spPr>
          <a:xfrm>
            <a:off x="11320422" y="2938780"/>
            <a:ext cx="475337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1320422" y="2938780"/>
            <a:ext cx="475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9509760" y="3246120"/>
            <a:ext cx="2286000" cy="50292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955548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Pipeline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(Dynatrace + Splunk)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9555480" y="3596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00" b="1" dirty="0"/>
          </a:p>
        </p:txBody>
      </p:sp>
      <p:sp>
        <p:nvSpPr>
          <p:cNvPr id="117" name="Shape 115"/>
          <p:cNvSpPr/>
          <p:nvPr/>
        </p:nvSpPr>
        <p:spPr>
          <a:xfrm>
            <a:off x="11320422" y="3533140"/>
            <a:ext cx="475337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1320422" y="3533140"/>
            <a:ext cx="475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9509760" y="3840480"/>
            <a:ext cx="2286000" cy="50292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55548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Loop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(revoke/rotate/decommission)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9555480" y="419100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Oasis+Entra</a:t>
            </a:r>
            <a:endParaRPr lang="en-US" sz="800" b="1" dirty="0"/>
          </a:p>
        </p:txBody>
      </p:sp>
      <p:sp>
        <p:nvSpPr>
          <p:cNvPr id="122" name="Shape 120"/>
          <p:cNvSpPr/>
          <p:nvPr/>
        </p:nvSpPr>
        <p:spPr>
          <a:xfrm>
            <a:off x="11320422" y="4127500"/>
            <a:ext cx="475337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1320422" y="4127500"/>
            <a:ext cx="475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2377440" y="228600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4754880" y="347472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2560320" y="4480560"/>
            <a:ext cx="6949440" cy="9144"/>
          </a:xfrm>
          <a:prstGeom prst="line">
            <a:avLst/>
          </a:prstGeom>
          <a:noFill/>
          <a:ln w="12700">
            <a:solidFill>
              <a:srgbClr val="9C66A3"/>
            </a:solidFill>
            <a:prstDash val="dash"/>
            <a:headEnd type="arrow"/>
            <a:tailEnd type="none"/>
          </a:ln>
        </p:spPr>
      </p:sp>
      <p:sp>
        <p:nvSpPr>
          <p:cNvPr id="129" name="Text 127"/>
          <p:cNvSpPr/>
          <p:nvPr/>
        </p:nvSpPr>
        <p:spPr>
          <a:xfrm>
            <a:off x="4114800" y="4526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feedback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365760" y="4846320"/>
            <a:ext cx="2011680" cy="4572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1148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ID Store</a:t>
            </a:r>
            <a:endParaRPr lang="en-US" sz="1400" b="1" dirty="0"/>
          </a:p>
        </p:txBody>
      </p:sp>
      <p:sp>
        <p:nvSpPr>
          <p:cNvPr id="132" name="Shape 130"/>
          <p:cNvSpPr/>
          <p:nvPr/>
        </p:nvSpPr>
        <p:spPr>
          <a:xfrm>
            <a:off x="4937760" y="4846320"/>
            <a:ext cx="2011680" cy="4572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98348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Graph DB (Oasis)</a:t>
            </a:r>
            <a:endParaRPr lang="en-US" sz="1400" b="1" dirty="0"/>
          </a:p>
        </p:txBody>
      </p:sp>
      <p:sp>
        <p:nvSpPr>
          <p:cNvPr id="134" name="Shape 132"/>
          <p:cNvSpPr/>
          <p:nvPr/>
        </p:nvSpPr>
        <p:spPr>
          <a:xfrm>
            <a:off x="7132320" y="4846320"/>
            <a:ext cx="2194560" cy="4572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178040" y="4846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400" b="1" dirty="0"/>
          </a:p>
        </p:txBody>
      </p:sp>
      <p:sp>
        <p:nvSpPr>
          <p:cNvPr id="136" name="Shape 134"/>
          <p:cNvSpPr/>
          <p:nvPr/>
        </p:nvSpPr>
        <p:spPr>
          <a:xfrm>
            <a:off x="9509760" y="4846320"/>
            <a:ext cx="2286000" cy="4572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555480" y="4846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Store (PostgreSQL)</a:t>
            </a:r>
            <a:endParaRPr lang="en-US" sz="1400" b="1" dirty="0"/>
          </a:p>
        </p:txBody>
      </p:sp>
      <p:sp>
        <p:nvSpPr>
          <p:cNvPr id="138" name="Shape 136"/>
          <p:cNvSpPr/>
          <p:nvPr/>
        </p:nvSpPr>
        <p:spPr>
          <a:xfrm>
            <a:off x="365760" y="5486400"/>
            <a:ext cx="1143000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STACK (NHIDecision.pdf): Pantheon control plane, agentgateway, Entra ID, Okta, SailPoint, Azure APIM, PostgreSQL audit, Dynatrace, planned Splunk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65760" y="5943600"/>
            <a:ext cx="274320" cy="18288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31520" y="5916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GA. (Generally Available)  / Shipping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2743200" y="5943600"/>
            <a:ext cx="274320" cy="182880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108960" y="5916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/ Partial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120640" y="5943600"/>
            <a:ext cx="274320" cy="182880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486400" y="5916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/ Concept</a:t>
            </a:r>
            <a:endParaRPr lang="en-US" sz="800" dirty="0"/>
          </a:p>
        </p:txBody>
      </p:sp>
      <p:sp>
        <p:nvSpPr>
          <p:cNvPr id="148" name="Shape 123">
            <a:extLst>
              <a:ext uri="{FF2B5EF4-FFF2-40B4-BE49-F238E27FC236}">
                <a16:creationId xmlns:a16="http://schemas.microsoft.com/office/drawing/2014/main" id="{2A815626-55EE-23FA-DE9F-42748085AC0E}"/>
              </a:ext>
            </a:extLst>
          </p:cNvPr>
          <p:cNvSpPr/>
          <p:nvPr/>
        </p:nvSpPr>
        <p:spPr>
          <a:xfrm>
            <a:off x="6953219" y="2304544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49" name="Shape 123">
            <a:extLst>
              <a:ext uri="{FF2B5EF4-FFF2-40B4-BE49-F238E27FC236}">
                <a16:creationId xmlns:a16="http://schemas.microsoft.com/office/drawing/2014/main" id="{4BEB7AE9-667A-8918-CAF4-7B8E171980D5}"/>
              </a:ext>
            </a:extLst>
          </p:cNvPr>
          <p:cNvSpPr/>
          <p:nvPr/>
        </p:nvSpPr>
        <p:spPr>
          <a:xfrm>
            <a:off x="9326880" y="230886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277" y="0"/>
            <a:ext cx="11430000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Capabilities: Oasis vs. Entra vs. Foundry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9277" y="330393"/>
            <a:ext cx="2560320" cy="27432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277" y="33039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21037" y="330393"/>
            <a:ext cx="2560320" cy="27432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21037" y="33039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72797" y="330393"/>
            <a:ext cx="2560320" cy="27432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2797" y="33039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24557" y="330393"/>
            <a:ext cx="2560320" cy="27432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4557" y="33039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776317" y="330393"/>
            <a:ext cx="1188720" cy="27432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76317" y="33039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277" y="612648"/>
            <a:ext cx="1179576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717" y="612648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— DISCOVERY, INVENTORY &amp; LIFECYCLE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277" y="93268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997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NHI Discovery (multi-cloud)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21037" y="93268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6757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agentless connectors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72797" y="93268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8517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Azure resources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4557" y="93268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0277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776317" y="932688"/>
            <a:ext cx="11887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59197" y="97840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59197" y="978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9277" y="125272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997" y="1252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Updates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21037" y="125272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66757" y="1252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continuous tracking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72797" y="125272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8517" y="1252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4557" y="125272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0277" y="1252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776317" y="125272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9197" y="129844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59197" y="1298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69277" y="157276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997" y="1572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Mgmt (provision/retire)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821037" y="157276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66757" y="1572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automated provisioning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72797" y="157276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8517" y="1572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Agent ID lifecycle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24557" y="157276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0277" y="15727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agent deploy/delete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776317" y="1572768"/>
            <a:ext cx="11887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59197" y="1618488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59197" y="16184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69277" y="189280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997" y="1892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&amp; Vaulting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21037" y="189280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66757" y="1892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rotation + decommission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72797" y="189280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18517" y="1892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Key Vault only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124557" y="189280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70277" y="1892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776317" y="189280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59197" y="1938528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59197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69277" y="221284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4997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Attribution (ML + CMDB)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821037" y="221284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66757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ML-driven + CMDB enrich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72797" y="221284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18517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sponsor/owner on Agent ID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124557" y="221284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70277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0776317" y="2212848"/>
            <a:ext cx="11887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59197" y="225856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959197" y="2258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69277" y="253288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4997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/ Risk Scoring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821037" y="253288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66757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credential age, exposure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472797" y="253288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18517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8124557" y="253288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70277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0776317" y="253288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959197" y="257860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959197" y="2578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69277" y="285292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4997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 Monitoring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2821037" y="285292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66757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detects deviations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472797" y="285292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18517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8124557" y="2852928"/>
            <a:ext cx="25603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70277" y="2852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10776317" y="2852928"/>
            <a:ext cx="1188720" cy="292608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59197" y="289864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959197" y="2898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69277" y="317296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4997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Combination Identification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2821037" y="317296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66757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privilege escalation flags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5472797" y="317296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518517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124557" y="317296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70277" y="3172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10776317" y="317296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959197" y="321868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959197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169277" y="3508500"/>
            <a:ext cx="1179576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60717" y="350850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 — AGENT ACCESS MANAGEMENT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69277" y="378282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14997" y="37828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Registration &amp; Binding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2821037" y="378282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866757" y="37828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agent registration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5472797" y="378282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18517" y="37828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Entra Agent ID (Jul 2026)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8124557" y="378282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70277" y="37828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auto at deploy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10776317" y="3782820"/>
            <a:ext cx="11887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959197" y="3796536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959197" y="3796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69277" y="403885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14997" y="40388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 (prompt→intent)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2821037" y="403885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866757" y="40388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structured intent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5472797" y="403885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518517" y="40388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124557" y="403885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170277" y="40388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RAI guardrails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10776317" y="4038852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959197" y="4052568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959197" y="4052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169277" y="4294884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14997" y="42948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/ Ephemeral Identities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821037" y="4294884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866757" y="42948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no standing priv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5472797" y="4294884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518517" y="42948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access packages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8124557" y="4294884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170277" y="42948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per-session Entra ID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10776317" y="4294884"/>
            <a:ext cx="11887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959197" y="4308600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959197" y="430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69277" y="4550916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14997" y="45509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Enforcement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2821037" y="4550916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866757" y="45509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policies drive decision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472797" y="4550916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518517" y="45509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Conditional Access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8124557" y="4550916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170277" y="45509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guardrails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10776317" y="4550916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959197" y="4564632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959197" y="4564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169277" y="4806948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14997" y="48069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 / Delegated OAuth Flow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2821037" y="4806948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866757" y="48069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5472797" y="4806948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518517" y="48069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native OAuth 2.0 OBO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8124557" y="4806948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170277" y="48069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OAuth Identity Passthrough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10776317" y="4806948"/>
            <a:ext cx="11887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59197" y="4820664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959197" y="48206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169277" y="5062980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14997" y="50629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Authentication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2821037" y="5062980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866757" y="50629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5472797" y="5062980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518517" y="50629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token to mcp.ai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8124557" y="5062980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170277" y="50629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7 auth types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10776317" y="5062980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959197" y="5076696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0959197" y="50766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169277" y="5319012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14997" y="53190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Brokerage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2821037" y="5319012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866757" y="53190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— roadmap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5472797" y="5319012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518517" y="53190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8124557" y="5319012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170277" y="53190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10776317" y="5319012"/>
            <a:ext cx="11887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959197" y="5332728"/>
            <a:ext cx="822960" cy="201168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959197" y="5332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169277" y="5575044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14997" y="55750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AuthZ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2821037" y="5575044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2866757" y="55750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472797" y="5575044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518517" y="55750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8124557" y="5575044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170277" y="55750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A2A v1.0 GA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10776317" y="5575044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959197" y="5588760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0959197" y="5588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169277" y="5831076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14997" y="58310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Prompt-to-Action Audit Trail</a:t>
            </a:r>
            <a:endParaRPr lang="en-US" sz="1100" dirty="0"/>
          </a:p>
        </p:txBody>
      </p:sp>
      <p:sp>
        <p:nvSpPr>
          <p:cNvPr id="196" name="Shape 194"/>
          <p:cNvSpPr/>
          <p:nvPr/>
        </p:nvSpPr>
        <p:spPr>
          <a:xfrm>
            <a:off x="2821037" y="5831076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866757" y="58310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full chain of custody</a:t>
            </a:r>
            <a:endParaRPr lang="en-US" sz="1100" dirty="0"/>
          </a:p>
        </p:txBody>
      </p:sp>
      <p:sp>
        <p:nvSpPr>
          <p:cNvPr id="198" name="Shape 196"/>
          <p:cNvSpPr/>
          <p:nvPr/>
        </p:nvSpPr>
        <p:spPr>
          <a:xfrm>
            <a:off x="5472797" y="5831076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518517" y="58310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sign-in logs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8124557" y="5831076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170277" y="58310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tracing + App Insights</a:t>
            </a:r>
            <a:endParaRPr lang="en-US" sz="1100" dirty="0"/>
          </a:p>
        </p:txBody>
      </p:sp>
      <p:sp>
        <p:nvSpPr>
          <p:cNvPr id="202" name="Shape 200"/>
          <p:cNvSpPr/>
          <p:nvPr/>
        </p:nvSpPr>
        <p:spPr>
          <a:xfrm>
            <a:off x="10776317" y="5831076"/>
            <a:ext cx="11887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959197" y="5844792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0959197" y="5844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205" name="Shape 203"/>
          <p:cNvSpPr/>
          <p:nvPr/>
        </p:nvSpPr>
        <p:spPr>
          <a:xfrm>
            <a:off x="169277" y="6087108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14997" y="60871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Escalation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2821037" y="6087108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866757" y="60871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time-bound elevation</a:t>
            </a:r>
            <a:endParaRPr lang="en-US" sz="1100" dirty="0"/>
          </a:p>
        </p:txBody>
      </p:sp>
      <p:sp>
        <p:nvSpPr>
          <p:cNvPr id="209" name="Shape 207"/>
          <p:cNvSpPr/>
          <p:nvPr/>
        </p:nvSpPr>
        <p:spPr>
          <a:xfrm>
            <a:off x="5472797" y="6087108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518517" y="60871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access pkg expiry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8124557" y="6087108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170277" y="60871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10776317" y="6087108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959197" y="6100824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959197" y="6100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169277" y="634314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14997" y="63431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Egress Controls</a:t>
            </a:r>
            <a:endParaRPr lang="en-US" sz="1100" dirty="0"/>
          </a:p>
        </p:txBody>
      </p:sp>
      <p:sp>
        <p:nvSpPr>
          <p:cNvPr id="218" name="Shape 216"/>
          <p:cNvSpPr/>
          <p:nvPr/>
        </p:nvSpPr>
        <p:spPr>
          <a:xfrm>
            <a:off x="2821037" y="634314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866757" y="63431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20" name="Shape 218"/>
          <p:cNvSpPr/>
          <p:nvPr/>
        </p:nvSpPr>
        <p:spPr>
          <a:xfrm>
            <a:off x="5472797" y="634314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518517" y="63431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web/threat filtering</a:t>
            </a:r>
            <a:endParaRPr lang="en-US" sz="1100" dirty="0"/>
          </a:p>
        </p:txBody>
      </p:sp>
      <p:sp>
        <p:nvSpPr>
          <p:cNvPr id="222" name="Shape 220"/>
          <p:cNvSpPr/>
          <p:nvPr/>
        </p:nvSpPr>
        <p:spPr>
          <a:xfrm>
            <a:off x="8124557" y="6343140"/>
            <a:ext cx="25603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170277" y="63431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allow/deny/rewrite</a:t>
            </a:r>
            <a:endParaRPr lang="en-US" sz="1100" dirty="0"/>
          </a:p>
        </p:txBody>
      </p:sp>
      <p:sp>
        <p:nvSpPr>
          <p:cNvPr id="224" name="Shape 222"/>
          <p:cNvSpPr/>
          <p:nvPr/>
        </p:nvSpPr>
        <p:spPr>
          <a:xfrm>
            <a:off x="10776317" y="6343140"/>
            <a:ext cx="118872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959197" y="6356856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0959197" y="63568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227" name="Shape 225"/>
          <p:cNvSpPr/>
          <p:nvPr/>
        </p:nvSpPr>
        <p:spPr>
          <a:xfrm>
            <a:off x="169277" y="659917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14997" y="65991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ITDR (Anomaly Detection)</a:t>
            </a:r>
            <a:endParaRPr lang="en-US" sz="1100" dirty="0"/>
          </a:p>
        </p:txBody>
      </p:sp>
      <p:sp>
        <p:nvSpPr>
          <p:cNvPr id="229" name="Shape 227"/>
          <p:cNvSpPr/>
          <p:nvPr/>
        </p:nvSpPr>
        <p:spPr>
          <a:xfrm>
            <a:off x="2821037" y="659917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2866757" y="65991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Scout + AuthPrint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5472797" y="659917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518517" y="65991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ID Protection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8124557" y="6599172"/>
            <a:ext cx="2560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8170277" y="65991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— Prisma AIRS + Zenity</a:t>
            </a:r>
            <a:endParaRPr lang="en-US" sz="1100" dirty="0"/>
          </a:p>
        </p:txBody>
      </p:sp>
      <p:sp>
        <p:nvSpPr>
          <p:cNvPr id="235" name="Shape 233"/>
          <p:cNvSpPr/>
          <p:nvPr/>
        </p:nvSpPr>
        <p:spPr>
          <a:xfrm>
            <a:off x="10776317" y="6599172"/>
            <a:ext cx="11887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959197" y="661288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0959197" y="6612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239" name="Text 237"/>
          <p:cNvSpPr/>
          <p:nvPr/>
        </p:nvSpPr>
        <p:spPr>
          <a:xfrm>
            <a:off x="457200" y="7644384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Sequence Flow (12 Steps)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33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→ Token → APIM → Validate → AI Gateway → AAM Context → PDP → Risk Gate → Credential → Access → Telemetry → Remediation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274320" cy="274320"/>
          </a:xfrm>
          <a:prstGeom prst="ellipse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07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authenticates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Entra Agent ID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(OAuth 2.0)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331720" y="118872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143000"/>
            <a:ext cx="274320" cy="274320"/>
          </a:xfrm>
          <a:prstGeom prst="ellipse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207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77440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issues JWT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(scope: mcp.ai.azure.com)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4206240" y="118872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143000"/>
            <a:ext cx="274320" cy="274320"/>
          </a:xfrm>
          <a:prstGeom prst="ellipse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207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51960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 validates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enforces rate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+ IP filter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43000"/>
            <a:ext cx="274320" cy="274320"/>
          </a:xfrm>
          <a:prstGeom prst="ellipse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207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26480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policy checks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header, quota,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ID)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7955280" y="118872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1143000"/>
            <a:ext cx="274320" cy="274320"/>
          </a:xfrm>
          <a:prstGeom prst="ellipse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1207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01000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AI Gateway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MCP traffic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(preview governance)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9829800" y="118872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143000"/>
            <a:ext cx="274320" cy="274320"/>
          </a:xfrm>
          <a:prstGeom prst="ellipse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95560" y="1207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 Context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875520" y="1408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AAM evaluates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(resource, op,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purpose)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9829800" y="320040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0" y="3154680"/>
            <a:ext cx="274320" cy="274320"/>
          </a:xfrm>
          <a:prstGeom prst="ellipse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95560" y="3218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Decision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87552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 Point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Entra CA +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posture score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955280" y="320040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3154680"/>
            <a:ext cx="274320" cy="274320"/>
          </a:xfrm>
          <a:prstGeom prst="ellipse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1040" y="3218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Confidence Gate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0100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≥ threshold?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proceed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escalate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6080760" y="320040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46520" y="3218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Issued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ephemeral identity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(Oasis)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Key Vault secret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206240" y="320040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51960" y="3154680"/>
            <a:ext cx="274320" cy="274320"/>
          </a:xfrm>
          <a:prstGeom prst="ellipse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0" y="3218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Resource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5196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accesses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 with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permissions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2331720" y="320040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3154680"/>
            <a:ext cx="274320" cy="274320"/>
          </a:xfrm>
          <a:prstGeom prst="ellipse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697480" y="3218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37744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+ Splunk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access event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Oasis Scout monitor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57200" y="3200400"/>
            <a:ext cx="1737360" cy="502920"/>
          </a:xfrm>
          <a:prstGeom prst="rect">
            <a:avLst/>
          </a:prstGeom>
          <a:solidFill>
            <a:srgbClr val="F1ECF6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" y="3154680"/>
            <a:ext cx="274320" cy="274320"/>
          </a:xfrm>
          <a:prstGeom prst="ellipse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" y="3218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292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anomaly detected: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revoke/rotate/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194560" y="1280160"/>
            <a:ext cx="13716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4069080" y="1280160"/>
            <a:ext cx="13716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943600" y="1280160"/>
            <a:ext cx="13716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7818120" y="1280160"/>
            <a:ext cx="13716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9692640" y="1280160"/>
            <a:ext cx="13716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0698480" y="1691640"/>
            <a:ext cx="9144" cy="146304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9646920" y="329184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7772400" y="329184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5897880" y="329184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73" name="Shape 71"/>
          <p:cNvSpPr/>
          <p:nvPr/>
        </p:nvSpPr>
        <p:spPr>
          <a:xfrm flipV="1">
            <a:off x="4023360" y="3300984"/>
            <a:ext cx="182880" cy="1828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74" name="Shape 72"/>
          <p:cNvSpPr/>
          <p:nvPr/>
        </p:nvSpPr>
        <p:spPr>
          <a:xfrm flipV="1">
            <a:off x="2148840" y="3300984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325880" y="1691640"/>
            <a:ext cx="9144" cy="1508760"/>
          </a:xfrm>
          <a:prstGeom prst="line">
            <a:avLst/>
          </a:prstGeom>
          <a:noFill/>
          <a:ln w="12700">
            <a:solidFill>
              <a:srgbClr val="9C66A3"/>
            </a:solidFill>
            <a:prstDash val="dash"/>
            <a:headEnd type="arrow"/>
            <a:tailEnd type="none"/>
          </a:ln>
        </p:spPr>
      </p:sp>
      <p:sp>
        <p:nvSpPr>
          <p:cNvPr id="76" name="Text 74"/>
          <p:cNvSpPr/>
          <p:nvPr/>
        </p:nvSpPr>
        <p:spPr>
          <a:xfrm>
            <a:off x="182880" y="2194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760" y="4114800"/>
            <a:ext cx="1143000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RESPONSIBILITY BY STEP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4480560"/>
            <a:ext cx="1143000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1-2 (AuthN + Token)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29184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Agent ID — OAuth 2.0, JWT access token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0789920" y="4494276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789920" y="44942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65760" y="4736592"/>
            <a:ext cx="11430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3-4 (APIM + Validate)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291840" y="4736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 — token validation, rate limit, IP filter, correlation ID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0789920" y="4750308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789920" y="47503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65760" y="4992624"/>
            <a:ext cx="1143000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992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(AI Gateway)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3291840" y="49926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AI Gateway — MCP traffic routing (preview)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0789920" y="5006340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789920" y="50063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65760" y="5248656"/>
            <a:ext cx="11430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5248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(AAM Context)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291840" y="52486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AAM — intent analysis (resource, op, scope, purpose)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0789920" y="5262372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789920" y="52623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365760" y="5504688"/>
            <a:ext cx="1143000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5504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7-8 (PDP + Risk Gate)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3291840" y="55046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Conditional Access + Oasis posture/risk score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0789920" y="5518404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789920" y="55184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65760" y="5760720"/>
            <a:ext cx="11430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(Credential)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3291840" y="5760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JIT ephemeral identity OR Azure Key Vault secret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0789920" y="5774436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789920" y="57744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365760" y="6016752"/>
            <a:ext cx="11430000" cy="22860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7200" y="6016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10-11 (Access + Telemetry)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3291840" y="6016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 + Dynatrace/Splunk + Oasis Scout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0789920" y="6030468"/>
            <a:ext cx="822960" cy="201168"/>
          </a:xfrm>
          <a:prstGeom prst="rect">
            <a:avLst/>
          </a:prstGeom>
          <a:solidFill>
            <a:srgbClr val="DA7101"/>
          </a:solidFill>
          <a:ln w="12700">
            <a:solidFill>
              <a:srgbClr val="DA710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789920" y="60304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365760" y="6272784"/>
            <a:ext cx="11430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57200" y="6272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(Remediation)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3291840" y="62727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triggers revoke/rotate → Entra/Key Vault enforces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0789920" y="6286500"/>
            <a:ext cx="822960" cy="201168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789920" y="62865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 — Foundry Agents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 — MCP Auth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Oasis Security — AAM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712D7E-EBA6-BB12-33D9-E1428B81FFEB}"/>
              </a:ext>
            </a:extLst>
          </p:cNvPr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12/31/2026 Delivery: Features and capabilities</a:t>
            </a:r>
            <a:endParaRPr lang="en-US" sz="2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D438BB-E17D-CD89-E05C-ADD93220CF61}"/>
              </a:ext>
            </a:extLst>
          </p:cNvPr>
          <p:cNvGraphicFramePr>
            <a:graphicFrameLocks noGrp="1"/>
          </p:cNvGraphicFramePr>
          <p:nvPr/>
        </p:nvGraphicFramePr>
        <p:xfrm>
          <a:off x="241824" y="763260"/>
          <a:ext cx="11781400" cy="5421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7042">
                  <a:extLst>
                    <a:ext uri="{9D8B030D-6E8A-4147-A177-3AD203B41FA5}">
                      <a16:colId xmlns:a16="http://schemas.microsoft.com/office/drawing/2014/main" val="156740683"/>
                    </a:ext>
                  </a:extLst>
                </a:gridCol>
                <a:gridCol w="2335121">
                  <a:extLst>
                    <a:ext uri="{9D8B030D-6E8A-4147-A177-3AD203B41FA5}">
                      <a16:colId xmlns:a16="http://schemas.microsoft.com/office/drawing/2014/main" val="107407479"/>
                    </a:ext>
                  </a:extLst>
                </a:gridCol>
                <a:gridCol w="2456033">
                  <a:extLst>
                    <a:ext uri="{9D8B030D-6E8A-4147-A177-3AD203B41FA5}">
                      <a16:colId xmlns:a16="http://schemas.microsoft.com/office/drawing/2014/main" val="2053898442"/>
                    </a:ext>
                  </a:extLst>
                </a:gridCol>
                <a:gridCol w="1481177">
                  <a:extLst>
                    <a:ext uri="{9D8B030D-6E8A-4147-A177-3AD203B41FA5}">
                      <a16:colId xmlns:a16="http://schemas.microsoft.com/office/drawing/2014/main" val="2851771557"/>
                    </a:ext>
                  </a:extLst>
                </a:gridCol>
                <a:gridCol w="3582027">
                  <a:extLst>
                    <a:ext uri="{9D8B030D-6E8A-4147-A177-3AD203B41FA5}">
                      <a16:colId xmlns:a16="http://schemas.microsoft.com/office/drawing/2014/main" val="132012195"/>
                    </a:ext>
                  </a:extLst>
                </a:gridCol>
              </a:tblGrid>
              <a:tr h="24956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>
                          <a:effectLst/>
                        </a:rPr>
                        <a:t>Capability Domain</a:t>
                      </a:r>
                      <a:endParaRPr lang="en-US" sz="1050" b="1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>
                          <a:effectLst/>
                        </a:rPr>
                        <a:t>Sub-Capability / Function</a:t>
                      </a:r>
                      <a:endParaRPr lang="en-US" sz="1050" b="1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>
                          <a:effectLst/>
                        </a:rPr>
                        <a:t>Tool / Provider Tag (12/31/2026 Delivery)</a:t>
                      </a:r>
                      <a:endParaRPr lang="en-US" sz="1050" b="1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 dirty="0">
                          <a:effectLst/>
                        </a:rPr>
                        <a:t>Delivery intent &amp; Nature</a:t>
                      </a:r>
                      <a:endParaRPr lang="en-US" sz="1050" b="1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 dirty="0">
                          <a:effectLst/>
                        </a:rPr>
                        <a:t>Architectural Notes &amp; Evaluation Audit</a:t>
                      </a:r>
                      <a:endParaRPr lang="en-US" sz="1050" b="1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3032204320"/>
                  </a:ext>
                </a:extLst>
              </a:tr>
              <a:tr h="319760">
                <a:tc rowSpan="4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9C66A3"/>
                          </a:solidFill>
                          <a:effectLst/>
                        </a:rPr>
                        <a:t>NHI Discovery &amp; Inventory</a:t>
                      </a:r>
                      <a:endParaRPr lang="en-US" sz="1050" b="1" dirty="0">
                        <a:solidFill>
                          <a:srgbClr val="9C66A3"/>
                        </a:solidFill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Multi-Cloud Service Account Discovery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Oasis Security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Discovers shadow keys, OAuth apps, and cloud IAM out-of-band. </a:t>
                      </a: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3603168240"/>
                  </a:ext>
                </a:extLst>
              </a:tr>
              <a:tr h="319760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Agent &amp; MCP Registry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Azure API Center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Stores registered AI agents, API schemas, and metadata. </a:t>
                      </a: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2215774255"/>
                  </a:ext>
                </a:extLst>
              </a:tr>
              <a:tr h="389951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Continuous Inventory Updates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Oasis Security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Scans cloud provider APIs to keep service account inventories fresh.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1388001777"/>
                  </a:ext>
                </a:extLst>
              </a:tr>
              <a:tr h="389951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Shadow IT / Key Detection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Oasis Security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Strong OOB capability for identifying unmanaged credentials.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15745090"/>
                  </a:ext>
                </a:extLst>
              </a:tr>
              <a:tr h="319760">
                <a:tc rowSpan="5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9C66A3"/>
                          </a:solidFill>
                          <a:effectLst/>
                        </a:rPr>
                        <a:t>AAM (Agent Access Management)</a:t>
                      </a:r>
                      <a:endParaRPr lang="en-US" sz="1050" b="1" dirty="0">
                        <a:solidFill>
                          <a:srgbClr val="9C66A3"/>
                        </a:solidFill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Agent Identity &amp; Context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Azure AI Foundry / Copilot Studio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Provides native identity context for agents built inside Azure AI Foundry.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477591644"/>
                  </a:ext>
                </a:extLst>
              </a:tr>
              <a:tr h="319760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Delegated User Context (OBO Flow)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Microsoft Entra ID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Native OAuth 2.0 OBO flow propagating user identity to agents.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2163794932"/>
                  </a:ext>
                </a:extLst>
              </a:tr>
              <a:tr h="389951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Dynamic Scope Validation</a:t>
                      </a: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Entra ID + Azure APIM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OOB + Config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Validates JWT claims and dynamic OAuth scopes at the gateway boundary.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2750602881"/>
                  </a:ext>
                </a:extLst>
              </a:tr>
              <a:tr h="530334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Tool Allow-Listing &amp; MCP Auth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AI Gateway (agentgateway)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Custom Build / Wrappers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Evaluation Correction: Foundry does not provide native MCP wrapper auth; requires agentgateway.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2079602383"/>
                  </a:ext>
                </a:extLst>
              </a:tr>
              <a:tr h="389951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Fine-Grained Agent Authorization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Custom Token Broker / Engine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Build Commit (S)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Evaluation Correction: Neither Oasis nor Foundry provides inline fine-grained A2A policy.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3200394480"/>
                  </a:ext>
                </a:extLst>
              </a:tr>
              <a:tr h="319760">
                <a:tc rowSpan="5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9C66A3"/>
                          </a:solidFill>
                          <a:effectLst/>
                        </a:rPr>
                        <a:t>Governance &amp; Policy</a:t>
                      </a:r>
                      <a:endParaRPr lang="en-US" sz="1050" b="1" dirty="0">
                        <a:solidFill>
                          <a:srgbClr val="9C66A3"/>
                        </a:solidFill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Service Account Posture Scoring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Oasis Security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Out-of-Box (OOB)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Scores risk based on over-privilege, staleness, and exposure.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4149577099"/>
                  </a:ext>
                </a:extLst>
              </a:tr>
              <a:tr h="460143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Policy-as-Code (GitOps)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Custom CI/CD Pipelines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Build Commit (S)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Evaluation Correction: oasis-eval.xlsx claims OOB GitOps; in reality, Oasis relies on click-ops.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2062227760"/>
                  </a:ext>
                </a:extLst>
              </a:tr>
              <a:tr h="319760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Credential Rotation (Key Vault)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Azure Key Vault + Entra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Partial OOB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Rotates dynamic secrets and managed identities natively.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1377094809"/>
                  </a:ext>
                </a:extLst>
              </a:tr>
              <a:tr h="319760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Prompt-to-Action Traceability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Dynatrace + Splunk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OOB Integration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Logs prompt executions, tool calls, and backend API interactions. 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2867929077"/>
                  </a:ext>
                </a:extLst>
              </a:tr>
              <a:tr h="319760">
                <a:tc vMerge="1"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Automated Decommissioning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Oasis + Custom Scripts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Partial OOB</a:t>
                      </a:r>
                      <a:endParaRPr lang="en-US" sz="105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Oasis flags stale NHIs; execution requires custom workflow triggers. </a:t>
                      </a:r>
                      <a:endParaRPr lang="en-US" sz="1050" dirty="0">
                        <a:effectLst/>
                        <a:latin typeface="Google Sans Text"/>
                      </a:endParaRPr>
                    </a:p>
                  </a:txBody>
                  <a:tcPr marL="23752" marR="23752" marT="15835" marB="15835" anchor="ctr"/>
                </a:tc>
                <a:extLst>
                  <a:ext uri="{0D108BD9-81ED-4DB2-BD59-A6C34878D82A}">
                    <a16:rowId xmlns:a16="http://schemas.microsoft.com/office/drawing/2014/main" val="5184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41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Delivery: With vs. Without Oasis AAM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33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deliver by Dec 31 with Oasis AAM vs. what must be built without 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577840" cy="3657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OASIS AAM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solidFill>
            <a:srgbClr val="9C66A3"/>
          </a:solidFill>
          <a:ln w="12700">
            <a:solidFill>
              <a:srgbClr val="9C66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OASIS (Entra + Foundry Only)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17904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630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Discovery: agentless, multi-cloud (GA)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773936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28800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7393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+ classification (GA)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084832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39696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848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attribution: ML + CMDB (GA)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50592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3957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/ risk scoring (credential age, exposure)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61488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706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 monitoring (GA)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72384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175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combination identification (GA)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328416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83280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3284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Scout ITDR: AuthPrint fingerprints (GA)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94176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393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+ decommissioning (GA)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950208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05072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9502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ephemeral identities: no standing priv (GA)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15968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2611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analysis: prompt→structured intent (GA)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626864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572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Prompt-to-action audit trail (GA)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882896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937760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88289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PAM escalation (GA)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5193792"/>
            <a:ext cx="5577840" cy="274320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248656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51937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 (GA)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5504688"/>
            <a:ext cx="5577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5559552"/>
            <a:ext cx="146304" cy="146304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50468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remediation orchestration (GA)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17920" y="1463040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91072" y="1472184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146304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discovery: Azure API Center (partial)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217920" y="1664208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1673352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166420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multi-cloud agentless inventory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217920" y="1865376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91072" y="1874520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186537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manual assignment only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217920" y="2066544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91072" y="2075688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206654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posture scoring or blast radius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217920" y="2267712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91072" y="2276856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226771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drift monitoring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217920" y="2468880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91072" y="2478024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246888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purpose-built NHI threat detection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217920" y="2670048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91072" y="2679192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267004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rotation: Key Vault partial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217920" y="2871216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91072" y="2880360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287121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JIT ephemeral identity provisioning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217920" y="3072384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91072" y="3081528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73952" y="307238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intent-aware policy enforcement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217920" y="3273552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91072" y="3282696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73952" y="327355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prompt-to-action audit trail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217920" y="3474720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91072" y="3483864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73952" y="347472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behavioral anomaly detection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217920" y="3877056"/>
            <a:ext cx="5577840" cy="164592"/>
          </a:xfrm>
          <a:prstGeom prst="rect">
            <a:avLst/>
          </a:prstGeom>
          <a:solidFill>
            <a:srgbClr val="F1ECF6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91072" y="3877056"/>
            <a:ext cx="5431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ITEMS (NHIDecision.pdf):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217920" y="4078224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91072" y="4087368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73952" y="407822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Broker (S) — concept only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6217920" y="4279392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91072" y="4288536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73952" y="427939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Engine (S) — OPA/OpenFGA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217920" y="4480560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91072" y="4489704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73952" y="448056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Mapping (S) — broker ext.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217920" y="4681728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91072" y="4690872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73952" y="468172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 (XS) — API Center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217920" y="4882896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91072" y="4892040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73952" y="488289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Gov (S) — not started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217920" y="5084064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91072" y="5093208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73952" y="508406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 (S) — partial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6217920" y="5285232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91072" y="5294376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73952" y="5285232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AuthZ (S) — gateway ext.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217920" y="5486400"/>
            <a:ext cx="5577840" cy="164592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291072" y="5495544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473952" y="548640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(S) — patterns only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6217920" y="5687568"/>
            <a:ext cx="55778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291072" y="5696712"/>
            <a:ext cx="128016" cy="128016"/>
          </a:xfrm>
          <a:prstGeom prst="ellipse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473952" y="5687568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Traceability (XS) — discovery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(NHIDecision.pdf p.4-5): Governance gap | Own roadmap+failures | Estimate uncertainty | Key-person concentration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Reference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33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beyond Dec 31 — new tools tagged from Component Capabilities draw.io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20040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SOURCES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2194560" cy="320040"/>
          </a:xfrm>
          <a:prstGeom prst="rect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INTELLIGENCE GRAPH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2011680" cy="320040"/>
          </a:xfrm>
          <a:prstGeom prst="rect">
            <a:avLst/>
          </a:prstGeom>
          <a:solidFill>
            <a:srgbClr val="D79B00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POLICY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32320" y="1005840"/>
            <a:ext cx="2194560" cy="320040"/>
          </a:xfrm>
          <a:prstGeom prst="rect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ENFORCEMENT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509760" y="1005840"/>
            <a:ext cx="22860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(AWS, GCP, Azure)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2011680" cy="45720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OAuth Apps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2011680" cy="45720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Secrets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2011680" cy="45720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/ MCP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2011680" cy="45720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1463040"/>
            <a:ext cx="2194560" cy="45720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Inventory*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09060" y="1783080"/>
            <a:ext cx="800100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09060" y="1783080"/>
            <a:ext cx="800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2560320" y="2011680"/>
            <a:ext cx="2194560" cy="45720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Context*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909060" y="2331720"/>
            <a:ext cx="800100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09060" y="2331720"/>
            <a:ext cx="800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2560320" y="2560320"/>
            <a:ext cx="2194560" cy="45720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Attribution*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57016" y="2880360"/>
            <a:ext cx="1152144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7016" y="288036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+ CMDB</a:t>
            </a:r>
            <a:endParaRPr lang="en-US" sz="500" dirty="0"/>
          </a:p>
        </p:txBody>
      </p:sp>
      <p:sp>
        <p:nvSpPr>
          <p:cNvPr id="36" name="Shape 34"/>
          <p:cNvSpPr/>
          <p:nvPr/>
        </p:nvSpPr>
        <p:spPr>
          <a:xfrm>
            <a:off x="2560320" y="3108960"/>
            <a:ext cx="2194560" cy="45720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Graph &amp; Lineage*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09060" y="3429000"/>
            <a:ext cx="800100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09060" y="3429000"/>
            <a:ext cx="800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2560320" y="3657600"/>
            <a:ext cx="2194560" cy="45720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Analysis*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09060" y="3977640"/>
            <a:ext cx="800100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09060" y="3977640"/>
            <a:ext cx="800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2560320" y="4206240"/>
            <a:ext cx="2194560" cy="45720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/ Risk Scoring*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58184" y="4526280"/>
            <a:ext cx="950976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58184" y="4526280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Wiz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4937760" y="1463040"/>
            <a:ext cx="2011680" cy="45720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&amp; Lifecycle Gov*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50992" y="1783080"/>
            <a:ext cx="1252728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1783080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SailPoint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4937760" y="2011680"/>
            <a:ext cx="2011680" cy="45720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Policy-as-Code*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550408" y="2331720"/>
            <a:ext cx="1353312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50408" y="233172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OPA/OpenFGA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4937760" y="2560320"/>
            <a:ext cx="2011680" cy="45720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Audit*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00700" y="2880360"/>
            <a:ext cx="1303020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00700" y="2880360"/>
            <a:ext cx="130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ServiceNow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4937760" y="3108960"/>
            <a:ext cx="2011680" cy="45720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34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02452" y="3429000"/>
            <a:ext cx="1001268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02452" y="3429000"/>
            <a:ext cx="10012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365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4937760" y="3657600"/>
            <a:ext cx="2011680" cy="45720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8348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03620" y="3977640"/>
            <a:ext cx="800100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03620" y="3977640"/>
            <a:ext cx="8001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4937760" y="4206240"/>
            <a:ext cx="2011680" cy="45720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8348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Packages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751576" y="4526280"/>
            <a:ext cx="1152144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51576" y="452628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Gov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7132320" y="1463040"/>
            <a:ext cx="2194560" cy="4572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780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/ PDP*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927848" y="1783080"/>
            <a:ext cx="1353312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27848" y="178308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OPA/SpiceDB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7132320" y="2011680"/>
            <a:ext cx="2194560" cy="4572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/ Ephemeral Access*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078724" y="2331720"/>
            <a:ext cx="1202436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78724" y="2331720"/>
            <a:ext cx="12024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+ Entra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7132320" y="2560320"/>
            <a:ext cx="2194560" cy="4572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780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 &amp; Least Privilege*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078724" y="2880360"/>
            <a:ext cx="1202436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78724" y="2880360"/>
            <a:ext cx="12024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+ Entra</a:t>
            </a:r>
            <a:endParaRPr lang="en-US" sz="500" dirty="0"/>
          </a:p>
        </p:txBody>
      </p:sp>
      <p:sp>
        <p:nvSpPr>
          <p:cNvPr id="84" name="Shape 82"/>
          <p:cNvSpPr/>
          <p:nvPr/>
        </p:nvSpPr>
        <p:spPr>
          <a:xfrm>
            <a:off x="7132320" y="3108960"/>
            <a:ext cx="2194560" cy="4572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7804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&amp; Vaulting*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078724" y="3429000"/>
            <a:ext cx="1202436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78724" y="3429000"/>
            <a:ext cx="12024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Akeyless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7132320" y="3657600"/>
            <a:ext cx="2194560" cy="4572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Cert Lifecycle*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078724" y="3977640"/>
            <a:ext cx="1202436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78724" y="3977640"/>
            <a:ext cx="12024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Akeyless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7132320" y="4206240"/>
            <a:ext cx="2194560" cy="45720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780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 / mTLS*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179308" y="4526280"/>
            <a:ext cx="1101852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179308" y="4526280"/>
            <a:ext cx="11018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SPIFFE</a:t>
            </a:r>
            <a:endParaRPr lang="en-US" sz="500" dirty="0"/>
          </a:p>
        </p:txBody>
      </p:sp>
      <p:sp>
        <p:nvSpPr>
          <p:cNvPr id="96" name="Shape 94"/>
          <p:cNvSpPr/>
          <p:nvPr/>
        </p:nvSpPr>
        <p:spPr>
          <a:xfrm>
            <a:off x="9509760" y="1463040"/>
            <a:ext cx="2286000" cy="45720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5554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Observability*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0296144" y="1783080"/>
            <a:ext cx="1453896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296144" y="1783080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OpenTelemetry</a:t>
            </a:r>
            <a:endParaRPr lang="en-US" sz="500" dirty="0"/>
          </a:p>
        </p:txBody>
      </p:sp>
      <p:sp>
        <p:nvSpPr>
          <p:cNvPr id="100" name="Shape 98"/>
          <p:cNvSpPr/>
          <p:nvPr/>
        </p:nvSpPr>
        <p:spPr>
          <a:xfrm>
            <a:off x="9509760" y="2011680"/>
            <a:ext cx="2286000" cy="45720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5554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&amp; Anomaly Detection*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0648188" y="2331720"/>
            <a:ext cx="1101852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648188" y="2331720"/>
            <a:ext cx="11018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Scout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9509760" y="2560320"/>
            <a:ext cx="2286000" cy="45720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5554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Response*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0396728" y="2880360"/>
            <a:ext cx="1353312" cy="137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396728" y="288036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Splunk SOAR</a:t>
            </a:r>
            <a:endParaRPr lang="en-US" sz="500" dirty="0"/>
          </a:p>
        </p:txBody>
      </p:sp>
      <p:sp>
        <p:nvSpPr>
          <p:cNvPr id="108" name="Shape 106"/>
          <p:cNvSpPr/>
          <p:nvPr/>
        </p:nvSpPr>
        <p:spPr>
          <a:xfrm>
            <a:off x="9509760" y="3108960"/>
            <a:ext cx="2286000" cy="45720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5554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Orchestration*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10547604" y="3429000"/>
            <a:ext cx="1202436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547604" y="3429000"/>
            <a:ext cx="12024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+ Entra</a:t>
            </a:r>
            <a:endParaRPr lang="en-US" sz="500" dirty="0"/>
          </a:p>
        </p:txBody>
      </p:sp>
      <p:sp>
        <p:nvSpPr>
          <p:cNvPr id="112" name="Shape 110"/>
          <p:cNvSpPr/>
          <p:nvPr/>
        </p:nvSpPr>
        <p:spPr>
          <a:xfrm>
            <a:off x="9509760" y="3657600"/>
            <a:ext cx="2286000" cy="45720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55548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Rotation*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0346436" y="3977640"/>
            <a:ext cx="1403604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346436" y="3977640"/>
            <a:ext cx="1403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+ Key Vault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9509760" y="4206240"/>
            <a:ext cx="2286000" cy="45720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5554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Decommissioning*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0547604" y="4526280"/>
            <a:ext cx="1202436" cy="137160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547604" y="4526280"/>
            <a:ext cx="12024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+ Entra</a:t>
            </a:r>
            <a:endParaRPr lang="en-US" sz="500" dirty="0"/>
          </a:p>
        </p:txBody>
      </p:sp>
      <p:sp>
        <p:nvSpPr>
          <p:cNvPr id="120" name="Shape 118"/>
          <p:cNvSpPr/>
          <p:nvPr/>
        </p:nvSpPr>
        <p:spPr>
          <a:xfrm>
            <a:off x="2377440" y="228600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4754880" y="347472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6949440" y="228600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9326880" y="2286000"/>
            <a:ext cx="182880" cy="9144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arrow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2560320" y="4846320"/>
            <a:ext cx="6949440" cy="9144"/>
          </a:xfrm>
          <a:prstGeom prst="line">
            <a:avLst/>
          </a:prstGeom>
          <a:noFill/>
          <a:ln w="12700">
            <a:solidFill>
              <a:srgbClr val="9C66A3"/>
            </a:solidFill>
            <a:prstDash val="dash"/>
            <a:headEnd type="arrow"/>
            <a:tailEnd type="none"/>
          </a:ln>
        </p:spPr>
      </p:sp>
      <p:sp>
        <p:nvSpPr>
          <p:cNvPr id="125" name="Text 123"/>
          <p:cNvSpPr/>
          <p:nvPr/>
        </p:nvSpPr>
        <p:spPr>
          <a:xfrm>
            <a:off x="5029200" y="4892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6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365760" y="4937760"/>
            <a:ext cx="2011680" cy="41148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11480" y="4937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Graph DB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937760" y="4937760"/>
            <a:ext cx="2011680" cy="41148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983480" y="4937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9509760" y="4937760"/>
            <a:ext cx="2286000" cy="411480"/>
          </a:xfrm>
          <a:prstGeom prst="rect">
            <a:avLst/>
          </a:prstGeom>
          <a:solidFill>
            <a:srgbClr val="FBFBF9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555480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Evidence Store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560320" y="5486400"/>
            <a:ext cx="9235440" cy="320040"/>
          </a:xfrm>
          <a:prstGeom prst="rect">
            <a:avLst/>
          </a:prstGeom>
          <a:solidFill>
            <a:srgbClr val="D6B2E0"/>
          </a:solidFill>
          <a:ln w="12700">
            <a:solidFill>
              <a:srgbClr val="723377"/>
            </a:solidFill>
            <a:prstDash val="dash"/>
          </a:ln>
        </p:spPr>
      </p:sp>
      <p:sp>
        <p:nvSpPr>
          <p:cNvPr id="133" name="Text 131"/>
          <p:cNvSpPr/>
          <p:nvPr/>
        </p:nvSpPr>
        <p:spPr>
          <a:xfrm>
            <a:off x="2560320" y="548640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 OVERLAY: Registration → Intent → AuthZ → Session → Audit → Remediation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365760" y="5486400"/>
            <a:ext cx="274320" cy="164592"/>
          </a:xfrm>
          <a:prstGeom prst="rect">
            <a:avLst/>
          </a:prstGeom>
          <a:solidFill>
            <a:srgbClr val="723377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31520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65760" y="5715000"/>
            <a:ext cx="274320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31520" y="5669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 to introduce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365760" y="5943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33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overlapping capability across multiple products (NHIMG)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NHIMG Products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Oasis Security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Sections: Deep Dive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33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Control Plane, AAM Plane, Governance, Observability — capabilities and gaps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577840" cy="2468880"/>
          </a:xfrm>
          <a:prstGeom prst="rect">
            <a:avLst/>
          </a:prstGeom>
          <a:solidFill>
            <a:srgbClr val="F1ECF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57784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CONTROL PLANE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Inventory: Oasis (GA) — agentless, multi-cloud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Graph &amp; Lineage: Oasis — maps NHI relationships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Attribution: Oasis (ML) + CMDB enrichment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2951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/ Risk Scoring: Oasis + Wiz (NEW) — credential age, exposure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5877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Context: Oasis — type, owner, risk level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 Monitoring: Oasis (GA) — detects deviations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31729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API contract to AAM plane | No event bus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5577840" cy="2468880"/>
          </a:xfrm>
          <a:prstGeom prst="rect">
            <a:avLst/>
          </a:prstGeom>
          <a:solidFill>
            <a:srgbClr val="F1ECF6"/>
          </a:solidFill>
          <a:ln w="12700">
            <a:solidFill>
              <a:srgbClr val="723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05840"/>
            <a:ext cx="557784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05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 PLANE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Registration: Agent 365 + Entra Agent ID (GA)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5080" y="16733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Understanding: Oasis (GA) — prompt→structured intent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19293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 / Policy Enforcement: Entra CA + OPA (NEW)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5080" y="218541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/ Ephemeral Sessions: Oasis (GA) — no standing priv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5080" y="24414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Auth: Foundry (GA) — 7 auth types incl. OAuth passthrough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2697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 Flow: Foundry (GA) — OAuth Identity Passthrough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55080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Brokerage: GAP — must build (size S per NHIDecision.pdf)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5080" y="320954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AuthZ: Foundry A2A v1.0 (GA) + v0.3 (preview)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5577840" cy="2468880"/>
          </a:xfrm>
          <a:prstGeom prst="rect">
            <a:avLst/>
          </a:prstGeom>
          <a:solidFill>
            <a:srgbClr val="F1ECF6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57600"/>
            <a:ext cx="557784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POLICY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0690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&amp; Lifecycle: SailPoint (NEW) — cert,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3159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Policy-as-Code: OPA / OpenFGA (NEW) — not built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5628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Audit: ServiceNow (NEW) + Splunk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48097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Access: Entra (GA) — agent risk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50566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Packages: Entra ID Gov (GA)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53035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 Workflows: Entra (GA)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55504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GitOps/CI-CD automation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57972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AAM ownership undefined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17920" y="3657600"/>
            <a:ext cx="5577840" cy="2468880"/>
          </a:xfrm>
          <a:prstGeom prst="rect">
            <a:avLst/>
          </a:prstGeom>
          <a:solidFill>
            <a:srgbClr val="F1ECF6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657600"/>
            <a:ext cx="5577840" cy="320040"/>
          </a:xfrm>
          <a:prstGeom prst="rect">
            <a:avLst/>
          </a:prstGeom>
          <a:solidFill>
            <a:srgbClr val="F1ECF6"/>
          </a:solidFill>
          <a:ln w="12700">
            <a:solidFill>
              <a:srgbClr val="F1E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REMEDIATION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40690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OpenTelemetry (NEW)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43159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Detection: Oasis Scout (GA)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5080" y="45628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Tracing: Foundry (GA) — App Insights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55080" y="48097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Dynatrace + Splunk — discovery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55080" y="50566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Response: Splunk SOAR (NEW)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53035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Remediation: Oasis → Entra/Key Vault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55080" y="55504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Security: Prisma AIRS + Zenity (GA)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5080" y="57972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DR plan | Single PDP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NHIMG Products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Oasis Security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u="sng" dirty="0">
                <a:solidFill>
                  <a:srgbClr val="723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NHIDecision.pdf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5259</Words>
  <Application>Microsoft Macintosh PowerPoint</Application>
  <PresentationFormat>Widescreen</PresentationFormat>
  <Paragraphs>528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 baswa</cp:lastModifiedBy>
  <cp:revision>2</cp:revision>
  <dcterms:created xsi:type="dcterms:W3CDTF">2026-09-30T03:57:45Z</dcterms:created>
  <dcterms:modified xsi:type="dcterms:W3CDTF">2026-09-30T04:23:07Z</dcterms:modified>
</cp:coreProperties>
</file>