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6" r:id="rId5"/>
    <p:sldId id="277" r:id="rId6"/>
    <p:sldId id="262" r:id="rId7"/>
    <p:sldId id="275" r:id="rId8"/>
    <p:sldId id="256" r:id="rId9"/>
    <p:sldId id="257" r:id="rId10"/>
    <p:sldId id="258" r:id="rId11"/>
    <p:sldId id="259" r:id="rId12"/>
    <p:sldId id="278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63" r:id="rId21"/>
    <p:sldId id="271" r:id="rId22"/>
    <p:sldId id="26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7"/>
    <p:restoredTop sz="94667"/>
  </p:normalViewPr>
  <p:slideViewPr>
    <p:cSldViewPr snapToGrid="0" snapToObjects="1">
      <p:cViewPr>
        <p:scale>
          <a:sx n="94" d="100"/>
          <a:sy n="94" d="100"/>
        </p:scale>
        <p:origin x="2768" y="1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AA24D3-BEDE-9E4C-B712-8E0BD6889AB0}" type="doc">
      <dgm:prSet loTypeId="urn:microsoft.com/office/officeart/2005/8/layout/cycle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67269A-7BA3-E64C-B779-F3CFA1D45B79}">
      <dgm:prSet phldrT="[Text]"/>
      <dgm:spPr/>
      <dgm:t>
        <a:bodyPr/>
        <a:lstStyle/>
        <a:p>
          <a:r>
            <a:rPr lang="en-US" dirty="0"/>
            <a:t>AI Triage Layer</a:t>
          </a:r>
        </a:p>
      </dgm:t>
    </dgm:pt>
    <dgm:pt modelId="{FD411446-53E8-024A-B2A9-351FF9CAB8BB}" type="parTrans" cxnId="{B015CEA5-CA4A-9D47-B0EE-B9383CE12A78}">
      <dgm:prSet/>
      <dgm:spPr/>
      <dgm:t>
        <a:bodyPr/>
        <a:lstStyle/>
        <a:p>
          <a:endParaRPr lang="en-US"/>
        </a:p>
      </dgm:t>
    </dgm:pt>
    <dgm:pt modelId="{D7FE3126-9CC6-304E-A767-FB3B3ADA7DFE}" type="sibTrans" cxnId="{B015CEA5-CA4A-9D47-B0EE-B9383CE12A78}">
      <dgm:prSet/>
      <dgm:spPr/>
      <dgm:t>
        <a:bodyPr/>
        <a:lstStyle/>
        <a:p>
          <a:endParaRPr lang="en-US"/>
        </a:p>
      </dgm:t>
    </dgm:pt>
    <dgm:pt modelId="{3288ADE5-D841-6F47-8F69-CD8EAC07EC00}">
      <dgm:prSet phldrT="[Text]"/>
      <dgm:spPr/>
      <dgm:t>
        <a:bodyPr/>
        <a:lstStyle/>
        <a:p>
          <a:r>
            <a:rPr lang="en-US" dirty="0"/>
            <a:t>Human Pharmacist Queue</a:t>
          </a:r>
        </a:p>
      </dgm:t>
    </dgm:pt>
    <dgm:pt modelId="{6B7155EC-179D-5342-BAB6-0607EBC250C5}" type="parTrans" cxnId="{D20290A8-EFFC-974C-ADE5-A8E794218DFE}">
      <dgm:prSet/>
      <dgm:spPr/>
      <dgm:t>
        <a:bodyPr/>
        <a:lstStyle/>
        <a:p>
          <a:endParaRPr lang="en-US"/>
        </a:p>
      </dgm:t>
    </dgm:pt>
    <dgm:pt modelId="{369AFA7F-49CB-7F42-BF74-28E2BBA4D767}" type="sibTrans" cxnId="{D20290A8-EFFC-974C-ADE5-A8E794218DFE}">
      <dgm:prSet/>
      <dgm:spPr/>
      <dgm:t>
        <a:bodyPr/>
        <a:lstStyle/>
        <a:p>
          <a:endParaRPr lang="en-US"/>
        </a:p>
      </dgm:t>
    </dgm:pt>
    <dgm:pt modelId="{8BF9E6E5-FEAF-8A47-BB90-124FCF44AAB3}">
      <dgm:prSet phldrT="[Text]"/>
      <dgm:spPr/>
      <dgm:t>
        <a:bodyPr/>
        <a:lstStyle/>
        <a:p>
          <a:r>
            <a:rPr lang="en-US" dirty="0"/>
            <a:t>Record Keeping</a:t>
          </a:r>
        </a:p>
      </dgm:t>
    </dgm:pt>
    <dgm:pt modelId="{78586399-175C-244D-AB5C-5E976BD8AE90}" type="parTrans" cxnId="{3600F031-5465-F240-9DE4-2FEF82BDD1B0}">
      <dgm:prSet/>
      <dgm:spPr/>
      <dgm:t>
        <a:bodyPr/>
        <a:lstStyle/>
        <a:p>
          <a:endParaRPr lang="en-US"/>
        </a:p>
      </dgm:t>
    </dgm:pt>
    <dgm:pt modelId="{48326263-6170-9343-9D9C-8A50FDC83126}" type="sibTrans" cxnId="{3600F031-5465-F240-9DE4-2FEF82BDD1B0}">
      <dgm:prSet/>
      <dgm:spPr/>
      <dgm:t>
        <a:bodyPr/>
        <a:lstStyle/>
        <a:p>
          <a:endParaRPr lang="en-US"/>
        </a:p>
      </dgm:t>
    </dgm:pt>
    <dgm:pt modelId="{ED62C361-D534-224B-8EA7-D35CE4929D79}" type="pres">
      <dgm:prSet presAssocID="{36AA24D3-BEDE-9E4C-B712-8E0BD6889AB0}" presName="cycle" presStyleCnt="0">
        <dgm:presLayoutVars>
          <dgm:dir/>
          <dgm:resizeHandles val="exact"/>
        </dgm:presLayoutVars>
      </dgm:prSet>
      <dgm:spPr/>
    </dgm:pt>
    <dgm:pt modelId="{09A9B234-556B-F244-A70D-043895BF349D}" type="pres">
      <dgm:prSet presAssocID="{0467269A-7BA3-E64C-B779-F3CFA1D45B79}" presName="node" presStyleLbl="node1" presStyleIdx="0" presStyleCnt="3">
        <dgm:presLayoutVars>
          <dgm:bulletEnabled val="1"/>
        </dgm:presLayoutVars>
      </dgm:prSet>
      <dgm:spPr/>
    </dgm:pt>
    <dgm:pt modelId="{7769F1B4-062C-2947-95A7-D61F06546062}" type="pres">
      <dgm:prSet presAssocID="{0467269A-7BA3-E64C-B779-F3CFA1D45B79}" presName="spNode" presStyleCnt="0"/>
      <dgm:spPr/>
    </dgm:pt>
    <dgm:pt modelId="{F7D5ADE1-8FFD-094C-8B14-AA579BAC5DDF}" type="pres">
      <dgm:prSet presAssocID="{D7FE3126-9CC6-304E-A767-FB3B3ADA7DFE}" presName="sibTrans" presStyleLbl="sibTrans1D1" presStyleIdx="0" presStyleCnt="3"/>
      <dgm:spPr/>
    </dgm:pt>
    <dgm:pt modelId="{154DC49A-4A6D-9B43-8DF3-1A26224B2C6F}" type="pres">
      <dgm:prSet presAssocID="{3288ADE5-D841-6F47-8F69-CD8EAC07EC00}" presName="node" presStyleLbl="node1" presStyleIdx="1" presStyleCnt="3">
        <dgm:presLayoutVars>
          <dgm:bulletEnabled val="1"/>
        </dgm:presLayoutVars>
      </dgm:prSet>
      <dgm:spPr/>
    </dgm:pt>
    <dgm:pt modelId="{1EB40FDC-B8AD-0041-9FA1-38C643AABF20}" type="pres">
      <dgm:prSet presAssocID="{3288ADE5-D841-6F47-8F69-CD8EAC07EC00}" presName="spNode" presStyleCnt="0"/>
      <dgm:spPr/>
    </dgm:pt>
    <dgm:pt modelId="{5A9EBD6A-A5F4-4148-AC31-57E8AA6A5D0C}" type="pres">
      <dgm:prSet presAssocID="{369AFA7F-49CB-7F42-BF74-28E2BBA4D767}" presName="sibTrans" presStyleLbl="sibTrans1D1" presStyleIdx="1" presStyleCnt="3"/>
      <dgm:spPr/>
    </dgm:pt>
    <dgm:pt modelId="{9F4EAE5F-708D-B24B-861F-C354C8880070}" type="pres">
      <dgm:prSet presAssocID="{8BF9E6E5-FEAF-8A47-BB90-124FCF44AAB3}" presName="node" presStyleLbl="node1" presStyleIdx="2" presStyleCnt="3">
        <dgm:presLayoutVars>
          <dgm:bulletEnabled val="1"/>
        </dgm:presLayoutVars>
      </dgm:prSet>
      <dgm:spPr/>
    </dgm:pt>
    <dgm:pt modelId="{304CB2E7-CFE2-4E46-A821-6C41EB322469}" type="pres">
      <dgm:prSet presAssocID="{8BF9E6E5-FEAF-8A47-BB90-124FCF44AAB3}" presName="spNode" presStyleCnt="0"/>
      <dgm:spPr/>
    </dgm:pt>
    <dgm:pt modelId="{DD1CC927-CE69-3844-9288-99160CAA1D06}" type="pres">
      <dgm:prSet presAssocID="{48326263-6170-9343-9D9C-8A50FDC83126}" presName="sibTrans" presStyleLbl="sibTrans1D1" presStyleIdx="2" presStyleCnt="3"/>
      <dgm:spPr/>
    </dgm:pt>
  </dgm:ptLst>
  <dgm:cxnLst>
    <dgm:cxn modelId="{1BA4D104-B445-604C-82F5-AE79D5544574}" type="presOf" srcId="{D7FE3126-9CC6-304E-A767-FB3B3ADA7DFE}" destId="{F7D5ADE1-8FFD-094C-8B14-AA579BAC5DDF}" srcOrd="0" destOrd="0" presId="urn:microsoft.com/office/officeart/2005/8/layout/cycle6"/>
    <dgm:cxn modelId="{34A7281E-3BC6-5446-BFD3-DC72F0CF422C}" type="presOf" srcId="{36AA24D3-BEDE-9E4C-B712-8E0BD6889AB0}" destId="{ED62C361-D534-224B-8EA7-D35CE4929D79}" srcOrd="0" destOrd="0" presId="urn:microsoft.com/office/officeart/2005/8/layout/cycle6"/>
    <dgm:cxn modelId="{3600F031-5465-F240-9DE4-2FEF82BDD1B0}" srcId="{36AA24D3-BEDE-9E4C-B712-8E0BD6889AB0}" destId="{8BF9E6E5-FEAF-8A47-BB90-124FCF44AAB3}" srcOrd="2" destOrd="0" parTransId="{78586399-175C-244D-AB5C-5E976BD8AE90}" sibTransId="{48326263-6170-9343-9D9C-8A50FDC83126}"/>
    <dgm:cxn modelId="{A27B0C3F-0714-7E45-B826-C921C2D77EFC}" type="presOf" srcId="{8BF9E6E5-FEAF-8A47-BB90-124FCF44AAB3}" destId="{9F4EAE5F-708D-B24B-861F-C354C8880070}" srcOrd="0" destOrd="0" presId="urn:microsoft.com/office/officeart/2005/8/layout/cycle6"/>
    <dgm:cxn modelId="{B1D2204B-6DEA-8A40-9ACA-B13CA05CAD72}" type="presOf" srcId="{0467269A-7BA3-E64C-B779-F3CFA1D45B79}" destId="{09A9B234-556B-F244-A70D-043895BF349D}" srcOrd="0" destOrd="0" presId="urn:microsoft.com/office/officeart/2005/8/layout/cycle6"/>
    <dgm:cxn modelId="{E021D36C-DC62-7248-8D5E-68AD815D0731}" type="presOf" srcId="{3288ADE5-D841-6F47-8F69-CD8EAC07EC00}" destId="{154DC49A-4A6D-9B43-8DF3-1A26224B2C6F}" srcOrd="0" destOrd="0" presId="urn:microsoft.com/office/officeart/2005/8/layout/cycle6"/>
    <dgm:cxn modelId="{B015CEA5-CA4A-9D47-B0EE-B9383CE12A78}" srcId="{36AA24D3-BEDE-9E4C-B712-8E0BD6889AB0}" destId="{0467269A-7BA3-E64C-B779-F3CFA1D45B79}" srcOrd="0" destOrd="0" parTransId="{FD411446-53E8-024A-B2A9-351FF9CAB8BB}" sibTransId="{D7FE3126-9CC6-304E-A767-FB3B3ADA7DFE}"/>
    <dgm:cxn modelId="{D20290A8-EFFC-974C-ADE5-A8E794218DFE}" srcId="{36AA24D3-BEDE-9E4C-B712-8E0BD6889AB0}" destId="{3288ADE5-D841-6F47-8F69-CD8EAC07EC00}" srcOrd="1" destOrd="0" parTransId="{6B7155EC-179D-5342-BAB6-0607EBC250C5}" sibTransId="{369AFA7F-49CB-7F42-BF74-28E2BBA4D767}"/>
    <dgm:cxn modelId="{AE115FCC-014E-4C47-AE7B-E96FD545FFBF}" type="presOf" srcId="{369AFA7F-49CB-7F42-BF74-28E2BBA4D767}" destId="{5A9EBD6A-A5F4-4148-AC31-57E8AA6A5D0C}" srcOrd="0" destOrd="0" presId="urn:microsoft.com/office/officeart/2005/8/layout/cycle6"/>
    <dgm:cxn modelId="{C66833E2-30D0-AA48-8E9A-23BF4ED43125}" type="presOf" srcId="{48326263-6170-9343-9D9C-8A50FDC83126}" destId="{DD1CC927-CE69-3844-9288-99160CAA1D06}" srcOrd="0" destOrd="0" presId="urn:microsoft.com/office/officeart/2005/8/layout/cycle6"/>
    <dgm:cxn modelId="{81EE4836-66DC-8842-B45D-2D96B73068F8}" type="presParOf" srcId="{ED62C361-D534-224B-8EA7-D35CE4929D79}" destId="{09A9B234-556B-F244-A70D-043895BF349D}" srcOrd="0" destOrd="0" presId="urn:microsoft.com/office/officeart/2005/8/layout/cycle6"/>
    <dgm:cxn modelId="{BE30D341-08E7-964B-B643-EEEBFD752142}" type="presParOf" srcId="{ED62C361-D534-224B-8EA7-D35CE4929D79}" destId="{7769F1B4-062C-2947-95A7-D61F06546062}" srcOrd="1" destOrd="0" presId="urn:microsoft.com/office/officeart/2005/8/layout/cycle6"/>
    <dgm:cxn modelId="{882638B8-09EE-5B40-9FA5-3F4E0A382524}" type="presParOf" srcId="{ED62C361-D534-224B-8EA7-D35CE4929D79}" destId="{F7D5ADE1-8FFD-094C-8B14-AA579BAC5DDF}" srcOrd="2" destOrd="0" presId="urn:microsoft.com/office/officeart/2005/8/layout/cycle6"/>
    <dgm:cxn modelId="{9BE41477-4A9E-0C40-B74B-814D0C8AEDFC}" type="presParOf" srcId="{ED62C361-D534-224B-8EA7-D35CE4929D79}" destId="{154DC49A-4A6D-9B43-8DF3-1A26224B2C6F}" srcOrd="3" destOrd="0" presId="urn:microsoft.com/office/officeart/2005/8/layout/cycle6"/>
    <dgm:cxn modelId="{4F1C2716-13DC-AB4B-A89D-32D43B45F90A}" type="presParOf" srcId="{ED62C361-D534-224B-8EA7-D35CE4929D79}" destId="{1EB40FDC-B8AD-0041-9FA1-38C643AABF20}" srcOrd="4" destOrd="0" presId="urn:microsoft.com/office/officeart/2005/8/layout/cycle6"/>
    <dgm:cxn modelId="{64027E08-4DE9-8245-BFF4-2EBD50C61472}" type="presParOf" srcId="{ED62C361-D534-224B-8EA7-D35CE4929D79}" destId="{5A9EBD6A-A5F4-4148-AC31-57E8AA6A5D0C}" srcOrd="5" destOrd="0" presId="urn:microsoft.com/office/officeart/2005/8/layout/cycle6"/>
    <dgm:cxn modelId="{A74D1027-FF7F-6B40-8A9E-05EA035C2126}" type="presParOf" srcId="{ED62C361-D534-224B-8EA7-D35CE4929D79}" destId="{9F4EAE5F-708D-B24B-861F-C354C8880070}" srcOrd="6" destOrd="0" presId="urn:microsoft.com/office/officeart/2005/8/layout/cycle6"/>
    <dgm:cxn modelId="{760EC73B-FC5C-5E45-8776-DEE0B10E42BA}" type="presParOf" srcId="{ED62C361-D534-224B-8EA7-D35CE4929D79}" destId="{304CB2E7-CFE2-4E46-A821-6C41EB322469}" srcOrd="7" destOrd="0" presId="urn:microsoft.com/office/officeart/2005/8/layout/cycle6"/>
    <dgm:cxn modelId="{ABCBDCE6-B172-BF42-8CAC-5DBE56FEF035}" type="presParOf" srcId="{ED62C361-D534-224B-8EA7-D35CE4929D79}" destId="{DD1CC927-CE69-3844-9288-99160CAA1D06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9B234-556B-F244-A70D-043895BF349D}">
      <dsp:nvSpPr>
        <dsp:cNvPr id="0" name=""/>
        <dsp:cNvSpPr/>
      </dsp:nvSpPr>
      <dsp:spPr>
        <a:xfrm>
          <a:off x="2116335" y="1372"/>
          <a:ext cx="1863328" cy="12111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AI Triage Layer</a:t>
          </a:r>
        </a:p>
      </dsp:txBody>
      <dsp:txXfrm>
        <a:off x="2175459" y="60496"/>
        <a:ext cx="1745080" cy="1092915"/>
      </dsp:txXfrm>
    </dsp:sp>
    <dsp:sp modelId="{F7D5ADE1-8FFD-094C-8B14-AA579BAC5DDF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561250" y="305256"/>
              </a:moveTo>
              <a:arcTo wR="1616036" hR="1616036" stAng="18347740" swAng="364862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4DC49A-4A6D-9B43-8DF3-1A26224B2C6F}">
      <dsp:nvSpPr>
        <dsp:cNvPr id="0" name=""/>
        <dsp:cNvSpPr/>
      </dsp:nvSpPr>
      <dsp:spPr>
        <a:xfrm>
          <a:off x="3515864" y="2425427"/>
          <a:ext cx="1863328" cy="12111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Human Pharmacist Queue</a:t>
          </a:r>
        </a:p>
      </dsp:txBody>
      <dsp:txXfrm>
        <a:off x="3574988" y="2484551"/>
        <a:ext cx="1745080" cy="1092915"/>
      </dsp:txXfrm>
    </dsp:sp>
    <dsp:sp modelId="{5A9EBD6A-A5F4-4148-AC31-57E8AA6A5D0C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385440" y="3037160"/>
              </a:moveTo>
              <a:arcTo wR="1616036" hR="1616036" stAng="3694120" swAng="341176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4EAE5F-708D-B24B-861F-C354C8880070}">
      <dsp:nvSpPr>
        <dsp:cNvPr id="0" name=""/>
        <dsp:cNvSpPr/>
      </dsp:nvSpPr>
      <dsp:spPr>
        <a:xfrm>
          <a:off x="716807" y="2425427"/>
          <a:ext cx="1863328" cy="12111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Record Keeping</a:t>
          </a:r>
        </a:p>
      </dsp:txBody>
      <dsp:txXfrm>
        <a:off x="775931" y="2484551"/>
        <a:ext cx="1745080" cy="1092915"/>
      </dsp:txXfrm>
    </dsp:sp>
    <dsp:sp modelId="{DD1CC927-CE69-3844-9288-99160CAA1D06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10729" y="1801950"/>
              </a:moveTo>
              <a:arcTo wR="1616036" hR="1616036" stAng="10403635" swAng="364862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Pharmacy Agent: Transforming Pharmacy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Aspirational State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Pharmacy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 system assisting pharmacy operations — handling patient queries, refills, insurance checks, and basic counseling.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Types of AI Pharmacy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AI Pharmacy Agent: Patient-facing interactions</a:t>
            </a:r>
          </a:p>
          <a:p>
            <a:r>
              <a:t>- AI Pharmacist Assistant: Internal pharmacist support</a:t>
            </a:r>
          </a:p>
          <a:p>
            <a:r>
              <a:t>- AI Prior Authorization Agent: Insurance paperwork automation</a:t>
            </a:r>
          </a:p>
          <a:p>
            <a:r>
              <a:t>- AI Patient Engagement Agent: Patient follow-up</a:t>
            </a:r>
          </a:p>
          <a:p>
            <a:r>
              <a:t>- AI Intake Agent: Processing prescriptions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Prescription refill handling</a:t>
            </a:r>
          </a:p>
          <a:p>
            <a:r>
              <a:t>- Medication counseling (FAQs)</a:t>
            </a:r>
          </a:p>
          <a:p>
            <a:r>
              <a:t>- Side-effect triage</a:t>
            </a:r>
          </a:p>
          <a:p>
            <a:r>
              <a:t>- Insurance eligibility checking</a:t>
            </a:r>
          </a:p>
          <a:p>
            <a:r>
              <a:t>- Prior authorization management</a:t>
            </a:r>
          </a:p>
          <a:p>
            <a:r>
              <a:t>- Patient education and reminders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Human-in-the-loop systems</a:t>
            </a:r>
          </a:p>
          <a:p>
            <a:r>
              <a:t>- Audit trails for all interactions</a:t>
            </a:r>
          </a:p>
          <a:p>
            <a:r>
              <a:t>- Strict HIPAA compliance (PHI protection)</a:t>
            </a:r>
          </a:p>
          <a:p>
            <a:r>
              <a:t>- FDA guidelines for therapy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Communication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5206" y="1600200"/>
            <a:ext cx="3541594" cy="243953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Tools: NLP, API Integrations (EHR, PBM Systems), Audit Logs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2C1CAC3-4064-FD19-2D57-BA0627A0FB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453401"/>
              </p:ext>
            </p:extLst>
          </p:nvPr>
        </p:nvGraphicFramePr>
        <p:xfrm>
          <a:off x="186519" y="219029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Amazon Pharmacy: Speeding up service using AI</a:t>
            </a:r>
          </a:p>
          <a:p>
            <a:r>
              <a:t>- Truepill: AI-driven prescription intake</a:t>
            </a:r>
          </a:p>
          <a:p>
            <a:r>
              <a:t>- Memora Health: Medication follow-up via AI</a:t>
            </a:r>
          </a:p>
          <a:p>
            <a:r>
              <a:t>- CVS Health: AI call centers for pharmacy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Patient Engagement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Patient Follow-up with AI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an AI Patient Engagement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Patient Engagement Agents use natural language processing and automation to handle follow-up tasks such as:</a:t>
            </a:r>
          </a:p>
          <a:p>
            <a:r>
              <a:t>- Reminders for medication and appointments</a:t>
            </a:r>
          </a:p>
          <a:p>
            <a:r>
              <a:t>- Wellness checks</a:t>
            </a:r>
          </a:p>
          <a:p>
            <a:r>
              <a:t>- Side-effect monitoring</a:t>
            </a:r>
          </a:p>
          <a:p>
            <a:r>
              <a:t>- Collecting patient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Patient Interaction Initiated</a:t>
            </a:r>
          </a:p>
          <a:p>
            <a:r>
              <a:t>2. AI Processes Patient Data</a:t>
            </a:r>
          </a:p>
          <a:p>
            <a:r>
              <a:t>3. Personalized Messages Sent</a:t>
            </a:r>
          </a:p>
          <a:p>
            <a:r>
              <a:t>4. Alerts Triggered for Human Review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Improved medication adherence</a:t>
            </a:r>
          </a:p>
          <a:p>
            <a:r>
              <a:t>- Early detection of side effects</a:t>
            </a:r>
          </a:p>
          <a:p>
            <a:r>
              <a:t>- Reduced burden on healthcare staff</a:t>
            </a:r>
          </a:p>
          <a:p>
            <a:r>
              <a:t>- Enhanced patient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2B26-C6D9-6D19-A9F8-A3909626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4B97-E2BD-B7F4-67AA-78939289B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Patient Follow-up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79C70-6C1E-B0AF-01B0-FCAAB8803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Technical roadmap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1156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F0257-3827-7A71-6141-104E0CBB8423}"/>
              </a:ext>
            </a:extLst>
          </p:cNvPr>
          <p:cNvSpPr txBox="1"/>
          <p:nvPr/>
        </p:nvSpPr>
        <p:spPr>
          <a:xfrm>
            <a:off x="287866" y="392206"/>
            <a:ext cx="457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Implementing AI for Patient Engagement</a:t>
            </a:r>
          </a:p>
          <a:p>
            <a:r>
              <a:rPr lang="en-US" dirty="0"/>
              <a:t>Models, Tools, Integration Strategies, and </a:t>
            </a:r>
            <a:r>
              <a:rPr lang="en-US" dirty="0" err="1"/>
              <a:t>GenAIOps</a:t>
            </a: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Why AI Patient Engagement?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patient follow-up and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 reminders, feedback collection, triage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operational efficiency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High-Level Implementation Approach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Strategy and Use Case Definition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Collection and 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Selection (NLP/ML/DL)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 and System Integrations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Deployment, Testing, and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GenAIOps</a:t>
            </a:r>
            <a:r>
              <a:rPr lang="en-US" dirty="0"/>
              <a:t> (Governance and Lifecycle Management)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89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EE7F5-4FFC-9061-CD54-A2FB93F31D31}"/>
              </a:ext>
            </a:extLst>
          </p:cNvPr>
          <p:cNvSpPr txBox="1"/>
          <p:nvPr/>
        </p:nvSpPr>
        <p:spPr>
          <a:xfrm>
            <a:off x="355600" y="448733"/>
            <a:ext cx="6502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Core AI Models for Patient Engagement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NLP Models: Chatbots, virtual agents (e.g., OpenAI, Cohere, Google </a:t>
            </a:r>
            <a:r>
              <a:rPr lang="en-US" dirty="0" err="1"/>
              <a:t>Dialogflow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Sentiment Analysis Models: Classify patient emotions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Summarization Models: Shorten patient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AI Models: Speech-to-text for phone follow-ups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Predictive Models: Predict no-shows, medication non-compliance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AI Tools and Frameworks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Training: TensorFlow, </a:t>
            </a:r>
            <a:r>
              <a:rPr lang="en-US" dirty="0" err="1"/>
              <a:t>PyTorch</a:t>
            </a:r>
            <a:r>
              <a:rPr lang="en-US" dirty="0"/>
              <a:t>, Hugging 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Pre-built AI Services: Azure Health Bot, Google Healthcare API, AWS Comprehend Medical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APIs: Twilio, WhatsApp Business API, email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MLOps</a:t>
            </a:r>
            <a:r>
              <a:rPr lang="en-US" dirty="0"/>
              <a:t> Platforms: </a:t>
            </a:r>
            <a:r>
              <a:rPr lang="en-US" dirty="0" err="1"/>
              <a:t>MLflow</a:t>
            </a:r>
            <a:r>
              <a:rPr lang="en-US" dirty="0"/>
              <a:t>, Vertex AI, </a:t>
            </a:r>
            <a:r>
              <a:rPr lang="en-US" dirty="0" err="1"/>
              <a:t>SageMaker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51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3EFA9-548B-194F-DB20-17900E8C99B7}"/>
              </a:ext>
            </a:extLst>
          </p:cNvPr>
          <p:cNvSpPr txBox="1"/>
          <p:nvPr/>
        </p:nvSpPr>
        <p:spPr>
          <a:xfrm>
            <a:off x="855133" y="414867"/>
            <a:ext cx="79123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API Integration Strategies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RESTful APIs to EHR Systems (FHIR standard)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 Gateway for scaling (e.g., AWS API Gateway)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Authentication: OAuth2, JWT, HIPAA-compliant security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Event-Driven Architecture: Webhooks for appointment reminders, health alerts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Data Requirements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Structured Data: EHR, medication history, appointment schedules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Unstructured Data: Patient emails, chat transcripts, call recordings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Consent and Privacy: Explicit patient consent, PHI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Labeling: Annotate for model training (intent, sentiment, urgency)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BF2B9-E423-5101-44B2-5700BC4582A9}"/>
              </a:ext>
            </a:extLst>
          </p:cNvPr>
          <p:cNvSpPr txBox="1"/>
          <p:nvPr/>
        </p:nvSpPr>
        <p:spPr>
          <a:xfrm>
            <a:off x="855132" y="3995678"/>
            <a:ext cx="80333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Specific API Integration Examples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 Messaging: Twilio Conversations API, WhatsApp Business API, SendGrid Email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EHR Data: SMART on FHIR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Insurance &amp; Benefits: Availity APIs, Change Healthcare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Bot Integration: Amazon Lex, Google </a:t>
            </a:r>
            <a:r>
              <a:rPr lang="en-US" dirty="0" err="1"/>
              <a:t>Dialogflow</a:t>
            </a:r>
            <a:r>
              <a:rPr lang="en-US" dirty="0"/>
              <a:t> CX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Appointment Scheduling: Calendly API, </a:t>
            </a:r>
            <a:r>
              <a:rPr lang="en-US" dirty="0" err="1"/>
              <a:t>Zocdoc</a:t>
            </a:r>
            <a:r>
              <a:rPr lang="en-US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951244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F4D9C9-1A3F-2F65-13D2-AADF1FB7AF7C}"/>
              </a:ext>
            </a:extLst>
          </p:cNvPr>
          <p:cNvSpPr txBox="1"/>
          <p:nvPr/>
        </p:nvSpPr>
        <p:spPr>
          <a:xfrm>
            <a:off x="750626" y="590815"/>
            <a:ext cx="79157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Quality Assurance and Testing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Evaluation Metrics: Precision, Recall, F1 Score, ROC 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Testing: A/B testing messages, patient surveys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Failover Plans: Escalate to human if AI confidence &lt; threshold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 Learning: Model retraining with feedback loop</a:t>
            </a:r>
          </a:p>
        </p:txBody>
      </p:sp>
    </p:spTree>
    <p:extLst>
      <p:ext uri="{BB962C8B-B14F-4D97-AF65-F5344CB8AC3E}">
        <p14:creationId xmlns:p14="http://schemas.microsoft.com/office/powerpoint/2010/main" val="1170356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046B8-5590-9931-90B9-8AF4F3B0A3C6}"/>
              </a:ext>
            </a:extLst>
          </p:cNvPr>
          <p:cNvSpPr txBox="1"/>
          <p:nvPr/>
        </p:nvSpPr>
        <p:spPr>
          <a:xfrm>
            <a:off x="400920" y="523222"/>
            <a:ext cx="80034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GenAIOps</a:t>
            </a:r>
            <a:r>
              <a:rPr lang="en-US" b="1" dirty="0"/>
              <a:t> for Patient Engagement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 Monitoring: Drift detection, accuracy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Versioning: Dataset, model, API versions tracked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Compliance Checks: HIPAA, GDPR audits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Auto-Rollback: Fail-safe if models underperform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Observability: Logging, tracing AI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Drift Detection using tools like Evidently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Store Management with tools like Feast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Explainability with SHAP, LIME for model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Retraining based on performance thresholds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88A6C-0D09-9E14-2093-21FBD584CD94}"/>
              </a:ext>
            </a:extLst>
          </p:cNvPr>
          <p:cNvSpPr txBox="1"/>
          <p:nvPr/>
        </p:nvSpPr>
        <p:spPr>
          <a:xfrm>
            <a:off x="2481284" y="3966746"/>
            <a:ext cx="57073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ML/DL Model Recommendations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BERT/</a:t>
            </a:r>
            <a:r>
              <a:rPr lang="en-US" dirty="0" err="1"/>
              <a:t>DistilBERT</a:t>
            </a:r>
            <a:r>
              <a:rPr lang="en-US" dirty="0"/>
              <a:t> for patient text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T5 or GPT fine-tuning for conversational 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BiLSTM</a:t>
            </a:r>
            <a:r>
              <a:rPr lang="en-US" dirty="0"/>
              <a:t> + Attention models for sequence prediction (e.g., medication compliance)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Audio Models like Whisper for call transcription</a:t>
            </a:r>
          </a:p>
        </p:txBody>
      </p:sp>
    </p:spTree>
    <p:extLst>
      <p:ext uri="{BB962C8B-B14F-4D97-AF65-F5344CB8AC3E}">
        <p14:creationId xmlns:p14="http://schemas.microsoft.com/office/powerpoint/2010/main" val="208769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D311C-1BF8-ABAB-966B-95CD1E8D3460}"/>
              </a:ext>
            </a:extLst>
          </p:cNvPr>
          <p:cNvSpPr txBox="1"/>
          <p:nvPr/>
        </p:nvSpPr>
        <p:spPr>
          <a:xfrm>
            <a:off x="327546" y="1228397"/>
            <a:ext cx="82705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Architecture 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b="1" dirty="0"/>
              <a:t>Patient Devices (Mobile, Web, Phone Call)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Engagement Engine (NLP Bot + Voice Bot)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Healthcare API Gateway (FHIR, HL7)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Services:</a:t>
            </a:r>
            <a:r>
              <a:rPr lang="en-US" dirty="0"/>
              <a:t> Patient Profile Manager, Follow-up Scheduler, Alert/Notification Service, Feedback Analyzer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EHR/EMR Systems (Epic, Cerner)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MLOps</a:t>
            </a:r>
            <a:r>
              <a:rPr lang="en-US" b="1" dirty="0"/>
              <a:t>/</a:t>
            </a:r>
            <a:r>
              <a:rPr lang="en-US" b="1" dirty="0" err="1"/>
              <a:t>GenAIOps</a:t>
            </a:r>
            <a:r>
              <a:rPr lang="en-US" b="1" dirty="0"/>
              <a:t> Platform:</a:t>
            </a:r>
            <a:r>
              <a:rPr lang="en-US" dirty="0"/>
              <a:t> Model Registry, Drift Detector, Auto-Retraining Pipelines, XAI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Security Layer:</a:t>
            </a:r>
            <a:r>
              <a:rPr lang="en-US" dirty="0"/>
              <a:t> OAuth2, HIPAA-compliant logging, PHI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Monitoring and Observability:</a:t>
            </a:r>
            <a:r>
              <a:rPr lang="en-US" dirty="0"/>
              <a:t> Datadog, Prometheus, </a:t>
            </a:r>
            <a:r>
              <a:rPr lang="en-US" dirty="0" err="1"/>
              <a:t>OpenTelemetry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Flow:</a:t>
            </a:r>
            <a:r>
              <a:rPr lang="en-US" dirty="0"/>
              <a:t> Patient interaction triggers AI responses, API data pulls from EHR, AI action, monitoring, and feedback loop</a:t>
            </a:r>
          </a:p>
        </p:txBody>
      </p:sp>
    </p:spTree>
    <p:extLst>
      <p:ext uri="{BB962C8B-B14F-4D97-AF65-F5344CB8AC3E}">
        <p14:creationId xmlns:p14="http://schemas.microsoft.com/office/powerpoint/2010/main" val="2762170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AA5C8C-C046-B3A6-6E7E-408764A5678F}"/>
              </a:ext>
            </a:extLst>
          </p:cNvPr>
          <p:cNvSpPr txBox="1"/>
          <p:nvPr/>
        </p:nvSpPr>
        <p:spPr>
          <a:xfrm>
            <a:off x="723331" y="339258"/>
            <a:ext cx="613466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Patient Devices (Mobile, Web, Phone Call)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Engagement Engine (NLP Bot + Voice Bot)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Healthcare API Gateway (FHIR + HL7)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Services: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Patient Profile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Follow-up Scheduler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Alert/Notification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Feedback Analyzer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EHR/EMR Systems (Epic, Cerner, </a:t>
            </a:r>
            <a:r>
              <a:rPr lang="en-US" b="1" dirty="0" err="1"/>
              <a:t>AthenaHealth</a:t>
            </a:r>
            <a:r>
              <a:rPr lang="en-US" b="1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MLOps</a:t>
            </a:r>
            <a:r>
              <a:rPr lang="en-US" b="1" dirty="0"/>
              <a:t>/</a:t>
            </a:r>
            <a:r>
              <a:rPr lang="en-US" b="1" dirty="0" err="1"/>
              <a:t>GenAIOps</a:t>
            </a:r>
            <a:r>
              <a:rPr lang="en-US" b="1" dirty="0"/>
              <a:t> Platform: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Registry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Drift Detector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Auto-Retraining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XAI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Security Layer: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OAuth2, JWT-Auth HIPAA-compliant logging, PHI 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Monitoring and Observability: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Datadog, Prometheus, </a:t>
            </a:r>
            <a:r>
              <a:rPr lang="en-US" dirty="0" err="1"/>
              <a:t>OpenTelemetry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418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FEFC6A-D6F2-614D-3B30-6753EB4743C1}"/>
              </a:ext>
            </a:extLst>
          </p:cNvPr>
          <p:cNvSpPr txBox="1"/>
          <p:nvPr/>
        </p:nvSpPr>
        <p:spPr>
          <a:xfrm>
            <a:off x="2286000" y="227825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Flow: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Patient message triggers the AI agent.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AI Agent queries patient data via FHIR APIs.</a:t>
            </a:r>
          </a:p>
          <a:p>
            <a:pPr>
              <a:buFont typeface="+mj-lt"/>
              <a:buAutoNum type="arabicPeriod"/>
            </a:pPr>
            <a:r>
              <a:rPr lang="en-US" dirty="0"/>
              <a:t>AI Engine processes interaction using NLP models.</a:t>
            </a:r>
          </a:p>
          <a:p>
            <a:pPr>
              <a:buFont typeface="+mj-lt"/>
              <a:buAutoNum type="arabicPeriod"/>
            </a:pPr>
            <a:r>
              <a:rPr lang="en-US" dirty="0"/>
              <a:t>Actions are triggered (e.g., send reminder, escalate if concerning symptoms are detected).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Responses are logged for auditability.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7E995-4100-AE1E-6A99-8D4881D0A486}"/>
              </a:ext>
            </a:extLst>
          </p:cNvPr>
          <p:cNvSpPr txBox="1"/>
          <p:nvPr/>
        </p:nvSpPr>
        <p:spPr>
          <a:xfrm>
            <a:off x="491319" y="395785"/>
            <a:ext cx="4462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2176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D625D0A6-A802-9C9A-05F1-7406D4E13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43" y="0"/>
            <a:ext cx="78474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97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51C14-6A00-0E15-8D63-C3DE3DDD5D7B}"/>
              </a:ext>
            </a:extLst>
          </p:cNvPr>
          <p:cNvSpPr txBox="1"/>
          <p:nvPr/>
        </p:nvSpPr>
        <p:spPr>
          <a:xfrm>
            <a:off x="150126" y="120402"/>
            <a:ext cx="8993874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Deeper Dive into </a:t>
            </a:r>
            <a:r>
              <a:rPr lang="en-US" sz="1600" b="1" dirty="0" err="1"/>
              <a:t>GenAIOps</a:t>
            </a:r>
            <a:r>
              <a:rPr lang="en-US" sz="1600" b="1" dirty="0"/>
              <a:t> for Patient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Model Drift Monitoring:</a:t>
            </a:r>
            <a:br>
              <a:rPr lang="en-US" sz="1600" dirty="0"/>
            </a:br>
            <a:r>
              <a:rPr lang="en-US" sz="1600" dirty="0"/>
              <a:t>Set up regular validation of deployed models (monthly or even weekly) against a holdout patient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Data Drift Detection:</a:t>
            </a:r>
            <a:br>
              <a:rPr lang="en-US" sz="1600" dirty="0"/>
            </a:br>
            <a:r>
              <a:rPr lang="en-US" sz="1600" dirty="0"/>
              <a:t>Monitor changes in incoming patient data patterns (e.g., new symptoms appearing more often) using tools like Evidently AI or AWS </a:t>
            </a:r>
            <a:r>
              <a:rPr lang="en-US" sz="1600" dirty="0" err="1"/>
              <a:t>SageMaker</a:t>
            </a:r>
            <a:r>
              <a:rPr lang="en-US" sz="1600" dirty="0"/>
              <a:t> Clarify.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Feature Store Management:</a:t>
            </a:r>
            <a:br>
              <a:rPr lang="en-US" sz="1600" dirty="0"/>
            </a:br>
            <a:r>
              <a:rPr lang="en-US" sz="1600" dirty="0"/>
              <a:t>Centralize features like patient engagement score, medication compliance index, etc., using a Feature Store (e.g., Feast).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Security and Access Management:</a:t>
            </a:r>
            <a:br>
              <a:rPr lang="en-US" sz="1600" dirty="0"/>
            </a:br>
            <a:r>
              <a:rPr lang="en-US" sz="1600" dirty="0"/>
              <a:t>Role-based access control (RBAC) for models and patient data with audit logging.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Automated Model Retraining:</a:t>
            </a:r>
            <a:br>
              <a:rPr lang="en-US" sz="1600" dirty="0"/>
            </a:br>
            <a:r>
              <a:rPr lang="en-US" sz="1600" dirty="0"/>
              <a:t>Trigger retraining workflows (CI/CD pipelines) when model performance drops below SLA thresholds.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Explainability (XAI):</a:t>
            </a:r>
            <a:br>
              <a:rPr lang="en-US" sz="1600" dirty="0"/>
            </a:br>
            <a:r>
              <a:rPr lang="en-US" sz="1600" dirty="0"/>
              <a:t>Use SHAP, LIME to explain AI decisions for audit and compliance purposes.</a:t>
            </a:r>
          </a:p>
          <a:p>
            <a:pPr>
              <a:buNone/>
            </a:pPr>
            <a:r>
              <a:rPr lang="en-US" sz="1600" b="1" dirty="0"/>
              <a:t>Slide: Specific API Integration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Patient Messaging:</a:t>
            </a:r>
            <a:br>
              <a:rPr lang="en-US" sz="1600" dirty="0"/>
            </a:br>
            <a:r>
              <a:rPr lang="en-US" sz="1600" dirty="0"/>
              <a:t>Twilio Conversations API, WhatsApp Business API, SendGrid Email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EHR Data:</a:t>
            </a:r>
            <a:br>
              <a:rPr lang="en-US" sz="1600" dirty="0"/>
            </a:br>
            <a:r>
              <a:rPr lang="en-US" sz="1600" dirty="0"/>
              <a:t>Use SMART on FHIR APIs to pull patient medical history and appointment schedules.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Insurance &amp; Benefits:</a:t>
            </a:r>
            <a:br>
              <a:rPr lang="en-US" sz="1600" dirty="0"/>
            </a:br>
            <a:r>
              <a:rPr lang="en-US" sz="1600" dirty="0"/>
              <a:t>Eligibility checks via Availity APIs or Change Healthcare APIs.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Voice Bot Integration:</a:t>
            </a:r>
            <a:br>
              <a:rPr lang="en-US" sz="1600" dirty="0"/>
            </a:br>
            <a:r>
              <a:rPr lang="en-US" sz="1600" dirty="0"/>
              <a:t>Amazon Lex, Google </a:t>
            </a:r>
            <a:r>
              <a:rPr lang="en-US" sz="1600" dirty="0" err="1"/>
              <a:t>Dialogflow</a:t>
            </a:r>
            <a:r>
              <a:rPr lang="en-US" sz="1600" dirty="0"/>
              <a:t> CX for voice-based follow-up calls.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Appointment Scheduling:</a:t>
            </a:r>
            <a:br>
              <a:rPr lang="en-US" sz="1600" dirty="0"/>
            </a:br>
            <a:r>
              <a:rPr lang="en-US" sz="1600" dirty="0"/>
              <a:t>Calendly API, </a:t>
            </a:r>
            <a:r>
              <a:rPr lang="en-US" sz="1600" dirty="0" err="1"/>
              <a:t>Zocdoc</a:t>
            </a:r>
            <a:r>
              <a:rPr lang="en-US" sz="1600" dirty="0"/>
              <a:t> API integration into follow-up workflows.</a:t>
            </a:r>
          </a:p>
        </p:txBody>
      </p:sp>
    </p:spTree>
    <p:extLst>
      <p:ext uri="{BB962C8B-B14F-4D97-AF65-F5344CB8AC3E}">
        <p14:creationId xmlns:p14="http://schemas.microsoft.com/office/powerpoint/2010/main" val="601680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1265</Words>
  <Application>Microsoft Macintosh PowerPoint</Application>
  <PresentationFormat>On-screen Show (4:3)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AI Pharmacy Agent: Transforming Pharmacy Operations</vt:lpstr>
      <vt:lpstr>What is an AI Pharmacy Agent?</vt:lpstr>
      <vt:lpstr>Key Types of AI Pharmacy Roles</vt:lpstr>
      <vt:lpstr>Typical Functions</vt:lpstr>
      <vt:lpstr>Compliance and Safety</vt:lpstr>
      <vt:lpstr>Patient Communication</vt:lpstr>
      <vt:lpstr>Real-World Examples</vt:lpstr>
      <vt:lpstr>AI Patient Engagement Agent</vt:lpstr>
      <vt:lpstr>What is an AI Patient Engagement Agent?</vt:lpstr>
      <vt:lpstr>How It Works</vt:lpstr>
      <vt:lpstr>Real-World Benefits</vt:lpstr>
      <vt:lpstr>Patient Follow-up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 baswa</cp:lastModifiedBy>
  <cp:revision>6</cp:revision>
  <dcterms:created xsi:type="dcterms:W3CDTF">2013-01-27T09:14:16Z</dcterms:created>
  <dcterms:modified xsi:type="dcterms:W3CDTF">2025-04-29T20:55:55Z</dcterms:modified>
  <cp:category/>
</cp:coreProperties>
</file>