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6" r:id="rId4"/>
  </p:sldMasterIdLst>
  <p:notesMasterIdLst>
    <p:notesMasterId r:id="rId18"/>
  </p:notesMasterIdLst>
  <p:handoutMasterIdLst>
    <p:handoutMasterId r:id="rId19"/>
  </p:handoutMasterIdLst>
  <p:sldIdLst>
    <p:sldId id="256" r:id="rId5"/>
    <p:sldId id="257" r:id="rId6"/>
    <p:sldId id="258" r:id="rId7"/>
    <p:sldId id="265" r:id="rId8"/>
    <p:sldId id="266" r:id="rId9"/>
    <p:sldId id="267" r:id="rId10"/>
    <p:sldId id="268" r:id="rId11"/>
    <p:sldId id="259" r:id="rId12"/>
    <p:sldId id="260" r:id="rId13"/>
    <p:sldId id="262" r:id="rId14"/>
    <p:sldId id="261" r:id="rId15"/>
    <p:sldId id="263"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9EC592-2BDB-BA42-95CC-956488D1D17D}" v="97" dt="2025-04-25T03:40:17.237"/>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25" autoAdjust="0"/>
    <p:restoredTop sz="84967" autoAdjust="0"/>
  </p:normalViewPr>
  <p:slideViewPr>
    <p:cSldViewPr snapToGrid="0">
      <p:cViewPr varScale="1">
        <p:scale>
          <a:sx n="120" d="100"/>
          <a:sy n="120" d="100"/>
        </p:scale>
        <p:origin x="192" y="264"/>
      </p:cViewPr>
      <p:guideLst>
        <p:guide orient="horz" pos="1392"/>
        <p:guide pos="7056"/>
        <p:guide orient="horz" pos="3168"/>
      </p:guideLst>
    </p:cSldViewPr>
  </p:slideViewPr>
  <p:outlineViewPr>
    <p:cViewPr>
      <p:scale>
        <a:sx n="33" d="100"/>
        <a:sy n="33" d="100"/>
      </p:scale>
      <p:origin x="0" y="-1103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E99E25-5B65-D93A-3010-8B947D67E6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AEB28A-33CC-6CF5-1214-F2C3205F67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88634-FBA9-41D6-8B35-EE3A7D816B7C}" type="datetimeFigureOut">
              <a:rPr lang="en-US" smtClean="0"/>
              <a:t>4/25/25</a:t>
            </a:fld>
            <a:endParaRPr lang="en-US" dirty="0"/>
          </a:p>
        </p:txBody>
      </p:sp>
      <p:sp>
        <p:nvSpPr>
          <p:cNvPr id="4" name="Footer Placeholder 3">
            <a:extLst>
              <a:ext uri="{FF2B5EF4-FFF2-40B4-BE49-F238E27FC236}">
                <a16:creationId xmlns:a16="http://schemas.microsoft.com/office/drawing/2014/main" id="{43D63414-6160-FF79-B3F6-CD615625C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83E93F-BDEC-C5F7-2553-8324882C41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7C78D2-97D1-4B37-BDD1-08A09BD4CA99}" type="slidenum">
              <a:rPr lang="en-US" smtClean="0"/>
              <a:t>‹#›</a:t>
            </a:fld>
            <a:endParaRPr lang="en-US" dirty="0"/>
          </a:p>
        </p:txBody>
      </p:sp>
    </p:spTree>
    <p:extLst>
      <p:ext uri="{BB962C8B-B14F-4D97-AF65-F5344CB8AC3E}">
        <p14:creationId xmlns:p14="http://schemas.microsoft.com/office/powerpoint/2010/main" val="2369135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8068-AFBD-4979-B752-9EB6F90B1386}" type="datetimeFigureOut">
              <a:rPr lang="en-US" smtClean="0"/>
              <a:t>4/25/25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39589-3E79-4C82-AA4A-FE78234FAA59}" type="slidenum">
              <a:rPr lang="en-US" smtClean="0"/>
              <a:t>‹#›</a:t>
            </a:fld>
            <a:endParaRPr lang="en-US" dirty="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Slid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57809"/>
            <a:ext cx="7983110" cy="3080335"/>
          </a:xfrm>
        </p:spPr>
        <p:txBody>
          <a:bodyPr lIns="0" tIns="0" rIns="0" bIns="0" anchor="b"/>
          <a:lstStyle>
            <a:lvl1pPr algn="l">
              <a:lnSpc>
                <a:spcPts val="5400"/>
              </a:lnSpc>
              <a:defRPr sz="5400" b="1" i="0" cap="all" spc="0" baseline="0">
                <a:solidFill>
                  <a:schemeClr val="bg1"/>
                </a:solidFill>
              </a:defRPr>
            </a:lvl1pPr>
          </a:lstStyle>
          <a:p>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8161510" y="2744546"/>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13790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ima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116544" y="614202"/>
            <a:ext cx="5918072" cy="2276856"/>
          </a:xfrm>
        </p:spPr>
        <p:txBody>
          <a:bodyPr lIns="0" tIns="0" rIns="0" bIns="0" anchor="b"/>
          <a:lstStyle>
            <a:lvl1pPr algn="r">
              <a:lnSpc>
                <a:spcPts val="4000"/>
              </a:lnSpc>
              <a:defRPr sz="4000" b="1" cap="all" spc="0" baseline="0">
                <a:solidFill>
                  <a:schemeClr val="bg1"/>
                </a:solidFill>
              </a:defRPr>
            </a:lvl1pPr>
          </a:lstStyle>
          <a:p>
            <a:r>
              <a:rPr lang="en-US" dirty="0"/>
              <a:t>Click to add title</a:t>
            </a:r>
          </a:p>
        </p:txBody>
      </p:sp>
      <p:sp>
        <p:nvSpPr>
          <p:cNvPr id="8" name="Slide Number Placeholder 7">
            <a:extLst>
              <a:ext uri="{FF2B5EF4-FFF2-40B4-BE49-F238E27FC236}">
                <a16:creationId xmlns:a16="http://schemas.microsoft.com/office/drawing/2014/main" id="{1C738AB3-8054-6E21-C34C-36AF3A31AC4E}"/>
              </a:ext>
            </a:extLst>
          </p:cNvPr>
          <p:cNvSpPr>
            <a:spLocks noGrp="1"/>
          </p:cNvSpPr>
          <p:nvPr>
            <p:ph type="sldNum" sz="quarter" idx="20"/>
          </p:nvPr>
        </p:nvSpPr>
        <p:spPr/>
        <p:txBody>
          <a:bodyPr/>
          <a:lstStyle>
            <a:lvl1pPr>
              <a:defRPr>
                <a:solidFill>
                  <a:schemeClr val="bg1"/>
                </a:solidFill>
              </a:defRPr>
            </a:lvl1pPr>
          </a:lstStyle>
          <a:p>
            <a:fld id="{D8DA9DAA-006C-4F4B-980E-E3DF019B24E2}" type="slidenum">
              <a:rPr lang="en-US" smtClean="0"/>
              <a:pPr/>
              <a:t>‹#›</a:t>
            </a:fld>
            <a:endParaRPr lang="en-US" dirty="0"/>
          </a:p>
        </p:txBody>
      </p:sp>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hasCustomPrompt="1"/>
          </p:nvPr>
        </p:nvSpPr>
        <p:spPr>
          <a:xfrm>
            <a:off x="1280160"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tIns="914400" anchor="t">
            <a:noAutofit/>
          </a:bodyPr>
          <a:lstStyle>
            <a:lvl1pPr algn="ctr">
              <a:buNone/>
              <a:defRPr sz="1600" b="1">
                <a:solidFill>
                  <a:schemeClr val="bg1"/>
                </a:solidFill>
              </a:defRPr>
            </a:lvl1pPr>
          </a:lstStyle>
          <a:p>
            <a:r>
              <a:rPr lang="en-US" dirty="0"/>
              <a:t>Click to add picture</a:t>
            </a:r>
          </a:p>
        </p:txBody>
      </p:sp>
      <p:sp>
        <p:nvSpPr>
          <p:cNvPr id="4" name="Text Placeholder 3">
            <a:extLst>
              <a:ext uri="{FF2B5EF4-FFF2-40B4-BE49-F238E27FC236}">
                <a16:creationId xmlns:a16="http://schemas.microsoft.com/office/drawing/2014/main" id="{94FD1B85-4BEF-C1C1-5619-B82E9E44A9F8}"/>
              </a:ext>
            </a:extLst>
          </p:cNvPr>
          <p:cNvSpPr>
            <a:spLocks noGrp="1"/>
          </p:cNvSpPr>
          <p:nvPr>
            <p:ph type="body" sz="quarter" idx="17"/>
          </p:nvPr>
        </p:nvSpPr>
        <p:spPr>
          <a:xfrm>
            <a:off x="5116548" y="3161752"/>
            <a:ext cx="5918068" cy="3144965"/>
          </a:xfrm>
        </p:spPr>
        <p:txBody>
          <a:bodyPr lIns="0" tIns="0" rIns="0" bIns="0">
            <a:normAutofit/>
          </a:bodyPr>
          <a:lstStyle>
            <a:lvl1pPr marL="0" indent="0" algn="r">
              <a:spcBef>
                <a:spcPts val="1200"/>
              </a:spcBef>
              <a:buNone/>
              <a:defRPr sz="2400">
                <a:solidFill>
                  <a:schemeClr val="bg1"/>
                </a:solidFill>
              </a:defRPr>
            </a:lvl1pPr>
            <a:lvl2pPr marL="457200" indent="0" algn="r">
              <a:spcBef>
                <a:spcPts val="1200"/>
              </a:spcBef>
              <a:buNone/>
              <a:defRPr sz="2400">
                <a:solidFill>
                  <a:schemeClr val="bg1"/>
                </a:solidFill>
              </a:defRPr>
            </a:lvl2pPr>
            <a:lvl3pPr marL="914400" indent="0" algn="r">
              <a:spcBef>
                <a:spcPts val="1200"/>
              </a:spcBef>
              <a:buNone/>
              <a:defRPr sz="2400">
                <a:solidFill>
                  <a:schemeClr val="bg1"/>
                </a:solidFill>
              </a:defRPr>
            </a:lvl3pPr>
            <a:lvl4pPr marL="1371600" indent="0" algn="r">
              <a:spcBef>
                <a:spcPts val="1200"/>
              </a:spcBef>
              <a:buNone/>
              <a:defRPr sz="2400">
                <a:solidFill>
                  <a:schemeClr val="bg1"/>
                </a:solidFill>
              </a:defRPr>
            </a:lvl4pPr>
            <a:lvl5pPr marL="1828800" indent="0" algn="r">
              <a:buNone/>
              <a:defRPr sz="18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14" name="Straight Connector 13">
            <a:extLst>
              <a:ext uri="{FF2B5EF4-FFF2-40B4-BE49-F238E27FC236}">
                <a16:creationId xmlns:a16="http://schemas.microsoft.com/office/drawing/2014/main" id="{13AE7F8D-AE68-4A83-BAB5-3A97D473CE3C}"/>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1" name="Graphic 12">
            <a:extLst>
              <a:ext uri="{FF2B5EF4-FFF2-40B4-BE49-F238E27FC236}">
                <a16:creationId xmlns:a16="http://schemas.microsoft.com/office/drawing/2014/main" id="{EA1B6985-3E5A-40F4-9268-D4AB3BBF8C91}"/>
              </a:ext>
              <a:ext uri="{C183D7F6-B498-43B3-948B-1728B52AA6E4}">
                <adec:decorative xmlns:adec="http://schemas.microsoft.com/office/drawing/2017/decorative" val="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3" name="Graphic 13">
            <a:extLst>
              <a:ext uri="{FF2B5EF4-FFF2-40B4-BE49-F238E27FC236}">
                <a16:creationId xmlns:a16="http://schemas.microsoft.com/office/drawing/2014/main" id="{338BC906-9D03-4280-85E8-21A81BC21D73}"/>
              </a:ext>
              <a:ext uri="{C183D7F6-B498-43B3-948B-1728B52AA6E4}">
                <adec:decorative xmlns:adec="http://schemas.microsoft.com/office/drawing/2017/decorative" val="1"/>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7" name="Graphic 15">
            <a:extLst>
              <a:ext uri="{FF2B5EF4-FFF2-40B4-BE49-F238E27FC236}">
                <a16:creationId xmlns:a16="http://schemas.microsoft.com/office/drawing/2014/main" id="{C5C06D53-C9F6-47E8-BFE1-B8193A1AED8B}"/>
              </a:ext>
              <a:ext uri="{C183D7F6-B498-43B3-948B-1728B52AA6E4}">
                <adec:decorative xmlns:adec="http://schemas.microsoft.com/office/drawing/2017/decorative" val="1"/>
              </a:ext>
            </a:extLst>
          </p:cNvPr>
          <p:cNvSpPr/>
          <p:nvPr userDrawn="1"/>
        </p:nvSpPr>
        <p:spPr>
          <a:xfrm>
            <a:off x="1652402"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7" name="Footer Placeholder 6">
            <a:extLst>
              <a:ext uri="{FF2B5EF4-FFF2-40B4-BE49-F238E27FC236}">
                <a16:creationId xmlns:a16="http://schemas.microsoft.com/office/drawing/2014/main" id="{CE9872E9-2F0D-2FEB-0974-F0BBBC5E0331}"/>
              </a:ext>
            </a:extLst>
          </p:cNvPr>
          <p:cNvSpPr>
            <a:spLocks noGrp="1"/>
          </p:cNvSpPr>
          <p:nvPr>
            <p:ph type="ftr" sz="quarter" idx="19"/>
          </p:nvPr>
        </p:nvSpPr>
        <p:spPr>
          <a:xfrm>
            <a:off x="7238999" y="6356350"/>
            <a:ext cx="3795615" cy="365125"/>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249076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386775"/>
            <a:ext cx="8311102" cy="3080335"/>
          </a:xfrm>
        </p:spPr>
        <p:txBody>
          <a:bodyPr lIns="0" tIns="274320" rIns="0" bIns="0" anchor="t" anchorCtr="0"/>
          <a:lstStyle>
            <a:lvl1pPr algn="l">
              <a:lnSpc>
                <a:spcPts val="5400"/>
              </a:lnSpc>
              <a:defRPr sz="5400" b="1" i="0" cap="all" spc="0" baseline="0">
                <a:solidFill>
                  <a:schemeClr val="bg1"/>
                </a:solidFill>
              </a:defRPr>
            </a:lvl1pPr>
          </a:lstStyle>
          <a:p>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0"/>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rot="19670435">
            <a:off x="7632743" y="794953"/>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3" name="Picture Placeholder 14">
            <a:extLst>
              <a:ext uri="{FF2B5EF4-FFF2-40B4-BE49-F238E27FC236}">
                <a16:creationId xmlns:a16="http://schemas.microsoft.com/office/drawing/2014/main" id="{01D87F51-D69B-9038-0566-4FDC355AB6F0}"/>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1951239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640080"/>
            <a:ext cx="10302240" cy="1852046"/>
          </a:xfrm>
        </p:spPr>
        <p:txBody>
          <a:bodyPr lIns="0" tIns="0" rIns="0" bIns="0" anchor="b"/>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588447"/>
            <a:ext cx="7853678" cy="726645"/>
          </a:xfrm>
        </p:spPr>
        <p:txBody>
          <a:bodyPr lIns="0" tIns="0" rIns="0" bIns="0" anchor="t"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flipH="1">
            <a:off x="7659974" y="445645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5" name="Picture Placeholder 14">
            <a:extLst>
              <a:ext uri="{FF2B5EF4-FFF2-40B4-BE49-F238E27FC236}">
                <a16:creationId xmlns:a16="http://schemas.microsoft.com/office/drawing/2014/main" id="{5DDB7824-50BA-B12F-AD49-CA8953CA3A0E}"/>
              </a:ext>
            </a:extLst>
          </p:cNvPr>
          <p:cNvSpPr>
            <a:spLocks noGrp="1"/>
          </p:cNvSpPr>
          <p:nvPr>
            <p:ph type="pic" sz="quarter" idx="13" hasCustomPrompt="1"/>
          </p:nvPr>
        </p:nvSpPr>
        <p:spPr>
          <a:xfrm>
            <a:off x="8536252"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652645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imag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4114800" y="640080"/>
            <a:ext cx="7498080" cy="1280160"/>
          </a:xfrm>
        </p:spPr>
        <p:txBody>
          <a:bodyPr lIns="0" tIns="0" rIns="0" bIns="0" anchor="b" anchorCtr="0"/>
          <a:lstStyle>
            <a:lvl1pPr>
              <a:defRPr sz="4000" b="1" cap="all" spc="0" baseline="0"/>
            </a:lvl1pPr>
          </a:lstStyle>
          <a:p>
            <a:r>
              <a:rPr lang="en-US" dirty="0"/>
              <a:t>Click to add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a:xfrm>
            <a:off x="484632" y="722376"/>
            <a:ext cx="520991" cy="517379"/>
          </a:xfrm>
        </p:spPr>
        <p:txBody>
          <a:bodyPr anchor="t" anchorCtr="0"/>
          <a:lstStyle>
            <a:lvl1pPr>
              <a:defRPr>
                <a:solidFill>
                  <a:schemeClr val="accent2"/>
                </a:solidFill>
              </a:defRPr>
            </a:lvl1pPr>
          </a:lstStyle>
          <a:p>
            <a:fld id="{D8DA9DAA-006C-4F4B-980E-E3DF019B24E2}" type="slidenum">
              <a:rPr lang="en-US" smtClean="0"/>
              <a:pPr/>
              <a:t>‹#›</a:t>
            </a:fld>
            <a:endParaRPr lang="en-US" dirty="0"/>
          </a:p>
        </p:txBody>
      </p:sp>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hasCustomPrompt="1"/>
          </p:nvPr>
        </p:nvSpPr>
        <p:spPr>
          <a:xfrm>
            <a:off x="1317615" y="895646"/>
            <a:ext cx="1956925" cy="195692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 anchor="t" anchorCtr="0">
            <a:noAutofit/>
          </a:bodyPr>
          <a:lstStyle>
            <a:lvl1pPr algn="ctr">
              <a:buNone/>
              <a:defRPr sz="1800"/>
            </a:lvl1pPr>
          </a:lstStyle>
          <a:p>
            <a:r>
              <a:rPr lang="en-US" dirty="0"/>
              <a:t>Click to add picture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4114800" y="2194560"/>
            <a:ext cx="7498080" cy="4023360"/>
          </a:xfrm>
        </p:spPr>
        <p:txBody>
          <a:bodyPr lIns="0" tIns="0" rIns="0" bIns="0">
            <a:noAutofit/>
          </a:bodyPr>
          <a:lstStyle>
            <a:lvl1pPr marL="0" indent="0">
              <a:lnSpc>
                <a:spcPct val="110000"/>
              </a:lnSpc>
              <a:buNone/>
              <a:defRPr sz="1800"/>
            </a:lvl1pPr>
            <a:lvl2pPr marL="228600">
              <a:defRPr sz="1600"/>
            </a:lvl2pPr>
            <a:lvl3pPr marL="457200">
              <a:defRPr sz="1400"/>
            </a:lvl3pPr>
            <a:lvl4pPr marL="685800">
              <a:defRPr sz="1200"/>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grpSp>
        <p:nvGrpSpPr>
          <p:cNvPr id="7" name="Group 6">
            <a:extLst>
              <a:ext uri="{FF2B5EF4-FFF2-40B4-BE49-F238E27FC236}">
                <a16:creationId xmlns:a16="http://schemas.microsoft.com/office/drawing/2014/main" id="{758B5E78-A531-681D-1312-F21B52D066B8}"/>
              </a:ext>
              <a:ext uri="{C183D7F6-B498-43B3-948B-1728B52AA6E4}">
                <adec:decorative xmlns:adec="http://schemas.microsoft.com/office/drawing/2017/decorative" val="1"/>
              </a:ext>
            </a:extLst>
          </p:cNvPr>
          <p:cNvGrpSpPr/>
          <p:nvPr userDrawn="1"/>
        </p:nvGrpSpPr>
        <p:grpSpPr>
          <a:xfrm>
            <a:off x="2970685" y="620661"/>
            <a:ext cx="403448" cy="381782"/>
            <a:chOff x="10969280" y="1780012"/>
            <a:chExt cx="403448" cy="381782"/>
          </a:xfrm>
        </p:grpSpPr>
        <p:sp>
          <p:nvSpPr>
            <p:cNvPr id="17" name="Graphic 10">
              <a:extLst>
                <a:ext uri="{FF2B5EF4-FFF2-40B4-BE49-F238E27FC236}">
                  <a16:creationId xmlns:a16="http://schemas.microsoft.com/office/drawing/2014/main" id="{AAD06B87-D9B2-4F94-B734-A8F039A2033F}"/>
                </a:ext>
                <a:ext uri="{C183D7F6-B498-43B3-948B-1728B52AA6E4}">
                  <adec:decorative xmlns:adec="http://schemas.microsoft.com/office/drawing/2017/decorative" val="1"/>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9" name="Graphic 11">
              <a:extLst>
                <a:ext uri="{FF2B5EF4-FFF2-40B4-BE49-F238E27FC236}">
                  <a16:creationId xmlns:a16="http://schemas.microsoft.com/office/drawing/2014/main" id="{BB13A13C-36EA-4B13-9175-C5FE95B34D33}"/>
                </a:ext>
                <a:ext uri="{C183D7F6-B498-43B3-948B-1728B52AA6E4}">
                  <adec:decorative xmlns:adec="http://schemas.microsoft.com/office/drawing/2017/decorative" val="1"/>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grpSp>
      <p:sp>
        <p:nvSpPr>
          <p:cNvPr id="4" name="Footer Placeholder 8">
            <a:extLst>
              <a:ext uri="{FF2B5EF4-FFF2-40B4-BE49-F238E27FC236}">
                <a16:creationId xmlns:a16="http://schemas.microsoft.com/office/drawing/2014/main" id="{5189CAD3-7011-6481-11F8-05B5CB106F01}"/>
              </a:ext>
            </a:extLst>
          </p:cNvPr>
          <p:cNvSpPr>
            <a:spLocks noGrp="1"/>
          </p:cNvSpPr>
          <p:nvPr>
            <p:ph type="ftr" sz="quarter" idx="17"/>
          </p:nvPr>
        </p:nvSpPr>
        <p:spPr>
          <a:xfrm>
            <a:off x="1280160" y="6356350"/>
            <a:ext cx="4114800" cy="365125"/>
          </a:xfrm>
        </p:spPr>
        <p:txBody>
          <a:bodyPr lIns="0" rIns="91440"/>
          <a:lstStyle>
            <a:lvl1pPr algn="l">
              <a:defRPr/>
            </a:lvl1pPr>
          </a:lstStyle>
          <a:p>
            <a:endParaRPr lang="en-US" dirty="0"/>
          </a:p>
        </p:txBody>
      </p:sp>
      <p:cxnSp>
        <p:nvCxnSpPr>
          <p:cNvPr id="10" name="Straight Connector 9">
            <a:extLst>
              <a:ext uri="{FF2B5EF4-FFF2-40B4-BE49-F238E27FC236}">
                <a16:creationId xmlns:a16="http://schemas.microsoft.com/office/drawing/2014/main" id="{CB7CB27F-7A56-A747-A4D6-5627C24638D9}"/>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111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 Subtitle slide">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3383280"/>
            <a:ext cx="10302240" cy="1852046"/>
          </a:xfrm>
        </p:spPr>
        <p:txBody>
          <a:bodyPr lIns="0" tIns="274320" rIns="0" bIns="0" anchor="t" anchorCtr="0"/>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966886"/>
            <a:ext cx="10302237" cy="397191"/>
          </a:xfrm>
        </p:spPr>
        <p:txBody>
          <a:bodyPr lIns="0" tIns="0" rIns="0" bIns="0" anchor="b"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10897692" y="62029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5" name="Straight Connector 4">
            <a:extLst>
              <a:ext uri="{FF2B5EF4-FFF2-40B4-BE49-F238E27FC236}">
                <a16:creationId xmlns:a16="http://schemas.microsoft.com/office/drawing/2014/main" id="{57912362-D30D-7B0B-BA94-0993B1EBC4E4}"/>
              </a:ext>
              <a:ext uri="{C183D7F6-B498-43B3-948B-1728B52AA6E4}">
                <adec:decorative xmlns:adec="http://schemas.microsoft.com/office/drawing/2017/decorative" val="1"/>
              </a:ext>
            </a:extLst>
          </p:cNvPr>
          <p:cNvCxnSpPr>
            <a:cxnSpLocks/>
          </p:cNvCxnSpPr>
          <p:nvPr userDrawn="1"/>
        </p:nvCxnSpPr>
        <p:spPr>
          <a:xfrm>
            <a:off x="1280160" y="0"/>
            <a:ext cx="0" cy="2775857"/>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64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hasCustomPrompt="1"/>
          </p:nvPr>
        </p:nvSpPr>
        <p:spPr>
          <a:xfrm>
            <a:off x="1280160" y="685800"/>
            <a:ext cx="9137012" cy="1280160"/>
          </a:xfrm>
        </p:spPr>
        <p:txBody>
          <a:bodyPr lIns="0" tIns="0" rIns="0" bIns="0"/>
          <a:lstStyle>
            <a:lvl1pPr>
              <a:defRPr sz="4000" b="1" cap="all" spc="0" baseline="0"/>
            </a:lvl1pPr>
          </a:lstStyle>
          <a:p>
            <a:r>
              <a:rPr lang="en-US" dirty="0"/>
              <a:t>Click to add title</a:t>
            </a:r>
          </a:p>
        </p:txBody>
      </p:sp>
      <p:sp>
        <p:nvSpPr>
          <p:cNvPr id="15" name="Slide Number Placeholder 14">
            <a:extLst>
              <a:ext uri="{FF2B5EF4-FFF2-40B4-BE49-F238E27FC236}">
                <a16:creationId xmlns:a16="http://schemas.microsoft.com/office/drawing/2014/main" id="{0F91A5DB-A2CA-1D70-9A06-3869A288C924}"/>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2327440"/>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23402" y="2327441"/>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160F34ED-DA60-4CC2-B735-B0EC5D9FEA35}"/>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3" name="Footer Placeholder 12">
            <a:extLst>
              <a:ext uri="{FF2B5EF4-FFF2-40B4-BE49-F238E27FC236}">
                <a16:creationId xmlns:a16="http://schemas.microsoft.com/office/drawing/2014/main" id="{6D6A69CF-70D6-AB12-CD8B-FD75B7EE1420}"/>
              </a:ext>
            </a:extLst>
          </p:cNvPr>
          <p:cNvSpPr>
            <a:spLocks noGrp="1"/>
          </p:cNvSpPr>
          <p:nvPr>
            <p:ph type="ftr" sz="quarter" idx="11"/>
          </p:nvPr>
        </p:nvSpPr>
        <p:spPr>
          <a:xfrm>
            <a:off x="1280160" y="6356350"/>
            <a:ext cx="4114800" cy="365125"/>
          </a:xfrm>
        </p:spPr>
        <p:txBody>
          <a:bodyPr/>
          <a:lstStyle>
            <a:lvl1pPr algn="l">
              <a:defRPr/>
            </a:lvl1pPr>
          </a:lstStyle>
          <a:p>
            <a:endParaRPr lang="en-US" dirty="0"/>
          </a:p>
        </p:txBody>
      </p:sp>
    </p:spTree>
    <p:extLst>
      <p:ext uri="{BB962C8B-B14F-4D97-AF65-F5344CB8AC3E}">
        <p14:creationId xmlns:p14="http://schemas.microsoft.com/office/powerpoint/2010/main" val="937595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EFE408-BFE1-16DC-F7C6-47F55C171AC6}"/>
              </a:ext>
              <a:ext uri="{C183D7F6-B498-43B3-948B-1728B52AA6E4}">
                <adec:decorative xmlns:adec="http://schemas.microsoft.com/office/drawing/2017/decorative" val="1"/>
              </a:ext>
            </a:extLst>
          </p:cNvPr>
          <p:cNvSpPr/>
          <p:nvPr userDrawn="1"/>
        </p:nvSpPr>
        <p:spPr>
          <a:xfrm>
            <a:off x="6412992" y="0"/>
            <a:ext cx="577900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6915572" y="685800"/>
            <a:ext cx="4754880" cy="5670550"/>
          </a:xfrm>
        </p:spPr>
        <p:txBody>
          <a:bodyPr lIns="0" tIns="0" rIns="0" bIns="0" anchor="ctr" anchorCtr="0"/>
          <a:lstStyle>
            <a:lvl1pPr algn="l">
              <a:defRPr sz="4000" b="1" cap="all" spc="0" baseline="0">
                <a:solidFill>
                  <a:schemeClr val="bg1"/>
                </a:solidFill>
              </a:defRPr>
            </a:lvl1pPr>
          </a:lstStyle>
          <a:p>
            <a:r>
              <a:rPr lang="en-US" dirty="0"/>
              <a:t>Click to edit Master title style</a:t>
            </a:r>
          </a:p>
        </p:txBody>
      </p:sp>
      <p:sp>
        <p:nvSpPr>
          <p:cNvPr id="22" name="Slide Number Placeholder 21">
            <a:extLst>
              <a:ext uri="{FF2B5EF4-FFF2-40B4-BE49-F238E27FC236}">
                <a16:creationId xmlns:a16="http://schemas.microsoft.com/office/drawing/2014/main" id="{4C0ED5DD-6381-0FFD-7B45-D21179A390B5}"/>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5">
            <a:extLst>
              <a:ext uri="{FF2B5EF4-FFF2-40B4-BE49-F238E27FC236}">
                <a16:creationId xmlns:a16="http://schemas.microsoft.com/office/drawing/2014/main" id="{F042E432-AE48-385B-DEA1-32129394CE76}"/>
              </a:ext>
            </a:extLst>
          </p:cNvPr>
          <p:cNvSpPr>
            <a:spLocks noGrp="1"/>
          </p:cNvSpPr>
          <p:nvPr>
            <p:ph sz="quarter" idx="15" hasCustomPrompt="1"/>
          </p:nvPr>
        </p:nvSpPr>
        <p:spPr>
          <a:xfrm>
            <a:off x="1279526" y="1533524"/>
            <a:ext cx="4663440" cy="1895475"/>
          </a:xfrm>
        </p:spPr>
        <p:txBody>
          <a:bodyPr lIns="0" tIns="0" rIns="0" bIns="0" anchor="t" anchorCtr="0">
            <a:noAutofit/>
          </a:bodyPr>
          <a:lstStyle>
            <a:lvl1pPr marL="342900" indent="-512064">
              <a:spcBef>
                <a:spcPts val="1000"/>
              </a:spcBef>
              <a:buFont typeface="+mj-lt"/>
              <a:buAutoNum type="arabicPeriod"/>
              <a:defRPr sz="1800"/>
            </a:lvl1pPr>
            <a:lvl2pPr marL="1028700" indent="-342900">
              <a:spcBef>
                <a:spcPts val="1200"/>
              </a:spcBef>
              <a:buFont typeface="+mj-lt"/>
              <a:buAutoNum type="alphaLcPeriod"/>
              <a:defRPr sz="1800"/>
            </a:lvl2pPr>
            <a:lvl3pPr marL="1257300" indent="-342900">
              <a:spcBef>
                <a:spcPts val="1200"/>
              </a:spcBef>
              <a:buFont typeface="+mj-lt"/>
              <a:buAutoNum type="arabicParenR"/>
              <a:defRPr sz="1800"/>
            </a:lvl3pPr>
            <a:lvl4pPr marL="1714500" indent="-342900">
              <a:spcBef>
                <a:spcPts val="1200"/>
              </a:spcBef>
              <a:buFont typeface="+mj-lt"/>
              <a:buAutoNum type="alphaLcParenR"/>
              <a:defRPr sz="1800"/>
            </a:lvl4pPr>
            <a:lvl5pPr marL="2228850" indent="-400050">
              <a:spcBef>
                <a:spcPts val="1200"/>
              </a:spcBef>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DF111B2E-0535-57E2-FE92-620F9307A956}"/>
              </a:ext>
            </a:extLst>
          </p:cNvPr>
          <p:cNvSpPr>
            <a:spLocks noGrp="1"/>
          </p:cNvSpPr>
          <p:nvPr>
            <p:ph sz="quarter" idx="13" hasCustomPrompt="1"/>
          </p:nvPr>
        </p:nvSpPr>
        <p:spPr>
          <a:xfrm>
            <a:off x="1280160" y="3482974"/>
            <a:ext cx="4663440" cy="1190033"/>
          </a:xfrm>
        </p:spPr>
        <p:txBody>
          <a:bodyPr lIns="0" tIns="0" rIns="0" bIns="0" anchor="t" anchorCtr="0">
            <a:noAutofit/>
          </a:bodyPr>
          <a:lstStyle>
            <a:lvl1pPr marL="0" indent="0">
              <a:spcBef>
                <a:spcPts val="1200"/>
              </a:spcBef>
              <a:buNone/>
              <a:defRPr sz="1800"/>
            </a:lvl1pPr>
            <a:lvl2pPr marL="457200" indent="0">
              <a:spcBef>
                <a:spcPts val="1200"/>
              </a:spcBef>
              <a:buNone/>
              <a:defRPr sz="1600"/>
            </a:lvl2pPr>
            <a:lvl3pPr marL="914400" indent="0">
              <a:spcBef>
                <a:spcPts val="1200"/>
              </a:spcBef>
              <a:buNone/>
              <a:defRPr sz="1400"/>
            </a:lvl3pPr>
            <a:lvl4pPr marL="1371600" indent="0">
              <a:spcBef>
                <a:spcPts val="1200"/>
              </a:spcBef>
              <a:buNone/>
              <a:defRPr sz="1200"/>
            </a:lvl4pPr>
            <a:lvl5pPr marL="1828800" indent="0">
              <a:spcBef>
                <a:spcPts val="1200"/>
              </a:spcBef>
              <a:buNone/>
              <a:defRPr sz="1200"/>
            </a:lvl5pPr>
          </a:lstStyle>
          <a:p>
            <a:pPr lvl="0"/>
            <a:r>
              <a:rPr lang="en-US" dirty="0"/>
              <a:t>Click to add text</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1280160" y="4692058"/>
            <a:ext cx="4663440" cy="1584918"/>
          </a:xfrm>
        </p:spPr>
        <p:txBody>
          <a:bodyPr lIns="0" tIns="0" rIns="0" bIns="0" anchor="t" anchorCtr="0">
            <a:noAutofit/>
          </a:bodyPr>
          <a:lstStyle>
            <a:lvl1pPr>
              <a:spcBef>
                <a:spcPts val="1200"/>
              </a:spcBef>
              <a:defRPr sz="1800"/>
            </a:lvl1pPr>
            <a:lvl2pPr>
              <a:spcBef>
                <a:spcPts val="1200"/>
              </a:spcBef>
              <a:defRPr sz="1600"/>
            </a:lvl2pPr>
            <a:lvl3pPr>
              <a:spcBef>
                <a:spcPts val="1200"/>
              </a:spcBef>
              <a:defRPr sz="1400"/>
            </a:lvl3pPr>
            <a:lvl4pPr>
              <a:spcBef>
                <a:spcPts val="1200"/>
              </a:spcBef>
              <a:defRPr sz="1200"/>
            </a:lvl4pPr>
            <a:lvl5pPr>
              <a:spcBef>
                <a:spcPts val="1200"/>
              </a:spcBef>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Footer Placeholder 20">
            <a:extLst>
              <a:ext uri="{FF2B5EF4-FFF2-40B4-BE49-F238E27FC236}">
                <a16:creationId xmlns:a16="http://schemas.microsoft.com/office/drawing/2014/main" id="{34C23E1A-9E5E-DA12-8E11-83F486766E16}"/>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E3FE6E42-6A8F-C459-87EE-E2A5BAFA852B}"/>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320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60" y="301752"/>
            <a:ext cx="4663438" cy="2441448"/>
          </a:xfrm>
        </p:spPr>
        <p:txBody>
          <a:bodyPr lIns="0" tIns="0" rIns="0" bIns="0" anchor="ctr" anchorCtr="0"/>
          <a:lstStyle>
            <a:lvl1pPr algn="l">
              <a:lnSpc>
                <a:spcPts val="4000"/>
              </a:lnSpc>
              <a:spcBef>
                <a:spcPts val="1000"/>
              </a:spcBef>
              <a:defRPr sz="4000" b="1" i="0" cap="all" spc="0" baseline="0"/>
            </a:lvl1pPr>
          </a:lstStyle>
          <a:p>
            <a:endParaRPr lang="en-US" dirty="0"/>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a:xfrm>
            <a:off x="484632" y="726630"/>
            <a:ext cx="520991" cy="517379"/>
          </a:xfrm>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8" name="Text Placeholder 4">
            <a:extLst>
              <a:ext uri="{FF2B5EF4-FFF2-40B4-BE49-F238E27FC236}">
                <a16:creationId xmlns:a16="http://schemas.microsoft.com/office/drawing/2014/main" id="{9FB40175-FA51-DA14-A5B2-CD06DE6ECC31}"/>
              </a:ext>
            </a:extLst>
          </p:cNvPr>
          <p:cNvSpPr>
            <a:spLocks noGrp="1"/>
          </p:cNvSpPr>
          <p:nvPr>
            <p:ph type="body" sz="quarter" idx="14"/>
          </p:nvPr>
        </p:nvSpPr>
        <p:spPr>
          <a:xfrm>
            <a:off x="1280161" y="2777067"/>
            <a:ext cx="4663440" cy="3550581"/>
          </a:xfrm>
        </p:spPr>
        <p:txBody>
          <a:bodyPr lIns="0" tIns="0" rIns="0" bIns="0">
            <a:noAutofit/>
          </a:bodyPr>
          <a:lstStyle>
            <a:lvl1pPr marL="0" indent="0">
              <a:lnSpc>
                <a:spcPct val="110000"/>
              </a:lnSpc>
              <a:buNone/>
              <a:defRPr sz="1800"/>
            </a:lvl1pPr>
            <a:lvl2pPr marL="228600">
              <a:lnSpc>
                <a:spcPct val="110000"/>
              </a:lnSpc>
              <a:defRPr sz="1600"/>
            </a:lvl2pPr>
            <a:lvl3pPr marL="457200">
              <a:lnSpc>
                <a:spcPct val="110000"/>
              </a:lnSpc>
              <a:defRPr sz="1400"/>
            </a:lvl3pPr>
            <a:lvl4pPr marL="685800">
              <a:lnSpc>
                <a:spcPct val="110000"/>
              </a:lnSpc>
              <a:defRPr sz="1200"/>
            </a:lvl4pPr>
            <a:lvl5pPr marL="914400">
              <a:lnSpc>
                <a:spcPct val="110000"/>
              </a:lnSpc>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515930B2-E36D-4D05-A6B3-CA1BF61D50CC}"/>
              </a:ext>
              <a:ext uri="{C183D7F6-B498-43B3-948B-1728B52AA6E4}">
                <adec:decorative xmlns:adec="http://schemas.microsoft.com/office/drawing/2017/decorative" val="1"/>
              </a:ext>
            </a:extLst>
          </p:cNvPr>
          <p:cNvSpPr/>
          <p:nvPr userDrawn="1"/>
        </p:nvSpPr>
        <p:spPr>
          <a:xfrm>
            <a:off x="6412089"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hasCustomPrompt="1"/>
          </p:nvPr>
        </p:nvSpPr>
        <p:spPr>
          <a:xfrm>
            <a:off x="6695553" y="301752"/>
            <a:ext cx="5221224" cy="6263640"/>
          </a:xfrm>
        </p:spPr>
        <p:txBody>
          <a:bodyPr tIns="914400" anchor="t" anchorCtr="0"/>
          <a:lstStyle>
            <a:lvl1pPr algn="ctr">
              <a:buNone/>
              <a:defRPr>
                <a:solidFill>
                  <a:schemeClr val="bg1"/>
                </a:solidFill>
              </a:defRPr>
            </a:lvl1pPr>
          </a:lstStyle>
          <a:p>
            <a:r>
              <a:rPr lang="en-US" dirty="0"/>
              <a:t>Click to add picture</a:t>
            </a:r>
          </a:p>
        </p:txBody>
      </p:sp>
      <p:sp>
        <p:nvSpPr>
          <p:cNvPr id="10" name="Footer Placeholder 8">
            <a:extLst>
              <a:ext uri="{FF2B5EF4-FFF2-40B4-BE49-F238E27FC236}">
                <a16:creationId xmlns:a16="http://schemas.microsoft.com/office/drawing/2014/main" id="{7A4AE671-C203-0370-2888-FC8F7D444D11}"/>
              </a:ext>
            </a:extLst>
          </p:cNvPr>
          <p:cNvSpPr>
            <a:spLocks noGrp="1"/>
          </p:cNvSpPr>
          <p:nvPr>
            <p:ph type="ftr" sz="quarter" idx="17"/>
          </p:nvPr>
        </p:nvSpPr>
        <p:spPr>
          <a:xfrm>
            <a:off x="1280160" y="6356350"/>
            <a:ext cx="4434825" cy="365125"/>
          </a:xfrm>
        </p:spPr>
        <p:txBody>
          <a:bodyPr/>
          <a:lstStyle>
            <a:lvl1pPr algn="l">
              <a:defRPr/>
            </a:lvl1pPr>
          </a:lstStyle>
          <a:p>
            <a:endParaRPr lang="en-US" dirty="0"/>
          </a:p>
        </p:txBody>
      </p:sp>
      <p:cxnSp>
        <p:nvCxnSpPr>
          <p:cNvPr id="3" name="Straight Connector 2">
            <a:extLst>
              <a:ext uri="{FF2B5EF4-FFF2-40B4-BE49-F238E27FC236}">
                <a16:creationId xmlns:a16="http://schemas.microsoft.com/office/drawing/2014/main" id="{1792BFA8-57AD-0B5C-2534-1E862B58DAB3}"/>
              </a:ext>
              <a:ext uri="{C183D7F6-B498-43B3-948B-1728B52AA6E4}">
                <adec:decorative xmlns:adec="http://schemas.microsoft.com/office/drawing/2017/decorative" val="1"/>
              </a:ext>
            </a:extLst>
          </p:cNvPr>
          <p:cNvCxnSpPr>
            <a:cxnSpLocks/>
          </p:cNvCxnSpPr>
          <p:nvPr userDrawn="1"/>
        </p:nvCxnSpPr>
        <p:spPr>
          <a:xfrm>
            <a:off x="745127"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80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1280159" y="640080"/>
            <a:ext cx="4815836" cy="2103120"/>
          </a:xfrm>
        </p:spPr>
        <p:txBody>
          <a:bodyPr lIns="0" tIns="0" rIns="0" bIns="0" anchor="ctr" anchorCtr="0"/>
          <a:lstStyle>
            <a:lvl1pPr algn="l">
              <a:defRPr sz="4000" b="1" cap="all" spc="0" baseline="0">
                <a:solidFill>
                  <a:schemeClr val="tx1"/>
                </a:solidFill>
              </a:defRPr>
            </a:lvl1pPr>
          </a:lstStyle>
          <a:p>
            <a:r>
              <a:rPr lang="en-US" dirty="0"/>
              <a:t>Click to add title</a:t>
            </a:r>
          </a:p>
        </p:txBody>
      </p:sp>
      <p:sp>
        <p:nvSpPr>
          <p:cNvPr id="16" name="Slide Number Placeholder 15">
            <a:extLst>
              <a:ext uri="{FF2B5EF4-FFF2-40B4-BE49-F238E27FC236}">
                <a16:creationId xmlns:a16="http://schemas.microsoft.com/office/drawing/2014/main" id="{6183E8BD-29F0-8F9F-FC7D-73F8067BCDDF}"/>
              </a:ext>
            </a:extLst>
          </p:cNvPr>
          <p:cNvSpPr>
            <a:spLocks noGrp="1"/>
          </p:cNvSpPr>
          <p:nvPr>
            <p:ph type="sldNum" sz="quarter" idx="20"/>
          </p:nvPr>
        </p:nvSpPr>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15" name="Content Placeholder 2">
            <a:extLst>
              <a:ext uri="{FF2B5EF4-FFF2-40B4-BE49-F238E27FC236}">
                <a16:creationId xmlns:a16="http://schemas.microsoft.com/office/drawing/2014/main" id="{5C983CA3-739C-6C20-AFE0-0997370354B4}"/>
              </a:ext>
            </a:extLst>
          </p:cNvPr>
          <p:cNvSpPr>
            <a:spLocks noGrp="1"/>
          </p:cNvSpPr>
          <p:nvPr>
            <p:ph idx="1" hasCustomPrompt="1"/>
          </p:nvPr>
        </p:nvSpPr>
        <p:spPr>
          <a:xfrm>
            <a:off x="6531427" y="640080"/>
            <a:ext cx="5122889" cy="2103120"/>
          </a:xfrm>
        </p:spPr>
        <p:txBody>
          <a:bodyPr lIns="0" tIns="0" rIns="0" bIns="0" anchor="ctr" anchorCtr="0">
            <a:normAutofit/>
          </a:bodyPr>
          <a:lstStyle>
            <a:lvl1pPr marL="0" indent="0">
              <a:lnSpc>
                <a:spcPct val="110000"/>
              </a:lnSpc>
              <a:buNone/>
              <a:defRPr sz="1800">
                <a:solidFill>
                  <a:schemeClr val="tx1"/>
                </a:solidFill>
              </a:defRPr>
            </a:lvl1pPr>
            <a:lvl2pPr marL="228600">
              <a:lnSpc>
                <a:spcPct val="100000"/>
              </a:lnSpc>
              <a:defRPr sz="1600">
                <a:solidFill>
                  <a:schemeClr val="tx1"/>
                </a:solidFill>
              </a:defRPr>
            </a:lvl2pPr>
            <a:lvl3pPr marL="457200">
              <a:lnSpc>
                <a:spcPct val="100000"/>
              </a:lnSpc>
              <a:defRPr sz="1400">
                <a:solidFill>
                  <a:schemeClr val="tx1"/>
                </a:solidFill>
              </a:defRPr>
            </a:lvl3pPr>
            <a:lvl4pPr marL="685800">
              <a:lnSpc>
                <a:spcPct val="100000"/>
              </a:lnSpc>
              <a:defRPr sz="1200">
                <a:solidFill>
                  <a:schemeClr val="tx1"/>
                </a:solidFill>
              </a:defRPr>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cxnSp>
        <p:nvCxnSpPr>
          <p:cNvPr id="4" name="Straight Connector 3">
            <a:extLst>
              <a:ext uri="{FF2B5EF4-FFF2-40B4-BE49-F238E27FC236}">
                <a16:creationId xmlns:a16="http://schemas.microsoft.com/office/drawing/2014/main" id="{4BC9F29C-BBE9-AFB4-AFC6-30BCA4EB2AFA}"/>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CBC4D286-C480-B4CF-4406-CACC323F9FAD}"/>
              </a:ext>
            </a:extLst>
          </p:cNvPr>
          <p:cNvSpPr>
            <a:spLocks noGrp="1"/>
          </p:cNvSpPr>
          <p:nvPr>
            <p:ph idx="21" hasCustomPrompt="1"/>
          </p:nvPr>
        </p:nvSpPr>
        <p:spPr>
          <a:xfrm>
            <a:off x="1280160" y="3017520"/>
            <a:ext cx="10374152" cy="3208866"/>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0BEE2817-4518-D59A-BD13-29A3D4FE64F0}"/>
              </a:ext>
            </a:extLst>
          </p:cNvPr>
          <p:cNvSpPr>
            <a:spLocks noGrp="1"/>
          </p:cNvSpPr>
          <p:nvPr>
            <p:ph type="ftr" sz="quarter" idx="19"/>
          </p:nvPr>
        </p:nvSpPr>
        <p:spPr>
          <a:xfrm>
            <a:off x="7539516" y="6356350"/>
            <a:ext cx="4114800" cy="365125"/>
          </a:xfrm>
        </p:spPr>
        <p:txBody>
          <a:bodyPr/>
          <a:lstStyle/>
          <a:p>
            <a:endParaRPr lang="en-US" dirty="0"/>
          </a:p>
        </p:txBody>
      </p:sp>
    </p:spTree>
    <p:extLst>
      <p:ext uri="{BB962C8B-B14F-4D97-AF65-F5344CB8AC3E}">
        <p14:creationId xmlns:p14="http://schemas.microsoft.com/office/powerpoint/2010/main" val="1068905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1280159" y="4970638"/>
            <a:ext cx="9144000" cy="1280160"/>
          </a:xfrm>
        </p:spPr>
        <p:txBody>
          <a:bodyPr lIns="0" tIns="0" rIns="0" bIns="0" anchor="b" anchorCtr="0"/>
          <a:lstStyle>
            <a:lvl1pPr algn="l">
              <a:defRPr sz="4000" b="1" cap="all" spc="0" baseline="0">
                <a:solidFill>
                  <a:schemeClr val="tx1"/>
                </a:solidFill>
              </a:defRPr>
            </a:lvl1pPr>
          </a:lstStyle>
          <a:p>
            <a:r>
              <a:rPr lang="en-US" dirty="0"/>
              <a:t>Click to edit Master title style</a:t>
            </a:r>
          </a:p>
        </p:txBody>
      </p:sp>
      <p:sp>
        <p:nvSpPr>
          <p:cNvPr id="22" name="Slide Number Placeholder 21">
            <a:extLst>
              <a:ext uri="{FF2B5EF4-FFF2-40B4-BE49-F238E27FC236}">
                <a16:creationId xmlns:a16="http://schemas.microsoft.com/office/drawing/2014/main" id="{F0626849-9D2D-3C95-8C10-FA8F325FE9AA}"/>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685800"/>
            <a:ext cx="4937760" cy="4023360"/>
          </a:xfrm>
        </p:spPr>
        <p:txBody>
          <a:bodyPr lIns="0" tIns="0" rIns="0" bIns="0">
            <a:noAutofit/>
          </a:bodyPr>
          <a:lstStyle>
            <a:lvl1pPr marL="0" indent="0">
              <a:spcBef>
                <a:spcPts val="1200"/>
              </a:spcBef>
              <a:buNone/>
              <a:defRPr sz="1800"/>
            </a:lvl1pPr>
            <a:lvl2pPr marL="457200">
              <a:spcBef>
                <a:spcPts val="1200"/>
              </a:spcBef>
              <a:defRPr sz="1800"/>
            </a:lvl2pPr>
            <a:lvl3pPr marL="914400">
              <a:spcBef>
                <a:spcPts val="1200"/>
              </a:spcBef>
              <a:defRPr sz="1800"/>
            </a:lvl3pPr>
            <a:lvl4pPr marL="1371600">
              <a:spcBef>
                <a:spcPts val="1200"/>
              </a:spcBef>
              <a:defRPr sz="1800"/>
            </a:lvl4pPr>
            <a:lvl5pPr marL="18288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04755" y="685800"/>
            <a:ext cx="4937760" cy="4023360"/>
          </a:xfrm>
        </p:spPr>
        <p:txBody>
          <a:bodyPr lIns="0" tIns="0" rIns="0" bIns="0">
            <a:noAutofit/>
          </a:bodyPr>
          <a:lstStyle>
            <a:lvl1pPr>
              <a:spcBef>
                <a:spcPts val="1200"/>
              </a:spcBef>
              <a:defRPr sz="1800"/>
            </a:lvl1pPr>
            <a:lvl2pPr>
              <a:spcBef>
                <a:spcPts val="1200"/>
              </a:spcBef>
              <a:defRPr sz="1800"/>
            </a:lvl2pPr>
            <a:lvl3pPr>
              <a:spcBef>
                <a:spcPts val="1200"/>
              </a:spcBef>
              <a:defRPr sz="1800"/>
            </a:lvl3pPr>
            <a:lvl4pPr>
              <a:spcBef>
                <a:spcPts val="1200"/>
              </a:spcBef>
              <a:defRPr sz="1800"/>
            </a:lvl4pPr>
            <a:lvl5pPr>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3" name="Group 12">
            <a:extLst>
              <a:ext uri="{FF2B5EF4-FFF2-40B4-BE49-F238E27FC236}">
                <a16:creationId xmlns:a16="http://schemas.microsoft.com/office/drawing/2014/main" id="{4717D91C-F78C-0E4C-FB27-7112AB840A1C}"/>
              </a:ext>
              <a:ext uri="{C183D7F6-B498-43B3-948B-1728B52AA6E4}">
                <adec:decorative xmlns:adec="http://schemas.microsoft.com/office/drawing/2017/decorative" val="1"/>
              </a:ext>
            </a:extLst>
          </p:cNvPr>
          <p:cNvGrpSpPr/>
          <p:nvPr userDrawn="1"/>
        </p:nvGrpSpPr>
        <p:grpSpPr>
          <a:xfrm>
            <a:off x="5322570" y="5680647"/>
            <a:ext cx="465456" cy="581432"/>
            <a:chOff x="7843462" y="2744546"/>
            <a:chExt cx="465456" cy="581432"/>
          </a:xfrm>
        </p:grpSpPr>
        <p:sp>
          <p:nvSpPr>
            <p:cNvPr id="15" name="Graphic 12">
              <a:extLst>
                <a:ext uri="{FF2B5EF4-FFF2-40B4-BE49-F238E27FC236}">
                  <a16:creationId xmlns:a16="http://schemas.microsoft.com/office/drawing/2014/main" id="{CC935CF3-75DF-0DC7-1B2A-E0E0205DF64B}"/>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7" name="Graphic 13">
              <a:extLst>
                <a:ext uri="{FF2B5EF4-FFF2-40B4-BE49-F238E27FC236}">
                  <a16:creationId xmlns:a16="http://schemas.microsoft.com/office/drawing/2014/main" id="{D5782BEB-6319-DEC1-F9ED-BA9201C6B9B7}"/>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18" name="Graphic 15">
              <a:extLst>
                <a:ext uri="{FF2B5EF4-FFF2-40B4-BE49-F238E27FC236}">
                  <a16:creationId xmlns:a16="http://schemas.microsoft.com/office/drawing/2014/main" id="{6E59DFAF-9794-BD12-D89A-422FFFFCE023}"/>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21" name="Footer Placeholder 20">
            <a:extLst>
              <a:ext uri="{FF2B5EF4-FFF2-40B4-BE49-F238E27FC236}">
                <a16:creationId xmlns:a16="http://schemas.microsoft.com/office/drawing/2014/main" id="{36444A47-BCB3-5C86-F2B8-25092BE8D9FF}"/>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C648C53D-49AB-C003-70E8-5117AF079715}"/>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A96BC1DE-6696-3408-564E-2D73B1266326}"/>
              </a:ext>
              <a:ext uri="{C183D7F6-B498-43B3-948B-1728B52AA6E4}">
                <adec:decorative xmlns:adec="http://schemas.microsoft.com/office/drawing/2017/decorative" val="1"/>
              </a:ext>
            </a:extLst>
          </p:cNvPr>
          <p:cNvGrpSpPr/>
          <p:nvPr userDrawn="1"/>
        </p:nvGrpSpPr>
        <p:grpSpPr>
          <a:xfrm rot="5400000">
            <a:off x="10711518" y="5393214"/>
            <a:ext cx="1097341" cy="736658"/>
            <a:chOff x="10508317" y="446637"/>
            <a:chExt cx="1097341" cy="736658"/>
          </a:xfrm>
        </p:grpSpPr>
        <p:sp>
          <p:nvSpPr>
            <p:cNvPr id="25" name="Graphic 15">
              <a:extLst>
                <a:ext uri="{FF2B5EF4-FFF2-40B4-BE49-F238E27FC236}">
                  <a16:creationId xmlns:a16="http://schemas.microsoft.com/office/drawing/2014/main" id="{268EB1E4-29D6-C3F5-BCBB-FB7E7EE5C25C}"/>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26" name="Graphic 16">
              <a:extLst>
                <a:ext uri="{FF2B5EF4-FFF2-40B4-BE49-F238E27FC236}">
                  <a16:creationId xmlns:a16="http://schemas.microsoft.com/office/drawing/2014/main" id="{09524D46-140F-2F4F-430B-F59815A07CF1}"/>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27" name="Graphic 14">
              <a:extLst>
                <a:ext uri="{FF2B5EF4-FFF2-40B4-BE49-F238E27FC236}">
                  <a16:creationId xmlns:a16="http://schemas.microsoft.com/office/drawing/2014/main" id="{AC75143B-C717-8D04-743C-B40FB5EFB21C}"/>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487376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1280160" y="640080"/>
            <a:ext cx="10087699" cy="1280160"/>
          </a:xfrm>
        </p:spPr>
        <p:txBody>
          <a:bodyPr lIns="0" tIns="0" rIns="0" bIns="0" anchor="b" anchorCtr="0"/>
          <a:lstStyle>
            <a:lvl1pPr>
              <a:defRPr sz="4000" b="1" cap="all" baseline="0"/>
            </a:lvl1pPr>
          </a:lstStyle>
          <a:p>
            <a:r>
              <a:rPr lang="en-US" dirty="0"/>
              <a:t>Click to add title</a:t>
            </a:r>
          </a:p>
        </p:txBody>
      </p:sp>
      <p:sp>
        <p:nvSpPr>
          <p:cNvPr id="10" name="Slide Number Placeholder 9">
            <a:extLst>
              <a:ext uri="{FF2B5EF4-FFF2-40B4-BE49-F238E27FC236}">
                <a16:creationId xmlns:a16="http://schemas.microsoft.com/office/drawing/2014/main" id="{116B8DF0-B7E6-5032-C3C7-E457E793BE37}"/>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1280160" y="2103119"/>
            <a:ext cx="10087699" cy="4114800"/>
          </a:xfrm>
        </p:spPr>
        <p:txBody>
          <a:bodyPr lIns="0" tIns="0" rIns="0" bIns="0"/>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DC5F4D40-ADE4-5EEB-436C-8563A49C55F8}"/>
              </a:ext>
            </a:extLst>
          </p:cNvPr>
          <p:cNvSpPr>
            <a:spLocks noGrp="1"/>
          </p:cNvSpPr>
          <p:nvPr>
            <p:ph type="ftr" sz="quarter" idx="11"/>
          </p:nvPr>
        </p:nvSpPr>
        <p:spPr>
          <a:xfrm>
            <a:off x="1280160" y="6356350"/>
            <a:ext cx="4114800" cy="365125"/>
          </a:xfrm>
        </p:spPr>
        <p:txBody>
          <a:bodyPr lIns="0"/>
          <a:lstStyle>
            <a:lvl1pPr algn="l">
              <a:defRPr/>
            </a:lvl1pPr>
          </a:lstStyle>
          <a:p>
            <a:endParaRPr lang="en-US" dirty="0"/>
          </a:p>
        </p:txBody>
      </p:sp>
    </p:spTree>
    <p:extLst>
      <p:ext uri="{BB962C8B-B14F-4D97-AF65-F5344CB8AC3E}">
        <p14:creationId xmlns:p14="http://schemas.microsoft.com/office/powerpoint/2010/main" val="3321745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Bubbles and Title 1">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2792897" y="585216"/>
            <a:ext cx="8965094" cy="2276856"/>
          </a:xfrm>
        </p:spPr>
        <p:txBody>
          <a:bodyPr lIns="0" tIns="0" rIns="0" anchor="b"/>
          <a:lstStyle>
            <a:lvl1pPr algn="r">
              <a:lnSpc>
                <a:spcPts val="4800"/>
              </a:lnSpc>
              <a:defRPr sz="4800" b="1" cap="all" spc="0" baseline="0">
                <a:solidFill>
                  <a:schemeClr val="bg1"/>
                </a:solidFill>
              </a:defRPr>
            </a:lvl1pPr>
          </a:lstStyle>
          <a:p>
            <a:endParaRPr lang="en-US" dirty="0"/>
          </a:p>
        </p:txBody>
      </p:sp>
      <p:sp>
        <p:nvSpPr>
          <p:cNvPr id="7" name="Picture Placeholder 14">
            <a:extLst>
              <a:ext uri="{FF2B5EF4-FFF2-40B4-BE49-F238E27FC236}">
                <a16:creationId xmlns:a16="http://schemas.microsoft.com/office/drawing/2014/main" id="{FC9B12A4-113B-B3F6-5926-5C2A6F504ABA}"/>
              </a:ext>
            </a:extLst>
          </p:cNvPr>
          <p:cNvSpPr>
            <a:spLocks noGrp="1"/>
          </p:cNvSpPr>
          <p:nvPr>
            <p:ph type="pic" sz="quarter" idx="14" hasCustomPrompt="1"/>
          </p:nvPr>
        </p:nvSpPr>
        <p:spPr>
          <a:xfrm>
            <a:off x="1371606"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hasCustomPrompt="1"/>
          </p:nvPr>
        </p:nvSpPr>
        <p:spPr>
          <a:xfrm>
            <a:off x="5640609" y="3127248"/>
            <a:ext cx="6117381" cy="3017520"/>
          </a:xfrm>
        </p:spPr>
        <p:txBody>
          <a:bodyPr lIns="0" tIns="0" rIns="0" bIns="0">
            <a:normAutofit/>
          </a:bodyPr>
          <a:lstStyle>
            <a:lvl1pPr marL="0" indent="0" algn="r">
              <a:spcBef>
                <a:spcPts val="1200"/>
              </a:spcBef>
              <a:buNone/>
              <a:defRPr sz="2400">
                <a:solidFill>
                  <a:schemeClr val="bg1"/>
                </a:solidFill>
              </a:defRPr>
            </a:lvl1pPr>
          </a:lstStyle>
          <a:p>
            <a:pPr lvl="0"/>
            <a:r>
              <a:rPr lang="en-US" dirty="0"/>
              <a:t>Click to add text</a:t>
            </a:r>
          </a:p>
        </p:txBody>
      </p:sp>
      <p:grpSp>
        <p:nvGrpSpPr>
          <p:cNvPr id="3" name="Group 2">
            <a:extLst>
              <a:ext uri="{FF2B5EF4-FFF2-40B4-BE49-F238E27FC236}">
                <a16:creationId xmlns:a16="http://schemas.microsoft.com/office/drawing/2014/main" id="{8AF51D36-DB19-27CD-47E0-A4261648DA12}"/>
              </a:ext>
              <a:ext uri="{C183D7F6-B498-43B3-948B-1728B52AA6E4}">
                <adec:decorative xmlns:adec="http://schemas.microsoft.com/office/drawing/2017/decorative" val="1"/>
              </a:ext>
            </a:extLst>
          </p:cNvPr>
          <p:cNvGrpSpPr/>
          <p:nvPr userDrawn="1"/>
        </p:nvGrpSpPr>
        <p:grpSpPr>
          <a:xfrm rot="18614240">
            <a:off x="3975343" y="2819532"/>
            <a:ext cx="465456" cy="581432"/>
            <a:chOff x="7843462" y="2744546"/>
            <a:chExt cx="465456" cy="581432"/>
          </a:xfrm>
        </p:grpSpPr>
        <p:sp>
          <p:nvSpPr>
            <p:cNvPr id="4" name="Graphic 12">
              <a:extLst>
                <a:ext uri="{FF2B5EF4-FFF2-40B4-BE49-F238E27FC236}">
                  <a16:creationId xmlns:a16="http://schemas.microsoft.com/office/drawing/2014/main" id="{3EFED0E0-17D4-C5B0-09D0-B43338A856B3}"/>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5" name="Graphic 13">
              <a:extLst>
                <a:ext uri="{FF2B5EF4-FFF2-40B4-BE49-F238E27FC236}">
                  <a16:creationId xmlns:a16="http://schemas.microsoft.com/office/drawing/2014/main" id="{8F798BBE-9B6F-700D-08A1-09ABC5388CCE}"/>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4AE2D1C5-9D85-9049-690C-3AFCE7E2DA56}"/>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13" name="Straight Connector 12">
            <a:extLst>
              <a:ext uri="{FF2B5EF4-FFF2-40B4-BE49-F238E27FC236}">
                <a16:creationId xmlns:a16="http://schemas.microsoft.com/office/drawing/2014/main" id="{9D0FE75D-ACD3-655E-58A7-8F2C182760B4}"/>
              </a:ext>
              <a:ext uri="{C183D7F6-B498-43B3-948B-1728B52AA6E4}">
                <adec:decorative xmlns:adec="http://schemas.microsoft.com/office/drawing/2017/decorative" val="1"/>
              </a:ext>
            </a:extLst>
          </p:cNvPr>
          <p:cNvCxnSpPr>
            <a:cxnSpLocks/>
          </p:cNvCxnSpPr>
          <p:nvPr userDrawn="1"/>
        </p:nvCxnSpPr>
        <p:spPr>
          <a:xfrm>
            <a:off x="74066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362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838200" y="136525"/>
            <a:ext cx="10515600" cy="1509713"/>
          </a:xfrm>
        </p:spPr>
        <p:txBody>
          <a:bodyPr/>
          <a:lstStyle/>
          <a:p>
            <a:r>
              <a:rPr lang="en-US" dirty="0"/>
              <a:t>Click to add title</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a:off x="72390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484632" y="726630"/>
            <a:ext cx="520991" cy="517379"/>
          </a:xfrm>
        </p:spPr>
        <p:txBody>
          <a:bodyPr/>
          <a:lstStyle/>
          <a:p>
            <a:fld id="{D8DA9DAA-006C-4F4B-980E-E3DF019B24E2}" type="slidenum">
              <a:rPr lang="en-US" smtClean="0"/>
              <a:t>‹#›</a:t>
            </a:fld>
            <a:endParaRPr lang="en-US" dirty="0"/>
          </a:p>
        </p:txBody>
      </p:sp>
      <p:cxnSp>
        <p:nvCxnSpPr>
          <p:cNvPr id="3" name="Straight Connector 2">
            <a:extLst>
              <a:ext uri="{FF2B5EF4-FFF2-40B4-BE49-F238E27FC236}">
                <a16:creationId xmlns:a16="http://schemas.microsoft.com/office/drawing/2014/main" id="{B5B2B208-F5B9-0151-C982-A389CB0B299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0EEA6CA-DE1E-18ED-E69E-54A1372FE21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2F973C81-5E94-41F6-CE15-3B4763B3ABE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C835B5C-F994-9D57-3118-919EE90F57E1}"/>
              </a:ext>
            </a:extLst>
          </p:cNvPr>
          <p:cNvSpPr>
            <a:spLocks noGrp="1"/>
          </p:cNvSpPr>
          <p:nvPr>
            <p:ph type="sldNum" sz="quarter" idx="12"/>
          </p:nvPr>
        </p:nvSpPr>
        <p:spPr/>
        <p:txBody>
          <a:bodyPr/>
          <a:lstStyle/>
          <a:p>
            <a:fld id="{D8DA9DAA-006C-4F4B-980E-E3DF019B24E2}" type="slidenum">
              <a:rPr lang="en-US" smtClean="0"/>
              <a:pPr/>
              <a:t>‹#›</a:t>
            </a:fld>
            <a:endParaRPr lang="en-US" dirty="0"/>
          </a:p>
        </p:txBody>
      </p:sp>
    </p:spTree>
    <p:extLst>
      <p:ext uri="{BB962C8B-B14F-4D97-AF65-F5344CB8AC3E}">
        <p14:creationId xmlns:p14="http://schemas.microsoft.com/office/powerpoint/2010/main" val="384086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1435394" y="1"/>
            <a:ext cx="9918405" cy="1646237"/>
          </a:xfrm>
          <a:prstGeom prst="rect">
            <a:avLst/>
          </a:prstGeom>
        </p:spPr>
        <p:txBody>
          <a:bodyPr vert="horz" lIns="91440" tIns="45720" rIns="91440" bIns="45720" rtlCol="0" anchor="b" anchorCtr="0">
            <a:noAutofit/>
          </a:bodyPr>
          <a:lstStyle/>
          <a:p>
            <a:r>
              <a:rPr lang="en-US" dirty="0"/>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1435394" y="1825625"/>
            <a:ext cx="991840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486121" y="726630"/>
            <a:ext cx="520991" cy="517379"/>
          </a:xfrm>
          <a:prstGeom prst="rect">
            <a:avLst/>
          </a:prstGeom>
        </p:spPr>
        <p:txBody>
          <a:bodyPr vert="horz" lIns="0" tIns="0" rIns="0" bIns="0" rtlCol="0" anchor="t" anchorCtr="0"/>
          <a:lstStyle>
            <a:lvl1pPr algn="ctr">
              <a:defRPr sz="1800" b="1" i="0" cap="all" spc="100" baseline="0">
                <a:solidFill>
                  <a:schemeClr val="accent2"/>
                </a:solidFill>
              </a:defRPr>
            </a:lvl1pPr>
          </a:lstStyle>
          <a:p>
            <a:fld id="{D8DA9DAA-006C-4F4B-980E-E3DF019B24E2}" type="slidenum">
              <a:rPr lang="en-US" smtClean="0"/>
              <a:pPr/>
              <a:t>‹#›</a:t>
            </a:fld>
            <a:endParaRPr lang="en-US" dirty="0"/>
          </a:p>
        </p:txBody>
      </p:sp>
      <p:sp>
        <p:nvSpPr>
          <p:cNvPr id="4" name="Date Placeholder 3">
            <a:extLst>
              <a:ext uri="{FF2B5EF4-FFF2-40B4-BE49-F238E27FC236}">
                <a16:creationId xmlns:a16="http://schemas.microsoft.com/office/drawing/2014/main" id="{B1EF1C86-6A9C-D287-D381-5634A69BF1C8}"/>
              </a:ext>
            </a:extLst>
          </p:cNvPr>
          <p:cNvSpPr>
            <a:spLocks noGrp="1"/>
          </p:cNvSpPr>
          <p:nvPr>
            <p:ph type="dt" sz="half" idx="2"/>
          </p:nvPr>
        </p:nvSpPr>
        <p:spPr>
          <a:xfrm>
            <a:off x="1435394" y="6356350"/>
            <a:ext cx="2743200" cy="365125"/>
          </a:xfrm>
          <a:prstGeom prst="rect">
            <a:avLst/>
          </a:prstGeom>
        </p:spPr>
        <p:txBody>
          <a:bodyPr vert="horz" lIns="0" tIns="45720" rIns="91440" bIns="45720" rtlCol="0" anchor="ctr"/>
          <a:lstStyle>
            <a:lvl1pPr algn="l">
              <a:defRPr sz="12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621B8477-3F24-EDCB-C8AC-84336363918B}"/>
              </a:ext>
            </a:extLst>
          </p:cNvPr>
          <p:cNvSpPr>
            <a:spLocks noGrp="1"/>
          </p:cNvSpPr>
          <p:nvPr>
            <p:ph type="ftr" sz="quarter" idx="3"/>
          </p:nvPr>
        </p:nvSpPr>
        <p:spPr>
          <a:xfrm>
            <a:off x="7238999" y="6356350"/>
            <a:ext cx="4114800" cy="365125"/>
          </a:xfrm>
          <a:prstGeom prst="rect">
            <a:avLst/>
          </a:prstGeom>
        </p:spPr>
        <p:txBody>
          <a:bodyPr vert="horz" lIns="91440" tIns="45720" rIns="0" bIns="45720" rtlCol="0" anchor="ctr"/>
          <a:lstStyle>
            <a:lvl1pPr algn="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708" r:id="rId1"/>
    <p:sldLayoutId id="2147483717" r:id="rId2"/>
    <p:sldLayoutId id="2147483728" r:id="rId3"/>
    <p:sldLayoutId id="2147483729" r:id="rId4"/>
    <p:sldLayoutId id="2147483710" r:id="rId5"/>
    <p:sldLayoutId id="2147483727" r:id="rId6"/>
    <p:sldLayoutId id="2147483701" r:id="rId7"/>
    <p:sldLayoutId id="2147483721" r:id="rId8"/>
    <p:sldLayoutId id="2147483720" r:id="rId9"/>
    <p:sldLayoutId id="2147483730" r:id="rId10"/>
    <p:sldLayoutId id="2147483722" r:id="rId11"/>
    <p:sldLayoutId id="2147483698" r:id="rId12"/>
    <p:sldLayoutId id="2147483732" r:id="rId13"/>
    <p:sldLayoutId id="2147483702" r:id="rId14"/>
    <p:sldLayoutId id="2147483703" r:id="rId15"/>
  </p:sldLayoutIdLst>
  <p:hf sldNum="0" hdr="0" ftr="0"/>
  <p:txStyles>
    <p:titleStyle>
      <a:lvl1pPr algn="l" defTabSz="914400" rtl="0" eaLnBrk="1" latinLnBrk="0" hangingPunct="1">
        <a:lnSpc>
          <a:spcPts val="4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hyperlink" Target="https://dataforest.ai/blog/the-key-word-in-data-integration-with-apache-kafka-replayability" TargetMode="Externa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hyperlink" Target="https://dataforest.ai/blog/skills-and-tools-etl-or-elt-considerations" TargetMode="Externa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hyperlink" Target="https://dataforest.ai/services/data-integration/api-system-integration" TargetMode="Externa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DF5E5-51C6-70EB-3F1A-C962988DF2C7}"/>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3729104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A26E3B-7A4B-FCEE-112A-4ED041BC453C}"/>
              </a:ext>
            </a:extLst>
          </p:cNvPr>
          <p:cNvSpPr txBox="1"/>
          <p:nvPr/>
        </p:nvSpPr>
        <p:spPr>
          <a:xfrm>
            <a:off x="3048000" y="2014167"/>
            <a:ext cx="6096000" cy="2862322"/>
          </a:xfrm>
          <a:prstGeom prst="rect">
            <a:avLst/>
          </a:prstGeom>
          <a:noFill/>
        </p:spPr>
        <p:txBody>
          <a:bodyPr wrap="square">
            <a:spAutoFit/>
          </a:bodyPr>
          <a:lstStyle/>
          <a:p>
            <a:pPr algn="l">
              <a:buNone/>
            </a:pPr>
            <a:r>
              <a:rPr lang="en-US" b="1" i="0" dirty="0">
                <a:solidFill>
                  <a:srgbClr val="000000"/>
                </a:solidFill>
                <a:effectLst/>
                <a:latin typeface="Urbanist"/>
              </a:rPr>
              <a:t>API Streaming Events</a:t>
            </a:r>
          </a:p>
          <a:p>
            <a:pPr algn="l"/>
            <a:r>
              <a:rPr lang="en-US" b="0" i="0" dirty="0">
                <a:solidFill>
                  <a:srgbClr val="000000"/>
                </a:solidFill>
                <a:effectLst/>
                <a:latin typeface="Inter"/>
              </a:rPr>
              <a:t>API Streaming Events represent a paradigm shift in data processing, enabling real-time data handling and analysis. This presentation delves into the intricacies of API streaming events, their enablement, and the advantages they offer over traditional batch jobs and file processing. We will explore key APIs, different types of streaming architectures, and their applications in AI and data management, along with security needs and implementation strategies within the software development lifecycle and DevOps practices.</a:t>
            </a:r>
          </a:p>
        </p:txBody>
      </p:sp>
    </p:spTree>
    <p:extLst>
      <p:ext uri="{BB962C8B-B14F-4D97-AF65-F5344CB8AC3E}">
        <p14:creationId xmlns:p14="http://schemas.microsoft.com/office/powerpoint/2010/main" val="1429269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34CAA7-9815-68B9-C938-EE553D83416A}"/>
              </a:ext>
            </a:extLst>
          </p:cNvPr>
          <p:cNvSpPr txBox="1"/>
          <p:nvPr/>
        </p:nvSpPr>
        <p:spPr>
          <a:xfrm>
            <a:off x="3048000" y="213674"/>
            <a:ext cx="6096000" cy="6463308"/>
          </a:xfrm>
          <a:prstGeom prst="rect">
            <a:avLst/>
          </a:prstGeom>
          <a:noFill/>
        </p:spPr>
        <p:txBody>
          <a:bodyPr wrap="square">
            <a:spAutoFit/>
          </a:bodyPr>
          <a:lstStyle/>
          <a:p>
            <a:pPr algn="l">
              <a:buNone/>
            </a:pPr>
            <a:r>
              <a:rPr lang="en-US" b="1" i="0" dirty="0">
                <a:solidFill>
                  <a:srgbClr val="000000"/>
                </a:solidFill>
                <a:effectLst/>
                <a:latin typeface="Urbanist"/>
              </a:rPr>
              <a:t>API Streaming Events Overview</a:t>
            </a:r>
          </a:p>
          <a:p>
            <a:pPr algn="l">
              <a:buNone/>
            </a:pPr>
            <a:r>
              <a:rPr lang="en-US" b="0" i="0" dirty="0">
                <a:solidFill>
                  <a:srgbClr val="000000"/>
                </a:solidFill>
                <a:effectLst/>
                <a:latin typeface="Inter"/>
              </a:rPr>
              <a:t>API Streaming Events involve the continuous transmission of data from one system to another, allowing for real-time data processing and analysis. This approach contrasts with batch processing, where data is collected and processed in bulk at scheduled intervals. Streaming events are crucial for applications requiring immediate data insights, such as financial trading platforms, IoT devices, and real-time analytics dashboards. For instance, a stock trading application can use API streaming to receive and act on market data instantly, ensuring timely trades and minimizing latency.</a:t>
            </a:r>
          </a:p>
          <a:p>
            <a:pPr algn="l">
              <a:buNone/>
            </a:pPr>
            <a:r>
              <a:rPr lang="en-US" b="1" i="0" dirty="0">
                <a:solidFill>
                  <a:srgbClr val="000000"/>
                </a:solidFill>
                <a:effectLst/>
                <a:latin typeface="Urbanist"/>
              </a:rPr>
              <a:t>API Streaming Events Enablement Guide</a:t>
            </a:r>
          </a:p>
          <a:p>
            <a:pPr algn="l"/>
            <a:r>
              <a:rPr lang="en-US" b="0" i="0" dirty="0">
                <a:solidFill>
                  <a:srgbClr val="000000"/>
                </a:solidFill>
                <a:effectLst/>
                <a:latin typeface="Inter"/>
              </a:rPr>
              <a:t>Enabling API streaming events involves several key steps, including selecting the right streaming technology, designing the data pipeline, and ensuring scalability and reliability. Tools like Apache Kafka and AWS Kinesis are popular choices for implementing streaming architectures. Kafka, for example, provides a robust, distributed messaging system that can handle high-throughput data streams, while Kinesis offers managed streaming services with seamless integration into the AWS ecosystem. The enablement process also includes setting up data producers and consumers, configuring data serialization, and implementing error-handling mechanisms.</a:t>
            </a:r>
          </a:p>
        </p:txBody>
      </p:sp>
    </p:spTree>
    <p:extLst>
      <p:ext uri="{BB962C8B-B14F-4D97-AF65-F5344CB8AC3E}">
        <p14:creationId xmlns:p14="http://schemas.microsoft.com/office/powerpoint/2010/main" val="441886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E32AB8-870C-7B24-841B-37248980F828}"/>
              </a:ext>
            </a:extLst>
          </p:cNvPr>
          <p:cNvSpPr txBox="1"/>
          <p:nvPr/>
        </p:nvSpPr>
        <p:spPr>
          <a:xfrm>
            <a:off x="3048886" y="-3212001"/>
            <a:ext cx="6097772" cy="13313901"/>
          </a:xfrm>
          <a:prstGeom prst="rect">
            <a:avLst/>
          </a:prstGeom>
          <a:noFill/>
        </p:spPr>
        <p:txBody>
          <a:bodyPr wrap="square">
            <a:spAutoFit/>
          </a:bodyPr>
          <a:lstStyle/>
          <a:p>
            <a:pPr algn="l">
              <a:lnSpc>
                <a:spcPts val="4045"/>
              </a:lnSpc>
              <a:spcBef>
                <a:spcPts val="3000"/>
              </a:spcBef>
              <a:spcAft>
                <a:spcPts val="1500"/>
              </a:spcAft>
              <a:buNone/>
            </a:pPr>
            <a:r>
              <a:rPr lang="en-US" b="0" i="0" dirty="0">
                <a:solidFill>
                  <a:srgbClr val="323A51"/>
                </a:solidFill>
                <a:effectLst/>
                <a:latin typeface="Inter"/>
              </a:rPr>
              <a:t>Pillars of Data Integration Architecture</a:t>
            </a:r>
          </a:p>
          <a:p>
            <a:pPr algn="l">
              <a:spcAft>
                <a:spcPts val="750"/>
              </a:spcAft>
              <a:buNone/>
            </a:pPr>
            <a:r>
              <a:rPr lang="en-US" b="0" i="0" dirty="0">
                <a:solidFill>
                  <a:srgbClr val="323A51"/>
                </a:solidFill>
                <a:effectLst/>
                <a:latin typeface="Inter"/>
              </a:rPr>
              <a:t>A set of foundational principles anchors data integration architecture, each contributing to the integration process's robustness, efficiency, and strategic value.</a:t>
            </a:r>
          </a:p>
          <a:p>
            <a:pPr algn="l">
              <a:lnSpc>
                <a:spcPts val="2400"/>
              </a:lnSpc>
              <a:spcBef>
                <a:spcPts val="1500"/>
              </a:spcBef>
              <a:spcAft>
                <a:spcPts val="750"/>
              </a:spcAft>
              <a:buNone/>
            </a:pPr>
            <a:r>
              <a:rPr lang="en-US" b="0" i="0" dirty="0">
                <a:solidFill>
                  <a:srgbClr val="323A51"/>
                </a:solidFill>
                <a:effectLst/>
                <a:latin typeface="Inter"/>
              </a:rPr>
              <a:t>Upholding Data Consistency and Integrity</a:t>
            </a:r>
          </a:p>
          <a:p>
            <a:pPr algn="l">
              <a:spcAft>
                <a:spcPts val="750"/>
              </a:spcAft>
              <a:buNone/>
            </a:pPr>
            <a:r>
              <a:rPr lang="en-US" b="0" i="0" dirty="0">
                <a:solidFill>
                  <a:srgbClr val="323A51"/>
                </a:solidFill>
                <a:effectLst/>
                <a:latin typeface="Inter"/>
              </a:rPr>
              <a:t>The commitment to data consistency and integrity is at the heart of data integration architecture. This principle ensures that data, irrespective of its source, maintains its accuracy and reliability across the ecosystem. By standardizing data formats and validation rules, data integration architecture mitigates data discrepancies and inaccuracies risks, bolstering the foundation for reliable analytics and decision-making.</a:t>
            </a:r>
          </a:p>
          <a:p>
            <a:pPr algn="l">
              <a:lnSpc>
                <a:spcPts val="2400"/>
              </a:lnSpc>
              <a:spcBef>
                <a:spcPts val="1500"/>
              </a:spcBef>
              <a:spcAft>
                <a:spcPts val="750"/>
              </a:spcAft>
              <a:buNone/>
            </a:pPr>
            <a:r>
              <a:rPr lang="en-US" b="0" i="0" dirty="0">
                <a:solidFill>
                  <a:srgbClr val="323A51"/>
                </a:solidFill>
                <a:effectLst/>
                <a:latin typeface="Inter"/>
              </a:rPr>
              <a:t>Ensuring Data Security and Regulatory Compliance</a:t>
            </a:r>
          </a:p>
          <a:p>
            <a:pPr algn="l">
              <a:spcAft>
                <a:spcPts val="750"/>
              </a:spcAft>
              <a:buNone/>
            </a:pPr>
            <a:r>
              <a:rPr lang="en-US" b="0" i="0" dirty="0">
                <a:solidFill>
                  <a:srgbClr val="323A51"/>
                </a:solidFill>
                <a:effectLst/>
                <a:latin typeface="Inter"/>
              </a:rPr>
              <a:t>Data integration architecture places a premium on safeguarding data assets in an era marked by stringent data protection regulations and heightened security threats. Implementing comprehensive security protocols and compliance measures is paramount, protecting sensitive information from breaches and ensuring adherence to legal standards. This secures the organization's data landscape and fosters trust among stakeholders and customers.</a:t>
            </a:r>
          </a:p>
          <a:p>
            <a:pPr algn="l">
              <a:lnSpc>
                <a:spcPts val="2400"/>
              </a:lnSpc>
              <a:spcBef>
                <a:spcPts val="1500"/>
              </a:spcBef>
              <a:spcAft>
                <a:spcPts val="750"/>
              </a:spcAft>
              <a:buNone/>
            </a:pPr>
            <a:r>
              <a:rPr lang="en-US" b="0" i="0" dirty="0">
                <a:solidFill>
                  <a:srgbClr val="323A51"/>
                </a:solidFill>
                <a:effectLst/>
                <a:latin typeface="Inter"/>
              </a:rPr>
              <a:t>Scalability and Performance: Preparing for the Future</a:t>
            </a:r>
          </a:p>
          <a:p>
            <a:pPr algn="l">
              <a:spcAft>
                <a:spcPts val="750"/>
              </a:spcAft>
              <a:buNone/>
            </a:pPr>
            <a:r>
              <a:rPr lang="en-US" b="0" i="0" dirty="0">
                <a:solidFill>
                  <a:srgbClr val="323A51"/>
                </a:solidFill>
                <a:effectLst/>
                <a:latin typeface="Inter"/>
              </a:rPr>
              <a:t>Data integration architecture is designed with an eye toward scalability and performance. As organizations grow and data volumes expand, the architecture must adapt without compromising efficiency or speed. Employing distributed processing and load balancing strategies ensures that data integration systems can handle increasing loads, making the architecture resilient for future expansions.</a:t>
            </a:r>
          </a:p>
          <a:p>
            <a:pPr algn="l">
              <a:lnSpc>
                <a:spcPts val="2400"/>
              </a:lnSpc>
              <a:spcBef>
                <a:spcPts val="1500"/>
              </a:spcBef>
              <a:spcAft>
                <a:spcPts val="750"/>
              </a:spcAft>
              <a:buNone/>
            </a:pPr>
            <a:r>
              <a:rPr lang="en-US" b="0" i="0" dirty="0">
                <a:solidFill>
                  <a:srgbClr val="323A51"/>
                </a:solidFill>
                <a:effectLst/>
                <a:latin typeface="Inter"/>
              </a:rPr>
              <a:t>Governance and Metadata: The Organizational Compass</a:t>
            </a:r>
          </a:p>
          <a:p>
            <a:pPr algn="l">
              <a:spcAft>
                <a:spcPts val="750"/>
              </a:spcAft>
            </a:pPr>
            <a:r>
              <a:rPr lang="en-US" b="0" i="0" dirty="0">
                <a:solidFill>
                  <a:srgbClr val="323A51"/>
                </a:solidFill>
                <a:effectLst/>
                <a:latin typeface="Inter"/>
              </a:rPr>
              <a:t>Effective data governance and meticulous metadata management guide data integration architecture. Establishing clear policies and standards for data usage, quality, and ownership ensures that data remains a structured and governed asset within the organization. Simultaneously, robust metadata management provides the necessary context and lineage for data, enhancing its usability and reliability for end-users. These elements fortify the data integration process, enabling organizations to leverage their data assets with confidence and clarity.</a:t>
            </a:r>
          </a:p>
        </p:txBody>
      </p:sp>
    </p:spTree>
    <p:extLst>
      <p:ext uri="{BB962C8B-B14F-4D97-AF65-F5344CB8AC3E}">
        <p14:creationId xmlns:p14="http://schemas.microsoft.com/office/powerpoint/2010/main" val="3124986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1163ED-319A-6478-1325-5FF2A483043F}"/>
              </a:ext>
            </a:extLst>
          </p:cNvPr>
          <p:cNvSpPr txBox="1"/>
          <p:nvPr/>
        </p:nvSpPr>
        <p:spPr>
          <a:xfrm>
            <a:off x="3048886" y="-2825998"/>
            <a:ext cx="6097772" cy="12541895"/>
          </a:xfrm>
          <a:prstGeom prst="rect">
            <a:avLst/>
          </a:prstGeom>
          <a:noFill/>
        </p:spPr>
        <p:txBody>
          <a:bodyPr wrap="square">
            <a:spAutoFit/>
          </a:bodyPr>
          <a:lstStyle/>
          <a:p>
            <a:pPr algn="l">
              <a:lnSpc>
                <a:spcPts val="2400"/>
              </a:lnSpc>
              <a:spcBef>
                <a:spcPts val="1500"/>
              </a:spcBef>
              <a:spcAft>
                <a:spcPts val="750"/>
              </a:spcAft>
              <a:buNone/>
            </a:pPr>
            <a:r>
              <a:rPr lang="en-US" b="0" i="0" dirty="0">
                <a:solidFill>
                  <a:srgbClr val="323A51"/>
                </a:solidFill>
                <a:effectLst/>
                <a:latin typeface="Inter"/>
              </a:rPr>
              <a:t>Balancing Act: Batch Processing versus Real-time Processing</a:t>
            </a:r>
          </a:p>
          <a:p>
            <a:pPr algn="l">
              <a:lnSpc>
                <a:spcPts val="2250"/>
              </a:lnSpc>
              <a:spcBef>
                <a:spcPts val="750"/>
              </a:spcBef>
              <a:spcAft>
                <a:spcPts val="750"/>
              </a:spcAft>
              <a:buNone/>
            </a:pPr>
            <a:r>
              <a:rPr lang="en-US" b="0" i="0" dirty="0">
                <a:solidFill>
                  <a:srgbClr val="323A51"/>
                </a:solidFill>
                <a:effectLst/>
                <a:latin typeface="Inter"/>
              </a:rPr>
              <a:t>The Calculated Rhythms of Batch Processing</a:t>
            </a:r>
          </a:p>
          <a:p>
            <a:pPr algn="l">
              <a:spcAft>
                <a:spcPts val="750"/>
              </a:spcAft>
              <a:buNone/>
            </a:pPr>
            <a:r>
              <a:rPr lang="en-US" b="0" i="0" dirty="0">
                <a:solidFill>
                  <a:srgbClr val="323A51"/>
                </a:solidFill>
                <a:effectLst/>
                <a:latin typeface="Inter"/>
              </a:rPr>
              <a:t>Batch processing emerges as a classical approach within data integration architecture, prioritizing the accumulation and subsequent holistic data processing at predetermined intervals. Championed for its proficiency in handling voluminous data, this method aligns with scenarios where immediacy in data analysis is not paramount. Its structured nature affords predictable resource allocation, making it a cornerstone for traditional data warehousing and extensive reporting endeavors.</a:t>
            </a:r>
          </a:p>
          <a:p>
            <a:pPr algn="l">
              <a:spcAft>
                <a:spcPts val="750"/>
              </a:spcAft>
              <a:buNone/>
            </a:pPr>
            <a:r>
              <a:rPr lang="en-US" b="0" i="0" dirty="0">
                <a:solidFill>
                  <a:srgbClr val="323A51"/>
                </a:solidFill>
                <a:effectLst/>
                <a:latin typeface="Inter"/>
              </a:rPr>
              <a:t>Advantages:</a:t>
            </a:r>
          </a:p>
          <a:p>
            <a:pPr algn="l">
              <a:buFont typeface="Arial" panose="020B0604020202020204" pitchFamily="34" charset="0"/>
              <a:buChar char="•"/>
            </a:pPr>
            <a:r>
              <a:rPr lang="en-US" b="0" i="0" dirty="0">
                <a:solidFill>
                  <a:srgbClr val="323A51"/>
                </a:solidFill>
                <a:effectLst/>
                <a:latin typeface="Inter"/>
              </a:rPr>
              <a:t>Optimal for large-scale data handling with minimized processing overhead.</a:t>
            </a:r>
          </a:p>
          <a:p>
            <a:pPr algn="l">
              <a:buFont typeface="Arial" panose="020B0604020202020204" pitchFamily="34" charset="0"/>
              <a:buChar char="•"/>
            </a:pPr>
            <a:r>
              <a:rPr lang="en-US" b="0" i="0" dirty="0">
                <a:solidFill>
                  <a:srgbClr val="323A51"/>
                </a:solidFill>
                <a:effectLst/>
                <a:latin typeface="Inter"/>
              </a:rPr>
              <a:t>Streamlined resource management through predictable execution schedules.</a:t>
            </a:r>
          </a:p>
          <a:p>
            <a:pPr algn="l">
              <a:buFont typeface="Arial" panose="020B0604020202020204" pitchFamily="34" charset="0"/>
              <a:buChar char="•"/>
            </a:pPr>
            <a:r>
              <a:rPr lang="en-US" b="0" i="0" dirty="0">
                <a:solidFill>
                  <a:srgbClr val="323A51"/>
                </a:solidFill>
                <a:effectLst/>
                <a:latin typeface="Inter"/>
              </a:rPr>
              <a:t>Aligns with analytical scenarios devoid of real-time data dependency.</a:t>
            </a:r>
          </a:p>
          <a:p>
            <a:pPr algn="l">
              <a:spcAft>
                <a:spcPts val="750"/>
              </a:spcAft>
              <a:buNone/>
            </a:pPr>
            <a:r>
              <a:rPr lang="en-US" b="0" i="0" dirty="0">
                <a:solidFill>
                  <a:srgbClr val="323A51"/>
                </a:solidFill>
                <a:effectLst/>
                <a:latin typeface="Inter"/>
              </a:rPr>
              <a:t>Limitations:</a:t>
            </a:r>
          </a:p>
          <a:p>
            <a:pPr algn="l">
              <a:buFont typeface="Arial" panose="020B0604020202020204" pitchFamily="34" charset="0"/>
              <a:buChar char="•"/>
            </a:pPr>
            <a:r>
              <a:rPr lang="en-US" b="0" i="0" dirty="0">
                <a:solidFill>
                  <a:srgbClr val="323A51"/>
                </a:solidFill>
                <a:effectLst/>
                <a:latin typeface="Inter"/>
              </a:rPr>
              <a:t>Inherent latency introduces delays in data availability, potentially hindering timely decision-making.</a:t>
            </a:r>
          </a:p>
          <a:p>
            <a:pPr algn="l">
              <a:buFont typeface="Arial" panose="020B0604020202020204" pitchFamily="34" charset="0"/>
              <a:buChar char="•"/>
            </a:pPr>
            <a:r>
              <a:rPr lang="en-US" b="0" i="0" dirty="0">
                <a:solidFill>
                  <a:srgbClr val="323A51"/>
                </a:solidFill>
                <a:effectLst/>
                <a:latin typeface="Inter"/>
              </a:rPr>
              <a:t>This may contribute to data inconsistencies, particularly in rapidly evolving data landscapes.</a:t>
            </a:r>
          </a:p>
          <a:p>
            <a:pPr algn="l">
              <a:buFont typeface="Arial" panose="020B0604020202020204" pitchFamily="34" charset="0"/>
              <a:buChar char="•"/>
            </a:pPr>
            <a:r>
              <a:rPr lang="en-US" b="0" i="0" dirty="0">
                <a:solidFill>
                  <a:srgbClr val="323A51"/>
                </a:solidFill>
                <a:effectLst/>
                <a:latin typeface="Inter"/>
              </a:rPr>
              <a:t>Not conducive to applications demanding instant data insights.</a:t>
            </a:r>
          </a:p>
          <a:p>
            <a:pPr algn="l">
              <a:lnSpc>
                <a:spcPts val="2250"/>
              </a:lnSpc>
              <a:spcBef>
                <a:spcPts val="750"/>
              </a:spcBef>
              <a:spcAft>
                <a:spcPts val="750"/>
              </a:spcAft>
              <a:buNone/>
            </a:pPr>
            <a:r>
              <a:rPr lang="en-US" b="0" i="0" dirty="0">
                <a:solidFill>
                  <a:srgbClr val="323A51"/>
                </a:solidFill>
                <a:effectLst/>
                <a:latin typeface="Inter"/>
              </a:rPr>
              <a:t>The Dynamic Pulse of Real-time Processing</a:t>
            </a:r>
          </a:p>
          <a:p>
            <a:pPr algn="l">
              <a:spcAft>
                <a:spcPts val="750"/>
              </a:spcAft>
              <a:buNone/>
            </a:pPr>
            <a:r>
              <a:rPr lang="en-US" b="0" i="0" dirty="0">
                <a:solidFill>
                  <a:srgbClr val="323A51"/>
                </a:solidFill>
                <a:effectLst/>
                <a:latin typeface="Inter"/>
              </a:rPr>
              <a:t>Conversely, real-time processing is the vanguard of modern data integration architecture, epitomized by its ability to deliver instantaneous data insights. This approach is instrumental in environments where swift decision-making is critical, leveraging technologies like </a:t>
            </a:r>
            <a:r>
              <a:rPr lang="en-US" b="0" i="0" u="none" strike="noStrike" dirty="0">
                <a:solidFill>
                  <a:srgbClr val="DF5DAD"/>
                </a:solidFill>
                <a:effectLst/>
                <a:latin typeface="Inter"/>
                <a:hlinkClick r:id="rId2"/>
              </a:rPr>
              <a:t>Apache Kafka</a:t>
            </a:r>
            <a:r>
              <a:rPr lang="en-US" b="0" i="0" dirty="0">
                <a:solidFill>
                  <a:srgbClr val="323A51"/>
                </a:solidFill>
                <a:effectLst/>
                <a:latin typeface="Inter"/>
              </a:rPr>
              <a:t> to facilitate a continuous data analysis flow. Real-time processing is indispensable for applications such as live fraud detection and instant market analysis, where data's temporal value is paramount.</a:t>
            </a:r>
          </a:p>
          <a:p>
            <a:pPr algn="l">
              <a:spcAft>
                <a:spcPts val="750"/>
              </a:spcAft>
              <a:buNone/>
            </a:pPr>
            <a:r>
              <a:rPr lang="en-US" b="0" i="0" dirty="0">
                <a:solidFill>
                  <a:srgbClr val="323A51"/>
                </a:solidFill>
                <a:effectLst/>
                <a:latin typeface="Inter"/>
              </a:rPr>
              <a:t>Advantages:</a:t>
            </a:r>
          </a:p>
          <a:p>
            <a:pPr algn="l">
              <a:buFont typeface="Arial" panose="020B0604020202020204" pitchFamily="34" charset="0"/>
              <a:buChar char="•"/>
            </a:pPr>
            <a:r>
              <a:rPr lang="en-US" b="0" i="0" dirty="0">
                <a:solidFill>
                  <a:srgbClr val="323A51"/>
                </a:solidFill>
                <a:effectLst/>
                <a:latin typeface="Inter"/>
              </a:rPr>
              <a:t>Facilitates immediate decision-making through near-instant data insights.</a:t>
            </a:r>
          </a:p>
          <a:p>
            <a:pPr algn="l">
              <a:buFont typeface="Arial" panose="020B0604020202020204" pitchFamily="34" charset="0"/>
              <a:buChar char="•"/>
            </a:pPr>
            <a:r>
              <a:rPr lang="en-US" b="0" i="0" dirty="0">
                <a:solidFill>
                  <a:srgbClr val="323A51"/>
                </a:solidFill>
                <a:effectLst/>
                <a:latin typeface="Inter"/>
              </a:rPr>
              <a:t>Enhances operational agility with real-time data monitoring and analytics.</a:t>
            </a:r>
          </a:p>
          <a:p>
            <a:pPr algn="l">
              <a:buFont typeface="Arial" panose="020B0604020202020204" pitchFamily="34" charset="0"/>
              <a:buChar char="•"/>
            </a:pPr>
            <a:r>
              <a:rPr lang="en-US" b="0" i="0" dirty="0">
                <a:solidFill>
                  <a:srgbClr val="323A51"/>
                </a:solidFill>
                <a:effectLst/>
                <a:latin typeface="Inter"/>
              </a:rPr>
              <a:t>This is crucial for applications requiring continuous data analysis.</a:t>
            </a:r>
          </a:p>
        </p:txBody>
      </p:sp>
    </p:spTree>
    <p:extLst>
      <p:ext uri="{BB962C8B-B14F-4D97-AF65-F5344CB8AC3E}">
        <p14:creationId xmlns:p14="http://schemas.microsoft.com/office/powerpoint/2010/main" val="4148597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87D0A4-D9B9-0EC8-8700-B365EFD9B952}"/>
              </a:ext>
            </a:extLst>
          </p:cNvPr>
          <p:cNvSpPr txBox="1"/>
          <p:nvPr/>
        </p:nvSpPr>
        <p:spPr>
          <a:xfrm>
            <a:off x="3048886" y="-3730092"/>
            <a:ext cx="6097772" cy="14350082"/>
          </a:xfrm>
          <a:prstGeom prst="rect">
            <a:avLst/>
          </a:prstGeom>
          <a:noFill/>
        </p:spPr>
        <p:txBody>
          <a:bodyPr wrap="square">
            <a:spAutoFit/>
          </a:bodyPr>
          <a:lstStyle/>
          <a:p>
            <a:pPr algn="l">
              <a:lnSpc>
                <a:spcPts val="4045"/>
              </a:lnSpc>
              <a:spcBef>
                <a:spcPts val="3000"/>
              </a:spcBef>
              <a:spcAft>
                <a:spcPts val="1500"/>
              </a:spcAft>
              <a:buNone/>
            </a:pPr>
            <a:r>
              <a:rPr lang="en-US" b="0" i="0" dirty="0">
                <a:solidFill>
                  <a:srgbClr val="323A51"/>
                </a:solidFill>
                <a:effectLst/>
                <a:latin typeface="Inter"/>
              </a:rPr>
              <a:t>Architectural Patterns: Blueprinting Success</a:t>
            </a:r>
          </a:p>
          <a:p>
            <a:pPr algn="l">
              <a:spcAft>
                <a:spcPts val="750"/>
              </a:spcAft>
              <a:buNone/>
            </a:pPr>
            <a:r>
              <a:rPr lang="en-US" b="0" i="0" dirty="0">
                <a:solidFill>
                  <a:srgbClr val="323A51"/>
                </a:solidFill>
                <a:effectLst/>
                <a:latin typeface="Inter"/>
              </a:rPr>
              <a:t>Data integration architecture patterns emerge as standardized frameworks, guiding the design and implementation of integration solutions. These patterns address specific data challenges, offering efficiency, scalability, and innovation pathways.</a:t>
            </a:r>
          </a:p>
          <a:p>
            <a:pPr algn="l">
              <a:lnSpc>
                <a:spcPts val="2400"/>
              </a:lnSpc>
              <a:spcBef>
                <a:spcPts val="1500"/>
              </a:spcBef>
              <a:spcAft>
                <a:spcPts val="750"/>
              </a:spcAft>
              <a:buNone/>
            </a:pPr>
            <a:r>
              <a:rPr lang="en-US" b="0" i="0" dirty="0">
                <a:solidFill>
                  <a:srgbClr val="323A51"/>
                </a:solidFill>
                <a:effectLst/>
                <a:latin typeface="Inter"/>
              </a:rPr>
              <a:t>Centralizing Insights with the Data Hub Pattern</a:t>
            </a:r>
          </a:p>
          <a:p>
            <a:pPr algn="l">
              <a:spcAft>
                <a:spcPts val="750"/>
              </a:spcAft>
              <a:buNone/>
            </a:pPr>
            <a:r>
              <a:rPr lang="en-US" b="0" i="0" dirty="0">
                <a:solidFill>
                  <a:srgbClr val="323A51"/>
                </a:solidFill>
                <a:effectLst/>
                <a:latin typeface="Inter"/>
              </a:rPr>
              <a:t>The Data Hub pattern eradicates data silos by funneling data from myriad sources into a singular repository. This consolidation fosters data coherence, ensuring quality and consistency, which, in turn, accelerates organizational agility by offering a unified data foundation for rapid decision-making and strategic pivots.</a:t>
            </a:r>
          </a:p>
          <a:p>
            <a:pPr algn="l">
              <a:lnSpc>
                <a:spcPts val="2400"/>
              </a:lnSpc>
              <a:spcBef>
                <a:spcPts val="1500"/>
              </a:spcBef>
              <a:spcAft>
                <a:spcPts val="750"/>
              </a:spcAft>
              <a:buNone/>
            </a:pPr>
            <a:r>
              <a:rPr lang="en-US" b="0" i="0" dirty="0">
                <a:solidFill>
                  <a:srgbClr val="323A51"/>
                </a:solidFill>
                <a:effectLst/>
                <a:latin typeface="Inter"/>
              </a:rPr>
              <a:t>Pioneering Agility with Event-Driven Integration</a:t>
            </a:r>
          </a:p>
          <a:p>
            <a:pPr algn="l">
              <a:spcAft>
                <a:spcPts val="750"/>
              </a:spcAft>
              <a:buNone/>
            </a:pPr>
            <a:r>
              <a:rPr lang="en-US" b="0" i="0" dirty="0">
                <a:solidFill>
                  <a:srgbClr val="323A51"/>
                </a:solidFill>
                <a:effectLst/>
                <a:latin typeface="Inter"/>
              </a:rPr>
              <a:t>Event-driven integration champions real-time data analysis, a necessity in dynamic sectors requiring instantaneous insights. This pattern's prowess in handling live data streams translates into enhanced decision-making speed and operational responsiveness, illustrating the agility afforded by modern data integration architecture.</a:t>
            </a:r>
          </a:p>
          <a:p>
            <a:pPr algn="l">
              <a:lnSpc>
                <a:spcPts val="2400"/>
              </a:lnSpc>
              <a:spcBef>
                <a:spcPts val="1500"/>
              </a:spcBef>
              <a:spcAft>
                <a:spcPts val="750"/>
              </a:spcAft>
              <a:buNone/>
            </a:pPr>
            <a:r>
              <a:rPr lang="en-US" b="0" i="0" dirty="0">
                <a:solidFill>
                  <a:srgbClr val="323A51"/>
                </a:solidFill>
                <a:effectLst/>
                <a:latin typeface="Inter"/>
              </a:rPr>
              <a:t>Modular Flexibility through Microservices</a:t>
            </a:r>
          </a:p>
          <a:p>
            <a:pPr algn="l">
              <a:spcAft>
                <a:spcPts val="750"/>
              </a:spcAft>
              <a:buNone/>
            </a:pPr>
            <a:r>
              <a:rPr lang="en-US" b="0" i="0" dirty="0">
                <a:solidFill>
                  <a:srgbClr val="323A51"/>
                </a:solidFill>
                <a:effectLst/>
                <a:latin typeface="Inter"/>
              </a:rPr>
              <a:t>The Microservices-based Integration pattern introduces unparalleled modularity, allowing organizations to tailor and scale their data integration processes with finesse. This approach simplifies complexity and fortifies system resilience, ensuring robust data flow despite individual component failures.</a:t>
            </a:r>
          </a:p>
          <a:p>
            <a:pPr algn="l">
              <a:lnSpc>
                <a:spcPts val="2400"/>
              </a:lnSpc>
              <a:spcBef>
                <a:spcPts val="1500"/>
              </a:spcBef>
              <a:spcAft>
                <a:spcPts val="750"/>
              </a:spcAft>
              <a:buNone/>
            </a:pPr>
            <a:r>
              <a:rPr lang="en-US" b="0" i="0" dirty="0">
                <a:solidFill>
                  <a:srgbClr val="323A51"/>
                </a:solidFill>
                <a:effectLst/>
                <a:latin typeface="Inter"/>
              </a:rPr>
              <a:t>Streamlining Processes with ETL</a:t>
            </a:r>
          </a:p>
          <a:p>
            <a:pPr algn="l">
              <a:spcAft>
                <a:spcPts val="750"/>
              </a:spcAft>
              <a:buNone/>
            </a:pPr>
            <a:r>
              <a:rPr lang="en-US" b="0" i="0" dirty="0">
                <a:solidFill>
                  <a:srgbClr val="323A51"/>
                </a:solidFill>
                <a:effectLst/>
                <a:latin typeface="Inter"/>
              </a:rPr>
              <a:t>The enduring </a:t>
            </a:r>
            <a:r>
              <a:rPr lang="en-US" b="0" i="0" u="none" strike="noStrike" dirty="0">
                <a:solidFill>
                  <a:srgbClr val="DF5DAD"/>
                </a:solidFill>
                <a:effectLst/>
                <a:latin typeface="Inter"/>
                <a:hlinkClick r:id="rId2"/>
              </a:rPr>
              <a:t>ETL (Extract, Transform, Load)</a:t>
            </a:r>
            <a:r>
              <a:rPr lang="en-US" b="0" i="0" dirty="0">
                <a:solidFill>
                  <a:srgbClr val="323A51"/>
                </a:solidFill>
                <a:effectLst/>
                <a:latin typeface="Inter"/>
              </a:rPr>
              <a:t> pattern remains foundational in batch processing contexts, ensuring data integrity and consistency across large datasets. By facilitating thorough data cleansing and standardization, ETL underpins reliable analytics and governance, illustrating its timeless value in data integration architecture.</a:t>
            </a:r>
          </a:p>
          <a:p>
            <a:pPr algn="l">
              <a:spcAft>
                <a:spcPts val="750"/>
              </a:spcAft>
              <a:buNone/>
            </a:pPr>
            <a:r>
              <a:rPr lang="en-US" b="0" i="0" dirty="0">
                <a:solidFill>
                  <a:srgbClr val="323A51"/>
                </a:solidFill>
                <a:effectLst/>
                <a:latin typeface="Inter"/>
              </a:rPr>
              <a:t>Data integration architecture is not merely a technical endeavor but a strategic imperative that permeates every facet of modern business. Its various applications and patterns offer a roadmap for corps to navigate the complexities of data management, unlocking the potential to drive growth, innovation, and competitive advantage in an increasingly data-driven world.</a:t>
            </a:r>
          </a:p>
          <a:p>
            <a:pPr algn="l"/>
            <a:br>
              <a:rPr lang="en-US" b="0" i="0" dirty="0">
                <a:solidFill>
                  <a:srgbClr val="323A51"/>
                </a:solidFill>
                <a:effectLst/>
                <a:latin typeface="Inter"/>
              </a:rPr>
            </a:br>
            <a:endParaRPr lang="en-US" b="0" i="0" dirty="0">
              <a:solidFill>
                <a:srgbClr val="323A51"/>
              </a:solidFill>
              <a:effectLst/>
              <a:latin typeface="Inter"/>
            </a:endParaRPr>
          </a:p>
        </p:txBody>
      </p:sp>
    </p:spTree>
    <p:extLst>
      <p:ext uri="{BB962C8B-B14F-4D97-AF65-F5344CB8AC3E}">
        <p14:creationId xmlns:p14="http://schemas.microsoft.com/office/powerpoint/2010/main" val="515318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71360C1-5E97-6764-3BC4-4E8B4ABBF0E9}"/>
              </a:ext>
            </a:extLst>
          </p:cNvPr>
          <p:cNvGraphicFramePr>
            <a:graphicFrameLocks noGrp="1"/>
          </p:cNvGraphicFramePr>
          <p:nvPr/>
        </p:nvGraphicFramePr>
        <p:xfrm>
          <a:off x="4475754" y="1814906"/>
          <a:ext cx="3837392" cy="4372776"/>
        </p:xfrm>
        <a:graphic>
          <a:graphicData uri="http://schemas.openxmlformats.org/drawingml/2006/table">
            <a:tbl>
              <a:tblPr/>
              <a:tblGrid>
                <a:gridCol w="959348">
                  <a:extLst>
                    <a:ext uri="{9D8B030D-6E8A-4147-A177-3AD203B41FA5}">
                      <a16:colId xmlns:a16="http://schemas.microsoft.com/office/drawing/2014/main" val="2581767287"/>
                    </a:ext>
                  </a:extLst>
                </a:gridCol>
                <a:gridCol w="959348">
                  <a:extLst>
                    <a:ext uri="{9D8B030D-6E8A-4147-A177-3AD203B41FA5}">
                      <a16:colId xmlns:a16="http://schemas.microsoft.com/office/drawing/2014/main" val="2609939703"/>
                    </a:ext>
                  </a:extLst>
                </a:gridCol>
                <a:gridCol w="959348">
                  <a:extLst>
                    <a:ext uri="{9D8B030D-6E8A-4147-A177-3AD203B41FA5}">
                      <a16:colId xmlns:a16="http://schemas.microsoft.com/office/drawing/2014/main" val="256386411"/>
                    </a:ext>
                  </a:extLst>
                </a:gridCol>
                <a:gridCol w="959348">
                  <a:extLst>
                    <a:ext uri="{9D8B030D-6E8A-4147-A177-3AD203B41FA5}">
                      <a16:colId xmlns:a16="http://schemas.microsoft.com/office/drawing/2014/main" val="4096563022"/>
                    </a:ext>
                  </a:extLst>
                </a:gridCol>
              </a:tblGrid>
              <a:tr h="247637">
                <a:tc>
                  <a:txBody>
                    <a:bodyPr/>
                    <a:lstStyle/>
                    <a:p>
                      <a:r>
                        <a:rPr lang="en-US" sz="700">
                          <a:effectLst/>
                        </a:rPr>
                        <a:t>Section</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FBFBF"/>
                    </a:solidFill>
                  </a:tcPr>
                </a:tc>
                <a:tc>
                  <a:txBody>
                    <a:bodyPr/>
                    <a:lstStyle/>
                    <a:p>
                      <a:r>
                        <a:rPr lang="en-US" sz="700">
                          <a:effectLst/>
                        </a:rPr>
                        <a:t>Advanced Insights &amp; Strategies</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FBFBF"/>
                    </a:solidFill>
                  </a:tcPr>
                </a:tc>
                <a:tc>
                  <a:txBody>
                    <a:bodyPr/>
                    <a:lstStyle/>
                    <a:p>
                      <a:r>
                        <a:rPr lang="en-US" sz="700">
                          <a:effectLst/>
                        </a:rPr>
                        <a:t>Real-Life Application Examples</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FBFBF"/>
                    </a:solidFill>
                  </a:tcPr>
                </a:tc>
                <a:tc>
                  <a:txBody>
                    <a:bodyPr/>
                    <a:lstStyle/>
                    <a:p>
                      <a:r>
                        <a:rPr lang="en-US" sz="700">
                          <a:effectLst/>
                        </a:rPr>
                        <a:t>Refined KPIs for Progress</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794262688"/>
                  </a:ext>
                </a:extLst>
              </a:tr>
              <a:tr h="778288">
                <a:tc>
                  <a:txBody>
                    <a:bodyPr/>
                    <a:lstStyle/>
                    <a:p>
                      <a:r>
                        <a:rPr lang="en-US" sz="700">
                          <a:effectLst/>
                        </a:rPr>
                        <a:t>Strategic Integration</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a:effectLst/>
                        </a:rPr>
                        <a:t>Implement a phased approach to integration, prioritizing critical data sources—leverage AI for predictive analytics.</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a:effectLst/>
                        </a:rPr>
                        <a:t>A multinational expands its market reach by analyzing integrated global sales data through AI-driven insights.</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a:effectLst/>
                        </a:rPr>
                        <a:t>- Decision-making acceleration rate</a:t>
                      </a:r>
                      <a:br>
                        <a:rPr lang="en-US" sz="700">
                          <a:effectLst/>
                        </a:rPr>
                      </a:br>
                      <a:r>
                        <a:rPr lang="en-US" sz="700">
                          <a:effectLst/>
                        </a:rPr>
                        <a:t>- Market response time</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85461964"/>
                  </a:ext>
                </a:extLst>
              </a:tr>
              <a:tr h="884418">
                <a:tc>
                  <a:txBody>
                    <a:bodyPr/>
                    <a:lstStyle/>
                    <a:p>
                      <a:r>
                        <a:rPr lang="en-US" sz="700">
                          <a:effectLst/>
                        </a:rPr>
                        <a:t>Governance &amp; Scalability</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a:effectLst/>
                        </a:rPr>
                        <a:t>Embrace dynamic data models and cloud services for scalability—Automate compliance with global standards like GDPR.</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a:effectLst/>
                        </a:rPr>
                        <a:t>Finance firms use automated, cloud-based integration platforms to use automated, cloud-based integration playability.</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a:effectLst/>
                        </a:rPr>
                        <a:t>- Data model adaptability index</a:t>
                      </a:r>
                      <a:br>
                        <a:rPr lang="en-US" sz="700">
                          <a:effectLst/>
                        </a:rPr>
                      </a:br>
                      <a:r>
                        <a:rPr lang="en-US" sz="700">
                          <a:effectLst/>
                        </a:rPr>
                        <a:t>- Cloud resource utilization</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30523358"/>
                  </a:ext>
                </a:extLst>
              </a:tr>
              <a:tr h="778288">
                <a:tc>
                  <a:txBody>
                    <a:bodyPr/>
                    <a:lstStyle/>
                    <a:p>
                      <a:r>
                        <a:rPr lang="en-US" sz="700">
                          <a:effectLst/>
                        </a:rPr>
                        <a:t>Innovative Patterns</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a:effectLst/>
                        </a:rPr>
                        <a:t>Opt for API-led connectivity, stream processing for live data, and microservices for modular integration.</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a:effectLst/>
                        </a:rPr>
                        <a:t>E-commerce platforms enhance customer transactions with seamless payment gateway integrations via APIs.</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a:effectLst/>
                        </a:rPr>
                        <a:t>- </a:t>
                      </a:r>
                      <a:r>
                        <a:rPr lang="en-US" sz="700" u="none" strike="noStrike">
                          <a:solidFill>
                            <a:srgbClr val="DF5DAD"/>
                          </a:solidFill>
                          <a:effectLst/>
                          <a:hlinkClick r:id="rId2"/>
                        </a:rPr>
                        <a:t>API integration efficiency</a:t>
                      </a:r>
                      <a:br>
                        <a:rPr lang="en-US" sz="700">
                          <a:effectLst/>
                        </a:rPr>
                      </a:br>
                      <a:r>
                        <a:rPr lang="en-US" sz="700">
                          <a:effectLst/>
                        </a:rPr>
                        <a:t>- Real-time insight generation rate</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68130508"/>
                  </a:ext>
                </a:extLst>
              </a:tr>
              <a:tr h="884418">
                <a:tc>
                  <a:txBody>
                    <a:bodyPr/>
                    <a:lstStyle/>
                    <a:p>
                      <a:r>
                        <a:rPr lang="en-US" sz="700">
                          <a:effectLst/>
                        </a:rPr>
                        <a:t>Impactful Implementations</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a:effectLst/>
                        </a:rPr>
                        <a:t>Use AI to customize user experiences based on integrated behavioral data—Automate supply chain adjustments with real-time analytics.</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a:effectLst/>
                        </a:rPr>
                        <a:t>Retailers personalize shopping experiences with AI models that analyze integrated, multi-channel customer data.</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a:effectLst/>
                        </a:rPr>
                        <a:t>- Customer engagement level</a:t>
                      </a:r>
                      <a:br>
                        <a:rPr lang="en-US" sz="700">
                          <a:effectLst/>
                        </a:rPr>
                      </a:br>
                      <a:r>
                        <a:rPr lang="en-US" sz="700">
                          <a:effectLst/>
                        </a:rPr>
                        <a:t>- Supply chain optimization rate</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83183023"/>
                  </a:ext>
                </a:extLst>
              </a:tr>
              <a:tr h="778288">
                <a:tc>
                  <a:txBody>
                    <a:bodyPr/>
                    <a:lstStyle/>
                    <a:p>
                      <a:r>
                        <a:rPr lang="en-US" sz="700">
                          <a:effectLst/>
                        </a:rPr>
                        <a:t>Operational Excellence</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a:effectLst/>
                        </a:rPr>
                        <a:t>Automate integration pipelines with CI/CD. Implement robust error handling and data lineage tools for transparency.</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a:effectLst/>
                        </a:rPr>
                        <a:t>Tech companies streamline updates in recommendation engines with CI/CD automated data pipelines.</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US" sz="700" dirty="0">
                          <a:effectLst/>
                        </a:rPr>
                        <a:t>- Pipeline deployment frequency</a:t>
                      </a:r>
                      <a:br>
                        <a:rPr lang="en-US" sz="700" dirty="0">
                          <a:effectLst/>
                        </a:rPr>
                      </a:br>
                      <a:r>
                        <a:rPr lang="en-US" sz="700" dirty="0">
                          <a:effectLst/>
                        </a:rPr>
                        <a:t>- Error resolution time</a:t>
                      </a:r>
                    </a:p>
                  </a:txBody>
                  <a:tcPr marL="35377" marR="35377" marT="17688" marB="17688"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01865635"/>
                  </a:ext>
                </a:extLst>
              </a:tr>
            </a:tbl>
          </a:graphicData>
        </a:graphic>
      </p:graphicFrame>
    </p:spTree>
    <p:extLst>
      <p:ext uri="{BB962C8B-B14F-4D97-AF65-F5344CB8AC3E}">
        <p14:creationId xmlns:p14="http://schemas.microsoft.com/office/powerpoint/2010/main" val="1423120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9CF3AF-2208-D8D5-FC18-E25E317681CE}"/>
              </a:ext>
            </a:extLst>
          </p:cNvPr>
          <p:cNvSpPr txBox="1"/>
          <p:nvPr/>
        </p:nvSpPr>
        <p:spPr>
          <a:xfrm>
            <a:off x="3048000" y="213674"/>
            <a:ext cx="6096000" cy="6463308"/>
          </a:xfrm>
          <a:prstGeom prst="rect">
            <a:avLst/>
          </a:prstGeom>
          <a:noFill/>
        </p:spPr>
        <p:txBody>
          <a:bodyPr wrap="square">
            <a:spAutoFit/>
          </a:bodyPr>
          <a:lstStyle/>
          <a:p>
            <a:pPr algn="l">
              <a:buNone/>
            </a:pPr>
            <a:r>
              <a:rPr lang="en-US" b="1" i="0" dirty="0">
                <a:solidFill>
                  <a:srgbClr val="000000"/>
                </a:solidFill>
                <a:effectLst/>
                <a:latin typeface="Urbanist"/>
              </a:rPr>
              <a:t>Cons of Batch Jobs and File Processing</a:t>
            </a:r>
          </a:p>
          <a:p>
            <a:pPr algn="l">
              <a:buNone/>
            </a:pPr>
            <a:r>
              <a:rPr lang="en-US" b="0" i="0" dirty="0">
                <a:solidFill>
                  <a:srgbClr val="000000"/>
                </a:solidFill>
                <a:effectLst/>
                <a:latin typeface="Inter"/>
              </a:rPr>
              <a:t>Batch jobs and file processing have limitations that make them less suitable for real-time data requirements. Batch processing involves collecting data over a period and processing it in bulk, which can lead to delays in data availability and insights. For example, a retail company might process sales data at the end of the day, missing out on real-time inventory management opportunities. File processing, on the other hand, can be inefficient due to the overhead of file handling, such as reading from and writing to disk, which can slow down data processing and increase latency.</a:t>
            </a:r>
          </a:p>
          <a:p>
            <a:pPr algn="l">
              <a:buNone/>
            </a:pPr>
            <a:r>
              <a:rPr lang="en-US" b="1" i="0" dirty="0">
                <a:solidFill>
                  <a:srgbClr val="000000"/>
                </a:solidFill>
                <a:effectLst/>
                <a:latin typeface="Urbanist"/>
              </a:rPr>
              <a:t>Key APIs for Streaming Events</a:t>
            </a:r>
          </a:p>
          <a:p>
            <a:pPr algn="l"/>
            <a:r>
              <a:rPr lang="en-US" b="0" i="0" dirty="0">
                <a:solidFill>
                  <a:srgbClr val="000000"/>
                </a:solidFill>
                <a:effectLst/>
                <a:latin typeface="Inter"/>
              </a:rPr>
              <a:t>Several key APIs facilitate the implementation of streaming events, including RESTful APIs, </a:t>
            </a:r>
            <a:r>
              <a:rPr lang="en-US" b="0" i="0" dirty="0" err="1">
                <a:solidFill>
                  <a:srgbClr val="000000"/>
                </a:solidFill>
                <a:effectLst/>
                <a:latin typeface="Inter"/>
              </a:rPr>
              <a:t>WebSockets</a:t>
            </a:r>
            <a:r>
              <a:rPr lang="en-US" b="0" i="0" dirty="0">
                <a:solidFill>
                  <a:srgbClr val="000000"/>
                </a:solidFill>
                <a:effectLst/>
                <a:latin typeface="Inter"/>
              </a:rPr>
              <a:t>, and </a:t>
            </a:r>
            <a:r>
              <a:rPr lang="en-US" b="0" i="0" dirty="0" err="1">
                <a:solidFill>
                  <a:srgbClr val="000000"/>
                </a:solidFill>
                <a:effectLst/>
                <a:latin typeface="Inter"/>
              </a:rPr>
              <a:t>gRPC</a:t>
            </a:r>
            <a:r>
              <a:rPr lang="en-US" b="0" i="0" dirty="0">
                <a:solidFill>
                  <a:srgbClr val="000000"/>
                </a:solidFill>
                <a:effectLst/>
                <a:latin typeface="Inter"/>
              </a:rPr>
              <a:t>. RESTful APIs are widely used for their simplicity and stateless nature, making them suitable for HTTP-based streaming. </a:t>
            </a:r>
            <a:r>
              <a:rPr lang="en-US" b="0" i="0" dirty="0" err="1">
                <a:solidFill>
                  <a:srgbClr val="000000"/>
                </a:solidFill>
                <a:effectLst/>
                <a:latin typeface="Inter"/>
              </a:rPr>
              <a:t>WebSockets</a:t>
            </a:r>
            <a:r>
              <a:rPr lang="en-US" b="0" i="0" dirty="0">
                <a:solidFill>
                  <a:srgbClr val="000000"/>
                </a:solidFill>
                <a:effectLst/>
                <a:latin typeface="Inter"/>
              </a:rPr>
              <a:t> provide full-duplex communication channels, allowing for real-time data exchange between clients and servers. </a:t>
            </a:r>
            <a:r>
              <a:rPr lang="en-US" b="0" i="0" dirty="0" err="1">
                <a:solidFill>
                  <a:srgbClr val="000000"/>
                </a:solidFill>
                <a:effectLst/>
                <a:latin typeface="Inter"/>
              </a:rPr>
              <a:t>gRPC</a:t>
            </a:r>
            <a:r>
              <a:rPr lang="en-US" b="0" i="0" dirty="0">
                <a:solidFill>
                  <a:srgbClr val="000000"/>
                </a:solidFill>
                <a:effectLst/>
                <a:latin typeface="Inter"/>
              </a:rPr>
              <a:t>, developed by Google, offers high-performance, language-agnostic communication using HTTP/2, making it ideal for microservices architectures. These APIs enable seamless integration and data flow between different systems and services.</a:t>
            </a:r>
          </a:p>
        </p:txBody>
      </p:sp>
    </p:spTree>
    <p:extLst>
      <p:ext uri="{BB962C8B-B14F-4D97-AF65-F5344CB8AC3E}">
        <p14:creationId xmlns:p14="http://schemas.microsoft.com/office/powerpoint/2010/main" val="4057088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E8E60F-14E6-5DF0-7ABB-98542682C427}"/>
              </a:ext>
            </a:extLst>
          </p:cNvPr>
          <p:cNvSpPr txBox="1"/>
          <p:nvPr/>
        </p:nvSpPr>
        <p:spPr>
          <a:xfrm>
            <a:off x="3048000" y="-201824"/>
            <a:ext cx="6096000" cy="7294305"/>
          </a:xfrm>
          <a:prstGeom prst="rect">
            <a:avLst/>
          </a:prstGeom>
          <a:noFill/>
        </p:spPr>
        <p:txBody>
          <a:bodyPr wrap="square">
            <a:spAutoFit/>
          </a:bodyPr>
          <a:lstStyle/>
          <a:p>
            <a:pPr algn="l">
              <a:buNone/>
            </a:pPr>
            <a:r>
              <a:rPr lang="en-US" b="1" i="0" dirty="0">
                <a:solidFill>
                  <a:srgbClr val="000000"/>
                </a:solidFill>
                <a:effectLst/>
                <a:latin typeface="Urbanist"/>
              </a:rPr>
              <a:t>Types of Stream Architectures</a:t>
            </a:r>
          </a:p>
          <a:p>
            <a:pPr algn="l">
              <a:buNone/>
            </a:pPr>
            <a:r>
              <a:rPr lang="en-US" b="0" i="0" dirty="0">
                <a:solidFill>
                  <a:srgbClr val="000000"/>
                </a:solidFill>
                <a:effectLst/>
                <a:latin typeface="Inter"/>
              </a:rPr>
              <a:t>Streaming architectures come in various forms, including Pub/Sub, Queuing, Message Brokers, and Topics. Pub/Sub (Publish/Subscribe) models allow producers to publish messages to topics, which consumers subscribe to, enabling decoupled communication. Queuing systems, like Amazon SQS, manage message queues to ensure reliable delivery and processing. Message brokers, such as RabbitMQ, facilitate message routing and transformation. Topics, used in systems like Kafka, organize messages into categories, allowing multiple consumers to subscribe to specific data streams. Each architecture has its use cases and benefits, depending on the application requirements.</a:t>
            </a:r>
          </a:p>
          <a:p>
            <a:pPr algn="l">
              <a:buNone/>
            </a:pPr>
            <a:r>
              <a:rPr lang="en-US" b="1" i="0" dirty="0">
                <a:solidFill>
                  <a:srgbClr val="000000"/>
                </a:solidFill>
                <a:effectLst/>
                <a:latin typeface="Urbanist"/>
              </a:rPr>
              <a:t>ETL vs. ELT</a:t>
            </a:r>
          </a:p>
          <a:p>
            <a:pPr algn="l"/>
            <a:r>
              <a:rPr lang="en-US" b="0" i="0" dirty="0">
                <a:solidFill>
                  <a:srgbClr val="000000"/>
                </a:solidFill>
                <a:effectLst/>
                <a:latin typeface="Inter"/>
              </a:rPr>
              <a:t>ETL (Extract, Transform, Load) and ELT (Extract, Load, Transform) are two data integration approaches. ETL processes involve extracting data from various sources, transforming it into a suitable format, and then loading it into a target system. This approach is suitable for batch processing but can be inefficient for real-time data. ELT, on the other hand, extracts data, loads it into a target system, and then performs transformations. This method leverages the processing power of modern data warehouses, making it ideal for real-time streaming and large-scale data processing. For instance, a data warehouse like Amazon Redshift can handle ELT processes efficiently, enabling faster data insights.</a:t>
            </a:r>
          </a:p>
        </p:txBody>
      </p:sp>
    </p:spTree>
    <p:extLst>
      <p:ext uri="{BB962C8B-B14F-4D97-AF65-F5344CB8AC3E}">
        <p14:creationId xmlns:p14="http://schemas.microsoft.com/office/powerpoint/2010/main" val="4014502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DC3451-D9CB-A035-F74D-2D17EC7E6380}"/>
              </a:ext>
            </a:extLst>
          </p:cNvPr>
          <p:cNvSpPr txBox="1"/>
          <p:nvPr/>
        </p:nvSpPr>
        <p:spPr>
          <a:xfrm>
            <a:off x="3048000" y="1875668"/>
            <a:ext cx="6096000" cy="6463308"/>
          </a:xfrm>
          <a:prstGeom prst="rect">
            <a:avLst/>
          </a:prstGeom>
          <a:noFill/>
        </p:spPr>
        <p:txBody>
          <a:bodyPr wrap="square">
            <a:spAutoFit/>
          </a:bodyPr>
          <a:lstStyle/>
          <a:p>
            <a:pPr algn="l">
              <a:buNone/>
            </a:pPr>
            <a:r>
              <a:rPr lang="en-US" b="1" i="0" dirty="0">
                <a:solidFill>
                  <a:srgbClr val="000000"/>
                </a:solidFill>
                <a:effectLst/>
                <a:latin typeface="Urbanist"/>
              </a:rPr>
              <a:t>Using AWS Kinesis for Streaming</a:t>
            </a:r>
          </a:p>
          <a:p>
            <a:pPr algn="l"/>
            <a:r>
              <a:rPr lang="en-US" b="0" i="0" dirty="0">
                <a:solidFill>
                  <a:srgbClr val="000000"/>
                </a:solidFill>
                <a:effectLst/>
                <a:latin typeface="Inter"/>
              </a:rPr>
              <a:t>AWS Kinesis is a managed streaming service that simplifies the implementation of real-time data processing. It offers two main components: Kinesis Data Streams for capturing and transporting data, and Kinesis Data Firehose for loading data into AWS services like S3, Redshift, and Elasticsearch. Kinesis Data Analytics allows for real-time data processing using SQL or Apache Flink. For instance, a logistics company can use Kinesis to stream GPS data from delivery vehicles, enabling real-time tracking and route optimization, thereby improving operational efficiency and customer satisfaction.</a:t>
            </a:r>
          </a:p>
          <a:p>
            <a:pPr algn="l">
              <a:buNone/>
            </a:pPr>
            <a:r>
              <a:rPr lang="en-US" b="1" i="0" dirty="0">
                <a:solidFill>
                  <a:srgbClr val="000000"/>
                </a:solidFill>
                <a:effectLst/>
                <a:latin typeface="Urbanist"/>
              </a:rPr>
              <a:t>Using Apache Kafka for Streaming</a:t>
            </a:r>
          </a:p>
          <a:p>
            <a:pPr algn="l"/>
            <a:r>
              <a:rPr lang="en-US" b="0" i="0" dirty="0">
                <a:solidFill>
                  <a:srgbClr val="000000"/>
                </a:solidFill>
                <a:effectLst/>
                <a:latin typeface="Inter"/>
              </a:rPr>
              <a:t>Apache Kafka is a distributed streaming platform that provides high-throughput, low-latency data streaming. It consists of producers, consumers, brokers, and topics. Producers send data to topics, which are partitioned and replicated across brokers for fault tolerance. Consumers subscribe to topics and process the data. Kafka Streams and Kafka Connect extend Kafka's capabilities for real-time data processing and integration with other systems. For example, a financial services firm can use Kafka to stream market data, enabling real-time trading algorithms and risk management.</a:t>
            </a:r>
          </a:p>
          <a:p>
            <a:pPr algn="l"/>
            <a:endParaRPr lang="en-US" b="0" i="0" dirty="0">
              <a:solidFill>
                <a:srgbClr val="000000"/>
              </a:solidFill>
              <a:effectLst/>
              <a:latin typeface="Inter"/>
            </a:endParaRPr>
          </a:p>
        </p:txBody>
      </p:sp>
    </p:spTree>
    <p:extLst>
      <p:ext uri="{BB962C8B-B14F-4D97-AF65-F5344CB8AC3E}">
        <p14:creationId xmlns:p14="http://schemas.microsoft.com/office/powerpoint/2010/main" val="768571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1DFA58-CDF5-09A0-FE4F-8E1D89F9B81D}"/>
              </a:ext>
            </a:extLst>
          </p:cNvPr>
          <p:cNvSpPr txBox="1"/>
          <p:nvPr/>
        </p:nvSpPr>
        <p:spPr>
          <a:xfrm>
            <a:off x="3048000" y="75175"/>
            <a:ext cx="6096000" cy="6740307"/>
          </a:xfrm>
          <a:prstGeom prst="rect">
            <a:avLst/>
          </a:prstGeom>
          <a:noFill/>
        </p:spPr>
        <p:txBody>
          <a:bodyPr wrap="square">
            <a:spAutoFit/>
          </a:bodyPr>
          <a:lstStyle/>
          <a:p>
            <a:pPr algn="l">
              <a:buNone/>
            </a:pPr>
            <a:r>
              <a:rPr lang="en-US" b="1" i="0" dirty="0">
                <a:solidFill>
                  <a:srgbClr val="000000"/>
                </a:solidFill>
                <a:effectLst/>
                <a:latin typeface="Urbanist"/>
              </a:rPr>
              <a:t>AI Use Cases for Streaming Events</a:t>
            </a:r>
          </a:p>
          <a:p>
            <a:pPr algn="l">
              <a:buNone/>
            </a:pPr>
            <a:r>
              <a:rPr lang="en-US" b="0" i="0" dirty="0">
                <a:solidFill>
                  <a:srgbClr val="000000"/>
                </a:solidFill>
                <a:effectLst/>
                <a:latin typeface="Inter"/>
              </a:rPr>
              <a:t>AI applications benefit significantly from streaming events, enabling real-time data processing and decision-making. Use cases include fraud detection in financial transactions, where streaming data allows for immediate identification and prevention of fraudulent activities. In healthcare, real-time monitoring of patient data can alert medical staff to critical conditions, enabling timely interventions. Additionally, AI-driven recommendation systems in e-commerce can provide personalized product suggestions based on real-time user behavior, enhancing customer experience and increasing sales.</a:t>
            </a:r>
          </a:p>
          <a:p>
            <a:pPr algn="l">
              <a:buNone/>
            </a:pPr>
            <a:r>
              <a:rPr lang="en-US" b="1" i="0" dirty="0">
                <a:solidFill>
                  <a:srgbClr val="000000"/>
                </a:solidFill>
                <a:effectLst/>
                <a:latin typeface="Urbanist"/>
              </a:rPr>
              <a:t>Architecture for API Streaming Events</a:t>
            </a:r>
          </a:p>
          <a:p>
            <a:pPr algn="l"/>
            <a:r>
              <a:rPr lang="en-US" b="0" i="0" dirty="0">
                <a:solidFill>
                  <a:srgbClr val="000000"/>
                </a:solidFill>
                <a:effectLst/>
                <a:latin typeface="Inter"/>
              </a:rPr>
              <a:t>The architecture for API streaming events typically includes data producers, streaming platforms, data consumers, and monitoring tools. Data producers generate and send data to the streaming platform, which acts as a central hub for data distribution. Data consumers subscribe to specific data streams and process the incoming data. Monitoring tools, such as Prometheus and Grafana, track the performance and health of the streaming system, ensuring reliability and scalability. For example, a social media platform might use a streaming architecture to process and analyze user interactions in real-time, providing insights for content recommendations and ad targeting.</a:t>
            </a:r>
          </a:p>
        </p:txBody>
      </p:sp>
    </p:spTree>
    <p:extLst>
      <p:ext uri="{BB962C8B-B14F-4D97-AF65-F5344CB8AC3E}">
        <p14:creationId xmlns:p14="http://schemas.microsoft.com/office/powerpoint/2010/main" val="1269844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02F5A1-F071-B8B3-9497-92B08D8B7776}"/>
              </a:ext>
            </a:extLst>
          </p:cNvPr>
          <p:cNvSpPr txBox="1"/>
          <p:nvPr/>
        </p:nvSpPr>
        <p:spPr>
          <a:xfrm>
            <a:off x="3048000" y="75175"/>
            <a:ext cx="6096000" cy="6740307"/>
          </a:xfrm>
          <a:prstGeom prst="rect">
            <a:avLst/>
          </a:prstGeom>
          <a:noFill/>
        </p:spPr>
        <p:txBody>
          <a:bodyPr wrap="square">
            <a:spAutoFit/>
          </a:bodyPr>
          <a:lstStyle/>
          <a:p>
            <a:pPr algn="l">
              <a:buNone/>
            </a:pPr>
            <a:r>
              <a:rPr lang="en-US" b="1" i="0" dirty="0">
                <a:solidFill>
                  <a:srgbClr val="000000"/>
                </a:solidFill>
                <a:effectLst/>
                <a:latin typeface="Urbanist"/>
              </a:rPr>
              <a:t>Security Needs for API Streaming Events</a:t>
            </a:r>
          </a:p>
          <a:p>
            <a:pPr algn="l">
              <a:buNone/>
            </a:pPr>
            <a:r>
              <a:rPr lang="en-US" b="0" i="0" dirty="0">
                <a:solidFill>
                  <a:srgbClr val="000000"/>
                </a:solidFill>
                <a:effectLst/>
                <a:latin typeface="Inter"/>
              </a:rPr>
              <a:t>Security is paramount in API streaming events to protect data integrity and confidentiality. Key security measures include authentication and authorization, data encryption, and secure communication channels. Authentication ensures that only authorized entities can access the streaming system, while authorization controls what actions they can perform. Data encryption, both at rest and in transit, protects sensitive information from unauthorized access. Secure communication channels, such as TLS/SSL, ensure that data is transmitted securely between producers, consumers, and the streaming platform.</a:t>
            </a:r>
          </a:p>
          <a:p>
            <a:pPr algn="l">
              <a:buNone/>
            </a:pPr>
            <a:r>
              <a:rPr lang="en-US" b="1" i="0" dirty="0">
                <a:solidFill>
                  <a:srgbClr val="000000"/>
                </a:solidFill>
                <a:effectLst/>
                <a:latin typeface="Urbanist"/>
              </a:rPr>
              <a:t>Implementation Guide for API Streaming Events</a:t>
            </a:r>
          </a:p>
          <a:p>
            <a:pPr algn="l"/>
            <a:r>
              <a:rPr lang="en-US" b="0" i="0" dirty="0">
                <a:solidFill>
                  <a:srgbClr val="000000"/>
                </a:solidFill>
                <a:effectLst/>
                <a:latin typeface="Inter"/>
              </a:rPr>
              <a:t>Implementing API streaming events involves several steps, including planning, design, development, testing, and deployment. Planning involves defining the use cases, selecting the appropriate streaming technology, and identifying the data sources and sinks. Design includes creating the data pipeline architecture, defining data schemas, and setting up monitoring and alerting mechanisms. Development involves writing the code for data producers, consumers, and streaming platform configuration. Testing ensures the system's reliability, scalability, and performance. Deployment involves rolling out the system to production and monitoring its performance.</a:t>
            </a:r>
          </a:p>
        </p:txBody>
      </p:sp>
    </p:spTree>
    <p:extLst>
      <p:ext uri="{BB962C8B-B14F-4D97-AF65-F5344CB8AC3E}">
        <p14:creationId xmlns:p14="http://schemas.microsoft.com/office/powerpoint/2010/main" val="597773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DF4675-6ECE-4801-A49E-A100BD6D5587}"/>
              </a:ext>
            </a:extLst>
          </p:cNvPr>
          <p:cNvSpPr txBox="1"/>
          <p:nvPr/>
        </p:nvSpPr>
        <p:spPr>
          <a:xfrm>
            <a:off x="3048000" y="-63325"/>
            <a:ext cx="6096000" cy="7017306"/>
          </a:xfrm>
          <a:prstGeom prst="rect">
            <a:avLst/>
          </a:prstGeom>
          <a:noFill/>
        </p:spPr>
        <p:txBody>
          <a:bodyPr wrap="square">
            <a:spAutoFit/>
          </a:bodyPr>
          <a:lstStyle/>
          <a:p>
            <a:pPr algn="l">
              <a:buNone/>
            </a:pPr>
            <a:r>
              <a:rPr lang="en-US" b="1" i="0">
                <a:solidFill>
                  <a:srgbClr val="000000"/>
                </a:solidFill>
                <a:effectLst/>
                <a:latin typeface="Urbanist"/>
              </a:rPr>
              <a:t>SDLC and DevOps for API Streaming Events</a:t>
            </a:r>
          </a:p>
          <a:p>
            <a:pPr algn="l">
              <a:buNone/>
            </a:pPr>
            <a:r>
              <a:rPr lang="en-US" b="0" i="0" dirty="0">
                <a:solidFill>
                  <a:srgbClr val="000000"/>
                </a:solidFill>
                <a:effectLst/>
                <a:latin typeface="Inter"/>
              </a:rPr>
              <a:t>The Software Development Life Cycle (SDLC) and DevOps practices are crucial for the successful implementation and maintenance of API streaming events. SDLC phases include requirements gathering, design, implementation, testing, deployment, and maintenance. DevOps practices, such as continuous integration and continuous deployment (CI/CD), automate the build, test, and deployment processes, ensuring rapid and reliable delivery of updates. Monitoring and logging tools, like ELK Stack (Elasticsearch, Logstash, Kibana), provide insights into system performance and help in troubleshooting issues. For instance, a DevOps team can use Jenkins for CI/CD pipelines and Prometheus for monitoring, ensuring smooth and efficient operation of the streaming system.</a:t>
            </a:r>
          </a:p>
          <a:p>
            <a:pPr algn="l">
              <a:buNone/>
            </a:pPr>
            <a:r>
              <a:rPr lang="en-US" b="1" i="0" dirty="0">
                <a:solidFill>
                  <a:srgbClr val="000000"/>
                </a:solidFill>
                <a:effectLst/>
                <a:latin typeface="Urbanist"/>
              </a:rPr>
              <a:t>Conclusion</a:t>
            </a:r>
          </a:p>
          <a:p>
            <a:pPr algn="l"/>
            <a:r>
              <a:rPr lang="en-US" b="0" i="0" dirty="0">
                <a:solidFill>
                  <a:srgbClr val="000000"/>
                </a:solidFill>
                <a:effectLst/>
                <a:latin typeface="Inter"/>
              </a:rPr>
              <a:t>API Streaming Events offer a powerful approach to real-time data processing and analysis, providing significant advantages over traditional batch jobs and file processing. By understanding the key components, architectures, and security needs, organizations can effectively implement streaming events to drive innovation and efficiency. Tools like AWS Kinesis and Apache Kafka, along with robust SDLC and DevOps practices, ensure the reliability and scalability of streaming systems, enabling real-time data insights and decision-making across various industries.</a:t>
            </a:r>
          </a:p>
        </p:txBody>
      </p:sp>
    </p:spTree>
    <p:extLst>
      <p:ext uri="{BB962C8B-B14F-4D97-AF65-F5344CB8AC3E}">
        <p14:creationId xmlns:p14="http://schemas.microsoft.com/office/powerpoint/2010/main" val="2309419831"/>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 presentation_Win32_SL_V16" id="{36B34AD0-AFC2-468E-8620-6CFD159B149F}" vid="{ACCF8893-1A0E-437D-A612-1659D305E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5F9F641-3334-4981-BACF-D4CA6882CE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B16729F-0CF3-48D0-9AFD-AAAEB430921C}">
  <ds:schemaRefs>
    <ds:schemaRef ds:uri="http://schemas.microsoft.com/sharepoint/v3/contenttype/forms"/>
  </ds:schemaRefs>
</ds:datastoreItem>
</file>

<file path=customXml/itemProps3.xml><?xml version="1.0" encoding="utf-8"?>
<ds:datastoreItem xmlns:ds="http://schemas.openxmlformats.org/officeDocument/2006/customXml" ds:itemID="{D5544979-59F0-4F8D-AA35-90255837C7E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600</TotalTime>
  <Words>2679</Words>
  <Application>Microsoft Macintosh PowerPoint</Application>
  <PresentationFormat>Widescreen</PresentationFormat>
  <Paragraphs>93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Inter</vt:lpstr>
      <vt:lpstr>Univers</vt:lpstr>
      <vt:lpstr>Urbanist</vt:lpstr>
      <vt:lpstr>GradientVTI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ram baswa</cp:lastModifiedBy>
  <cp:revision>5</cp:revision>
  <dcterms:created xsi:type="dcterms:W3CDTF">2025-04-24T02:55:15Z</dcterms:created>
  <dcterms:modified xsi:type="dcterms:W3CDTF">2025-04-25T13:52:46Z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