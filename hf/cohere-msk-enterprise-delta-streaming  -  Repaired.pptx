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12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Purpose: align the MSK product owner and architecture stakeholders on a reusable vendor-integration product—not a Cohere-only implementation.
• Today Cohere Health receives periodic SFTP batches, processes them in its AI workflow, and runs agentic applications. The target is controlled, vendor-triggered access to approved deltas through Kafka.
• The target must support future vendors and use cases while preserving enterprise control, healthcare privacy, replay, auditability, and cost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Explain that Kafka does not make the vendor query our source systems. It lets the enterprise publish approved changes once, then lets each authorized consumer pull at its own pace.
• The key value is decoupling: producers no longer build Cohere-specific files and Cohere no longer waits for the next batch.
• Do not promise lower latency by default. Freshness depends on source capture, topic publication, vendor consumer cadence, backlog, and downstream AI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left to right: enterprise domains own data and event meaning; capture converts committed business change into deltas; the MSK product provides a durable governed log; the vendor edge controls identity and network access; vendors create outcomes.
• The event product is the durable contract. It contains business identifiers, event type, event time, schema version, trace identifiers, and the minimum approved payload.
• A return path is optional. For Cohere it may carry processing acknowledgments, prior-authorization status, requests for information, or decisions. It should use separate topics and contracts.
• For non-AWS vendors, do not assume direct connectivity is the only pattern. The vendor edge may be a customer-managed consumer/relay when security, protocol, or support constraints require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these as architecture-review criteria. A solution that violates one should document the exception and compensating control.
• “Consumer-controlled pace” does not mean unlimited access. Quotas, retention, group permissions, and egress controls remain platform policies.
• At-least-once delivery is the realistic default. Exactly-once claims must cover the external side effect in Cohere, not only Kafka-to-Kafka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Correct the wording carefully: Cohere “pulls” from Kafka by polling its assigned topic partitions. It does not request an arbitrary delta on demand from the source database.
• The producer publishes whenever an approved change occurs. Cohere controls its processing cadence through polling and offset commits.
• If Cohere needs a business-specific subset, use separate domain topics, filtered topics, or a controlled vendor projection—never client-side access to broad enterprise data.
• The vendor must commit offsets only after it has durably recorded or completed processing. Otherwise a crash can acknowledge work that was never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envelope is reusable across vendors. The business payload is domain-specific and versioned.
• Use a stable aggregate key—such as an authorization ID—when ordering must be maintained for that lifecycle. Avoid member ID if it creates hot partitions or overly broad ordering.
• Clinical notes and attachments may be too large or too sensitive for Kafka. Prefer short-lived, access-controlled object references with integrity metadata where approved.
• Define corrections explicitly. A later event should not silently overwrite an earlier clinical fact without provenance and source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core architecture slide. The data plane moves approved deltas; the control plane provisions and governs the service.
• Direct vendor consumption is appropriate only if Cohere supports the required Kafka authentication, networking, client configuration, monitoring, and support obligations.
• An enterprise-managed relay is often safer when the vendor cannot meet MSK-specific requirements or when the enterprise wants to terminate Kafka inside its AWS boundary and expose another contracted interface.
• Quarantine malformed or contract-invalid events before vendor delivery. A DLQ is not a permanent data store; it needs ownership, retention, triage, and replay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Present these as product patterns, not one-time network diagrams.
• For direct MSK consumption, confirm whether the vendor runs in AWS, the region/account topology, supported Kafka authentication mechanisms, certificate/secret rotation, broker bootstrap updates, quotas, and incident support.
• The relay pattern preserves the pub-sub model internally while translating at the boundary. It is not a regression to batch unless the relay itself rebuilds files.
• A projection cluster improves isolation but creates another platform to patch, monitor, replicate, secure, and 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Separate control-plane identity from data-plane identity. Entra can protect onboarding APIs, approval workflows, and workforce access, but it is not automatically the Kafka broker credential.
• If the Cohere consumer runs in its own AWS account and supports IAM, cross-account multi-VPC connectivity may fit. If not, evaluate SCRAM, mTLS, or the relay pattern.
• Credentials and certificates need explicit owners, rotation SLOs, revocation tests, and evidence. Avoid shared credentials across vendors or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Canonical domain topics maximize reuse, but PHI minimization may justify vendor-specific projection topics. Make that a governed product decision.
• Consumer groups isolate progress and replay. They do not by themselves provide authorization; permissions must restrict both topic and group resources.
• Retention is not “keep forever.” It should cover recovery and replay objectives while satisfying privacy, contractual, and records-management policy.
• Compaction is appropriate for latest-state topics, but it changes deletion and replay semantics. Do not enable it by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At-least-once delivery plus idempotent processing is the recommended baseline.
• For Cohere, agree on the idempotency key and whether retries create duplicate AI workflow executions or duplicate prior-authorization actions.
• Monitor lag in business time, not only record count. A small number of large clinical events can be more operationally significant than many small events.
• Reconciliation should compare source-of-truth state with delivered/processed state using immutable IDs and versions. It is a production feature, not a temporary migration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Kafka retention can conflict with “minimum necessary” and deletion expectations if topic design is too broad. Include privacy and records management in the topic approval workflow.
• Clarify whether vendor AI or agentic applications may use the data for model training, tuning, telemetry, or secondary purposes. The technical design must enforce the approved contract.
• Replay is data access. Log who authorized it, what range was replayed, to which consumer group, and whether the vendor accepted the replay.
• Avoid putting access tokens, credentials, or unrestricted object URLs in event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two most important timestamps are source commit time and vendor durable checkpoint time. Without both, end-to-end latency is guesswork.
• Use one trace/correlation ID across producer, Kafka record headers/envelope, relay, Cohere workflow, and status events.
• Create vendor-specific dashboards and budgets so one vendor’s backlog, retries, or network failures do not disappear inside shared platform metrics.
• An SLO needs an owner and an error-budget response. Product owners should decide what happens when freshness or delivery objectives are repeatedly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slide defines what the MSK product owner sells internally. It is more than a cluster and more than a ticket for a topic.
• The vendor subscription is a first-class product: it includes connectivity, identity, topic/group authorization, quotas, monitoring, certification, and offboarding.
• A relay should be reusable and policy-driven, not a custom Lambda for every vendor.
• Publish a paved-road reference implementation and a clear exception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integration product owner is accountable for the cross-boundary business service even when platform, domain, and vendor teams own components.
• The source domain owns business event meaning and source correctness. The MSK platform owns broker and subscription products. Cohere owns its client, checkpoint behavior, AI workflow, and downstream result production.
• Reconciliation and replay are shared operational processes but need one accountable decision maker.
• Translate this matrix into named teams, escalation contacts, on-call coverage, and contract clauses before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discovery phase must determine whether Cohere can consume MSK directly. Do not wait until implementation to learn its supported authentication or networking model.
• Certification should include duplicate records, out-of-order events within documented limits, invalid schemas, credential expiry, vendor outage, backlog drain, and replay.
• Offboarding is designed up front: stop access, revoke credentials, remove network paths, handle retained records, and preserve required audit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first phase produces decisions, not code: direct versus relay, event semantics, data classification, source of truth, SLO, and named ownership.
• The pilot should be one meaningful authorization or clinical-data change, not a platform demo with synthetic heartbeats only.
• Do not scale to multiple vendors until the paved road includes onboarding automation, operational dashboards, replay controls, and cost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this slide to close the meeting with explicit decisions and owners.
• If Cohere direct Kafka capability is not yet confirmed, record the decision as pending and proceed with a relay-compatible architecture so the program is not blocked.
• The workshop output should be an architecture decision record and a pilot charter with scope, owner, SLO, security approvals, and acceptance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public references used for the architecture. Public Cohere material confirms API/FHIR and AI workflow capabilities, but it does not establish that Cohere supports direct Amazon MSK consumption for this customer.
• Treat direct Kafka support as a discovery item and contractual interface, not as an assumed product feature.
• Keep the architecture option-neutral until the technical and contractual validation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103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40" dirty="0">
                <a:solidFill>
                  <a:srgbClr val="0798B5"/>
                </a:solidFill>
              </a:rPr>
              <a:t>ENTERPRISE VENDOR STREAMING × AMAZON MSK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281160" y="2194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8192"/>
                </a:solidFill>
              </a:rPr>
              <a:t>Enterprise Architecture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137392" cy="0"/>
          </a:xfrm>
          <a:prstGeom prst="line">
            <a:avLst/>
          </a:prstGeom>
          <a:noFill/>
          <a:ln w="8890">
            <a:solidFill>
              <a:srgbClr val="D6E5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43000"/>
            <a:ext cx="4480560" cy="4480560"/>
          </a:xfrm>
          <a:prstGeom prst="ellipse">
            <a:avLst/>
          </a:prstGeom>
          <a:solidFill>
            <a:srgbClr val="BDEBF1">
              <a:alpha val="82000"/>
            </a:srgbClr>
          </a:solidFill>
          <a:ln w="12700">
            <a:solidFill>
              <a:srgbClr val="BDEB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800600"/>
            <a:ext cx="3108960" cy="3108960"/>
          </a:xfrm>
          <a:prstGeom prst="ellipse">
            <a:avLst/>
          </a:prstGeom>
          <a:solidFill>
            <a:srgbClr val="DCE8FF"/>
          </a:solidFill>
          <a:ln w="12700">
            <a:solidFill>
              <a:srgbClr val="DC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62179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795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02A43"/>
                </a:solidFill>
              </a:rPr>
              <a:t>Enterprise Vendor Delta Streaming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49808" y="238658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798B5"/>
                </a:solidFill>
              </a:rPr>
              <a:t>Cohere Health on Amazon MSK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36B7D"/>
                </a:solidFill>
              </a:rPr>
              <a:t>Replace periodic SFTP batches with governed, vendor-triggered delta consumption through Kafka pub-sub.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" y="4069080"/>
            <a:ext cx="1645920" cy="283464"/>
          </a:xfrm>
          <a:prstGeom prst="roundRect">
            <a:avLst>
              <a:gd name="adj" fmla="val 22581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41239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A580C"/>
                </a:solidFill>
              </a:rPr>
              <a:t>CURRENT: SFTP BATCH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2615184" y="4069080"/>
            <a:ext cx="2011680" cy="283464"/>
          </a:xfrm>
          <a:prstGeom prst="roundRect">
            <a:avLst>
              <a:gd name="adj" fmla="val 22581"/>
            </a:avLst>
          </a:prstGeom>
          <a:solidFill>
            <a:srgbClr val="E8F7ED"/>
          </a:solidFill>
          <a:ln w="12700">
            <a:solidFill>
              <a:srgbClr val="E8F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412394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6A34A"/>
                </a:solidFill>
              </a:rPr>
              <a:t>TARGET: DELTA EVENTS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4809744" y="4069080"/>
            <a:ext cx="1993392" cy="283464"/>
          </a:xfrm>
          <a:prstGeom prst="roundRect">
            <a:avLst>
              <a:gd name="adj" fmla="val 2258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412394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2563EB"/>
                </a:solidFill>
              </a:rPr>
              <a:t>PRODUCT: MSK SERVICE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786384" y="4736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A43"/>
                </a:solidFill>
              </a:rPr>
              <a:t>Audience: MSK product owner, Kafka architects, enterprise architects, security, data owners, and vendor integration teams.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60533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36B7D"/>
                </a:solidFill>
              </a:rPr>
              <a:t>OCTOBER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Why change the SFTP batch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 current interface is operationally simple, but it couples freshness, scope, recovery, and audit to file delivery.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52704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64008" cy="12435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55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Stale snapshots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36B7D"/>
                </a:solidFill>
              </a:rPr>
              <a:t>Vendor waits for the next file even when only a small delta changed.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52704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27048"/>
            <a:ext cx="64008" cy="12435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55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Over-sharing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657600" y="197510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36B7D"/>
                </a:solidFill>
              </a:rPr>
              <a:t>Large extracts may contain records the workflow does not currently need.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303580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035808"/>
            <a:ext cx="64008" cy="124358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Batch recovery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04672" y="3483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36B7D"/>
                </a:solidFill>
              </a:rPr>
              <a:t>Partial files, duplicate delivery, and restart semantics require bespoke controls.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303580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3035808"/>
            <a:ext cx="64008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Weak event semantics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657600" y="3483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36B7D"/>
                </a:solidFill>
              </a:rPr>
              <a:t>A file says “what exists,” not clearly “what changed and why.”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2926080"/>
            <a:ext cx="685800" cy="0"/>
          </a:xfrm>
          <a:prstGeom prst="line">
            <a:avLst/>
          </a:prstGeom>
          <a:noFill/>
          <a:ln w="38100">
            <a:solidFill>
              <a:srgbClr val="0798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59168" y="1527048"/>
            <a:ext cx="448056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9168" y="1527048"/>
            <a:ext cx="64008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65506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Target operating outcome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242048" y="1975104"/>
            <a:ext cx="4151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B7D"/>
                </a:solidFill>
              </a:rPr>
              <a:t>Publish small, durable, keyed delta events to governed topics. Cohere consumes only when its workflow is ready, maintains its own offsets, and replays approved history without asking for another file.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" y="488289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488289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99262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Important: “pull when required” means vendor-controlled consumption from a retained event log—not ad hoc querying of enterprise databases.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Architecture driver: decouple data-change production from vendor processing cadence while preserving enterprise policy control.</a:t>
            </a:r>
            <a:endParaRPr lang="en-US" sz="7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Enterprise architecture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A reusable vendor-integration capability separates systems of record, the event product, the vendor boundary, and business outcomes.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2011680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09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Enterprise domains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0352" y="1920240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396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UM / claims / clinical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30352" y="2578608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9806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Member &amp; provider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30352" y="3236976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4564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Documents / attachments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30352" y="3895344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1148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Business event ownership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61518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4912" y="1481328"/>
            <a:ext cx="21488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1609344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Change capture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24912" y="1920240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139696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Transactional outbox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724912" y="2578608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98064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CDC where approved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724912" y="3236976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456432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API/event publisher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724912" y="3895344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411480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Canonical delta builder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9469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65776" y="1481328"/>
            <a:ext cx="277977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60934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MSK event product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65776" y="1920240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2139696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Domain topics + schemas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065776" y="2578608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2798064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Retention + compaction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65776" y="3236976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456432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IAM/ACL + quotas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065776" y="3895344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4114800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Observability + replay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9187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1481328"/>
            <a:ext cx="1645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1584" y="160934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Vendor edge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28432" y="1920240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21396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Private connectivity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028432" y="2578608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27980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Vendor identity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028432" y="3236976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9872" y="34564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Consumer isolation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8028432" y="3895344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9872" y="41148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Egress policy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97475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57232" y="1481328"/>
            <a:ext cx="18013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30384" y="160934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Vendor outcomes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857232" y="1920240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8672" y="2139696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Cohere AI workflow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9857232" y="2578608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48672" y="2798064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Agentic applications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9857232" y="3236976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48672" y="3456432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Other vendors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9857232" y="3895344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48672" y="4114800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02A43"/>
                </a:solidFill>
              </a:rPr>
              <a:t>Status/result events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9555480" y="5010912"/>
            <a:ext cx="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5779008" y="5084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7C3AED"/>
                </a:solidFill>
              </a:rPr>
              <a:t>Optional return path: acknowledgments, processing status, decisions, or derived events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585216" y="554126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54126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" y="565099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Enterprise rule: the vendor consumes a governed event product; the vendor does not own the source-of-truth model or direct source access.</a:t>
            </a:r>
            <a:endParaRPr lang="en-US" sz="99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Target principles and guardrails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These principles make the design reusable across Cohere Health and other vendors.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64008" cy="15179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Publish deltas, not extracts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Emit changes tied to a committed business event; avoid rebuilding full files.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508760"/>
            <a:ext cx="64008" cy="15179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Consumer-controlled pace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72000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Each vendor uses an isolated consumer group and advances offsets independently.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508760"/>
            <a:ext cx="64008" cy="15179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Minimum necessary data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39328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Topic design, payload filtering, and retention follow healthcare purpose and policy.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410712"/>
            <a:ext cx="64008" cy="15179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Stable enterprise contract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04672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Vendor mappings live at the edge; internal event semantics remain vendor-neutral.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410712"/>
            <a:ext cx="64008" cy="15179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At-least-once by design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72000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Assume duplicates and make consumer-side processing idempotent.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6448" y="3410712"/>
            <a:ext cx="64008" cy="15179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 is governed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39328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36B7D"/>
                </a:solidFill>
              </a:rPr>
              <a:t>Retention enables recovery; authorization and operational approval control replay.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" y="544982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544982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55955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A Kafka topic is not a data lake or broad data export. It is a purpose-bound event contract with explicit consumers, retention, and ownership.</a:t>
            </a:r>
            <a:endParaRPr lang="en-US" sz="99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Vendor-triggered delta consumption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Kafka consumers poll the broker; the enterprise publishes deltas independently of when the vendor is ready to process them.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798B5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Source system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67512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Commits business change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2514600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90088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Outbox / CDC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90088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Captures committed delta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837176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12664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MSK topic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312664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Stores ordered keyed event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159752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07224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35240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Vendor consumer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635240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Polls when workflow has capacity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9482328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57816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AI workflow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957816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Processes delta and checkpoints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21792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Offset ownership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04672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36B7D"/>
                </a:solidFill>
              </a:rPr>
              <a:t>Vendor commits only after its durable processing checkpoint.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401568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01568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Backpressure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3584448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36B7D"/>
                </a:solidFill>
              </a:rPr>
              <a:t>Lag grows safely when the vendor pauses; quotas protect shared capacity.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181344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Failure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364224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36B7D"/>
                </a:solidFill>
              </a:rPr>
              <a:t>Retry transient errors; route poison records to quarantine/DLQ.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961120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61120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9144000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36B7D"/>
                </a:solidFill>
              </a:rPr>
              <a:t>Reset or new group only through an approved, observable runbook.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85216" y="559612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59612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70585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Recommended contract: delta event + stable key + immutable event ID + source version + trace ID + schema version + data classification.</a:t>
            </a:r>
            <a:endParaRPr lang="en-US" sz="99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Delta event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 event envelope provides consistent operations while the payload carries a versioned business delta.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444752"/>
            <a:ext cx="6547104" cy="4251960"/>
          </a:xfrm>
          <a:prstGeom prst="roundRect">
            <a:avLst>
              <a:gd name="adj" fmla="val 107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59893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"eventId": "uuid",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"eventType": "AuthorizationClinicalDataChanged",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"eventTime": "2026-10-12T14:00:00Z",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"aggregateId": "authorization-id",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"sourceVersion": 42,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"schemaVersion": "1.2",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"classification": ["PHI"],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"traceId": "...",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"payload": { "changedFields": [...], "data": {...}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24928" y="1444752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24928" y="1444752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7808" y="157276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Key &amp; ordering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607808" y="1892808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Partition by the stable business aggregate whose changes require ordering.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24928" y="2560320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24928" y="2560320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268833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Evolution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607808" y="300837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Compatibility rules, schema review, and producer/consumer contract tests.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24928" y="3675888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4928" y="3675888"/>
            <a:ext cx="64008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380390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Delete &amp; correction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07808" y="4123944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Define tombstone, retraction, correction, and source-version semantics.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24928" y="4791456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24928" y="4791456"/>
            <a:ext cx="64008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491947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Large documents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607808" y="5239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Use secure object references; avoid oversized clinical attachments in Kafka.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Payload contents are illustrative. Final fields require domain, privacy, legal, and Cohere contract approval.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Detailed component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 platform separates capture, event processing, vendor access, and operational control planes.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21208" y="1435608"/>
            <a:ext cx="1965960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563624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Domain plane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521208" y="186537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56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Systems of record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521208" y="250545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1576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Outbox / CDC agent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521208" y="314553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558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Document/object store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521208" y="378561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959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Domain event owner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2551176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1435608"/>
            <a:ext cx="1938528" cy="429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56362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Ingestion plane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60904" y="186537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Publisher / connector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2660904" y="250545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27157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Validation &amp; enrichment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2660904" y="314553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335584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Canonical delta mapper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2660904" y="378561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39959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Quarantine topic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4663440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435608"/>
            <a:ext cx="278892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563624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MSK data plane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4773168" y="186537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7568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Domain topics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4773168" y="250545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157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Consumer groups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773168" y="314553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5584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Schema contracts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4773168" y="378561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9592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Retention / compaction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7626096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35824" y="1435608"/>
            <a:ext cx="1828800" cy="429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9832" y="156362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Vendor edge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7735824" y="186537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20756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Private network path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7735824" y="250545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8976" y="27157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AuthN / AuthZ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7735824" y="314553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Projection / relay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7735824" y="378561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39959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Egress logging</a:t>
            </a:r>
            <a:endParaRPr lang="en-US" sz="890" dirty="0"/>
          </a:p>
        </p:txBody>
      </p:sp>
      <p:sp>
        <p:nvSpPr>
          <p:cNvPr id="47" name="Shape 45"/>
          <p:cNvSpPr/>
          <p:nvPr/>
        </p:nvSpPr>
        <p:spPr>
          <a:xfrm>
            <a:off x="9628632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8360" y="1435608"/>
            <a:ext cx="192024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02368" y="1563624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Vendor plane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9738360" y="186537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11512" y="20756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Kafka consumer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9738360" y="250545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11512" y="2715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AI orchestration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9738360" y="314553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11512" y="3355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Agentic apps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9738360" y="378561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1512" y="39959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102A43"/>
                </a:solidFill>
              </a:rPr>
              <a:t>Status producer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2651760" y="4736592"/>
            <a:ext cx="690372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 w="12700">
            <a:solidFill>
              <a:srgbClr val="BBD0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98064" y="4901184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563EB"/>
                </a:solidFill>
              </a:rPr>
              <a:t>CONTROL PLANE  •  IaC catalog  •  onboarding workflow  •  policy  •  secrets  •  metrics  •  audit  •  cost allocation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585216" y="5440680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440680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" y="55504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Deployment choice: direct vendor Kafka client or enterprise-managed relay. Select from connectivity, client support, PHI boundary, and operating ownership.</a:t>
            </a:r>
            <a:endParaRPr lang="en-US" sz="99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Vendor connectivity options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Do not commit to direct MSK access until Cohere client, network, identity, and support capabilities are confirmed.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81328"/>
            <a:ext cx="64008" cy="3364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A — direct MSK consumer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Vendor operates a Kafka client. Use private cross-account/VPC connectivity where applicable, or an approved network path; dedicate consumer group and least-privilege topic access.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Best when the vendor supports Kafka operations and contractual responsibilities.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2544" y="1481328"/>
            <a:ext cx="64008" cy="3364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B — managed vendor relay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35424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Enterprise runs the Kafka consumer in AWS and relays deltas over the vendor’s supported private/API protocol. Kafka identity and offsets stay enterprise-managed.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Best when vendor Kafka support or security fit is uncertain.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81328"/>
            <a:ext cx="64008" cy="3364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C — vendor projection cluster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75320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Replicate or project approved vendor topics into an isolated Kafka boundary with separate lifecycle and blast radius.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36B7D"/>
                </a:solidFill>
              </a:rPr>
              <a:t>Best for multiple high-volume vendors or strict isolation; adds cost and operations.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50749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102A43"/>
                </a:solidFill>
              </a:rPr>
              <a:t>Vendor Kafka capability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277977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Required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561441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Not required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44905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Required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658368" y="53218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02A43"/>
                </a:solidFill>
              </a:rPr>
              <a:t>Enterprise operational control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277977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561441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844905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658368" y="55686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02A43"/>
                </a:solidFill>
              </a:rPr>
              <a:t>Isolation / blast radius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77977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561441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844905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58368" y="581558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102A43"/>
                </a:solidFill>
              </a:rPr>
              <a:t>Cost &amp; complexity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277977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Low–medium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561441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844905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Recommended discovery default: assess direct access, but preserve the managed-relay fallback in the product design.</a:t>
            </a:r>
            <a:endParaRPr lang="en-US" sz="7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Identity, authorization, and trust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Microsoft Entra ID governs enterprise users and APIs; MSK data-plane access uses Kafka/MSK-supported client identities.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81328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Enterprise identity plane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Entra ID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Workforce SSO and privileged access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API client credentials / workload identity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App registration, scopes, conditional controls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Use for portals, onboarding APIs, and control-plane workflows.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7083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81328"/>
            <a:ext cx="64008" cy="3246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MSK data plane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5371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Supported patterns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AWS IAM for compatible AWS clients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SASL/SCRAM credentials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Mutual TLS certificates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Topic/group permissions and quotas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One vendor identity per environment and use case.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1987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481328"/>
            <a:ext cx="64008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Trust operations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0275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Lifecycle controls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Provision / approve / attest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Rotate / revoke / expire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Separate non-prod and prod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Log authentication and authorization failures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36B7D"/>
                </a:solidFill>
              </a:rPr>
              <a:t>• Break-glass and incident process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" y="5047488"/>
            <a:ext cx="10954512" cy="566928"/>
          </a:xfrm>
          <a:prstGeom prst="roundRect">
            <a:avLst>
              <a:gd name="adj" fmla="val 6452"/>
            </a:avLst>
          </a:prstGeom>
          <a:solidFill>
            <a:srgbClr val="FFF1E7"/>
          </a:solidFill>
          <a:ln w="12700">
            <a:solidFill>
              <a:srgbClr val="F3BE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5221224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9A3412"/>
                </a:solidFill>
              </a:rPr>
              <a:t>Do not pass an Entra access token directly to MSK IAM authentication. Use a deliberate identity bridge or issue the credential supported by the chosen Kafka access pattern.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AWS multi-VPC private connectivity supports IAM, SASL/SCRAM, and TLS auth schemes; each connection uses one configured scheme.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Topic and consumer product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Topic topology should isolate domains and vendor use cases without creating an unmanageable topic-per-field design.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417320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17320"/>
            <a:ext cx="64008" cy="67665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453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Domain delta topic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86384" y="1865376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Enterprise canonical event; multiple approved consumers.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03504" y="2267712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267712"/>
            <a:ext cx="64008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395728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projection topic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86384" y="2715768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Filtered/minimized payload for a vendor contract.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03504" y="3118104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3118104"/>
            <a:ext cx="6400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24612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Command topic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86384" y="3566160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Requests requiring a vendor action or workflow.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03504" y="3968496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3968496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9651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Status/result topic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86384" y="4416552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Acknowledgment, processing status, decision, or derived outcome.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03504" y="4818888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4818888"/>
            <a:ext cx="640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94690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Retry / quarantine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86384" y="5266944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Short-lived operational handling with controlled replay.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236208" y="1417320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1417320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Naming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419088" y="18653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domain.entity.event.vN or governed equivalent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915400" y="1417320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15400" y="1417320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Partitions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098280" y="18653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Size for throughput; key for required ordering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236208" y="2715768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2715768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843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Retention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6419088" y="3163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Business recovery window + legal/privacy policy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915400" y="2715768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15400" y="2715768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2843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Consumer group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9098280" y="3163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One per vendor/use case/environment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236208" y="4014216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4014216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4142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Compaction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419088" y="44622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Only when latest-state semantics are intentional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915400" y="4014216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915400" y="4014216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4142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Quotas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9098280" y="44622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36B7D"/>
                </a:solidFill>
              </a:rPr>
              <a:t>Protect shared brokers from vendor burst or runaway polling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585216" y="543153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" y="543153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54126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Avoid encoding vendor names into the canonical domain event unless the topic is explicitly a vendor projection.</a:t>
            </a:r>
            <a:endParaRPr lang="en-US" sz="99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Reliability and recovery semantics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End-to-end correctness depends on business keys, idempotency, checkpoints, and reconciliation—not only Kafka durability.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0352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798B5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Produce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Outbox/CDC ties publication to committed source change.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2487168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80944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Consume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80944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Poll records; validate schema and authorization context.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809744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75504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0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Process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303520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Use immutable event ID and source version for idempotency.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132320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26096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Checkpoint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626096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Commit offset only after durable vendor processing state.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9454896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0656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A580C"/>
                </a:solidFill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48672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</a:rPr>
              <a:t>Reconcile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948672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536B7D"/>
                </a:solidFill>
              </a:rPr>
              <a:t>Compare authoritative lifecycle state and repair gaps.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21792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Transient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04672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Retry with bounded exponential backoff and jitter.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3401568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01568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Poison event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3584448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Quarantine with error, schema, and trace metadata.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181344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794760"/>
            <a:ext cx="64008" cy="12252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outage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364224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Allow lag within SLO; alarm on time-to-drain and retention risk.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961120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61120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9144000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Approval, scoped offsets/time range, dry run, rate limit, evidence.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85216" y="538581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38581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49554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No-lost-event proof requires reconciliation. Kafka cannot detect a source change that was never captured or a vendor side effect that was never recorded.</a:t>
            </a:r>
            <a:endParaRPr lang="en-US" sz="99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Healthcare security and data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Streaming increases timeliness; it must not expand data access beyond the approved purpose.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53896"/>
            <a:ext cx="64008" cy="147218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Data classification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Label PHI/PII, sensitivity, owner, purpose, and permitted consumers.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437083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53896"/>
            <a:ext cx="64008" cy="1472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Minimum necessary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5371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Filter fields and records before the vendor boundary; separate attachments.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11987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453896"/>
            <a:ext cx="64008" cy="1472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Encryption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0275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TLS in transit; KMS-managed encryption at rest; controlled object links.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2179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300984"/>
            <a:ext cx="64008" cy="1472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Network boundary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Private paths where supported; restricted egress; environment separation.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37083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3300984"/>
            <a:ext cx="64008" cy="1472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Audit evidence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5371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Identity, topic/group authorization, schema version, access, replay, and changes.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11987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9872" y="3300984"/>
            <a:ext cx="64008" cy="1472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Lifecycle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0275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36B7D"/>
                </a:solidFill>
              </a:rPr>
              <a:t>Retention, deletion semantics, legal hold, credential rotation, offboarding.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21792" y="5285232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1E7"/>
          </a:solidFill>
          <a:ln w="12700">
            <a:solidFill>
              <a:srgbClr val="F3BE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9824"/>
            <a:ext cx="1048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9A3412"/>
                </a:solidFill>
              </a:rPr>
              <a:t>Architecture review gate: BAA / contract purpose, data minimization, cross-border or residency constraints, subprocessors, model-use restrictions, and incident notification.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Cohere states its platform uses healthcare AI and FHIR-based workflows; actual data use remains governed by the executed contract and enterprise policy.</a:t>
            </a:r>
            <a:endParaRPr lang="en-US" sz="7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SLOs and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Measure the business path from committed source change to vendor processing—not only MSK broker health.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35608"/>
            <a:ext cx="64008" cy="117957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Freshness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P95/P99 time from source commit to topic publication.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79976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9976" y="1435608"/>
            <a:ext cx="64008" cy="1179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Delivery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62856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P95/P99 time from publication to vendor durable checkpoint.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47304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7304" y="1435608"/>
            <a:ext cx="64008" cy="1179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Correctness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30184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Duplicate rate, schema rejects, reconciliation variance.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12648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" y="2944368"/>
            <a:ext cx="64008" cy="1179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Availability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95528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Time vendor can consume within agreed service window.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9976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9976" y="2944368"/>
            <a:ext cx="64008" cy="1179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Recovery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62856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Time to drain backlog, replay, and restore normal processing.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147304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47304" y="2944368"/>
            <a:ext cx="64008" cy="117957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Security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30184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36B7D"/>
                </a:solidFill>
              </a:rPr>
              <a:t>Auth failures, denied access, credential expiry, anomalous volume.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4008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02A43"/>
                </a:solidFill>
              </a:rPr>
              <a:t>Single correlation chain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2331720" y="4754880"/>
            <a:ext cx="8001000" cy="0"/>
          </a:xfrm>
          <a:prstGeom prst="line">
            <a:avLst/>
          </a:prstGeom>
          <a:noFill/>
          <a:ln w="38100">
            <a:solidFill>
              <a:srgbClr val="83C7D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9568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source commit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8862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570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event ID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4864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572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Kafka offset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0866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574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vendor receipt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6868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576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AI workflow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02870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98B5"/>
                </a:solidFill>
              </a:rPr>
              <a:t>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9578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36B7D"/>
                </a:solidFill>
              </a:rPr>
              <a:t>result event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85216" y="554126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" y="554126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65099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Alert on business-time lag and projected retention breach, not only consumer lag count.</a:t>
            </a:r>
            <a:endParaRPr lang="en-US" sz="99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MSK product offering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 product owner offers standardized capabilities with clear boundaries, automation, support, and cost.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94360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99032"/>
            <a:ext cx="64008" cy="16276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Topic product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Naming, partitioning, retention, compaction, quotas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706624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74136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399032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Delta ingestion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557016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Outbox/CDC/API publisher onboarding and validation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486400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153912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1399032"/>
            <a:ext cx="64008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subscription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336792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Consumer group, topic permissions, network path, identity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66176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933688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33688" y="1399032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16568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Projection / relay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116568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Filtering, minimization, protocol translation, egress control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11045952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4360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392424"/>
            <a:ext cx="64008" cy="16276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Contract service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Schema registry/gate, compatibility, sample events, tests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2706624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74136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74136" y="3392424"/>
            <a:ext cx="64008" cy="16276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Reliability kit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3557016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Retry, quarantine, reconciliation, replay runbook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486400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53912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3912" y="3392424"/>
            <a:ext cx="64008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Observability pack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336792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Dashboards, correlation, lag/freshness SLO, alerts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8266176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07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933688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33688" y="3392424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16568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Lifecycle service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9116568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B7D"/>
                </a:solidFill>
              </a:rPr>
              <a:t>IaC, approvals, attestation, rotation, offboarding, chargeback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11045952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AA0AE"/>
                </a:solidFill>
              </a:rPr>
              <a:t>08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85216" y="549554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49554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6052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Every catalog item has: product owner, supported patterns, automated provisioning, security controls, SLO/support tier, usage meter, and deprecation policy.</a:t>
            </a:r>
            <a:endParaRPr lang="en-US" sz="99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Responsibility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Name one end-to-end integration product owner; distribute implementation duties without fragmenting accountability.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7432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10128" y="1371600"/>
            <a:ext cx="19202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5087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 team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30368" y="1371600"/>
            <a:ext cx="19202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5087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MSK platform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50608" y="1371600"/>
            <a:ext cx="21488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150876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Integration product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99448" y="1371600"/>
            <a:ext cx="205740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5168" y="150876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Cohere / vendor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18105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659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Event meaning &amp; source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310128" y="18105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965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230368" y="18105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965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150608" y="18105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9659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299448" y="18105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19659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66928" y="22677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4231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Capture &amp; publication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310128" y="22677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423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230368" y="22677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423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7150608" y="22677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24231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299448" y="22677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4231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66928" y="27249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28803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Topics / broker / quotas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310128" y="27249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880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230368" y="27249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2880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7150608" y="27249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28803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9299448" y="27249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54312" y="28803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66928" y="31821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3375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Projection / mapping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3310128" y="31821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3375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230368" y="31821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3375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7150608" y="31821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33375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9299448" y="31821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54312" y="33375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566928" y="36393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7947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Vendor client &amp; AI workflow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3310128" y="36393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37947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230368" y="36393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37947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150608" y="36393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37947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9299448" y="36393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54312" y="37947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66928" y="40965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2519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End-to-end SLO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3310128" y="40965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64992" y="4251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5230368" y="40965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85232" y="4251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7150608" y="40965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42519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9299448" y="40965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54312" y="42519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566928" y="45537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47091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Reconciliation &amp; replay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3310128" y="45537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64992" y="4709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5230368" y="45537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85232" y="4709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7150608" y="45537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47091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82" name="Shape 80"/>
          <p:cNvSpPr/>
          <p:nvPr/>
        </p:nvSpPr>
        <p:spPr>
          <a:xfrm>
            <a:off x="9299448" y="45537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54312" y="47091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84" name="Shape 82"/>
          <p:cNvSpPr/>
          <p:nvPr/>
        </p:nvSpPr>
        <p:spPr>
          <a:xfrm>
            <a:off x="566928" y="50109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" y="51663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102A43"/>
                </a:solidFill>
              </a:rPr>
              <a:t>Security / offboarding</a:t>
            </a:r>
            <a:endParaRPr lang="en-US" sz="830" dirty="0"/>
          </a:p>
        </p:txBody>
      </p:sp>
      <p:sp>
        <p:nvSpPr>
          <p:cNvPr id="86" name="Shape 84"/>
          <p:cNvSpPr/>
          <p:nvPr/>
        </p:nvSpPr>
        <p:spPr>
          <a:xfrm>
            <a:off x="3310128" y="50109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64992" y="5166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88" name="Shape 86"/>
          <p:cNvSpPr/>
          <p:nvPr/>
        </p:nvSpPr>
        <p:spPr>
          <a:xfrm>
            <a:off x="5230368" y="50109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85232" y="5166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90" name="Shape 88"/>
          <p:cNvSpPr/>
          <p:nvPr/>
        </p:nvSpPr>
        <p:spPr>
          <a:xfrm>
            <a:off x="7150608" y="50109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05472" y="51663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92" name="Shape 90"/>
          <p:cNvSpPr/>
          <p:nvPr/>
        </p:nvSpPr>
        <p:spPr>
          <a:xfrm>
            <a:off x="9299448" y="50109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54312" y="51663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94" name="Shape 92"/>
          <p:cNvSpPr/>
          <p:nvPr/>
        </p:nvSpPr>
        <p:spPr>
          <a:xfrm>
            <a:off x="585216" y="564184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5216" y="564184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9808" y="575157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R = responsible, A = accountable, C = consulted, I = informed. Validate the model contractually with Cohere.</a:t>
            </a:r>
            <a:endParaRPr lang="en-US" sz="99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Reusable vendor onboarding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The same lifecycle supports Cohere Health and future vendors with different business use cases.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969264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527048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4632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Discover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84632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Use case, purpose, data, vendor capability, contract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33472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91256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48840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Classify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2148840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Risk, PHI, architecture option, support tier,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55464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813048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Design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3813048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Events, key, topics, identity, network, SLO, recovery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61888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519672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77256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Provision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477256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IaC, schemas, roles, connection, dashboards, runbooks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26096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41464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Certify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7141464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Contract, load, duplicate, outage, replay, security tests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90304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0304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98B5"/>
                </a:solidFill>
              </a:rPr>
              <a:t>06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848088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805672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Operate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8805672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24544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Release, monitor, reconcile, attest, rotate, optimize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954512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42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54512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2318"/>
                </a:solidFill>
              </a:rPr>
              <a:t>07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469880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2A43"/>
                </a:solidFill>
              </a:rPr>
              <a:t>Offboard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10469880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88752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Stop producer/consumer, revoke, archive/delete, evidence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5216" y="5376672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" y="5376672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5486400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Production exit gate: contract and privacy approval, certified consumer behavior, operational ownership, recovery evidence, and measured SLO.</a:t>
            </a:r>
            <a:endParaRPr lang="en-US" sz="99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Recommended 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Deliver a thin Cohere vertical slice, then productize and scale.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45336"/>
            <a:ext cx="64008" cy="320040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Discovery &amp; decisions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86384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36B7D"/>
                </a:solidFill>
              </a:rPr>
              <a:t>Confirm Cohere Kafka capability, select deployment option, define event and source-of-truth.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32104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87F8C"/>
                </a:solidFill>
              </a:rPr>
              <a:t>0–4 weeks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3227832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545336"/>
            <a:ext cx="64008" cy="3200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Thin vertical slice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584448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36B7D"/>
                </a:solidFill>
              </a:rPr>
              <a:t>One source event → MSK → Cohere processing → status evidence; include failure tests.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630168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8F7ED"/>
          </a:solidFill>
          <a:ln w="12700">
            <a:solidFill>
              <a:srgbClr val="E8F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6A34A"/>
                </a:solidFill>
              </a:rPr>
              <a:t>4–10 weeks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6025896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545336"/>
            <a:ext cx="64008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Product hardening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382512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36B7D"/>
                </a:solidFill>
              </a:rPr>
              <a:t>Automate provisioning, contract gates, dashboards, replay, reconciliation, support.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28232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2563EB"/>
                </a:solidFill>
              </a:rPr>
              <a:t>10–16 weeks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8823960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696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97696" y="1545336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Scale vendors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180576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36B7D"/>
                </a:solidFill>
              </a:rPr>
              <a:t>Onboard additional use cases using the catalog and certify product economics.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226296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2016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7C3AED"/>
                </a:solidFill>
              </a:rPr>
              <a:t>16+ weeks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85216" y="518464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" y="518464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29437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Pilot success: no lost source change, controlled duplicates, secure vendor access, measurable freshness, recoverable outage, reconciled business state.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F8795"/>
                </a:solidFill>
              </a:rPr>
              <a:t>Timeline is directional and must be refined after Cohere technical discovery and enterprise delivery estimates.</a:t>
            </a:r>
            <a:endParaRPr lang="en-US" sz="7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-1097280"/>
            <a:ext cx="4389120" cy="4389120"/>
          </a:xfrm>
          <a:prstGeom prst="ellipse">
            <a:avLst/>
          </a:prstGeom>
          <a:solidFill>
            <a:srgbClr val="C5EEF2">
              <a:alpha val="80000"/>
            </a:srgbClr>
          </a:solidFill>
          <a:ln w="12700">
            <a:solidFill>
              <a:srgbClr val="C5EE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22976" y="5029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22976" y="6766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965960" y="13350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102A43"/>
                </a:solidFill>
              </a:rPr>
              <a:t>Decisions required now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blurRad="12700" dist="50800" dir="2700000" algn="bl" rotWithShape="0">
              <a:srgbClr val="A8C2C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98B5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7784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Cohere access pattern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576072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Direct MSK consumer, managed relay, or projection cluster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blurRad="12700" dist="50800" dir="2700000" algn="bl" rotWithShape="0">
              <a:srgbClr val="A8C2C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7792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98B5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16936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First business delta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2935224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Authoritative source, event owner, stable key, payload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9784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blurRad="12700" dist="50800" dir="2700000" algn="bl" rotWithShape="0">
              <a:srgbClr val="A8C2C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98B5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76088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Trust boundary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5294376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Network, identity, credential lifecycle, PHI approval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88936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blurRad="12700" dist="50800" dir="2700000" algn="bl" rotWithShape="0">
              <a:srgbClr val="A8C2C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26096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98B5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Product ownership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7653528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MSK product, integration product, support, funding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848088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blurRad="12700" dist="50800" dir="2700000" algn="bl" rotWithShape="0">
              <a:srgbClr val="A8C2CC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85248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798B5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994392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A43"/>
                </a:solidFill>
              </a:rPr>
              <a:t>Pilot acceptance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0012680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B7D"/>
                </a:solidFill>
              </a:rPr>
              <a:t>SLO, failure tests, replay and reconciliation evidence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50109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36B7D"/>
                </a:solidFill>
              </a:rPr>
              <a:t>Next architecture workshop: validate Cohere capability and select the first thin vertical slice.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58064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87F8C"/>
                </a:solidFill>
              </a:rPr>
              <a:t>OUTCOME  •  Signed architecture decision record + pilot charter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</a:rPr>
              <a:t>Architecture sources and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36B7D"/>
                </a:solidFill>
              </a:rPr>
              <a:t>Primary references support the platform mechanics; contract-specific Cohere capabilities still require confirmation.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362456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62456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Cohere Health API platform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81051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coherehealth.com/utilization-management/api-based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208776" y="1362456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08776" y="1362456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149047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Cohere Health AI platform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391656" y="181051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coherehealth.com/platform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12648" y="2441448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" y="2441448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56946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Amazon MSK multi-VPC connectivity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95528" y="288950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docs.aws.amazon.com/msk/latest/developerguide/aws-access-mult-vpc.html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208776" y="2441448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441448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56946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MSK client access / auth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391656" y="288950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docs.aws.amazon.com/msk/latest/developerguide/client-access.html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12648" y="3520440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" y="3520440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6484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Amazon MSK Connect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95528" y="3968496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docs.aws.amazon.com/msk/latest/developerguide/msk-connect.html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208776" y="3520440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3520440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36484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Microsoft Entra client credentials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391656" y="3968496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learn.microsoft.com/entra/identity-platform/v2-oauth2-client-creds-grant-flow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12648" y="4599432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" y="4599432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7274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CMS prior authorization rule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95528" y="50474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cms.gov/newsroom/fact-sheets/cms-interoperability-prior-authorization-final-rule-cms-0057-f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208776" y="4599432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blurRad="12700" dist="50800" dir="2700000" algn="bl" rotWithShape="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4599432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47274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FHIR R4 Subscription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6391656" y="50474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36B7D"/>
                </a:solidFill>
              </a:rPr>
              <a:t>hl7.org/fhir/R4/subscription.html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85216" y="582472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" y="582472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93445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24515A"/>
                </a:solidFill>
              </a:rPr>
              <a:t>Validate with Cohere: direct Kafka support, supported auth mechanisms, network topology, consumer checkpoint behavior, topic/schema expectations, rate/volume limits, and contractual AI data use.</a:t>
            </a:r>
            <a:endParaRPr lang="en-US" sz="99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4616</Words>
  <Application>Microsoft Macintosh PowerPoint</Application>
  <PresentationFormat>Widescreen</PresentationFormat>
  <Paragraphs>504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Enterprise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Vendor Delta Streaming on Amazon MSK</dc:title>
  <dc:subject>SFTP batch to vendor-triggered delta streaming with Amazon MSK</dc:subject>
  <dc:creator>Enterprise Architecture</dc:creator>
  <cp:lastModifiedBy>ram baswa</cp:lastModifiedBy>
  <cp:revision>2</cp:revision>
  <dcterms:created xsi:type="dcterms:W3CDTF">2026-10-12T15:00:33Z</dcterms:created>
  <dcterms:modified xsi:type="dcterms:W3CDTF">2026-10-12T15:18:07Z</dcterms:modified>
</cp:coreProperties>
</file>