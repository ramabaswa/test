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60" kern="0" dirty="0">
                <a:solidFill>
                  <a:srgbClr val="079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 HEALTH × AMAZON MSK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9326880" y="22860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1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Integration Architecture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30352" y="6547104"/>
            <a:ext cx="11137392" cy="0"/>
          </a:xfrm>
          <a:prstGeom prst="line">
            <a:avLst/>
          </a:prstGeom>
          <a:noFill/>
          <a:ln w="8890">
            <a:solidFill>
              <a:srgbClr val="D6E5E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4389120" cy="4389120"/>
          </a:xfrm>
          <a:prstGeom prst="ellipse">
            <a:avLst/>
          </a:prstGeom>
          <a:solidFill>
            <a:srgbClr val="BDEBF1">
              <a:alpha val="75000"/>
            </a:srgbClr>
          </a:solidFill>
          <a:ln w="12700">
            <a:solidFill>
              <a:srgbClr val="BDEB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663440"/>
            <a:ext cx="3291840" cy="3291840"/>
          </a:xfrm>
          <a:prstGeom prst="ellipse">
            <a:avLst/>
          </a:prstGeom>
          <a:solidFill>
            <a:srgbClr val="DCE8FF">
              <a:alpha val="90000"/>
            </a:srgbClr>
          </a:solidFill>
          <a:ln w="12700">
            <a:solidFill>
              <a:srgbClr val="DC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65836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7955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86537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02A43"/>
                </a:solidFill>
              </a:rPr>
              <a:t>Cohere Health Integration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749808" y="2450592"/>
            <a:ext cx="9326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0798B5"/>
                </a:solidFill>
              </a:rPr>
              <a:t>on Amazon MSK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77240" y="32735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36B7D"/>
                </a:solidFill>
              </a:rPr>
              <a:t>Architecture alignment for Kafka architects and product owners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6384" y="404164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096512"/>
            <a:ext cx="1490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7F8C"/>
                </a:solidFill>
              </a:rPr>
              <a:t>PUSH TO TARGET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42032" y="404164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E8F7ED"/>
          </a:solidFill>
          <a:ln w="12700">
            <a:solidFill>
              <a:srgbClr val="E8F7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4096512"/>
            <a:ext cx="1490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PULL FROM SOURCE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97680" y="404164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4096512"/>
            <a:ext cx="1490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BIDIRECTIONAL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" y="47548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</a:rPr>
              <a:t>Purpose: agree on patterns, platform products, ownership, and a pilot path.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" y="6080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36B7D"/>
                </a:solidFill>
              </a:rPr>
              <a:t>OCTOBER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decision in one 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Amazon MSK is the governed event backbone; Cohere remains an API-based utilization-management endpoint.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840480" cy="4160520"/>
          </a:xfrm>
          <a:prstGeom prst="roundRect">
            <a:avLst>
              <a:gd name="adj" fmla="val 1905"/>
            </a:avLst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DEBF1"/>
                </a:solidFill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One streaming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backbone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1F7F9"/>
                </a:solidFill>
              </a:rPr>
              <a:t>Standardize contracts, controls, and operations without forcing every vendor to speak Kafka.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600200"/>
            <a:ext cx="68580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600200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737360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Three patterns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2075688"/>
            <a:ext cx="6537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B7D"/>
                </a:solidFill>
              </a:rPr>
              <a:t>Push to Cohere, pull from Cohere, and bidirectional lifecycle management.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2990088"/>
            <a:ext cx="68580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990088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127248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Two identity planes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3465576"/>
            <a:ext cx="6537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B7D"/>
                </a:solidFill>
              </a:rPr>
              <a:t>Microsoft Entra ID protects API/workforce access; MSK uses IAM, SASL/SCRAM, or mTLS.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4379976"/>
            <a:ext cx="68580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4379976"/>
            <a:ext cx="64008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4517136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Product, not project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4855464"/>
            <a:ext cx="6537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B7D"/>
                </a:solidFill>
              </a:rPr>
              <a:t>Offer reusable topics, connectors, adapters, contracts, replay, and SRE controls.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5216" y="63185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F8795"/>
                </a:solidFill>
              </a:rPr>
              <a:t>Audience outcome: leave with a pattern decision, service boundary, owner, and pilot scope.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the business lifecycle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A reliable integration product owns the business outcome—not merely message movement.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225296" y="1847088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5296" y="20025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98B5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65376" y="2167128"/>
            <a:ext cx="1069848" cy="0"/>
          </a:xfrm>
          <a:prstGeom prst="line">
            <a:avLst/>
          </a:prstGeom>
          <a:noFill/>
          <a:ln w="25400">
            <a:solidFill>
              <a:srgbClr val="A6C9D4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58368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Business event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318211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B7D"/>
                </a:solidFill>
              </a:rPr>
              <a:t>PA request, member change, document, decision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93008" y="1847088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20025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33088" y="2167128"/>
            <a:ext cx="1069848" cy="0"/>
          </a:xfrm>
          <a:prstGeom prst="line">
            <a:avLst/>
          </a:prstGeom>
          <a:noFill/>
          <a:ln w="25400">
            <a:solidFill>
              <a:srgbClr val="A6C9D4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926080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Normalize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318211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B7D"/>
                </a:solidFill>
              </a:rPr>
              <a:t>FHIR/Da Vinci or canonical event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1847088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0025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167128"/>
            <a:ext cx="1069848" cy="0"/>
          </a:xfrm>
          <a:prstGeom prst="line">
            <a:avLst/>
          </a:prstGeom>
          <a:noFill/>
          <a:ln w="25400">
            <a:solidFill>
              <a:srgbClr val="A6C9D4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193792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Stream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93792" y="318211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B7D"/>
                </a:solidFill>
              </a:rPr>
              <a:t>Topic, key, partition, consumer group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28432" y="1847088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28432" y="20025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68512" y="2167128"/>
            <a:ext cx="1069848" cy="0"/>
          </a:xfrm>
          <a:prstGeom prst="line">
            <a:avLst/>
          </a:prstGeom>
          <a:noFill/>
          <a:ln w="25400">
            <a:solidFill>
              <a:srgbClr val="A6C9D4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461504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Orchestrate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61504" y="318211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B7D"/>
                </a:solidFill>
              </a:rPr>
              <a:t>Adapter, state, idempotency, retry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296144" y="1847088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96144" y="20025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29216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Operate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29216" y="318211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B7D"/>
                </a:solidFill>
              </a:rPr>
              <a:t>SLO, audit, reconciliation, replay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5216" y="4800600"/>
            <a:ext cx="11018520" cy="438912"/>
          </a:xfrm>
          <a:prstGeom prst="roundRect">
            <a:avLst>
              <a:gd name="adj" fmla="val 8333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910328"/>
            <a:ext cx="10698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515A"/>
                </a:solidFill>
              </a:rPr>
              <a:t>Product-owner lens: define the lifecycle, source of truth, user impact, and measurable service objective before choosing technology.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585216" y="4800600"/>
            <a:ext cx="64008" cy="43891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patterns, one control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Select the direction from business authority, latency, vendor capability, and recovery needs.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81912"/>
            <a:ext cx="3520440" cy="3547872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81912"/>
            <a:ext cx="64008" cy="3547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A. Target / push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20040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B7D"/>
                </a:solidFill>
              </a:rPr>
              <a:t>Source event or CDC → MSK → transform → Cohere API.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36B7D"/>
                </a:solidFill>
              </a:rPr>
              <a:t>Best when the enterprise initiates a request or authoritative change.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25112" y="1581912"/>
            <a:ext cx="3520440" cy="3547872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25112" y="1581912"/>
            <a:ext cx="64008" cy="3547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719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B. Pull from source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7992" y="2057400"/>
            <a:ext cx="320040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B7D"/>
                </a:solidFill>
              </a:rPr>
              <a:t>Scheduler → Cohere delta/history API → watermark → MSK.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36B7D"/>
                </a:solidFill>
              </a:rPr>
              <a:t>Best when no callback or event feed is available.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55864" y="1581912"/>
            <a:ext cx="3520440" cy="3547872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55864" y="1581912"/>
            <a:ext cx="64008" cy="3547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1719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C. Bidirectional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38744" y="2057400"/>
            <a:ext cx="320040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B7D"/>
                </a:solidFill>
              </a:rPr>
              <a:t>Command → Cohere → status/result event.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36B7D"/>
                </a:solidFill>
              </a:rPr>
              <a:t>Best for prior-authorization lifecycles with requests and outcomes.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550468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555955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7F8C"/>
                </a:solidFill>
              </a:rPr>
              <a:t>SYSTEM OF RECORD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27248" y="5504688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5559552"/>
            <a:ext cx="1033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7F8C"/>
                </a:solidFill>
              </a:rPr>
              <a:t>LATENCY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71416" y="5504688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5559552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7F8C"/>
                </a:solidFill>
              </a:rPr>
              <a:t>API CAPABILITY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00216" y="5504688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5559552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7F8C"/>
                </a:solidFill>
              </a:rPr>
              <a:t>OWNERSHIP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790688" y="550468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45552" y="5559552"/>
            <a:ext cx="1399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7F8C"/>
                </a:solidFill>
              </a:rPr>
              <a:t>RECOVERY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500616" y="550468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5480" y="5559552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7F8C"/>
                </a:solidFill>
              </a:rPr>
              <a:t>COMPLIANCE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A — push to Cohere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Use an event or CDC trigger when the enterprise is initiating the request or change.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865376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032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66420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98B5"/>
                </a:solidFill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204825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System of record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468880"/>
            <a:ext cx="15727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B7D"/>
                </a:solidFill>
              </a:rPr>
              <a:t>UM / claims / clinical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05456" y="2514600"/>
            <a:ext cx="24688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71216" y="1572768"/>
            <a:ext cx="1865376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032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80944" y="166420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0" y="204825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CDC / outbox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468880"/>
            <a:ext cx="15727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B7D"/>
                </a:solidFill>
              </a:rPr>
              <a:t>Atomic business event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9744" y="2514600"/>
            <a:ext cx="24688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75504" y="1572768"/>
            <a:ext cx="1865376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032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66420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21808" y="204825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MSK topic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21808" y="2468880"/>
            <a:ext cx="15727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B7D"/>
                </a:solidFill>
              </a:rPr>
              <a:t>Key = authorization ID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14032" y="2514600"/>
            <a:ext cx="24688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79792" y="1572768"/>
            <a:ext cx="1865376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032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166420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26096" y="204825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API adapter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26096" y="2468880"/>
            <a:ext cx="15727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B7D"/>
                </a:solidFill>
              </a:rPr>
              <a:t>FHIR mapping + throttling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418320" y="2514600"/>
            <a:ext cx="24688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84080" y="1572768"/>
            <a:ext cx="1865376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93808" y="166420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930384" y="204825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Cohere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30384" y="2468880"/>
            <a:ext cx="15727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B7D"/>
                </a:solidFill>
              </a:rPr>
              <a:t>CRD / DTR / PAS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" y="4087368"/>
            <a:ext cx="25603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" y="4087368"/>
            <a:ext cx="64008" cy="1188720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42245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Ordering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4672" y="456285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Partition by a stable business key.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10712" y="4087368"/>
            <a:ext cx="25603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10712" y="4087368"/>
            <a:ext cx="64008" cy="1188720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93592" y="42245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Delivery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93592" y="456285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Assume at-least-once; make target writes idempotent.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99632" y="4087368"/>
            <a:ext cx="25603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99632" y="4087368"/>
            <a:ext cx="64008" cy="1188720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42245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Failure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82512" y="456285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Retry → parking lot → operator-approved replay.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88552" y="4087368"/>
            <a:ext cx="25603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988552" y="4087368"/>
            <a:ext cx="64008" cy="1188720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71432" y="42245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Audit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171432" y="456285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Carry one correlation ID end to end.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85216" y="5650992"/>
            <a:ext cx="11018520" cy="438912"/>
          </a:xfrm>
          <a:prstGeom prst="roundRect">
            <a:avLst>
              <a:gd name="adj" fmla="val 8333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" y="5760720"/>
            <a:ext cx="10698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515A"/>
                </a:solidFill>
              </a:rPr>
              <a:t>Recommended trigger: transactional outbox for application-owned changes; log-based CDC for database-owned changes.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585216" y="5650992"/>
            <a:ext cx="64008" cy="43891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B — pull from Cohere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Treat polling as a stateful integration product, not a stateless cron job.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3504" y="1508760"/>
            <a:ext cx="61722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508760"/>
            <a:ext cx="64008" cy="6583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459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Schedule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984248"/>
            <a:ext cx="5852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EventBridge or workflow initiates poll.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" y="2340864"/>
            <a:ext cx="61722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2340864"/>
            <a:ext cx="6400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4780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Read delta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2816352"/>
            <a:ext cx="5852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History, modified-since, delta token, or agreed status API.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" y="3172968"/>
            <a:ext cx="61722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" y="3172968"/>
            <a:ext cx="64008" cy="6583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3101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Persist state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" y="3648456"/>
            <a:ext cx="5852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Watermark, ETag, cursor, last successful run.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" y="4005072"/>
            <a:ext cx="61722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" y="4005072"/>
            <a:ext cx="64008" cy="6583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1422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Publish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384" y="4480560"/>
            <a:ext cx="5852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Normalize and durably publish each change to MSK.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" y="4837176"/>
            <a:ext cx="61722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" y="4837176"/>
            <a:ext cx="64008" cy="6583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49743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Reconcile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6384" y="5312664"/>
            <a:ext cx="5852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Periodically compare full state to detect gaps.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14032" y="1499616"/>
            <a:ext cx="4443984" cy="4187952"/>
          </a:xfrm>
          <a:prstGeom prst="roundRect">
            <a:avLst>
              <a:gd name="adj" fmla="val 1747"/>
            </a:avLst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96528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↻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7662672" y="27432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Safe polling envelope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699248" y="3337560"/>
            <a:ext cx="3255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5F8F9"/>
                </a:solidFill>
              </a:rPr>
              <a:t>Overlap the query window, deduplicate results, honor pagination and rate limits, and advance the watermark only after durable publication.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09560" y="5001768"/>
            <a:ext cx="2834640" cy="292608"/>
          </a:xfrm>
          <a:prstGeom prst="roundRect">
            <a:avLst>
              <a:gd name="adj" fmla="val 25000"/>
            </a:avLst>
          </a:prstGeom>
          <a:solidFill>
            <a:srgbClr val="2B6F78"/>
          </a:solidFill>
          <a:ln w="12700">
            <a:solidFill>
              <a:srgbClr val="2B6F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64424" y="5056632"/>
            <a:ext cx="2724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READ → PUBLISH → CHECKPOINT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63185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F8795"/>
                </a:solidFill>
              </a:rPr>
              <a:t>Design requirement: API rate limits, pagination, and vendor delta semantics must be confirmed during discovery.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C — bidirectional lifecycle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Separate commands from status events and make workflow state explicit.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517904"/>
            <a:ext cx="3063240" cy="292608"/>
          </a:xfrm>
          <a:prstGeom prst="roundRect">
            <a:avLst>
              <a:gd name="adj" fmla="val 25000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572768"/>
            <a:ext cx="2953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7F8C"/>
                </a:solidFill>
              </a:rPr>
              <a:t>ENTERPRISE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33088" y="1517904"/>
            <a:ext cx="3063240" cy="292608"/>
          </a:xfrm>
          <a:prstGeom prst="roundRect">
            <a:avLst>
              <a:gd name="adj" fmla="val 25000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87952" y="1572768"/>
            <a:ext cx="2953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7F8C"/>
                </a:solidFill>
              </a:rPr>
              <a:t>INTEGRATION PRODUCT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662672" y="1517904"/>
            <a:ext cx="3886200" cy="292608"/>
          </a:xfrm>
          <a:prstGeom prst="roundRect">
            <a:avLst>
              <a:gd name="adj" fmla="val 25000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17536" y="1572768"/>
            <a:ext cx="3776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COHERE HEALTH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21792" y="2039112"/>
            <a:ext cx="30632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2585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Submit / amend / cancel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813048" y="2313432"/>
            <a:ext cx="24688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33088" y="2039112"/>
            <a:ext cx="30632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0248" y="22585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Command topic + saga state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24344" y="2313432"/>
            <a:ext cx="24688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62672" y="2039112"/>
            <a:ext cx="38862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22585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FHIR API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" y="3182112"/>
            <a:ext cx="30632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4015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Consumer receives outcome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813048" y="3456432"/>
            <a:ext cx="246888" cy="256032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33088" y="3182112"/>
            <a:ext cx="30632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0248" y="34015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Status topic + state store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24344" y="3456432"/>
            <a:ext cx="246888" cy="256032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62672" y="3182112"/>
            <a:ext cx="38862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9832" y="34015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Decision / RFI / denial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1792" y="4590288"/>
            <a:ext cx="342900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" y="4590288"/>
            <a:ext cx="64008" cy="11155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4727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Correlation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4672" y="506577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One ID links command, API request, and outcome.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79976" y="4590288"/>
            <a:ext cx="342900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79976" y="4590288"/>
            <a:ext cx="64008" cy="11155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62856" y="4727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Conflict ownership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62856" y="506577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Define authoritative fields and allowed transitions.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38160" y="4590288"/>
            <a:ext cx="342900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38160" y="4590288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4727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Loop prevention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21040" y="506577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Track origin, version, and processed event ID.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5216" y="63185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F8795"/>
                </a:solidFill>
              </a:rPr>
              <a:t>The status topic is an enterprise event contract—not a verbatim copy of a vendor payload.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 reference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Keep vendor protocols at the edge; expose stable enterprise event contracts internally.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240280" cy="457200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645920"/>
            <a:ext cx="2020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Teams &amp; vendors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22402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2221992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Systems of record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715768"/>
            <a:ext cx="22402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297180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CDC / outbox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465576"/>
            <a:ext cx="22402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3721608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API &amp; Kafka clients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4215384"/>
            <a:ext cx="22402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4471416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Batch / file sources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71800" y="3154680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508760"/>
            <a:ext cx="22402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645920"/>
            <a:ext cx="2020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Enterprise edge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82112" y="1965960"/>
            <a:ext cx="22402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2221992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Entra ID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82112" y="2715768"/>
            <a:ext cx="22402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297180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API Gateway + WAF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82112" y="3465576"/>
            <a:ext cx="22402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3721608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Private connectivity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82112" y="4215384"/>
            <a:ext cx="22402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4471416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FHIR validation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59552" y="3154680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79008" y="1508760"/>
            <a:ext cx="29718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88736" y="1645920"/>
            <a:ext cx="2752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AWS MSK platform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79008" y="1965960"/>
            <a:ext cx="29718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25312" y="2221992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MSK + Connect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779008" y="2715768"/>
            <a:ext cx="29718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25312" y="2971800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Adapters / stream processing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779008" y="3465576"/>
            <a:ext cx="29718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5312" y="3721608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Schema + state + DLQ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779008" y="4215384"/>
            <a:ext cx="29718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25312" y="4471416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Security + observability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887968" y="3154680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07424" y="1508760"/>
            <a:ext cx="24688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17152" y="1645920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Cohere Health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07424" y="1965960"/>
            <a:ext cx="24688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53728" y="2221992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CRD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107424" y="2715768"/>
            <a:ext cx="24688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53728" y="297180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DTR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107424" y="3465576"/>
            <a:ext cx="24688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53728" y="372160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PAS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107424" y="4215384"/>
            <a:ext cx="24688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53728" y="447141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Status / decision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85216" y="5257800"/>
            <a:ext cx="11018520" cy="438912"/>
          </a:xfrm>
          <a:prstGeom prst="roundRect">
            <a:avLst>
              <a:gd name="adj" fmla="val 8333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5367528"/>
            <a:ext cx="10698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515A"/>
                </a:solidFill>
              </a:rPr>
              <a:t>Boundary rule: Cohere-facing FHIR/API evolution is absorbed by the adapter; internal consumers remain insulated from vendor-specific change.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585216" y="5257800"/>
            <a:ext cx="64008" cy="43891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Separate API and Kafka identity planes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Use the right token and authorization model for each protection boundary.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5349240" cy="36118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08760"/>
            <a:ext cx="64008" cy="3611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45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API plane — Microsoft Entra 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984248"/>
            <a:ext cx="502920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B7D"/>
                </a:solidFill>
              </a:rPr>
              <a:t>1. Client obtains an OAuth 2.0 token.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36B7D"/>
                </a:solidFill>
              </a:rPr>
              <a:t>2. API Gateway validates signature, issuer, audience, expiry, and route scopes.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36B7D"/>
                </a:solidFill>
              </a:rPr>
              <a:t>3. Adapter calls downstream services with its workload identity.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9632" y="1508760"/>
            <a:ext cx="5349240" cy="36118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508760"/>
            <a:ext cx="64008" cy="3611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645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Kafka plane — Amazon MSK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82512" y="1984248"/>
            <a:ext cx="502920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B7D"/>
                </a:solidFill>
              </a:rPr>
              <a:t>1. AWS-hosted clients use IAM roles where practical.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36B7D"/>
                </a:solidFill>
              </a:rPr>
              <a:t>2. SASL/SCRAM or mTLS supports contracted/non-AWS client needs.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36B7D"/>
                </a:solidFill>
              </a:rPr>
              <a:t>3. IAM policies or Kafka ACLs authorize topic and group access.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5367528"/>
            <a:ext cx="10890504" cy="530352"/>
          </a:xfrm>
          <a:prstGeom prst="roundRect">
            <a:avLst>
              <a:gd name="adj" fmla="val 6897"/>
            </a:avLst>
          </a:prstGeom>
          <a:solidFill>
            <a:srgbClr val="FFF1E7"/>
          </a:solidFill>
          <a:ln w="11430">
            <a:solidFill>
              <a:srgbClr val="F4C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5532120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9A3412"/>
                </a:solidFill>
              </a:rPr>
              <a:t>Do not assume an Entra access token can be passed directly to MSK IAM authentication. Bridge identities deliberately.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85216" y="63185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F8795"/>
                </a:solidFill>
              </a:rPr>
              <a:t>For workforce access, Entra can federate to AWS IAM Identity Center; this is separate from application data-plane authentication.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MSK platform team offers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A service catalog turns one-off integrations into repeatable products.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444752"/>
            <a:ext cx="25603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444752"/>
            <a:ext cx="64008" cy="1600200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5819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Managed topic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1920240"/>
            <a:ext cx="22402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36B7D"/>
                </a:solidFill>
              </a:rPr>
              <a:t>Naming, partitions, retention, IAM/ACL, quota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2660904" y="15727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A0AE"/>
                </a:solidFill>
              </a:rPr>
              <a:t>01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374136" y="1444752"/>
            <a:ext cx="25603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74136" y="1444752"/>
            <a:ext cx="64008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5819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Managed connector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57016" y="1920240"/>
            <a:ext cx="22402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36B7D"/>
                </a:solidFill>
              </a:rPr>
              <a:t>Approved plugin, capacity, secrets, monitoring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449824" y="15727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A0AE"/>
                </a:solidFill>
              </a:rPr>
              <a:t>02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63056" y="1444752"/>
            <a:ext cx="25603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444752"/>
            <a:ext cx="64008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15819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API↔Kafka adapter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45936" y="1920240"/>
            <a:ext cx="22402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36B7D"/>
                </a:solidFill>
              </a:rPr>
              <a:t>FHIR mapping, throttling, retries, correlation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238744" y="15727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A0AE"/>
                </a:solidFill>
              </a:rPr>
              <a:t>03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951976" y="1444752"/>
            <a:ext cx="25603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51976" y="1444752"/>
            <a:ext cx="64008" cy="1600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34856" y="15819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CDC onboarding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34856" y="1920240"/>
            <a:ext cx="22402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36B7D"/>
                </a:solidFill>
              </a:rPr>
              <a:t>DMS, Debezium, or transactional outbox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11027664" y="15727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A0AE"/>
                </a:solidFill>
              </a:rPr>
              <a:t>04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85216" y="3410712"/>
            <a:ext cx="25603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5216" y="3410712"/>
            <a:ext cx="64008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35478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Fan-out subscription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8096" y="3886200"/>
            <a:ext cx="22402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36B7D"/>
                </a:solidFill>
              </a:rPr>
              <a:t>Consumer group, schema, SLO, replay policy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2660904" y="35387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A0AE"/>
                </a:solidFill>
              </a:rPr>
              <a:t>05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374136" y="3410712"/>
            <a:ext cx="25603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74136" y="3410712"/>
            <a:ext cx="64008" cy="1600200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57016" y="35478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Bidirectional kit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57016" y="3886200"/>
            <a:ext cx="22402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36B7D"/>
                </a:solidFill>
              </a:rPr>
              <a:t>Command/status topics, saga state, conflict rules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5449824" y="35387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A0AE"/>
                </a:solidFill>
              </a:rPr>
              <a:t>06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163056" y="3410712"/>
            <a:ext cx="25603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3410712"/>
            <a:ext cx="64008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5936" y="35478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Contract gate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45936" y="3886200"/>
            <a:ext cx="22402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36B7D"/>
                </a:solidFill>
              </a:rPr>
              <a:t>Schema compatibility and CI validation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8238744" y="35387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A0AE"/>
                </a:solidFill>
              </a:rPr>
              <a:t>07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951976" y="3410712"/>
            <a:ext cx="25603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951976" y="3410712"/>
            <a:ext cx="64008" cy="1600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34856" y="35478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DR &amp; replay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34856" y="3886200"/>
            <a:ext cx="22402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36B7D"/>
                </a:solidFill>
              </a:rPr>
              <a:t>Replication, archive, reconciliation, approved replay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11027664" y="35387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A0AE"/>
                </a:solidFill>
              </a:rPr>
              <a:t>08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85216" y="63185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F8795"/>
                </a:solidFill>
              </a:rPr>
              <a:t>Each catalog item should include an owner, support tier, SLO, cost model, and automated provisioning path.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ownership explicit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One accountable product owner must span the end-to-end integration service.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499616"/>
            <a:ext cx="53035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99616"/>
            <a:ext cx="64008" cy="1572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36776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MSK platform team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975104"/>
            <a:ext cx="4983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Cluster lifecycle, connectivity, authorization templates, topic automation, connector runtime, monitoring, DR, and cost allocation.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54496" y="1499616"/>
            <a:ext cx="53035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54496" y="1499616"/>
            <a:ext cx="64008" cy="15727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636776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Integration product team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37376" y="1975104"/>
            <a:ext cx="4983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Pattern selection, vendor adapter, mapping, saga state, retry/replay, reconciliation, and service SLO.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" y="3401568"/>
            <a:ext cx="53035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3401568"/>
            <a:ext cx="64008" cy="15727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53872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Domain product owner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3877056"/>
            <a:ext cx="4983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Business outcome, source-of-truth rules, event semantics, priority, acceptance criteria, and funding.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4496" y="3401568"/>
            <a:ext cx="53035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3401568"/>
            <a:ext cx="64008" cy="1572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353872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Security &amp; data governance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37376" y="3877056"/>
            <a:ext cx="4983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PHI classification, access policy, retention, audit evidence, incident response, and vendor risk.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5216" y="5413248"/>
            <a:ext cx="11018520" cy="438912"/>
          </a:xfrm>
          <a:prstGeom prst="roundRect">
            <a:avLst>
              <a:gd name="adj" fmla="val 8333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522976"/>
            <a:ext cx="10698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515A"/>
                </a:solidFill>
              </a:rPr>
              <a:t>Critical operating decision: define L1/L2/L3 support, incident commander, reconciliation owner, and vendor escalation path.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85216" y="5413248"/>
            <a:ext cx="64008" cy="43891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Non-functional requirements are product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Define them by pattern and measure the complete path—not only broker health.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3504" y="1517904"/>
            <a:ext cx="3493008" cy="1527048"/>
          </a:xfrm>
          <a:prstGeom prst="roundRect">
            <a:avLst>
              <a:gd name="adj" fmla="val 419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517904"/>
            <a:ext cx="64008" cy="152704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5506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Latency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993392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Business SLO and end-to-end measurement.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70832" y="1517904"/>
            <a:ext cx="3493008" cy="1527048"/>
          </a:xfrm>
          <a:prstGeom prst="roundRect">
            <a:avLst>
              <a:gd name="adj" fmla="val 419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517904"/>
            <a:ext cx="64008" cy="1527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5506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Reliability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53712" y="1993392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Idempotency, retry, DLQ, replay, reconciliation.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38160" y="1517904"/>
            <a:ext cx="3493008" cy="1527048"/>
          </a:xfrm>
          <a:prstGeom prst="roundRect">
            <a:avLst>
              <a:gd name="adj" fmla="val 419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517904"/>
            <a:ext cx="64008" cy="1527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65506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Data contract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1993392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Versioning, compatibility, canonical IDs, PHI minimization.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03504" y="3438144"/>
            <a:ext cx="3493008" cy="1527048"/>
          </a:xfrm>
          <a:prstGeom prst="roundRect">
            <a:avLst>
              <a:gd name="adj" fmla="val 419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" y="3438144"/>
            <a:ext cx="64008" cy="1527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57530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Observability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384" y="3913632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Lag, throughput, auth failures, API latency, correlation.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370832" y="3438144"/>
            <a:ext cx="3493008" cy="1527048"/>
          </a:xfrm>
          <a:prstGeom prst="roundRect">
            <a:avLst>
              <a:gd name="adj" fmla="val 419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70832" y="3438144"/>
            <a:ext cx="64008" cy="1527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357530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Security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53712" y="3913632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TLS, KMS, least privilege, rotation, private paths, audit.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138160" y="3438144"/>
            <a:ext cx="3493008" cy="1527048"/>
          </a:xfrm>
          <a:prstGeom prst="roundRect">
            <a:avLst>
              <a:gd name="adj" fmla="val 419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8160" y="3438144"/>
            <a:ext cx="64008" cy="152704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357530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Resilience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3913632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Multi-AZ, capacity alarms, recovery runbook, replication.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85216" y="5522976"/>
            <a:ext cx="11018520" cy="438912"/>
          </a:xfrm>
          <a:prstGeom prst="roundRect">
            <a:avLst>
              <a:gd name="adj" fmla="val 8333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632704"/>
            <a:ext cx="10698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515A"/>
                </a:solidFill>
              </a:rPr>
              <a:t>Operational readiness requires tested duplicate handling, vendor outage recovery, reconciliation, replay, failover, and credential rotation.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585216" y="5522976"/>
            <a:ext cx="64008" cy="43891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repeatable onboarding path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Use a common lifecycle for Cohere and future business vendors.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234440" y="1545336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746504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98B5"/>
                </a:solidFill>
              </a:rPr>
              <a:t>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37944" y="1847088"/>
            <a:ext cx="1060704" cy="0"/>
          </a:xfrm>
          <a:prstGeom prst="line">
            <a:avLst/>
          </a:prstGeom>
          <a:noFill/>
          <a:ln w="25400">
            <a:solidFill>
              <a:srgbClr val="8CCAD4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94944" y="24871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Discover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" y="2971800"/>
            <a:ext cx="1920240" cy="193852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319272"/>
            <a:ext cx="15727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Contract, endpoints, auth, limits, data class, source of truth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47872" y="1545336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9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746504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98B5"/>
                </a:solidFill>
              </a:rPr>
              <a:t>02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51376" y="1847088"/>
            <a:ext cx="1060704" cy="0"/>
          </a:xfrm>
          <a:prstGeom prst="line">
            <a:avLst/>
          </a:prstGeom>
          <a:noFill/>
          <a:ln w="25400">
            <a:solidFill>
              <a:srgbClr val="8CCAD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008376" y="24871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Design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89504" y="2971800"/>
            <a:ext cx="1920240" cy="193852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3319272"/>
            <a:ext cx="15727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Pattern, event model, key, SLO, failure and reconciliation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61304" y="1545336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9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1304" y="1746504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98B5"/>
                </a:solidFill>
              </a:rPr>
              <a:t>03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64808" y="1847088"/>
            <a:ext cx="1060704" cy="0"/>
          </a:xfrm>
          <a:prstGeom prst="line">
            <a:avLst/>
          </a:prstGeom>
          <a:noFill/>
          <a:ln w="25400">
            <a:solidFill>
              <a:srgbClr val="8CCAD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321808" y="24871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Provision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02936" y="2971800"/>
            <a:ext cx="1920240" cy="193852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6672" y="3319272"/>
            <a:ext cx="15727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Connectivity, roles, topics, schemas, secrets, adapter, dashboards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74736" y="1545336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98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4736" y="1746504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98B5"/>
                </a:solidFill>
              </a:rPr>
              <a:t>04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778240" y="1847088"/>
            <a:ext cx="1060704" cy="0"/>
          </a:xfrm>
          <a:prstGeom prst="line">
            <a:avLst/>
          </a:prstGeom>
          <a:noFill/>
          <a:ln w="25400">
            <a:solidFill>
              <a:srgbClr val="8CCAD4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635240" y="24871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Prove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516368" y="2971800"/>
            <a:ext cx="1920240" cy="193852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0104" y="3319272"/>
            <a:ext cx="15727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Contract, load, duplicate, outage, replay, PHI, operations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488168" y="1545336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98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88168" y="1746504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98B5"/>
                </a:solidFill>
              </a:rPr>
              <a:t>05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948672" y="24871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Operate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829800" y="2971800"/>
            <a:ext cx="1920240" cy="193852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03536" y="3319272"/>
            <a:ext cx="15727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36B7D"/>
                </a:solidFill>
              </a:rPr>
              <a:t>Gradual release, monitor, reconcile, rotate, cost/SLO review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5216" y="5394960"/>
            <a:ext cx="11018520" cy="438912"/>
          </a:xfrm>
          <a:prstGeom prst="roundRect">
            <a:avLst>
              <a:gd name="adj" fmla="val 8333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5504688"/>
            <a:ext cx="10698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515A"/>
                </a:solidFill>
              </a:rPr>
              <a:t>Exit criteria are explicit at every phase; production approval requires operational ownership and evidence—not only functional testing.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585216" y="5394960"/>
            <a:ext cx="64008" cy="43891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pilot: one thin vertical slice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Prove the product model with one authorization lifecycle before scaling to more teams and vendors.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2807208"/>
            <a:ext cx="10058400" cy="0"/>
          </a:xfrm>
          <a:prstGeom prst="line">
            <a:avLst/>
          </a:prstGeom>
          <a:noFill/>
          <a:ln w="38100">
            <a:solidFill>
              <a:srgbClr val="89CAD5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069848" y="2423160"/>
            <a:ext cx="685800" cy="6858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2624328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98B5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364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Submit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7947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36B7D"/>
                </a:solidFill>
              </a:rPr>
              <a:t>One enterprise system emits a prior-auth command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3401568" y="2423160"/>
            <a:ext cx="685800" cy="6858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79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2624328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98B5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3364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Deliver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37947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36B7D"/>
                </a:solidFill>
              </a:rPr>
              <a:t>MSK adapter validates and calls Cohere PAS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5733288" y="2423160"/>
            <a:ext cx="685800" cy="6858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79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33288" y="2624328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98B5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66360" y="3364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Observe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66360" y="37947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36B7D"/>
                </a:solidFill>
              </a:rPr>
              <a:t>Capture status/decision and publish enterprise event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8065008" y="2423160"/>
            <a:ext cx="685800" cy="6858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798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65008" y="2624328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98B5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3364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Recover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0" y="37947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36B7D"/>
                </a:solidFill>
              </a:rPr>
              <a:t>Demonstrate duplicate, outage, DLQ, and replay handling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10396728" y="2423160"/>
            <a:ext cx="685800" cy="6858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96728" y="2624328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29800" y="3364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Accept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29800" y="37947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36B7D"/>
                </a:solidFill>
              </a:rPr>
              <a:t>Meet business SLO and reconcile source-of-truth state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585216" y="5349240"/>
            <a:ext cx="11018520" cy="438912"/>
          </a:xfrm>
          <a:prstGeom prst="roundRect">
            <a:avLst>
              <a:gd name="adj" fmla="val 8333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458968"/>
            <a:ext cx="10698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515A"/>
                </a:solidFill>
              </a:rPr>
              <a:t>Success evidence: traceable correlation ID, no lost state, controlled duplicates, measured latency, secure access, and operator-run recovery.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585216" y="5349240"/>
            <a:ext cx="64008" cy="43891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097280"/>
            <a:ext cx="4297680" cy="4297680"/>
          </a:xfrm>
          <a:prstGeom prst="ellipse">
            <a:avLst/>
          </a:prstGeom>
          <a:solidFill>
            <a:srgbClr val="C5EEF2">
              <a:alpha val="75000"/>
            </a:srgbClr>
          </a:solidFill>
          <a:ln w="12700">
            <a:solidFill>
              <a:srgbClr val="C5EE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3832" y="56692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13832" y="73152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✓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17320" y="1481328"/>
            <a:ext cx="9372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02A43"/>
                </a:solidFill>
              </a:rPr>
              <a:t>Align on five decisions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199339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5240">
            <a:solidFill>
              <a:srgbClr val="0798B5"/>
            </a:solidFill>
            <a:prstDash val="solid"/>
          </a:ln>
          <a:effectLst>
            <a:outerShdw sx="100000" sy="100000" kx="0" ky="0" algn="bl" rotWithShape="0" blurRad="15240" dist="50800" dir="2700000">
              <a:srgbClr val="A8C2CC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94436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98B5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7512" y="32918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Authoritative system and lifecycle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16352" y="2743200"/>
            <a:ext cx="199339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5240">
            <a:solidFill>
              <a:srgbClr val="0798B5"/>
            </a:solidFill>
            <a:prstDash val="solid"/>
          </a:ln>
          <a:effectLst>
            <a:outerShdw sx="100000" sy="100000" kx="0" ky="0" algn="bl" rotWithShape="0" blurRad="15240" dist="50800" dir="2700000">
              <a:srgbClr val="A8C2CC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53512" y="294436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98B5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80944" y="32918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Pattern per business capability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129784" y="2743200"/>
            <a:ext cx="199339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5240">
            <a:solidFill>
              <a:srgbClr val="0798B5"/>
            </a:solidFill>
            <a:prstDash val="solid"/>
          </a:ln>
          <a:effectLst>
            <a:outerShdw sx="100000" sy="100000" kx="0" ky="0" algn="bl" rotWithShape="0" blurRad="15240" dist="50800" dir="2700000">
              <a:srgbClr val="A8C2CC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66944" y="294436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98B5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94376" y="32918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Identity and private connectivity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43216" y="2743200"/>
            <a:ext cx="199339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5240">
            <a:solidFill>
              <a:srgbClr val="0798B5"/>
            </a:solidFill>
            <a:prstDash val="solid"/>
          </a:ln>
          <a:effectLst>
            <a:outerShdw sx="100000" sy="100000" kx="0" ky="0" algn="bl" rotWithShape="0" blurRad="15240" dist="50800" dir="2700000">
              <a:srgbClr val="A8C2CC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0376" y="294436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98B5"/>
                </a:solidFill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07808" y="32918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Product ownership and SLO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756648" y="2743200"/>
            <a:ext cx="199339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5240">
            <a:solidFill>
              <a:srgbClr val="0798B5"/>
            </a:solidFill>
            <a:prstDash val="solid"/>
          </a:ln>
          <a:effectLst>
            <a:outerShdw sx="100000" sy="100000" kx="0" ky="0" algn="bl" rotWithShape="0" blurRad="15240" dist="50800" dir="2700000">
              <a:srgbClr val="A8C2CC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93808" y="294436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98B5"/>
                </a:solidFill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921240" y="32918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Pilot scope and success criteria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011680" y="4937760"/>
            <a:ext cx="8183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36B7D"/>
                </a:solidFill>
              </a:rPr>
              <a:t>Then implement one thin vertical slice end to end.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920240" y="589788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87F8C"/>
                </a:solidFill>
              </a:rPr>
              <a:t>NEXT STEP  •  Confirm Cohere API contract and select the pilot authorization journey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sources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B7D"/>
                </a:solidFill>
              </a:rPr>
              <a:t>Primary documentation used to validate the design assumptions in this deck.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481328"/>
            <a:ext cx="528523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81328"/>
            <a:ext cx="64008" cy="93268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18488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Cohere Health APIs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956816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B7D"/>
                </a:solidFill>
              </a:rPr>
              <a:t>coherehealth.com/utilization-management/api-based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21792" y="2606040"/>
            <a:ext cx="528523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606040"/>
            <a:ext cx="64008" cy="93268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743200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Amazon MSK multi-VPC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3081528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B7D"/>
                </a:solidFill>
              </a:rPr>
              <a:t>docs.aws.amazon.com/msk/latest/developerguide/aws-access-mult-vpc.html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21792" y="3730752"/>
            <a:ext cx="528523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3730752"/>
            <a:ext cx="64008" cy="93268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867912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Amazon MSK Connect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4206240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B7D"/>
                </a:solidFill>
              </a:rPr>
              <a:t>docs.aws.amazon.com/msk/latest/developerguide/msk-connect.html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21792" y="4855464"/>
            <a:ext cx="528523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4855464"/>
            <a:ext cx="64008" cy="93268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992624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MSK authentication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5330952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B7D"/>
                </a:solidFill>
              </a:rPr>
              <a:t>docs.aws.amazon.com/msk/latest/developerguide/create-cluster-console.html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227064" y="1481328"/>
            <a:ext cx="528523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27064" y="1481328"/>
            <a:ext cx="64008" cy="9326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9944" y="1618488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Entra client credentials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9944" y="1956816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B7D"/>
                </a:solidFill>
              </a:rPr>
              <a:t>learn.microsoft.com/entra/identity-platform/v2-oauth2-client-creds-grant-flow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227064" y="2606040"/>
            <a:ext cx="528523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27064" y="2606040"/>
            <a:ext cx="64008" cy="9326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9944" y="2743200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API Gateway JWT authorizer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9944" y="3081528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B7D"/>
                </a:solidFill>
              </a:rPr>
              <a:t>docs.aws.amazon.com/apigateway/latest/developerguide/http-api-jwt-authorizer.html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227064" y="3730752"/>
            <a:ext cx="528523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27064" y="3730752"/>
            <a:ext cx="64008" cy="9326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3867912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CMS prior authorization rule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9944" y="4206240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B7D"/>
                </a:solidFill>
              </a:rPr>
              <a:t>cms.gov/newsroom/fact-sheets/cms-interoperability-prior-authorization-final-rule-cms-0057-f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227064" y="4855464"/>
            <a:ext cx="528523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5240" dist="50800" dir="2700000">
              <a:srgbClr val="A7BEC8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27064" y="4855464"/>
            <a:ext cx="64008" cy="9326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9944" y="4992624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FHIR R4 Subscription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9944" y="5330952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B7D"/>
                </a:solidFill>
              </a:rPr>
              <a:t>hl7.org/fhir/R4/subscription.html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585216" y="6108192"/>
            <a:ext cx="11018520" cy="438912"/>
          </a:xfrm>
          <a:prstGeom prst="roundRect">
            <a:avLst>
              <a:gd name="adj" fmla="val 8333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6217920"/>
            <a:ext cx="10698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515A"/>
                </a:solidFill>
              </a:rPr>
              <a:t>Final endpoint behavior, authentication requirements, rate limits, and supported delta/callback mechanisms must be confirmed in the executed Cohere customer contract.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585216" y="6108192"/>
            <a:ext cx="64008" cy="43891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Enterprise Architecture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Cohere Health Integration on Amazon MSK</dc:title>
  <dc:subject>Cohere Health integration patterns on Amazon MSK</dc:subject>
  <dc:creator>Enterprise Architecture</dc:creator>
  <cp:lastModifiedBy>Enterprise Architecture</cp:lastModifiedBy>
  <cp:revision>1</cp:revision>
  <dcterms:created xsi:type="dcterms:W3CDTF">2026-10-12T13:41:12Z</dcterms:created>
  <dcterms:modified xsi:type="dcterms:W3CDTF">2026-10-12T13:41:12Z</dcterms:modified>
</cp:coreProperties>
</file>