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Purpose: align the MSK product owner and architecture stakeholders on a reusable vendor-integration product—not a Cohere-only implementation.
• Today Cohere Health receives periodic SFTP batches, processes them in its AI workflow, and runs agentic applications. The target is controlled, vendor-triggered access to approved deltas through Kafka.
• The target must support future vendors and use cases while preserving enterprise control, healthcare privacy, replay, auditability, and cost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Explain that Kafka does not make the vendor query our source systems. It lets the enterprise publish approved changes once, then lets each authorized consumer pull at its own pace.
• The key value is decoupling: producers no longer build Cohere-specific files and Cohere no longer waits for the next batch.
• Do not promise lower latency by default. Freshness depends on source capture, topic publication, vendor consumer cadence, backlog, and downstream AI processing.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Walk left to right: enterprise domains own data and event meaning; capture converts committed business change into deltas; the MSK product provides a durable governed log; the vendor edge controls identity and network access; vendors create outcomes.
• The event product is the durable contract. It contains business identifiers, event type, event time, schema version, trace identifiers, and the minimum approved payload.
• A return path is optional. For Cohere it may carry processing acknowledgments, prior-authorization status, requests for information, or decisions. It should use separate topics and contracts.
• For non-AWS vendors, do not assume direct connectivity is the only pattern. The vendor edge may be a customer-managed consumer/relay when security, protocol, or support constraints require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Use these as architecture-review criteria. A solution that violates one should document the exception and compensating control.
• “Consumer-controlled pace” does not mean unlimited access. Quotas, retention, group permissions, and egress controls remain platform policies.
• At-least-once delivery is the realistic default. Exactly-once claims must cover the external side effect in Cohere, not only Kafka-to-Kafka processing.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Correct the wording carefully: Cohere “pulls” from Kafka by polling its assigned topic partitions. It does not request an arbitrary delta on demand from the source database.
• The producer publishes whenever an approved change occurs. Cohere controls its processing cadence through polling and offset commits.
• If Cohere needs a business-specific subset, use separate domain topics, filtered topics, or a controlled vendor projection—never client-side access to broad enterprise data.
• The vendor must commit offsets only after it has durably recorded or completed processing. Otherwise a crash can acknowledge work that was never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envelope is reusable across vendors. The business payload is domain-specific and versioned.
• Use a stable aggregate key—such as an authorization ID—when ordering must be maintained for that lifecycle. Avoid member ID if it creates hot partitions or overly broad ordering.
• Clinical notes and attachments may be too large or too sensitive for Kafka. Prefer short-lived, access-controlled object references with integrity metadata where approved.
• Define corrections explicitly. A later event should not silently overwrite an earlier clinical fact without provenance and source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is the core architecture slide. The data plane moves approved deltas; the control plane provisions and governs the service.
• Direct vendor consumption is appropriate only if Cohere supports the required Kafka authentication, networking, client configuration, monitoring, and support obligations.
• An enterprise-managed relay is often safer when the vendor cannot meet MSK-specific requirements or when the enterprise wants to terminate Kafka inside its AWS boundary and expose another contracted interface.
• Quarantine malformed or contract-invalid events before vendor delivery. A DLQ is not a permanent data store; it needs ownership, retention, triage, and replay procedures.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Present these as product patterns, not one-time network diagrams.
• For direct MSK consumption, confirm whether the vendor runs in AWS, the region/account topology, supported Kafka authentication mechanisms, certificate/secret rotation, broker bootstrap updates, quotas, and incident support.
• The relay pattern preserves the pub-sub model internally while translating at the boundary. It is not a regression to batch unless the relay itself rebuilds files.
• A projection cluster improves isolation but creates another platform to patch, monitor, replicate, secure, and fund.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Separate control-plane identity from data-plane identity. Entra can protect onboarding APIs, approval workflows, and workforce access, but it is not automatically the Kafka broker credential.
• If the Cohere consumer runs in its own AWS account and supports IAM, cross-account multi-VPC connectivity may fit. If not, evaluate SCRAM, mTLS, or the relay pattern.
• Credentials and certificates need explicit owners, rotation SLOs, revocation tests, and evidence. Avoid shared credentials across vendors or environments.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Canonical domain topics maximize reuse, but PHI minimization may justify vendor-specific projection topics. Make that a governed product decision.
• Consumer groups isolate progress and replay. They do not by themselves provide authorization; permissions must restrict both topic and group resources.
• Retention is not “keep forever.” It should cover recovery and replay objectives while satisfying privacy, contractual, and records-management policy.
• Compaction is appropriate for latest-state topics, but it changes deletion and replay semantics. Do not enable it by habit.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At-least-once delivery plus idempotent processing is the recommended baseline.
• For Cohere, agree on the idempotency key and whether retries create duplicate AI workflow executions or duplicate prior-authorization actions.
• Monitor lag in business time, not only record count. A small number of large clinical events can be more operationally significant than many small events.
• Reconciliation should compare source-of-truth state with delivered/processed state using immutable IDs and versions. It is a production feature, not a temporary migration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Kafka retention can conflict with “minimum necessary” and deletion expectations if topic design is too broad. Include privacy and records management in the topic approval workflow.
• Clarify whether vendor AI or agentic applications may use the data for model training, tuning, telemetry, or secondary purposes. The technical design must enforce the approved contract.
• Replay is data access. Log who authorized it, what range was replayed, to which consumer group, and whether the vendor accepted the replay.
• Avoid putting access tokens, credentials, or unrestricted object URLs in event payloads.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two most important timestamps are source commit time and vendor durable checkpoint time. Without both, end-to-end latency is guesswork.
• Use one trace/correlation ID across producer, Kafka record headers/envelope, relay, Cohere workflow, and status events.
• Create vendor-specific dashboards and budgets so one vendor’s backlog, retries, or network failures do not disappear inside shared platform metrics.
• An SLO needs an owner and an error-budget response. Product owners should decide what happens when freshness or delivery objectives are repeatedly missed.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slide defines what the MSK product owner sells internally. It is more than a cluster and more than a ticket for a topic.
• The vendor subscription is a first-class product: it includes connectivity, identity, topic/group authorization, quotas, monitoring, certification, and offboarding.
• A relay should be reusable and policy-driven, not a custom Lambda for every vendor.
• Publish a paved-road reference implementation and a clear exception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integration product owner is accountable for the cross-boundary business service even when platform, domain, and vendor teams own components.
• The source domain owns business event meaning and source correctness. The MSK platform owns broker and subscription products. Cohere owns its client, checkpoint behavior, AI workflow, and downstream result production.
• Reconciliation and replay are shared operational processes but need one accountable decision maker.
• Translate this matrix into named teams, escalation contacts, on-call coverage, and contract clauses before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discovery phase must determine whether Cohere can consume MSK directly. Do not wait until implementation to learn its supported authentication or networking model.
• Certification should include duplicate records, out-of-order events within documented limits, invalid schemas, credential expiry, vendor outage, backlog drain, and replay.
• Offboarding is designed up front: stop access, revoke credentials, remove network paths, handle retained records, and preserve required audit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first phase produces decisions, not code: direct versus relay, event semantics, data classification, source of truth, SLO, and named ownership.
• The pilot should be one meaningful authorization or clinical-data change, not a platform demo with synthetic heartbeats only.
• Do not scale to multiple vendors until the paved road includes onboarding automation, operational dashboards, replay controls, and cost allocation.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Use this slide to close the meeting with explicit decisions and owners.
• If Cohere direct Kafka capability is not yet confirmed, record the decision as pending and proceed with a relay-compatible architecture so the program is not blocked.
• The workshop output should be an architecture decision record and a pilot charter with scope, owner, SLO, security approvals, and acceptance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These are public references used for the architecture. Public Cohere material confirms API/FHIR and AI workflow capabilities, but it does not establish that Cohere supports direct Amazon MSK consumption for this customer.
• Treat direct Kafka support as a discovery item and contractual interface, not as an assumed product feature.
• Keep the architecture option-neutral until the technical and contractual validation is 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1031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0798B5"/>
                </a:solidFill>
              </a:rPr>
              <a:t>ENTERPRISE VENDOR STREAMING × AMAZON MSK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281160" y="21945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8192"/>
                </a:solidFill>
              </a:rPr>
              <a:t>Enterprise Architecture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530352" y="6528816"/>
            <a:ext cx="11137392" cy="0"/>
          </a:xfrm>
          <a:prstGeom prst="line">
            <a:avLst/>
          </a:prstGeom>
          <a:noFill/>
          <a:ln w="8890">
            <a:solidFill>
              <a:srgbClr val="D6E5E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4688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4688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143000"/>
            <a:ext cx="4480560" cy="4480560"/>
          </a:xfrm>
          <a:prstGeom prst="ellipse">
            <a:avLst/>
          </a:prstGeom>
          <a:solidFill>
            <a:srgbClr val="BDEBF1">
              <a:alpha val="82000"/>
            </a:srgbClr>
          </a:solidFill>
          <a:ln w="12700">
            <a:solidFill>
              <a:srgbClr val="BDEB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4800600"/>
            <a:ext cx="3108960" cy="3108960"/>
          </a:xfrm>
          <a:prstGeom prst="ellipse">
            <a:avLst/>
          </a:prstGeom>
          <a:solidFill>
            <a:srgbClr val="DCE8FF"/>
          </a:solidFill>
          <a:ln w="12700">
            <a:solidFill>
              <a:srgbClr val="DCE8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62179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79552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49808" y="1755648"/>
            <a:ext cx="10332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02A43"/>
                </a:solidFill>
              </a:rPr>
              <a:t>Enterprise Vendor Delta Streaming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49808" y="2386584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798B5"/>
                </a:solidFill>
              </a:rPr>
              <a:t>Cohere Health on Amazon MSK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950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36B7D"/>
                </a:solidFill>
              </a:rPr>
              <a:t>Replace periodic SFTP batches with governed, vendor-triggered delta consumption through Kafka pub-sub.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6384" y="4069080"/>
            <a:ext cx="1645920" cy="283464"/>
          </a:xfrm>
          <a:prstGeom prst="roundRect">
            <a:avLst>
              <a:gd name="adj" fmla="val 22581"/>
            </a:avLst>
          </a:prstGeom>
          <a:solidFill>
            <a:srgbClr val="FFF1E7"/>
          </a:solidFill>
          <a:ln w="12700">
            <a:solidFill>
              <a:srgbClr val="FFF1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4123944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EA580C"/>
                </a:solidFill>
              </a:rPr>
              <a:t>CURRENT: SFTP BATCH</a:t>
            </a:r>
            <a:endParaRPr lang="en-US" sz="810" dirty="0"/>
          </a:p>
        </p:txBody>
      </p:sp>
      <p:sp>
        <p:nvSpPr>
          <p:cNvPr id="11" name="Shape 9"/>
          <p:cNvSpPr/>
          <p:nvPr/>
        </p:nvSpPr>
        <p:spPr>
          <a:xfrm>
            <a:off x="2615184" y="4069080"/>
            <a:ext cx="2011680" cy="283464"/>
          </a:xfrm>
          <a:prstGeom prst="roundRect">
            <a:avLst>
              <a:gd name="adj" fmla="val 22581"/>
            </a:avLst>
          </a:prstGeom>
          <a:solidFill>
            <a:srgbClr val="E8F7ED"/>
          </a:solidFill>
          <a:ln w="12700">
            <a:solidFill>
              <a:srgbClr val="E8F7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60904" y="4123944"/>
            <a:ext cx="1920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6A34A"/>
                </a:solidFill>
              </a:rPr>
              <a:t>TARGET: DELTA EVENTS</a:t>
            </a:r>
            <a:endParaRPr lang="en-US" sz="810" dirty="0"/>
          </a:p>
        </p:txBody>
      </p:sp>
      <p:sp>
        <p:nvSpPr>
          <p:cNvPr id="13" name="Shape 11"/>
          <p:cNvSpPr/>
          <p:nvPr/>
        </p:nvSpPr>
        <p:spPr>
          <a:xfrm>
            <a:off x="4809744" y="4069080"/>
            <a:ext cx="1993392" cy="283464"/>
          </a:xfrm>
          <a:prstGeom prst="roundRect">
            <a:avLst>
              <a:gd name="adj" fmla="val 22581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5464" y="4123944"/>
            <a:ext cx="19019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2563EB"/>
                </a:solidFill>
              </a:rPr>
              <a:t>PRODUCT: MSK SERVICE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786384" y="473659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2A43"/>
                </a:solidFill>
              </a:rPr>
              <a:t>Audience: MSK product owner, Kafka architects, enterprise architects, security, data owners, and vendor integration teams.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86384" y="60533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536B7D"/>
                </a:solidFill>
              </a:rPr>
              <a:t>OCTOBER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Why change the SFTP batch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8813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36B7D"/>
                </a:solidFill>
              </a:rPr>
              <a:t>The current interface is operationally simple, but it couples freshness, scope, recovery, and audit to file delivery.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621792" y="1527048"/>
            <a:ext cx="2615184" cy="1243584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527048"/>
            <a:ext cx="64008" cy="124358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550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Stale snapshots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804672" y="1975104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6B7D"/>
                </a:solidFill>
              </a:rPr>
              <a:t>Vendor waits for the next file even when only a small delta changed.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74720" y="1527048"/>
            <a:ext cx="2615184" cy="1243584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527048"/>
            <a:ext cx="64008" cy="124358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16550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Over-sharing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3657600" y="1975104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6B7D"/>
                </a:solidFill>
              </a:rPr>
              <a:t>Large extracts may contain records the workflow does not currently need.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" y="3035808"/>
            <a:ext cx="2615184" cy="1243584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" y="3035808"/>
            <a:ext cx="64008" cy="1243584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1638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Batch recovery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804672" y="3483864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6B7D"/>
                </a:solidFill>
              </a:rPr>
              <a:t>Partial files, duplicate delivery, and restart semantics require bespoke controls.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0" y="3035808"/>
            <a:ext cx="2615184" cy="1243584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0" y="3035808"/>
            <a:ext cx="64008" cy="12435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31638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Weak event semantics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3657600" y="3483864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6B7D"/>
                </a:solidFill>
              </a:rPr>
              <a:t>A file says “what exists,” not clearly “what changed and why.”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81344" y="2926080"/>
            <a:ext cx="685800" cy="0"/>
          </a:xfrm>
          <a:prstGeom prst="line">
            <a:avLst/>
          </a:prstGeom>
          <a:noFill/>
          <a:ln w="38100">
            <a:solidFill>
              <a:srgbClr val="0798B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059168" y="1527048"/>
            <a:ext cx="4480560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59168" y="1527048"/>
            <a:ext cx="64008" cy="2743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42048" y="1655064"/>
            <a:ext cx="4151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Target operating outcome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7242048" y="1975104"/>
            <a:ext cx="41513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36B7D"/>
                </a:solidFill>
              </a:rPr>
              <a:t>Publish small, durable, keyed delta events to governed topics. Cohere consumes only when its workflow is ready, maintains its own offsets, and replays approved history without asking for another file.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85216" y="4882896"/>
            <a:ext cx="11018520" cy="429768"/>
          </a:xfrm>
          <a:prstGeom prst="roundRect">
            <a:avLst>
              <a:gd name="adj" fmla="val 8511"/>
            </a:avLst>
          </a:prstGeom>
          <a:solidFill>
            <a:srgbClr val="E4F6F8"/>
          </a:solidFill>
          <a:ln w="10160">
            <a:solidFill>
              <a:srgbClr val="B7E3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5216" y="4882896"/>
            <a:ext cx="64008" cy="42976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4992624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24515A"/>
                </a:solidFill>
              </a:rPr>
              <a:t>Important: “pull when required” means vendor-controlled consumption from a retained event log—not ad hoc querying of enterprise databases.</a:t>
            </a:r>
            <a:endParaRPr lang="en-US" sz="990" dirty="0"/>
          </a:p>
        </p:txBody>
      </p:sp>
      <p:sp>
        <p:nvSpPr>
          <p:cNvPr id="28" name="Text 26"/>
          <p:cNvSpPr/>
          <p:nvPr/>
        </p:nvSpPr>
        <p:spPr>
          <a:xfrm>
            <a:off x="585216" y="6291072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F8795"/>
                </a:solidFill>
              </a:rPr>
              <a:t>Architecture driver: decouple data-change production from vendor processing cadence while preserving enterprise policy control.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4688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Enterprise architecture 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8813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36B7D"/>
                </a:solidFill>
              </a:rPr>
              <a:t>A reusable vendor-integration capability separates systems of record, the event product, the vendor boundary, and business outcomes.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530352" y="1481328"/>
            <a:ext cx="2011680" cy="438912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609344"/>
            <a:ext cx="1865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Enterprise domains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30352" y="1920240"/>
            <a:ext cx="201168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21396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02A43"/>
                </a:solidFill>
              </a:rPr>
              <a:t>UM / claims / clinical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530352" y="2578608"/>
            <a:ext cx="201168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79806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02A43"/>
                </a:solidFill>
              </a:rPr>
              <a:t>Member &amp; provider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530352" y="3236976"/>
            <a:ext cx="201168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345643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02A43"/>
                </a:solidFill>
              </a:rPr>
              <a:t>Documents / attachments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530352" y="3895344"/>
            <a:ext cx="201168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41148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02A43"/>
                </a:solidFill>
              </a:rPr>
              <a:t>Business event ownership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2615184" y="2953512"/>
            <a:ext cx="201168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24912" y="1481328"/>
            <a:ext cx="2148840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98064" y="1609344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Change capture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24912" y="1920240"/>
            <a:ext cx="21488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16352" y="2139696"/>
            <a:ext cx="1965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02A43"/>
                </a:solidFill>
              </a:rPr>
              <a:t>Transactional outbox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2724912" y="2578608"/>
            <a:ext cx="21488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16352" y="2798064"/>
            <a:ext cx="1965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02A43"/>
                </a:solidFill>
              </a:rPr>
              <a:t>CDC where approved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2724912" y="3236976"/>
            <a:ext cx="21488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16352" y="3456432"/>
            <a:ext cx="1965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02A43"/>
                </a:solidFill>
              </a:rPr>
              <a:t>API/event publisher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2724912" y="3895344"/>
            <a:ext cx="214884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16352" y="4114800"/>
            <a:ext cx="1965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02A43"/>
                </a:solidFill>
              </a:rPr>
              <a:t>Canonical delta builder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4946904" y="2953512"/>
            <a:ext cx="201168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65776" y="1481328"/>
            <a:ext cx="2779776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38928" y="1609344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MSK event product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65776" y="1920240"/>
            <a:ext cx="2779776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57216" y="2139696"/>
            <a:ext cx="2596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02A43"/>
                </a:solidFill>
              </a:rPr>
              <a:t>Domain topics + schemas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5065776" y="2578608"/>
            <a:ext cx="2779776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57216" y="2798064"/>
            <a:ext cx="2596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02A43"/>
                </a:solidFill>
              </a:rPr>
              <a:t>Retention + compaction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5065776" y="3236976"/>
            <a:ext cx="2779776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57216" y="3456432"/>
            <a:ext cx="2596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02A43"/>
                </a:solidFill>
              </a:rPr>
              <a:t>IAM/ACL + quotas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5065776" y="3895344"/>
            <a:ext cx="2779776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57216" y="4114800"/>
            <a:ext cx="2596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02A43"/>
                </a:solidFill>
              </a:rPr>
              <a:t>Observability + replay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7918704" y="2953512"/>
            <a:ext cx="201168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28432" y="1481328"/>
            <a:ext cx="164592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01584" y="1609344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Vendor edge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028432" y="1920240"/>
            <a:ext cx="164592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19872" y="21396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02A43"/>
                </a:solidFill>
              </a:rPr>
              <a:t>Private connectivity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8028432" y="2578608"/>
            <a:ext cx="164592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19872" y="279806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02A43"/>
                </a:solidFill>
              </a:rPr>
              <a:t>Vendor identity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8028432" y="3236976"/>
            <a:ext cx="164592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19872" y="345643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02A43"/>
                </a:solidFill>
              </a:rPr>
              <a:t>Consumer isolation</a:t>
            </a:r>
            <a:endParaRPr lang="en-US" sz="960" dirty="0"/>
          </a:p>
        </p:txBody>
      </p:sp>
      <p:sp>
        <p:nvSpPr>
          <p:cNvPr id="45" name="Shape 43"/>
          <p:cNvSpPr/>
          <p:nvPr/>
        </p:nvSpPr>
        <p:spPr>
          <a:xfrm>
            <a:off x="8028432" y="3895344"/>
            <a:ext cx="164592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19872" y="41148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02A43"/>
                </a:solidFill>
              </a:rPr>
              <a:t>Egress policy</a:t>
            </a:r>
            <a:endParaRPr lang="en-US" sz="960" dirty="0"/>
          </a:p>
        </p:txBody>
      </p:sp>
      <p:sp>
        <p:nvSpPr>
          <p:cNvPr id="47" name="Shape 45"/>
          <p:cNvSpPr/>
          <p:nvPr/>
        </p:nvSpPr>
        <p:spPr>
          <a:xfrm>
            <a:off x="9747504" y="2953512"/>
            <a:ext cx="201168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857232" y="1481328"/>
            <a:ext cx="1801368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930384" y="1609344"/>
            <a:ext cx="1655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Vendor outcomes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9857232" y="1920240"/>
            <a:ext cx="1801368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948672" y="2139696"/>
            <a:ext cx="1618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02A43"/>
                </a:solidFill>
              </a:rPr>
              <a:t>Cohere AI workflow</a:t>
            </a:r>
            <a:endParaRPr lang="en-US" sz="960" dirty="0"/>
          </a:p>
        </p:txBody>
      </p:sp>
      <p:sp>
        <p:nvSpPr>
          <p:cNvPr id="52" name="Shape 50"/>
          <p:cNvSpPr/>
          <p:nvPr/>
        </p:nvSpPr>
        <p:spPr>
          <a:xfrm>
            <a:off x="9857232" y="2578608"/>
            <a:ext cx="1801368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948672" y="2798064"/>
            <a:ext cx="1618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02A43"/>
                </a:solidFill>
              </a:rPr>
              <a:t>Agentic applications</a:t>
            </a:r>
            <a:endParaRPr lang="en-US" sz="960" dirty="0"/>
          </a:p>
        </p:txBody>
      </p:sp>
      <p:sp>
        <p:nvSpPr>
          <p:cNvPr id="54" name="Shape 52"/>
          <p:cNvSpPr/>
          <p:nvPr/>
        </p:nvSpPr>
        <p:spPr>
          <a:xfrm>
            <a:off x="9857232" y="3236976"/>
            <a:ext cx="1801368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948672" y="3456432"/>
            <a:ext cx="1618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02A43"/>
                </a:solidFill>
              </a:rPr>
              <a:t>Other vendors</a:t>
            </a:r>
            <a:endParaRPr lang="en-US" sz="960" dirty="0"/>
          </a:p>
        </p:txBody>
      </p:sp>
      <p:sp>
        <p:nvSpPr>
          <p:cNvPr id="56" name="Shape 54"/>
          <p:cNvSpPr/>
          <p:nvPr/>
        </p:nvSpPr>
        <p:spPr>
          <a:xfrm>
            <a:off x="9857232" y="3895344"/>
            <a:ext cx="1801368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948672" y="4114800"/>
            <a:ext cx="1618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02A43"/>
                </a:solidFill>
              </a:rPr>
              <a:t>Status/result events</a:t>
            </a:r>
            <a:endParaRPr lang="en-US" sz="960" dirty="0"/>
          </a:p>
        </p:txBody>
      </p:sp>
      <p:sp>
        <p:nvSpPr>
          <p:cNvPr id="58" name="Shape 56"/>
          <p:cNvSpPr/>
          <p:nvPr/>
        </p:nvSpPr>
        <p:spPr>
          <a:xfrm>
            <a:off x="9555480" y="5010912"/>
            <a:ext cx="-365760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triangle"/>
          </a:ln>
        </p:spPr>
      </p:sp>
      <p:sp>
        <p:nvSpPr>
          <p:cNvPr id="59" name="Text 57"/>
          <p:cNvSpPr/>
          <p:nvPr/>
        </p:nvSpPr>
        <p:spPr>
          <a:xfrm>
            <a:off x="5779008" y="508406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7C3AED"/>
                </a:solidFill>
              </a:rPr>
              <a:t>Optional return path: acknowledgments, processing status, decisions, or derived events</a:t>
            </a:r>
            <a:endParaRPr lang="en-US" sz="920" dirty="0"/>
          </a:p>
        </p:txBody>
      </p:sp>
      <p:sp>
        <p:nvSpPr>
          <p:cNvPr id="60" name="Shape 58"/>
          <p:cNvSpPr/>
          <p:nvPr/>
        </p:nvSpPr>
        <p:spPr>
          <a:xfrm>
            <a:off x="585216" y="5541264"/>
            <a:ext cx="11018520" cy="429768"/>
          </a:xfrm>
          <a:prstGeom prst="roundRect">
            <a:avLst>
              <a:gd name="adj" fmla="val 8511"/>
            </a:avLst>
          </a:prstGeom>
          <a:solidFill>
            <a:srgbClr val="E4F6F8"/>
          </a:solidFill>
          <a:ln w="10160">
            <a:solidFill>
              <a:srgbClr val="B7E3E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85216" y="5541264"/>
            <a:ext cx="64008" cy="42976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9808" y="565099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24515A"/>
                </a:solidFill>
              </a:rPr>
              <a:t>Enterprise rule: the vendor consumes a governed event product; the vendor does not own the source-of-truth model or direct source access.</a:t>
            </a:r>
            <a:endParaRPr lang="en-US" sz="9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4688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Target principles and guardrails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8813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36B7D"/>
                </a:solidFill>
              </a:rPr>
              <a:t>These principles make the design reusable across Cohere Health and other vendors.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621792" y="1508760"/>
            <a:ext cx="3493008" cy="1517904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508760"/>
            <a:ext cx="64008" cy="1517904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36776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Publish deltas, not extracts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804672" y="1956816"/>
            <a:ext cx="31638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B7D"/>
                </a:solidFill>
              </a:rPr>
              <a:t>Emit changes tied to a committed business event; avoid rebuilding full files.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508760"/>
            <a:ext cx="3493008" cy="1517904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1508760"/>
            <a:ext cx="64008" cy="15179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636776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Consumer-controlled pace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4572000" y="1956816"/>
            <a:ext cx="31638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B7D"/>
                </a:solidFill>
              </a:rPr>
              <a:t>Each vendor uses an isolated consumer group and advances offsets independently.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56448" y="1508760"/>
            <a:ext cx="3493008" cy="1517904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56448" y="1508760"/>
            <a:ext cx="64008" cy="15179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9328" y="1636776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Minimum necessary data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8339328" y="1956816"/>
            <a:ext cx="31638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B7D"/>
                </a:solidFill>
              </a:rPr>
              <a:t>Topic design, payload filtering, and retention follow healthcare purpose and policy.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" y="3410712"/>
            <a:ext cx="3493008" cy="1517904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" y="3410712"/>
            <a:ext cx="64008" cy="15179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538728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Stable enterprise contract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804672" y="3858768"/>
            <a:ext cx="31638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B7D"/>
                </a:solidFill>
              </a:rPr>
              <a:t>Vendor mappings live at the edge; internal event semantics remain vendor-neutral.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0" y="3410712"/>
            <a:ext cx="3493008" cy="1517904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0" y="3410712"/>
            <a:ext cx="64008" cy="151790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3538728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At-least-once by design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4572000" y="3858768"/>
            <a:ext cx="31638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B7D"/>
                </a:solidFill>
              </a:rPr>
              <a:t>Assume duplicates and make consumer-side processing idempotent.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56448" y="3410712"/>
            <a:ext cx="3493008" cy="1517904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56448" y="3410712"/>
            <a:ext cx="64008" cy="151790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39328" y="3538728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Replay is governed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8339328" y="3858768"/>
            <a:ext cx="31638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6B7D"/>
                </a:solidFill>
              </a:rPr>
              <a:t>Retention enables recovery; authorization and operational approval control replay.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5216" y="5449824"/>
            <a:ext cx="11018520" cy="429768"/>
          </a:xfrm>
          <a:prstGeom prst="roundRect">
            <a:avLst>
              <a:gd name="adj" fmla="val 8511"/>
            </a:avLst>
          </a:prstGeom>
          <a:solidFill>
            <a:srgbClr val="E4F6F8"/>
          </a:solidFill>
          <a:ln w="10160">
            <a:solidFill>
              <a:srgbClr val="B7E3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5216" y="5449824"/>
            <a:ext cx="64008" cy="42976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555955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24515A"/>
                </a:solidFill>
              </a:rPr>
              <a:t>A Kafka topic is not a data lake or broad data export. It is a purpose-bound event contract with explicit consumers, retention, and ownership.</a:t>
            </a:r>
            <a:endParaRPr lang="en-US" sz="9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4688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Vendor-triggered delta consumption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8813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36B7D"/>
                </a:solidFill>
              </a:rPr>
              <a:t>Kafka consumers poll the broker; the enterprise publishes deltas independently of when the vendor is ready to process them.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539496" y="1554480"/>
            <a:ext cx="1901952" cy="2286000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7780">
            <a:solidFill>
              <a:srgbClr val="079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5506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798B5"/>
                </a:solidFill>
              </a:rPr>
              <a:t>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67512" y="19933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</a:rPr>
              <a:t>Source system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67512" y="2432304"/>
            <a:ext cx="1645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536B7D"/>
                </a:solidFill>
              </a:rPr>
              <a:t>Commits business change</a:t>
            </a:r>
            <a:endParaRPr lang="en-US" sz="890" dirty="0"/>
          </a:p>
        </p:txBody>
      </p:sp>
      <p:sp>
        <p:nvSpPr>
          <p:cNvPr id="8" name="Shape 6"/>
          <p:cNvSpPr/>
          <p:nvPr/>
        </p:nvSpPr>
        <p:spPr>
          <a:xfrm>
            <a:off x="2514600" y="2542032"/>
            <a:ext cx="228600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1554480"/>
            <a:ext cx="1901952" cy="2286000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778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62656" y="165506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90088" y="19933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</a:rPr>
              <a:t>Outbox / CDC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2990088" y="2432304"/>
            <a:ext cx="1645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536B7D"/>
                </a:solidFill>
              </a:rPr>
              <a:t>Captures committed delta</a:t>
            </a:r>
            <a:endParaRPr lang="en-US" sz="890" dirty="0"/>
          </a:p>
        </p:txBody>
      </p:sp>
      <p:sp>
        <p:nvSpPr>
          <p:cNvPr id="13" name="Shape 11"/>
          <p:cNvSpPr/>
          <p:nvPr/>
        </p:nvSpPr>
        <p:spPr>
          <a:xfrm>
            <a:off x="4837176" y="2542032"/>
            <a:ext cx="228600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84648" y="1554480"/>
            <a:ext cx="1901952" cy="2286000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778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85232" y="165506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</a:rPr>
              <a:t>3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12664" y="19933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</a:rPr>
              <a:t>MSK topic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5312664" y="2432304"/>
            <a:ext cx="1645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536B7D"/>
                </a:solidFill>
              </a:rPr>
              <a:t>Stores ordered keyed event</a:t>
            </a:r>
            <a:endParaRPr lang="en-US" sz="890" dirty="0"/>
          </a:p>
        </p:txBody>
      </p:sp>
      <p:sp>
        <p:nvSpPr>
          <p:cNvPr id="18" name="Shape 16"/>
          <p:cNvSpPr/>
          <p:nvPr/>
        </p:nvSpPr>
        <p:spPr>
          <a:xfrm>
            <a:off x="7159752" y="2542032"/>
            <a:ext cx="228600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07224" y="1554480"/>
            <a:ext cx="1901952" cy="2286000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07808" y="165506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635240" y="19933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</a:rPr>
              <a:t>Vendor consumer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7635240" y="2432304"/>
            <a:ext cx="1645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536B7D"/>
                </a:solidFill>
              </a:rPr>
              <a:t>Polls when workflow has capacity</a:t>
            </a:r>
            <a:endParaRPr lang="en-US" sz="890" dirty="0"/>
          </a:p>
        </p:txBody>
      </p:sp>
      <p:sp>
        <p:nvSpPr>
          <p:cNvPr id="23" name="Shape 21"/>
          <p:cNvSpPr/>
          <p:nvPr/>
        </p:nvSpPr>
        <p:spPr>
          <a:xfrm>
            <a:off x="9482328" y="2542032"/>
            <a:ext cx="228600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29800" y="1554480"/>
            <a:ext cx="1901952" cy="2286000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30384" y="1655064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957816" y="19933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</a:rPr>
              <a:t>AI workflow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9957816" y="2432304"/>
            <a:ext cx="1645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536B7D"/>
                </a:solidFill>
              </a:rPr>
              <a:t>Processes delta and checkpoints</a:t>
            </a:r>
            <a:endParaRPr lang="en-US" sz="890" dirty="0"/>
          </a:p>
        </p:txBody>
      </p:sp>
      <p:sp>
        <p:nvSpPr>
          <p:cNvPr id="28" name="Shape 26"/>
          <p:cNvSpPr/>
          <p:nvPr/>
        </p:nvSpPr>
        <p:spPr>
          <a:xfrm>
            <a:off x="621792" y="4142232"/>
            <a:ext cx="2542032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" y="4142232"/>
            <a:ext cx="64008" cy="1170432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427024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Offset ownership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804672" y="4590288"/>
            <a:ext cx="2212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36B7D"/>
                </a:solidFill>
              </a:rPr>
              <a:t>Vendor commits only after its durable processing checkpoint.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3401568" y="4142232"/>
            <a:ext cx="2542032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401568" y="4142232"/>
            <a:ext cx="64008" cy="1170432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84448" y="427024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Backpressure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3584448" y="4590288"/>
            <a:ext cx="2212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36B7D"/>
                </a:solidFill>
              </a:rPr>
              <a:t>Lag grows safely when the vendor pauses; quotas protect shared capacity.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6181344" y="4142232"/>
            <a:ext cx="2542032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81344" y="4142232"/>
            <a:ext cx="64008" cy="1170432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64224" y="427024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Failure</a:t>
            </a:r>
            <a:endParaRPr lang="en-US" sz="1320" dirty="0"/>
          </a:p>
        </p:txBody>
      </p:sp>
      <p:sp>
        <p:nvSpPr>
          <p:cNvPr id="39" name="Text 37"/>
          <p:cNvSpPr/>
          <p:nvPr/>
        </p:nvSpPr>
        <p:spPr>
          <a:xfrm>
            <a:off x="6364224" y="4590288"/>
            <a:ext cx="2212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36B7D"/>
                </a:solidFill>
              </a:rPr>
              <a:t>Retry transient errors; route poison records to quarantine/DLQ.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8961120" y="4142232"/>
            <a:ext cx="2542032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961120" y="4142232"/>
            <a:ext cx="64008" cy="1170432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0" y="4270248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Replay</a:t>
            </a:r>
            <a:endParaRPr lang="en-US" sz="1320" dirty="0"/>
          </a:p>
        </p:txBody>
      </p:sp>
      <p:sp>
        <p:nvSpPr>
          <p:cNvPr id="43" name="Text 41"/>
          <p:cNvSpPr/>
          <p:nvPr/>
        </p:nvSpPr>
        <p:spPr>
          <a:xfrm>
            <a:off x="9144000" y="4590288"/>
            <a:ext cx="22128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36B7D"/>
                </a:solidFill>
              </a:rPr>
              <a:t>Reset or new group only through an approved, observable runbook.</a:t>
            </a:r>
            <a:endParaRPr lang="en-US" sz="930" dirty="0"/>
          </a:p>
        </p:txBody>
      </p:sp>
      <p:sp>
        <p:nvSpPr>
          <p:cNvPr id="44" name="Shape 42"/>
          <p:cNvSpPr/>
          <p:nvPr/>
        </p:nvSpPr>
        <p:spPr>
          <a:xfrm>
            <a:off x="585216" y="5596128"/>
            <a:ext cx="11018520" cy="429768"/>
          </a:xfrm>
          <a:prstGeom prst="roundRect">
            <a:avLst>
              <a:gd name="adj" fmla="val 8511"/>
            </a:avLst>
          </a:prstGeom>
          <a:solidFill>
            <a:srgbClr val="E4F6F8"/>
          </a:solidFill>
          <a:ln w="10160">
            <a:solidFill>
              <a:srgbClr val="B7E3E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5216" y="5596128"/>
            <a:ext cx="64008" cy="42976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9808" y="5705856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24515A"/>
                </a:solidFill>
              </a:rPr>
              <a:t>Recommended contract: delta event + stable key + immutable event ID + source version + trace ID + schema version + data classification.</a:t>
            </a:r>
            <a:endParaRPr lang="en-US" sz="9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4688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Delta event contract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8813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36B7D"/>
                </a:solidFill>
              </a:rPr>
              <a:t>The event envelope provides consistent operations while the payload carries a versioned business delta.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603504" y="1444752"/>
            <a:ext cx="6547104" cy="4251960"/>
          </a:xfrm>
          <a:prstGeom prst="roundRect">
            <a:avLst>
              <a:gd name="adj" fmla="val 1075"/>
            </a:avLst>
          </a:prstGeom>
          <a:solidFill>
            <a:srgbClr val="0F2438"/>
          </a:solidFill>
          <a:ln w="12700">
            <a:solidFill>
              <a:srgbClr val="0F24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09928"/>
            <a:ext cx="5989320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9F5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F5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"eventId": "uuid",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F5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"eventType": "AuthorizationClinicalDataChanged",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F5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"eventTime": "2026-10-12T14:00:00Z",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F5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"aggregateId": "authorization-id",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F5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"sourceVersion": 42,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F5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"schemaVersion": "1.2",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F5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"classification": ["PHI"],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F5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"traceId": "...",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F5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"payload": { "changedFields": [...], "data": {...}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9F5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24928" y="1444752"/>
            <a:ext cx="411480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24928" y="1444752"/>
            <a:ext cx="64008" cy="93268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07808" y="1572768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Key &amp; ordering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7607808" y="1892808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36B7D"/>
                </a:solidFill>
              </a:rPr>
              <a:t>Partition by the stable business aggregate whose changes require ordering.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7424928" y="2560320"/>
            <a:ext cx="411480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24928" y="2560320"/>
            <a:ext cx="64008" cy="9326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07808" y="2688336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Evolution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7607808" y="3008376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36B7D"/>
                </a:solidFill>
              </a:rPr>
              <a:t>Compatibility rules, schema review, and producer/consumer contract tests.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424928" y="3675888"/>
            <a:ext cx="411480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24928" y="3675888"/>
            <a:ext cx="64008" cy="9326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07808" y="3803904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Delete &amp; correction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7607808" y="4123944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36B7D"/>
                </a:solidFill>
              </a:rPr>
              <a:t>Define tombstone, retraction, correction, and source-version semantics.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7424928" y="4791456"/>
            <a:ext cx="4114800" cy="93268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24928" y="4791456"/>
            <a:ext cx="64008" cy="9326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07808" y="4919472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Large documents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7607808" y="5239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36B7D"/>
                </a:solidFill>
              </a:rPr>
              <a:t>Use secure object references; avoid oversized clinical attachments in Kafka.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585216" y="6291072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F8795"/>
                </a:solidFill>
              </a:rPr>
              <a:t>Payload contents are illustrative. Final fields require domain, privacy, legal, and Cohere contract approval.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4688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Detailed component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8813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36B7D"/>
                </a:solidFill>
              </a:rPr>
              <a:t>The platform separates capture, event processing, vendor access, and operational control planes.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521208" y="1435608"/>
            <a:ext cx="1965960" cy="42976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563624"/>
            <a:ext cx="18379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Domain plane</a:t>
            </a:r>
            <a:endParaRPr lang="en-US" sz="1070" dirty="0"/>
          </a:p>
        </p:txBody>
      </p:sp>
      <p:sp>
        <p:nvSpPr>
          <p:cNvPr id="6" name="Shape 4"/>
          <p:cNvSpPr/>
          <p:nvPr/>
        </p:nvSpPr>
        <p:spPr>
          <a:xfrm>
            <a:off x="521208" y="1865376"/>
            <a:ext cx="196596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7568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102A43"/>
                </a:solidFill>
              </a:rPr>
              <a:t>Systems of record</a:t>
            </a:r>
            <a:endParaRPr lang="en-US" sz="890" dirty="0"/>
          </a:p>
        </p:txBody>
      </p:sp>
      <p:sp>
        <p:nvSpPr>
          <p:cNvPr id="8" name="Shape 6"/>
          <p:cNvSpPr/>
          <p:nvPr/>
        </p:nvSpPr>
        <p:spPr>
          <a:xfrm>
            <a:off x="521208" y="2505456"/>
            <a:ext cx="196596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71576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102A43"/>
                </a:solidFill>
              </a:rPr>
              <a:t>Outbox / CDC agent</a:t>
            </a:r>
            <a:endParaRPr lang="en-US" sz="890" dirty="0"/>
          </a:p>
        </p:txBody>
      </p:sp>
      <p:sp>
        <p:nvSpPr>
          <p:cNvPr id="10" name="Shape 8"/>
          <p:cNvSpPr/>
          <p:nvPr/>
        </p:nvSpPr>
        <p:spPr>
          <a:xfrm>
            <a:off x="521208" y="3145536"/>
            <a:ext cx="196596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35584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102A43"/>
                </a:solidFill>
              </a:rPr>
              <a:t>Document/object store</a:t>
            </a:r>
            <a:endParaRPr lang="en-US" sz="890" dirty="0"/>
          </a:p>
        </p:txBody>
      </p:sp>
      <p:sp>
        <p:nvSpPr>
          <p:cNvPr id="12" name="Shape 10"/>
          <p:cNvSpPr/>
          <p:nvPr/>
        </p:nvSpPr>
        <p:spPr>
          <a:xfrm>
            <a:off x="521208" y="3785616"/>
            <a:ext cx="196596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99592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102A43"/>
                </a:solidFill>
              </a:rPr>
              <a:t>Domain event owner</a:t>
            </a:r>
            <a:endParaRPr lang="en-US" sz="890" dirty="0"/>
          </a:p>
        </p:txBody>
      </p:sp>
      <p:sp>
        <p:nvSpPr>
          <p:cNvPr id="14" name="Shape 12"/>
          <p:cNvSpPr/>
          <p:nvPr/>
        </p:nvSpPr>
        <p:spPr>
          <a:xfrm>
            <a:off x="2551176" y="2816352"/>
            <a:ext cx="182880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60904" y="1435608"/>
            <a:ext cx="1938528" cy="4297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24912" y="1563624"/>
            <a:ext cx="18105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Ingestion plane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2660904" y="1865376"/>
            <a:ext cx="1938528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34056" y="207568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102A43"/>
                </a:solidFill>
              </a:rPr>
              <a:t>Publisher / connector</a:t>
            </a:r>
            <a:endParaRPr lang="en-US" sz="890" dirty="0"/>
          </a:p>
        </p:txBody>
      </p:sp>
      <p:sp>
        <p:nvSpPr>
          <p:cNvPr id="19" name="Shape 17"/>
          <p:cNvSpPr/>
          <p:nvPr/>
        </p:nvSpPr>
        <p:spPr>
          <a:xfrm>
            <a:off x="2660904" y="2505456"/>
            <a:ext cx="1938528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34056" y="271576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102A43"/>
                </a:solidFill>
              </a:rPr>
              <a:t>Validation &amp; enrichment</a:t>
            </a:r>
            <a:endParaRPr lang="en-US" sz="890" dirty="0"/>
          </a:p>
        </p:txBody>
      </p:sp>
      <p:sp>
        <p:nvSpPr>
          <p:cNvPr id="21" name="Shape 19"/>
          <p:cNvSpPr/>
          <p:nvPr/>
        </p:nvSpPr>
        <p:spPr>
          <a:xfrm>
            <a:off x="2660904" y="3145536"/>
            <a:ext cx="1938528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34056" y="335584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102A43"/>
                </a:solidFill>
              </a:rPr>
              <a:t>Canonical delta mapper</a:t>
            </a:r>
            <a:endParaRPr lang="en-US" sz="890" dirty="0"/>
          </a:p>
        </p:txBody>
      </p:sp>
      <p:sp>
        <p:nvSpPr>
          <p:cNvPr id="23" name="Shape 21"/>
          <p:cNvSpPr/>
          <p:nvPr/>
        </p:nvSpPr>
        <p:spPr>
          <a:xfrm>
            <a:off x="2660904" y="3785616"/>
            <a:ext cx="1938528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34056" y="399592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102A43"/>
                </a:solidFill>
              </a:rPr>
              <a:t>Quarantine topic</a:t>
            </a:r>
            <a:endParaRPr lang="en-US" sz="890" dirty="0"/>
          </a:p>
        </p:txBody>
      </p:sp>
      <p:sp>
        <p:nvSpPr>
          <p:cNvPr id="25" name="Shape 23"/>
          <p:cNvSpPr/>
          <p:nvPr/>
        </p:nvSpPr>
        <p:spPr>
          <a:xfrm>
            <a:off x="4663440" y="2816352"/>
            <a:ext cx="182880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73168" y="1435608"/>
            <a:ext cx="2788920" cy="4297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37176" y="1563624"/>
            <a:ext cx="2660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MSK data plane</a:t>
            </a:r>
            <a:endParaRPr lang="en-US" sz="1070" dirty="0"/>
          </a:p>
        </p:txBody>
      </p:sp>
      <p:sp>
        <p:nvSpPr>
          <p:cNvPr id="28" name="Shape 26"/>
          <p:cNvSpPr/>
          <p:nvPr/>
        </p:nvSpPr>
        <p:spPr>
          <a:xfrm>
            <a:off x="4773168" y="1865376"/>
            <a:ext cx="278892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075688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102A43"/>
                </a:solidFill>
              </a:rPr>
              <a:t>Domain topics</a:t>
            </a:r>
            <a:endParaRPr lang="en-US" sz="890" dirty="0"/>
          </a:p>
        </p:txBody>
      </p:sp>
      <p:sp>
        <p:nvSpPr>
          <p:cNvPr id="30" name="Shape 28"/>
          <p:cNvSpPr/>
          <p:nvPr/>
        </p:nvSpPr>
        <p:spPr>
          <a:xfrm>
            <a:off x="4773168" y="2505456"/>
            <a:ext cx="278892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715768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102A43"/>
                </a:solidFill>
              </a:rPr>
              <a:t>Consumer groups</a:t>
            </a:r>
            <a:endParaRPr lang="en-US" sz="890" dirty="0"/>
          </a:p>
        </p:txBody>
      </p:sp>
      <p:sp>
        <p:nvSpPr>
          <p:cNvPr id="32" name="Shape 30"/>
          <p:cNvSpPr/>
          <p:nvPr/>
        </p:nvSpPr>
        <p:spPr>
          <a:xfrm>
            <a:off x="4773168" y="3145536"/>
            <a:ext cx="278892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355848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102A43"/>
                </a:solidFill>
              </a:rPr>
              <a:t>Schema contracts</a:t>
            </a:r>
            <a:endParaRPr lang="en-US" sz="890" dirty="0"/>
          </a:p>
        </p:txBody>
      </p:sp>
      <p:sp>
        <p:nvSpPr>
          <p:cNvPr id="34" name="Shape 32"/>
          <p:cNvSpPr/>
          <p:nvPr/>
        </p:nvSpPr>
        <p:spPr>
          <a:xfrm>
            <a:off x="4773168" y="3785616"/>
            <a:ext cx="278892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995928"/>
            <a:ext cx="2642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102A43"/>
                </a:solidFill>
              </a:rPr>
              <a:t>Retention / compaction</a:t>
            </a:r>
            <a:endParaRPr lang="en-US" sz="890" dirty="0"/>
          </a:p>
        </p:txBody>
      </p:sp>
      <p:sp>
        <p:nvSpPr>
          <p:cNvPr id="36" name="Shape 34"/>
          <p:cNvSpPr/>
          <p:nvPr/>
        </p:nvSpPr>
        <p:spPr>
          <a:xfrm>
            <a:off x="7626096" y="2816352"/>
            <a:ext cx="182880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35824" y="1435608"/>
            <a:ext cx="1828800" cy="4297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99832" y="1563624"/>
            <a:ext cx="17007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Vendor edge</a:t>
            </a:r>
            <a:endParaRPr lang="en-US" sz="1070" dirty="0"/>
          </a:p>
        </p:txBody>
      </p:sp>
      <p:sp>
        <p:nvSpPr>
          <p:cNvPr id="39" name="Shape 37"/>
          <p:cNvSpPr/>
          <p:nvPr/>
        </p:nvSpPr>
        <p:spPr>
          <a:xfrm>
            <a:off x="7735824" y="1865376"/>
            <a:ext cx="182880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08976" y="207568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102A43"/>
                </a:solidFill>
              </a:rPr>
              <a:t>Private network path</a:t>
            </a:r>
            <a:endParaRPr lang="en-US" sz="890" dirty="0"/>
          </a:p>
        </p:txBody>
      </p:sp>
      <p:sp>
        <p:nvSpPr>
          <p:cNvPr id="41" name="Shape 39"/>
          <p:cNvSpPr/>
          <p:nvPr/>
        </p:nvSpPr>
        <p:spPr>
          <a:xfrm>
            <a:off x="7735824" y="2505456"/>
            <a:ext cx="182880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08976" y="271576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102A43"/>
                </a:solidFill>
              </a:rPr>
              <a:t>AuthN / AuthZ</a:t>
            </a:r>
            <a:endParaRPr lang="en-US" sz="890" dirty="0"/>
          </a:p>
        </p:txBody>
      </p:sp>
      <p:sp>
        <p:nvSpPr>
          <p:cNvPr id="43" name="Shape 41"/>
          <p:cNvSpPr/>
          <p:nvPr/>
        </p:nvSpPr>
        <p:spPr>
          <a:xfrm>
            <a:off x="7735824" y="3145536"/>
            <a:ext cx="182880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08976" y="335584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102A43"/>
                </a:solidFill>
              </a:rPr>
              <a:t>Projection / relay</a:t>
            </a:r>
            <a:endParaRPr lang="en-US" sz="890" dirty="0"/>
          </a:p>
        </p:txBody>
      </p:sp>
      <p:sp>
        <p:nvSpPr>
          <p:cNvPr id="45" name="Shape 43"/>
          <p:cNvSpPr/>
          <p:nvPr/>
        </p:nvSpPr>
        <p:spPr>
          <a:xfrm>
            <a:off x="7735824" y="3785616"/>
            <a:ext cx="182880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808976" y="399592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102A43"/>
                </a:solidFill>
              </a:rPr>
              <a:t>Egress logging</a:t>
            </a:r>
            <a:endParaRPr lang="en-US" sz="890" dirty="0"/>
          </a:p>
        </p:txBody>
      </p:sp>
      <p:sp>
        <p:nvSpPr>
          <p:cNvPr id="47" name="Shape 45"/>
          <p:cNvSpPr/>
          <p:nvPr/>
        </p:nvSpPr>
        <p:spPr>
          <a:xfrm>
            <a:off x="9628632" y="2816352"/>
            <a:ext cx="182880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738360" y="1435608"/>
            <a:ext cx="1920240" cy="4297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802368" y="1563624"/>
            <a:ext cx="17922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</a:rPr>
              <a:t>Vendor plane</a:t>
            </a:r>
            <a:endParaRPr lang="en-US" sz="1070" dirty="0"/>
          </a:p>
        </p:txBody>
      </p:sp>
      <p:sp>
        <p:nvSpPr>
          <p:cNvPr id="50" name="Shape 48"/>
          <p:cNvSpPr/>
          <p:nvPr/>
        </p:nvSpPr>
        <p:spPr>
          <a:xfrm>
            <a:off x="9738360" y="1865376"/>
            <a:ext cx="19202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811512" y="207568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102A43"/>
                </a:solidFill>
              </a:rPr>
              <a:t>Kafka consumer</a:t>
            </a:r>
            <a:endParaRPr lang="en-US" sz="890" dirty="0"/>
          </a:p>
        </p:txBody>
      </p:sp>
      <p:sp>
        <p:nvSpPr>
          <p:cNvPr id="52" name="Shape 50"/>
          <p:cNvSpPr/>
          <p:nvPr/>
        </p:nvSpPr>
        <p:spPr>
          <a:xfrm>
            <a:off x="9738360" y="2505456"/>
            <a:ext cx="19202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811512" y="271576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102A43"/>
                </a:solidFill>
              </a:rPr>
              <a:t>AI orchestration</a:t>
            </a:r>
            <a:endParaRPr lang="en-US" sz="890" dirty="0"/>
          </a:p>
        </p:txBody>
      </p:sp>
      <p:sp>
        <p:nvSpPr>
          <p:cNvPr id="54" name="Shape 52"/>
          <p:cNvSpPr/>
          <p:nvPr/>
        </p:nvSpPr>
        <p:spPr>
          <a:xfrm>
            <a:off x="9738360" y="3145536"/>
            <a:ext cx="19202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811512" y="335584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102A43"/>
                </a:solidFill>
              </a:rPr>
              <a:t>Agentic apps</a:t>
            </a:r>
            <a:endParaRPr lang="en-US" sz="890" dirty="0"/>
          </a:p>
        </p:txBody>
      </p:sp>
      <p:sp>
        <p:nvSpPr>
          <p:cNvPr id="56" name="Shape 54"/>
          <p:cNvSpPr/>
          <p:nvPr/>
        </p:nvSpPr>
        <p:spPr>
          <a:xfrm>
            <a:off x="9738360" y="3785616"/>
            <a:ext cx="19202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4E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811512" y="399592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102A43"/>
                </a:solidFill>
              </a:rPr>
              <a:t>Status producer</a:t>
            </a:r>
            <a:endParaRPr lang="en-US" sz="890" dirty="0"/>
          </a:p>
        </p:txBody>
      </p:sp>
      <p:sp>
        <p:nvSpPr>
          <p:cNvPr id="58" name="Shape 56"/>
          <p:cNvSpPr/>
          <p:nvPr/>
        </p:nvSpPr>
        <p:spPr>
          <a:xfrm>
            <a:off x="2651760" y="4736592"/>
            <a:ext cx="6903720" cy="502920"/>
          </a:xfrm>
          <a:prstGeom prst="roundRect">
            <a:avLst>
              <a:gd name="adj" fmla="val 7273"/>
            </a:avLst>
          </a:prstGeom>
          <a:solidFill>
            <a:srgbClr val="E8F0FE"/>
          </a:solidFill>
          <a:ln w="12700">
            <a:solidFill>
              <a:srgbClr val="BBD0F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98064" y="4901184"/>
            <a:ext cx="6601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</a:rPr>
              <a:t>CONTROL PLANE  •  IaC catalog  •  onboarding workflow  •  policy  •  secrets  •  metrics  •  audit  •  cost allocation</a:t>
            </a:r>
            <a:endParaRPr lang="en-US" sz="920" dirty="0"/>
          </a:p>
        </p:txBody>
      </p:sp>
      <p:sp>
        <p:nvSpPr>
          <p:cNvPr id="60" name="Shape 58"/>
          <p:cNvSpPr/>
          <p:nvPr/>
        </p:nvSpPr>
        <p:spPr>
          <a:xfrm>
            <a:off x="585216" y="5440680"/>
            <a:ext cx="11018520" cy="429768"/>
          </a:xfrm>
          <a:prstGeom prst="roundRect">
            <a:avLst>
              <a:gd name="adj" fmla="val 8511"/>
            </a:avLst>
          </a:prstGeom>
          <a:solidFill>
            <a:srgbClr val="E4F6F8"/>
          </a:solidFill>
          <a:ln w="10160">
            <a:solidFill>
              <a:srgbClr val="B7E3E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85216" y="5440680"/>
            <a:ext cx="64008" cy="42976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9808" y="5550408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24515A"/>
                </a:solidFill>
              </a:rPr>
              <a:t>Deployment choice: direct vendor Kafka client or enterprise-managed relay. Select from connectivity, client support, PHI boundary, and operating ownership.</a:t>
            </a:r>
            <a:endParaRPr lang="en-US" sz="9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4688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Vendor connectivity options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8813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36B7D"/>
                </a:solidFill>
              </a:rPr>
              <a:t>Do not commit to direct MSK access until Cohere client, network, identity, and support capabilities are confirmed.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612648" y="1481328"/>
            <a:ext cx="3493008" cy="3364992"/>
          </a:xfrm>
          <a:prstGeom prst="roundRect">
            <a:avLst>
              <a:gd name="adj" fmla="val 1359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1481328"/>
            <a:ext cx="64008" cy="33649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609344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Option A — direct MSK consumer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795528" y="1929384"/>
            <a:ext cx="316382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36B7D"/>
                </a:solidFill>
              </a:rPr>
              <a:t>Vendor operates a Kafka client. Use private cross-account/VPC connectivity where applicable, or an approved network path; dedicate consumer group and least-privilege topic access.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36B7D"/>
                </a:solidFill>
              </a:rPr>
              <a:t>Best when the vendor supports Kafka operations and contractual responsibilities.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52544" y="1481328"/>
            <a:ext cx="3493008" cy="3364992"/>
          </a:xfrm>
          <a:prstGeom prst="roundRect">
            <a:avLst>
              <a:gd name="adj" fmla="val 1359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52544" y="1481328"/>
            <a:ext cx="64008" cy="33649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35424" y="1609344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Option B — managed vendor relay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4535424" y="1929384"/>
            <a:ext cx="316382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36B7D"/>
                </a:solidFill>
              </a:rPr>
              <a:t>Enterprise runs the Kafka consumer in AWS and relays deltas over the vendor’s supported private/API protocol. Kafka identity and offsets stay enterprise-managed.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36B7D"/>
                </a:solidFill>
              </a:rPr>
              <a:t>Best when vendor Kafka support or security fit is uncertain.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81328"/>
            <a:ext cx="3493008" cy="3364992"/>
          </a:xfrm>
          <a:prstGeom prst="roundRect">
            <a:avLst>
              <a:gd name="adj" fmla="val 1359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92440" y="1481328"/>
            <a:ext cx="64008" cy="3364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1609344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Option C — vendor projection cluster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8275320" y="1929384"/>
            <a:ext cx="316382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36B7D"/>
                </a:solidFill>
              </a:rPr>
              <a:t>Replicate or project approved vendor topics into an isolated Kafka boundary with separate lifecycle and blast radius.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36B7D"/>
                </a:solidFill>
              </a:rPr>
              <a:t>Best for multiple high-volume vendors or strict isolation; adds cost and operations.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507492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dirty="0">
                <a:solidFill>
                  <a:srgbClr val="102A43"/>
                </a:solidFill>
              </a:rPr>
              <a:t>Vendor Kafka capability</a:t>
            </a:r>
            <a:endParaRPr lang="en-US" sz="770" dirty="0"/>
          </a:p>
        </p:txBody>
      </p:sp>
      <p:sp>
        <p:nvSpPr>
          <p:cNvPr id="17" name="Text 15"/>
          <p:cNvSpPr/>
          <p:nvPr/>
        </p:nvSpPr>
        <p:spPr>
          <a:xfrm>
            <a:off x="2779776" y="50749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536B7D"/>
                </a:solidFill>
              </a:rPr>
              <a:t>Required</a:t>
            </a:r>
            <a:endParaRPr lang="en-US" sz="770" dirty="0"/>
          </a:p>
        </p:txBody>
      </p:sp>
      <p:sp>
        <p:nvSpPr>
          <p:cNvPr id="18" name="Text 16"/>
          <p:cNvSpPr/>
          <p:nvPr/>
        </p:nvSpPr>
        <p:spPr>
          <a:xfrm>
            <a:off x="5614416" y="50749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536B7D"/>
                </a:solidFill>
              </a:rPr>
              <a:t>Not required</a:t>
            </a:r>
            <a:endParaRPr lang="en-US" sz="770" dirty="0"/>
          </a:p>
        </p:txBody>
      </p:sp>
      <p:sp>
        <p:nvSpPr>
          <p:cNvPr id="19" name="Text 17"/>
          <p:cNvSpPr/>
          <p:nvPr/>
        </p:nvSpPr>
        <p:spPr>
          <a:xfrm>
            <a:off x="8449056" y="50749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536B7D"/>
                </a:solidFill>
              </a:rPr>
              <a:t>Required</a:t>
            </a:r>
            <a:endParaRPr lang="en-US" sz="770" dirty="0"/>
          </a:p>
        </p:txBody>
      </p:sp>
      <p:sp>
        <p:nvSpPr>
          <p:cNvPr id="20" name="Text 18"/>
          <p:cNvSpPr/>
          <p:nvPr/>
        </p:nvSpPr>
        <p:spPr>
          <a:xfrm>
            <a:off x="658368" y="532180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102A43"/>
                </a:solidFill>
              </a:rPr>
              <a:t>Enterprise operational control</a:t>
            </a:r>
            <a:endParaRPr lang="en-US" sz="770" dirty="0"/>
          </a:p>
        </p:txBody>
      </p:sp>
      <p:sp>
        <p:nvSpPr>
          <p:cNvPr id="21" name="Text 19"/>
          <p:cNvSpPr/>
          <p:nvPr/>
        </p:nvSpPr>
        <p:spPr>
          <a:xfrm>
            <a:off x="2779776" y="53218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536B7D"/>
                </a:solidFill>
              </a:rPr>
              <a:t>Medium</a:t>
            </a:r>
            <a:endParaRPr lang="en-US" sz="770" dirty="0"/>
          </a:p>
        </p:txBody>
      </p:sp>
      <p:sp>
        <p:nvSpPr>
          <p:cNvPr id="22" name="Text 20"/>
          <p:cNvSpPr/>
          <p:nvPr/>
        </p:nvSpPr>
        <p:spPr>
          <a:xfrm>
            <a:off x="5614416" y="53218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536B7D"/>
                </a:solidFill>
              </a:rPr>
              <a:t>High</a:t>
            </a:r>
            <a:endParaRPr lang="en-US" sz="770" dirty="0"/>
          </a:p>
        </p:txBody>
      </p:sp>
      <p:sp>
        <p:nvSpPr>
          <p:cNvPr id="23" name="Text 21"/>
          <p:cNvSpPr/>
          <p:nvPr/>
        </p:nvSpPr>
        <p:spPr>
          <a:xfrm>
            <a:off x="8449056" y="53218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536B7D"/>
                </a:solidFill>
              </a:rPr>
              <a:t>Medium</a:t>
            </a:r>
            <a:endParaRPr lang="en-US" sz="770" dirty="0"/>
          </a:p>
        </p:txBody>
      </p:sp>
      <p:sp>
        <p:nvSpPr>
          <p:cNvPr id="24" name="Text 22"/>
          <p:cNvSpPr/>
          <p:nvPr/>
        </p:nvSpPr>
        <p:spPr>
          <a:xfrm>
            <a:off x="658368" y="556869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102A43"/>
                </a:solidFill>
              </a:rPr>
              <a:t>Isolation / blast radius</a:t>
            </a:r>
            <a:endParaRPr lang="en-US" sz="770" dirty="0"/>
          </a:p>
        </p:txBody>
      </p:sp>
      <p:sp>
        <p:nvSpPr>
          <p:cNvPr id="25" name="Text 23"/>
          <p:cNvSpPr/>
          <p:nvPr/>
        </p:nvSpPr>
        <p:spPr>
          <a:xfrm>
            <a:off x="2779776" y="556869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536B7D"/>
                </a:solidFill>
              </a:rPr>
              <a:t>Medium</a:t>
            </a:r>
            <a:endParaRPr lang="en-US" sz="770" dirty="0"/>
          </a:p>
        </p:txBody>
      </p:sp>
      <p:sp>
        <p:nvSpPr>
          <p:cNvPr id="26" name="Text 24"/>
          <p:cNvSpPr/>
          <p:nvPr/>
        </p:nvSpPr>
        <p:spPr>
          <a:xfrm>
            <a:off x="5614416" y="556869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536B7D"/>
                </a:solidFill>
              </a:rPr>
              <a:t>High</a:t>
            </a:r>
            <a:endParaRPr lang="en-US" sz="770" dirty="0"/>
          </a:p>
        </p:txBody>
      </p:sp>
      <p:sp>
        <p:nvSpPr>
          <p:cNvPr id="27" name="Text 25"/>
          <p:cNvSpPr/>
          <p:nvPr/>
        </p:nvSpPr>
        <p:spPr>
          <a:xfrm>
            <a:off x="8449056" y="556869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536B7D"/>
                </a:solidFill>
              </a:rPr>
              <a:t>High</a:t>
            </a:r>
            <a:endParaRPr lang="en-US" sz="770" dirty="0"/>
          </a:p>
        </p:txBody>
      </p:sp>
      <p:sp>
        <p:nvSpPr>
          <p:cNvPr id="28" name="Text 26"/>
          <p:cNvSpPr/>
          <p:nvPr/>
        </p:nvSpPr>
        <p:spPr>
          <a:xfrm>
            <a:off x="658368" y="581558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dirty="0">
                <a:solidFill>
                  <a:srgbClr val="102A43"/>
                </a:solidFill>
              </a:rPr>
              <a:t>Cost &amp; complexity</a:t>
            </a:r>
            <a:endParaRPr lang="en-US" sz="770" dirty="0"/>
          </a:p>
        </p:txBody>
      </p:sp>
      <p:sp>
        <p:nvSpPr>
          <p:cNvPr id="29" name="Text 27"/>
          <p:cNvSpPr/>
          <p:nvPr/>
        </p:nvSpPr>
        <p:spPr>
          <a:xfrm>
            <a:off x="2779776" y="581558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536B7D"/>
                </a:solidFill>
              </a:rPr>
              <a:t>Low–medium</a:t>
            </a:r>
            <a:endParaRPr lang="en-US" sz="770" dirty="0"/>
          </a:p>
        </p:txBody>
      </p:sp>
      <p:sp>
        <p:nvSpPr>
          <p:cNvPr id="30" name="Text 28"/>
          <p:cNvSpPr/>
          <p:nvPr/>
        </p:nvSpPr>
        <p:spPr>
          <a:xfrm>
            <a:off x="5614416" y="581558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536B7D"/>
                </a:solidFill>
              </a:rPr>
              <a:t>Medium</a:t>
            </a:r>
            <a:endParaRPr lang="en-US" sz="770" dirty="0"/>
          </a:p>
        </p:txBody>
      </p:sp>
      <p:sp>
        <p:nvSpPr>
          <p:cNvPr id="31" name="Text 29"/>
          <p:cNvSpPr/>
          <p:nvPr/>
        </p:nvSpPr>
        <p:spPr>
          <a:xfrm>
            <a:off x="8449056" y="581558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70" dirty="0">
                <a:solidFill>
                  <a:srgbClr val="536B7D"/>
                </a:solidFill>
              </a:rPr>
              <a:t>High</a:t>
            </a:r>
            <a:endParaRPr lang="en-US" sz="770" dirty="0"/>
          </a:p>
        </p:txBody>
      </p:sp>
      <p:sp>
        <p:nvSpPr>
          <p:cNvPr id="32" name="Text 30"/>
          <p:cNvSpPr/>
          <p:nvPr/>
        </p:nvSpPr>
        <p:spPr>
          <a:xfrm>
            <a:off x="585216" y="6291072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F8795"/>
                </a:solidFill>
              </a:rPr>
              <a:t>Recommended discovery default: assess direct access, but preserve the managed-relay fallback in the product design.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4688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Identity, authorization, and trust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8813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36B7D"/>
                </a:solidFill>
              </a:rPr>
              <a:t>Microsoft Entra ID governs enterprise users and APIs; MSK data-plane access uses Kafka/MSK-supported client identities.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621792" y="1481328"/>
            <a:ext cx="3456432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481328"/>
            <a:ext cx="64008" cy="3246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0934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Enterprise identity plane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804672" y="1929384"/>
            <a:ext cx="312724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36B7D"/>
                </a:solidFill>
              </a:rPr>
              <a:t>Entra ID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536B7D"/>
                </a:solidFill>
              </a:rPr>
              <a:t>• Workforce SSO and privileged access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536B7D"/>
                </a:solidFill>
              </a:rPr>
              <a:t>• API client credentials / workload identity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536B7D"/>
                </a:solidFill>
              </a:rPr>
              <a:t>• App registration, scopes, conditional controls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536B7D"/>
                </a:solidFill>
              </a:rPr>
              <a:t>Use for portals, onboarding APIs, and control-plane workflows.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370832" y="1481328"/>
            <a:ext cx="3456432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70832" y="1481328"/>
            <a:ext cx="64008" cy="3246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60934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MSK data plane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4553712" y="1929384"/>
            <a:ext cx="312724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36B7D"/>
                </a:solidFill>
              </a:rPr>
              <a:t>Supported patterns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536B7D"/>
                </a:solidFill>
              </a:rPr>
              <a:t>• AWS IAM for compatible AWS clients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536B7D"/>
                </a:solidFill>
              </a:rPr>
              <a:t>• SASL/SCRAM credentials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536B7D"/>
                </a:solidFill>
              </a:rPr>
              <a:t>• Mutual TLS certificates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536B7D"/>
                </a:solidFill>
              </a:rPr>
              <a:t>• Topic/group permissions and quotas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536B7D"/>
                </a:solidFill>
              </a:rPr>
              <a:t>One vendor identity per environment and use case.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119872" y="1481328"/>
            <a:ext cx="3456432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19872" y="1481328"/>
            <a:ext cx="64008" cy="3246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160934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Trust operations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8302752" y="1929384"/>
            <a:ext cx="3127248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36B7D"/>
                </a:solidFill>
              </a:rPr>
              <a:t>Lifecycle controls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536B7D"/>
                </a:solidFill>
              </a:rPr>
              <a:t>• Provision / approve / attest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536B7D"/>
                </a:solidFill>
              </a:rPr>
              <a:t>• Rotate / revoke / expire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536B7D"/>
                </a:solidFill>
              </a:rPr>
              <a:t>• Separate non-prod and prod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536B7D"/>
                </a:solidFill>
              </a:rPr>
              <a:t>• Log authentication and authorization failures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536B7D"/>
                </a:solidFill>
              </a:rPr>
              <a:t>• Break-glass and incident process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21792" y="5047488"/>
            <a:ext cx="10954512" cy="566928"/>
          </a:xfrm>
          <a:prstGeom prst="roundRect">
            <a:avLst>
              <a:gd name="adj" fmla="val 6452"/>
            </a:avLst>
          </a:prstGeom>
          <a:solidFill>
            <a:srgbClr val="FFF1E7"/>
          </a:solidFill>
          <a:ln w="12700">
            <a:solidFill>
              <a:srgbClr val="F3BE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" y="5221224"/>
            <a:ext cx="10561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9A3412"/>
                </a:solidFill>
              </a:rPr>
              <a:t>Do not pass an Entra access token directly to MSK IAM authentication. Use a deliberate identity bridge or issue the credential supported by the chosen Kafka access pattern.</a:t>
            </a:r>
            <a:endParaRPr lang="en-US" sz="1010" dirty="0"/>
          </a:p>
        </p:txBody>
      </p:sp>
      <p:sp>
        <p:nvSpPr>
          <p:cNvPr id="18" name="Text 16"/>
          <p:cNvSpPr/>
          <p:nvPr/>
        </p:nvSpPr>
        <p:spPr>
          <a:xfrm>
            <a:off x="585216" y="6291072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F8795"/>
                </a:solidFill>
              </a:rPr>
              <a:t>AWS multi-VPC private connectivity supports IAM, SASL/SCRAM, and TLS auth schemes; each connection uses one configured scheme.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4688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Topic and consumer product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8813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36B7D"/>
                </a:solidFill>
              </a:rPr>
              <a:t>Topic topology should isolate domains and vendor use cases without creating an unmanageable topic-per-field design.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603504" y="1417320"/>
            <a:ext cx="534924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3504" y="1417320"/>
            <a:ext cx="64008" cy="676656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545336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Domain delta topic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786384" y="1865376"/>
            <a:ext cx="5020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36B7D"/>
                </a:solidFill>
              </a:rPr>
              <a:t>Enterprise canonical event; multiple approved consumers.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603504" y="2267712"/>
            <a:ext cx="534924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3504" y="2267712"/>
            <a:ext cx="64008" cy="67665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2395728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Vendor projection topic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786384" y="2715768"/>
            <a:ext cx="5020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36B7D"/>
                </a:solidFill>
              </a:rPr>
              <a:t>Filtered/minimized payload for a vendor contract.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603504" y="3118104"/>
            <a:ext cx="534924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" y="3118104"/>
            <a:ext cx="64008" cy="67665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3246120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Command topic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786384" y="3566160"/>
            <a:ext cx="5020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36B7D"/>
                </a:solidFill>
              </a:rPr>
              <a:t>Requests requiring a vendor action or workflow.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603504" y="3968496"/>
            <a:ext cx="534924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" y="3968496"/>
            <a:ext cx="64008" cy="6766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4096512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Status/result topic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786384" y="4416552"/>
            <a:ext cx="5020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36B7D"/>
                </a:solidFill>
              </a:rPr>
              <a:t>Acknowledgment, processing status, decision, or derived outcome.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603504" y="4818888"/>
            <a:ext cx="5349240" cy="676656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" y="4818888"/>
            <a:ext cx="64008" cy="67665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86384" y="4946904"/>
            <a:ext cx="5020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Retry / quarantine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786384" y="5266944"/>
            <a:ext cx="5020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36B7D"/>
                </a:solidFill>
              </a:rPr>
              <a:t>Short-lived operational handling with controlled replay.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6236208" y="1417320"/>
            <a:ext cx="2432304" cy="1060704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36208" y="1417320"/>
            <a:ext cx="64008" cy="1060704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19088" y="15453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Naming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6419088" y="186537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36B7D"/>
                </a:solidFill>
              </a:rPr>
              <a:t>domain.entity.event.vN or governed equivalent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8915400" y="1417320"/>
            <a:ext cx="2432304" cy="1060704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915400" y="1417320"/>
            <a:ext cx="64008" cy="10607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98280" y="15453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Partitions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9098280" y="186537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36B7D"/>
                </a:solidFill>
              </a:rPr>
              <a:t>Size for throughput; key for required ordering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6236208" y="2715768"/>
            <a:ext cx="2432304" cy="1060704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36208" y="2715768"/>
            <a:ext cx="64008" cy="1060704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19088" y="28437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Retention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6419088" y="316382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36B7D"/>
                </a:solidFill>
              </a:rPr>
              <a:t>Business recovery window + legal/privacy policy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8915400" y="2715768"/>
            <a:ext cx="2432304" cy="1060704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915400" y="2715768"/>
            <a:ext cx="64008" cy="10607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98280" y="284378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Consumer group</a:t>
            </a:r>
            <a:endParaRPr lang="en-US" sz="1320" dirty="0"/>
          </a:p>
        </p:txBody>
      </p:sp>
      <p:sp>
        <p:nvSpPr>
          <p:cNvPr id="39" name="Text 37"/>
          <p:cNvSpPr/>
          <p:nvPr/>
        </p:nvSpPr>
        <p:spPr>
          <a:xfrm>
            <a:off x="9098280" y="316382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36B7D"/>
                </a:solidFill>
              </a:rPr>
              <a:t>One per vendor/use case/environment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6236208" y="4014216"/>
            <a:ext cx="2432304" cy="1060704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36208" y="4014216"/>
            <a:ext cx="64008" cy="1060704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19088" y="41422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Compaction</a:t>
            </a:r>
            <a:endParaRPr lang="en-US" sz="1320" dirty="0"/>
          </a:p>
        </p:txBody>
      </p:sp>
      <p:sp>
        <p:nvSpPr>
          <p:cNvPr id="43" name="Text 41"/>
          <p:cNvSpPr/>
          <p:nvPr/>
        </p:nvSpPr>
        <p:spPr>
          <a:xfrm>
            <a:off x="6419088" y="4462272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36B7D"/>
                </a:solidFill>
              </a:rPr>
              <a:t>Only when latest-state semantics are intentional</a:t>
            </a:r>
            <a:endParaRPr lang="en-US" sz="870" dirty="0"/>
          </a:p>
        </p:txBody>
      </p:sp>
      <p:sp>
        <p:nvSpPr>
          <p:cNvPr id="44" name="Shape 42"/>
          <p:cNvSpPr/>
          <p:nvPr/>
        </p:nvSpPr>
        <p:spPr>
          <a:xfrm>
            <a:off x="8915400" y="4014216"/>
            <a:ext cx="2432304" cy="1060704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915400" y="4014216"/>
            <a:ext cx="64008" cy="10607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98280" y="41422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Quotas</a:t>
            </a:r>
            <a:endParaRPr lang="en-US" sz="1320" dirty="0"/>
          </a:p>
        </p:txBody>
      </p:sp>
      <p:sp>
        <p:nvSpPr>
          <p:cNvPr id="47" name="Text 45"/>
          <p:cNvSpPr/>
          <p:nvPr/>
        </p:nvSpPr>
        <p:spPr>
          <a:xfrm>
            <a:off x="9098280" y="4462272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36B7D"/>
                </a:solidFill>
              </a:rPr>
              <a:t>Protect shared brokers from vendor burst or runaway polling</a:t>
            </a:r>
            <a:endParaRPr lang="en-US" sz="870" dirty="0"/>
          </a:p>
        </p:txBody>
      </p:sp>
      <p:sp>
        <p:nvSpPr>
          <p:cNvPr id="48" name="Shape 46"/>
          <p:cNvSpPr/>
          <p:nvPr/>
        </p:nvSpPr>
        <p:spPr>
          <a:xfrm>
            <a:off x="585216" y="5431536"/>
            <a:ext cx="11018520" cy="429768"/>
          </a:xfrm>
          <a:prstGeom prst="roundRect">
            <a:avLst>
              <a:gd name="adj" fmla="val 8511"/>
            </a:avLst>
          </a:prstGeom>
          <a:solidFill>
            <a:srgbClr val="E4F6F8"/>
          </a:solidFill>
          <a:ln w="10160">
            <a:solidFill>
              <a:srgbClr val="B7E3E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85216" y="5431536"/>
            <a:ext cx="64008" cy="42976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9808" y="5541264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24515A"/>
                </a:solidFill>
              </a:rPr>
              <a:t>Avoid encoding vendor names into the canonical domain event unless the topic is explicitly a vendor projection.</a:t>
            </a:r>
            <a:endParaRPr lang="en-US" sz="9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4688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Reliability and recovery semantics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8813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36B7D"/>
                </a:solidFill>
              </a:rPr>
              <a:t>End-to-end correctness depends on business keys, idempotency, checkpoints, and reconciliation—not only Kafka durability.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530352" y="1490472"/>
            <a:ext cx="1901952" cy="1938528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7780">
            <a:solidFill>
              <a:srgbClr val="079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1591056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798B5"/>
                </a:solidFill>
              </a:rPr>
              <a:t>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58368" y="19293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</a:rPr>
              <a:t>Produce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58368" y="2368296"/>
            <a:ext cx="16459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536B7D"/>
                </a:solidFill>
              </a:rPr>
              <a:t>Outbox/CDC ties publication to committed source change.</a:t>
            </a:r>
            <a:endParaRPr lang="en-US" sz="890" dirty="0"/>
          </a:p>
        </p:txBody>
      </p:sp>
      <p:sp>
        <p:nvSpPr>
          <p:cNvPr id="8" name="Shape 6"/>
          <p:cNvSpPr/>
          <p:nvPr/>
        </p:nvSpPr>
        <p:spPr>
          <a:xfrm>
            <a:off x="2487168" y="2313432"/>
            <a:ext cx="228600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52928" y="1490472"/>
            <a:ext cx="1901952" cy="1938528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778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1591056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80944" y="19293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</a:rPr>
              <a:t>Consume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2980944" y="2368296"/>
            <a:ext cx="16459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536B7D"/>
                </a:solidFill>
              </a:rPr>
              <a:t>Poll records; validate schema and authorization context.</a:t>
            </a:r>
            <a:endParaRPr lang="en-US" sz="890" dirty="0"/>
          </a:p>
        </p:txBody>
      </p:sp>
      <p:sp>
        <p:nvSpPr>
          <p:cNvPr id="13" name="Shape 11"/>
          <p:cNvSpPr/>
          <p:nvPr/>
        </p:nvSpPr>
        <p:spPr>
          <a:xfrm>
            <a:off x="4809744" y="2313432"/>
            <a:ext cx="228600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75504" y="1490472"/>
            <a:ext cx="1901952" cy="1938528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778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76088" y="1591056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303520" y="19293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</a:rPr>
              <a:t>Process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5303520" y="2368296"/>
            <a:ext cx="16459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536B7D"/>
                </a:solidFill>
              </a:rPr>
              <a:t>Use immutable event ID and source version for idempotency.</a:t>
            </a:r>
            <a:endParaRPr lang="en-US" sz="890" dirty="0"/>
          </a:p>
        </p:txBody>
      </p:sp>
      <p:sp>
        <p:nvSpPr>
          <p:cNvPr id="18" name="Shape 16"/>
          <p:cNvSpPr/>
          <p:nvPr/>
        </p:nvSpPr>
        <p:spPr>
          <a:xfrm>
            <a:off x="7132320" y="2313432"/>
            <a:ext cx="228600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0" y="1490472"/>
            <a:ext cx="1901952" cy="1938528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778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98664" y="1591056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626096" y="19293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</a:rPr>
              <a:t>Checkpoint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7626096" y="2368296"/>
            <a:ext cx="16459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536B7D"/>
                </a:solidFill>
              </a:rPr>
              <a:t>Commit offset only after durable vendor processing state.</a:t>
            </a:r>
            <a:endParaRPr lang="en-US" sz="890" dirty="0"/>
          </a:p>
        </p:txBody>
      </p:sp>
      <p:sp>
        <p:nvSpPr>
          <p:cNvPr id="23" name="Shape 21"/>
          <p:cNvSpPr/>
          <p:nvPr/>
        </p:nvSpPr>
        <p:spPr>
          <a:xfrm>
            <a:off x="9454896" y="2313432"/>
            <a:ext cx="228600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20656" y="1490472"/>
            <a:ext cx="1901952" cy="1938528"/>
          </a:xfrm>
          <a:prstGeom prst="roundRect">
            <a:avLst>
              <a:gd name="adj" fmla="val 2404"/>
            </a:avLst>
          </a:prstGeom>
          <a:solidFill>
            <a:srgbClr val="FFFFFF"/>
          </a:solidFill>
          <a:ln w="1778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21240" y="1591056"/>
            <a:ext cx="228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</a:rPr>
              <a:t>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9948672" y="19293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A43"/>
                </a:solidFill>
              </a:rPr>
              <a:t>Reconcile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9948672" y="2368296"/>
            <a:ext cx="16459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dirty="0">
                <a:solidFill>
                  <a:srgbClr val="536B7D"/>
                </a:solidFill>
              </a:rPr>
              <a:t>Compare authoritative lifecycle state and repair gaps.</a:t>
            </a:r>
            <a:endParaRPr lang="en-US" sz="890" dirty="0"/>
          </a:p>
        </p:txBody>
      </p:sp>
      <p:sp>
        <p:nvSpPr>
          <p:cNvPr id="28" name="Shape 26"/>
          <p:cNvSpPr/>
          <p:nvPr/>
        </p:nvSpPr>
        <p:spPr>
          <a:xfrm>
            <a:off x="621792" y="3794760"/>
            <a:ext cx="2542032" cy="1225296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" y="3794760"/>
            <a:ext cx="64008" cy="1225296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392277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Transient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804672" y="4242816"/>
            <a:ext cx="22128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36B7D"/>
                </a:solidFill>
              </a:rPr>
              <a:t>Retry with bounded exponential backoff and jitter.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3401568" y="3794760"/>
            <a:ext cx="2542032" cy="1225296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401568" y="3794760"/>
            <a:ext cx="64008" cy="1225296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84448" y="392277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Poison event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3584448" y="4242816"/>
            <a:ext cx="22128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36B7D"/>
                </a:solidFill>
              </a:rPr>
              <a:t>Quarantine with error, schema, and trace metadata.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6181344" y="3794760"/>
            <a:ext cx="2542032" cy="1225296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81344" y="3794760"/>
            <a:ext cx="64008" cy="1225296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64224" y="392277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Vendor outage</a:t>
            </a:r>
            <a:endParaRPr lang="en-US" sz="1320" dirty="0"/>
          </a:p>
        </p:txBody>
      </p:sp>
      <p:sp>
        <p:nvSpPr>
          <p:cNvPr id="39" name="Text 37"/>
          <p:cNvSpPr/>
          <p:nvPr/>
        </p:nvSpPr>
        <p:spPr>
          <a:xfrm>
            <a:off x="6364224" y="4242816"/>
            <a:ext cx="22128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36B7D"/>
                </a:solidFill>
              </a:rPr>
              <a:t>Allow lag within SLO; alarm on time-to-drain and retention risk.</a:t>
            </a:r>
            <a:endParaRPr lang="en-US" sz="940" dirty="0"/>
          </a:p>
        </p:txBody>
      </p:sp>
      <p:sp>
        <p:nvSpPr>
          <p:cNvPr id="40" name="Shape 38"/>
          <p:cNvSpPr/>
          <p:nvPr/>
        </p:nvSpPr>
        <p:spPr>
          <a:xfrm>
            <a:off x="8961120" y="3794760"/>
            <a:ext cx="2542032" cy="1225296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961120" y="3794760"/>
            <a:ext cx="64008" cy="1225296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0" y="3922776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Replay</a:t>
            </a:r>
            <a:endParaRPr lang="en-US" sz="1320" dirty="0"/>
          </a:p>
        </p:txBody>
      </p:sp>
      <p:sp>
        <p:nvSpPr>
          <p:cNvPr id="43" name="Text 41"/>
          <p:cNvSpPr/>
          <p:nvPr/>
        </p:nvSpPr>
        <p:spPr>
          <a:xfrm>
            <a:off x="9144000" y="4242816"/>
            <a:ext cx="221284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36B7D"/>
                </a:solidFill>
              </a:rPr>
              <a:t>Approval, scoped offsets/time range, dry run, rate limit, evidence.</a:t>
            </a:r>
            <a:endParaRPr lang="en-US" sz="940" dirty="0"/>
          </a:p>
        </p:txBody>
      </p:sp>
      <p:sp>
        <p:nvSpPr>
          <p:cNvPr id="44" name="Shape 42"/>
          <p:cNvSpPr/>
          <p:nvPr/>
        </p:nvSpPr>
        <p:spPr>
          <a:xfrm>
            <a:off x="585216" y="5385816"/>
            <a:ext cx="11018520" cy="429768"/>
          </a:xfrm>
          <a:prstGeom prst="roundRect">
            <a:avLst>
              <a:gd name="adj" fmla="val 8511"/>
            </a:avLst>
          </a:prstGeom>
          <a:solidFill>
            <a:srgbClr val="E4F6F8"/>
          </a:solidFill>
          <a:ln w="10160">
            <a:solidFill>
              <a:srgbClr val="B7E3E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5216" y="5385816"/>
            <a:ext cx="64008" cy="42976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9808" y="5495544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24515A"/>
                </a:solidFill>
              </a:rPr>
              <a:t>No-lost-event proof requires reconciliation. Kafka cannot detect a source change that was never captured or a vendor side effect that was never recorded.</a:t>
            </a:r>
            <a:endParaRPr lang="en-US" sz="9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4688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Healthcare security and data governance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8813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36B7D"/>
                </a:solidFill>
              </a:rPr>
              <a:t>Streaming increases timeliness; it must not expand data access beyond the approved purpose.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621792" y="1453896"/>
            <a:ext cx="3474720" cy="1472184"/>
          </a:xfrm>
          <a:prstGeom prst="roundRect">
            <a:avLst>
              <a:gd name="adj" fmla="val 310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453896"/>
            <a:ext cx="64008" cy="1472184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581912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Data classification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804672" y="1901952"/>
            <a:ext cx="314553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536B7D"/>
                </a:solidFill>
              </a:rPr>
              <a:t>Label PHI/PII, sensitivity, owner, purpose, and permitted consumers.</a:t>
            </a:r>
            <a:endParaRPr lang="en-US" sz="970" dirty="0"/>
          </a:p>
        </p:txBody>
      </p:sp>
      <p:sp>
        <p:nvSpPr>
          <p:cNvPr id="8" name="Shape 6"/>
          <p:cNvSpPr/>
          <p:nvPr/>
        </p:nvSpPr>
        <p:spPr>
          <a:xfrm>
            <a:off x="4370832" y="1453896"/>
            <a:ext cx="3474720" cy="1472184"/>
          </a:xfrm>
          <a:prstGeom prst="roundRect">
            <a:avLst>
              <a:gd name="adj" fmla="val 310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70832" y="1453896"/>
            <a:ext cx="64008" cy="147218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581912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Minimum necessary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4553712" y="1901952"/>
            <a:ext cx="314553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536B7D"/>
                </a:solidFill>
              </a:rPr>
              <a:t>Filter fields and records before the vendor boundary; separate attachments.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8119872" y="1453896"/>
            <a:ext cx="3474720" cy="1472184"/>
          </a:xfrm>
          <a:prstGeom prst="roundRect">
            <a:avLst>
              <a:gd name="adj" fmla="val 310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19872" y="1453896"/>
            <a:ext cx="64008" cy="1472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1581912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Encryption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8302752" y="1901952"/>
            <a:ext cx="314553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536B7D"/>
                </a:solidFill>
              </a:rPr>
              <a:t>TLS in transit; KMS-managed encryption at rest; controlled object links.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621792" y="3300984"/>
            <a:ext cx="3474720" cy="1472184"/>
          </a:xfrm>
          <a:prstGeom prst="roundRect">
            <a:avLst>
              <a:gd name="adj" fmla="val 310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" y="3300984"/>
            <a:ext cx="64008" cy="1472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42900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Network boundary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804672" y="3749040"/>
            <a:ext cx="314553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536B7D"/>
                </a:solidFill>
              </a:rPr>
              <a:t>Private paths where supported; restricted egress; environment separation.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4370832" y="3300984"/>
            <a:ext cx="3474720" cy="1472184"/>
          </a:xfrm>
          <a:prstGeom prst="roundRect">
            <a:avLst>
              <a:gd name="adj" fmla="val 310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70832" y="3300984"/>
            <a:ext cx="64008" cy="147218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3712" y="342900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Audit evidence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4553712" y="3749040"/>
            <a:ext cx="314553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536B7D"/>
                </a:solidFill>
              </a:rPr>
              <a:t>Identity, topic/group authorization, schema version, access, replay, and changes.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8119872" y="3300984"/>
            <a:ext cx="3474720" cy="1472184"/>
          </a:xfrm>
          <a:prstGeom prst="roundRect">
            <a:avLst>
              <a:gd name="adj" fmla="val 310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19872" y="3300984"/>
            <a:ext cx="64008" cy="1472184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02752" y="342900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Lifecycle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8302752" y="3749040"/>
            <a:ext cx="314553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536B7D"/>
                </a:solidFill>
              </a:rPr>
              <a:t>Retention, deletion semantics, legal hold, credential rotation, offboarding.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621792" y="5285232"/>
            <a:ext cx="10881360" cy="548640"/>
          </a:xfrm>
          <a:prstGeom prst="roundRect">
            <a:avLst>
              <a:gd name="adj" fmla="val 6667"/>
            </a:avLst>
          </a:prstGeom>
          <a:solidFill>
            <a:srgbClr val="FFF1E7"/>
          </a:solidFill>
          <a:ln w="12700">
            <a:solidFill>
              <a:srgbClr val="F3BE9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449824"/>
            <a:ext cx="10488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9A3412"/>
                </a:solidFill>
              </a:rPr>
              <a:t>Architecture review gate: BAA / contract purpose, data minimization, cross-border or residency constraints, subprocessors, model-use restrictions, and incident notification.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5216" y="6291072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F8795"/>
                </a:solidFill>
              </a:rPr>
              <a:t>Cohere states its platform uses healthcare AI and FHIR-based workflows; actual data use remains governed by the executed contract and enterprise policy.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4688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SLOs and observability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8813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36B7D"/>
                </a:solidFill>
              </a:rPr>
              <a:t>Measure the business path from committed source change to vendor processing—not only MSK broker health.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612648" y="1435608"/>
            <a:ext cx="3493008" cy="1179576"/>
          </a:xfrm>
          <a:prstGeom prst="roundRect">
            <a:avLst>
              <a:gd name="adj" fmla="val 387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1435608"/>
            <a:ext cx="64008" cy="1179576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563624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Freshness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795528" y="1883664"/>
            <a:ext cx="31638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36B7D"/>
                </a:solidFill>
              </a:rPr>
              <a:t>P95/P99 time from source commit to topic publication.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4379976" y="1435608"/>
            <a:ext cx="3493008" cy="1179576"/>
          </a:xfrm>
          <a:prstGeom prst="roundRect">
            <a:avLst>
              <a:gd name="adj" fmla="val 387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79976" y="1435608"/>
            <a:ext cx="64008" cy="1179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62856" y="1563624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Delivery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4562856" y="1883664"/>
            <a:ext cx="31638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36B7D"/>
                </a:solidFill>
              </a:rPr>
              <a:t>P95/P99 time from publication to vendor durable checkpoint.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8147304" y="1435608"/>
            <a:ext cx="3493008" cy="1179576"/>
          </a:xfrm>
          <a:prstGeom prst="roundRect">
            <a:avLst>
              <a:gd name="adj" fmla="val 387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47304" y="1435608"/>
            <a:ext cx="64008" cy="1179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30184" y="1563624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Correctness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8330184" y="1883664"/>
            <a:ext cx="31638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36B7D"/>
                </a:solidFill>
              </a:rPr>
              <a:t>Duplicate rate, schema rejects, reconciliation variance.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612648" y="2944368"/>
            <a:ext cx="3493008" cy="1179576"/>
          </a:xfrm>
          <a:prstGeom prst="roundRect">
            <a:avLst>
              <a:gd name="adj" fmla="val 387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" y="2944368"/>
            <a:ext cx="64008" cy="1179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3072384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Availability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795528" y="3392424"/>
            <a:ext cx="31638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36B7D"/>
                </a:solidFill>
              </a:rPr>
              <a:t>Time vendor can consume within agreed service window.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4379976" y="2944368"/>
            <a:ext cx="3493008" cy="1179576"/>
          </a:xfrm>
          <a:prstGeom prst="roundRect">
            <a:avLst>
              <a:gd name="adj" fmla="val 387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79976" y="2944368"/>
            <a:ext cx="64008" cy="1179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62856" y="3072384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Recovery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4562856" y="3392424"/>
            <a:ext cx="31638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36B7D"/>
                </a:solidFill>
              </a:rPr>
              <a:t>Time to drain backlog, replay, and restore normal processing.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8147304" y="2944368"/>
            <a:ext cx="3493008" cy="1179576"/>
          </a:xfrm>
          <a:prstGeom prst="roundRect">
            <a:avLst>
              <a:gd name="adj" fmla="val 387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47304" y="2944368"/>
            <a:ext cx="64008" cy="1179576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30184" y="3072384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Security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8330184" y="3392424"/>
            <a:ext cx="31638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536B7D"/>
                </a:solidFill>
              </a:rPr>
              <a:t>Auth failures, denied access, credential expiry, anomalous volume.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640080" y="4617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102A43"/>
                </a:solidFill>
              </a:rPr>
              <a:t>Single correlation chain</a:t>
            </a:r>
            <a:endParaRPr lang="en-US" sz="1230" dirty="0"/>
          </a:p>
        </p:txBody>
      </p:sp>
      <p:sp>
        <p:nvSpPr>
          <p:cNvPr id="29" name="Shape 27"/>
          <p:cNvSpPr/>
          <p:nvPr/>
        </p:nvSpPr>
        <p:spPr>
          <a:xfrm>
            <a:off x="2331720" y="4754880"/>
            <a:ext cx="8001000" cy="0"/>
          </a:xfrm>
          <a:prstGeom prst="line">
            <a:avLst/>
          </a:prstGeom>
          <a:noFill/>
          <a:ln w="38100">
            <a:solidFill>
              <a:srgbClr val="83C7D2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286000" y="4517136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798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0" y="4654296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798B5"/>
                </a:solidFill>
              </a:rPr>
              <a:t>1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956816" y="50566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536B7D"/>
                </a:solidFill>
              </a:rPr>
              <a:t>source commit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3886200" y="4517136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798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86200" y="4654296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798B5"/>
                </a:solidFill>
              </a:rPr>
              <a:t>2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557016" y="50566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536B7D"/>
                </a:solidFill>
              </a:rPr>
              <a:t>event ID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5486400" y="4517136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798B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0" y="4654296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798B5"/>
                </a:solidFill>
              </a:rPr>
              <a:t>3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157216" y="50566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536B7D"/>
                </a:solidFill>
              </a:rPr>
              <a:t>Kafka offset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7086600" y="4517136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798B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86600" y="4654296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798B5"/>
                </a:solidFill>
              </a:rPr>
              <a:t>4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757416" y="50566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536B7D"/>
                </a:solidFill>
              </a:rPr>
              <a:t>vendor receipt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8686800" y="4517136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798B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86800" y="4654296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798B5"/>
                </a:solidFill>
              </a:rPr>
              <a:t>5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8357616" y="50566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536B7D"/>
                </a:solidFill>
              </a:rPr>
              <a:t>AI workflow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10287000" y="4517136"/>
            <a:ext cx="438912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798B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287000" y="4654296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798B5"/>
                </a:solidFill>
              </a:rPr>
              <a:t>6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9957816" y="50566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536B7D"/>
                </a:solidFill>
              </a:rPr>
              <a:t>result event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585216" y="5541264"/>
            <a:ext cx="11018520" cy="429768"/>
          </a:xfrm>
          <a:prstGeom prst="roundRect">
            <a:avLst>
              <a:gd name="adj" fmla="val 8511"/>
            </a:avLst>
          </a:prstGeom>
          <a:solidFill>
            <a:srgbClr val="E4F6F8"/>
          </a:solidFill>
          <a:ln w="10160">
            <a:solidFill>
              <a:srgbClr val="B7E3E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85216" y="5541264"/>
            <a:ext cx="64008" cy="42976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9808" y="565099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24515A"/>
                </a:solidFill>
              </a:rPr>
              <a:t>Alert on business-time lag and projected retention breach, not only consumer lag count.</a:t>
            </a:r>
            <a:endParaRPr lang="en-US" sz="9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4688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MSK product offering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8813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36B7D"/>
                </a:solidFill>
              </a:rPr>
              <a:t>The product owner offers standardized capabilities with clear boundaries, automation, support, and cost.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594360" y="1399032"/>
            <a:ext cx="2551176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99032"/>
            <a:ext cx="64008" cy="1627632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27048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Topic product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777240" y="1847088"/>
            <a:ext cx="22219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36B7D"/>
                </a:solidFill>
              </a:rPr>
              <a:t>Naming, partitioning, retention, compaction, quotas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2706624" y="1517904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A0AE"/>
                </a:solidFill>
              </a:rPr>
              <a:t>01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374136" y="1399032"/>
            <a:ext cx="2551176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74136" y="1399032"/>
            <a:ext cx="64008" cy="16276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7016" y="1527048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Delta ingestion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3557016" y="1847088"/>
            <a:ext cx="22219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36B7D"/>
                </a:solidFill>
              </a:rPr>
              <a:t>Outbox/CDC/API publisher onboarding and validation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5486400" y="1517904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A0AE"/>
                </a:solidFill>
              </a:rPr>
              <a:t>02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6153912" y="1399032"/>
            <a:ext cx="2551176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53912" y="1399032"/>
            <a:ext cx="64008" cy="16276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6792" y="1527048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Vendor subscription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6336792" y="1847088"/>
            <a:ext cx="22219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36B7D"/>
                </a:solidFill>
              </a:rPr>
              <a:t>Consumer group, topic permissions, network path, identity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8266176" y="1517904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A0AE"/>
                </a:solidFill>
              </a:rPr>
              <a:t>03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8933688" y="1399032"/>
            <a:ext cx="2551176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33688" y="1399032"/>
            <a:ext cx="64008" cy="16276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16568" y="1527048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Projection / relay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9116568" y="1847088"/>
            <a:ext cx="22219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36B7D"/>
                </a:solidFill>
              </a:rPr>
              <a:t>Filtering, minimization, protocol translation, egress control</a:t>
            </a:r>
            <a:endParaRPr lang="en-US" sz="940" dirty="0"/>
          </a:p>
        </p:txBody>
      </p:sp>
      <p:sp>
        <p:nvSpPr>
          <p:cNvPr id="23" name="Text 21"/>
          <p:cNvSpPr/>
          <p:nvPr/>
        </p:nvSpPr>
        <p:spPr>
          <a:xfrm>
            <a:off x="11045952" y="1517904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A0AE"/>
                </a:solidFill>
              </a:rPr>
              <a:t>04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594360" y="3392424"/>
            <a:ext cx="2551176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3392424"/>
            <a:ext cx="64008" cy="16276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520440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Contract service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777240" y="3840480"/>
            <a:ext cx="22219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36B7D"/>
                </a:solidFill>
              </a:rPr>
              <a:t>Schema registry/gate, compatibility, sample events, tests</a:t>
            </a:r>
            <a:endParaRPr lang="en-US" sz="940" dirty="0"/>
          </a:p>
        </p:txBody>
      </p:sp>
      <p:sp>
        <p:nvSpPr>
          <p:cNvPr id="28" name="Text 26"/>
          <p:cNvSpPr/>
          <p:nvPr/>
        </p:nvSpPr>
        <p:spPr>
          <a:xfrm>
            <a:off x="2706624" y="351129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A0AE"/>
                </a:solidFill>
              </a:rPr>
              <a:t>05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374136" y="3392424"/>
            <a:ext cx="2551176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74136" y="3392424"/>
            <a:ext cx="64008" cy="1627632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57016" y="3520440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Reliability kit</a:t>
            </a:r>
            <a:endParaRPr lang="en-US" sz="1320" dirty="0"/>
          </a:p>
        </p:txBody>
      </p:sp>
      <p:sp>
        <p:nvSpPr>
          <p:cNvPr id="32" name="Text 30"/>
          <p:cNvSpPr/>
          <p:nvPr/>
        </p:nvSpPr>
        <p:spPr>
          <a:xfrm>
            <a:off x="3557016" y="3840480"/>
            <a:ext cx="22219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36B7D"/>
                </a:solidFill>
              </a:rPr>
              <a:t>Retry, quarantine, reconciliation, replay runbook</a:t>
            </a:r>
            <a:endParaRPr lang="en-US" sz="940" dirty="0"/>
          </a:p>
        </p:txBody>
      </p:sp>
      <p:sp>
        <p:nvSpPr>
          <p:cNvPr id="33" name="Text 31"/>
          <p:cNvSpPr/>
          <p:nvPr/>
        </p:nvSpPr>
        <p:spPr>
          <a:xfrm>
            <a:off x="5486400" y="351129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A0AE"/>
                </a:solidFill>
              </a:rPr>
              <a:t>06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153912" y="3392424"/>
            <a:ext cx="2551176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53912" y="3392424"/>
            <a:ext cx="64008" cy="16276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36792" y="3520440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Observability pack</a:t>
            </a:r>
            <a:endParaRPr lang="en-US" sz="1320" dirty="0"/>
          </a:p>
        </p:txBody>
      </p:sp>
      <p:sp>
        <p:nvSpPr>
          <p:cNvPr id="37" name="Text 35"/>
          <p:cNvSpPr/>
          <p:nvPr/>
        </p:nvSpPr>
        <p:spPr>
          <a:xfrm>
            <a:off x="6336792" y="3840480"/>
            <a:ext cx="22219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36B7D"/>
                </a:solidFill>
              </a:rPr>
              <a:t>Dashboards, correlation, lag/freshness SLO, alerts</a:t>
            </a:r>
            <a:endParaRPr lang="en-US" sz="940" dirty="0"/>
          </a:p>
        </p:txBody>
      </p:sp>
      <p:sp>
        <p:nvSpPr>
          <p:cNvPr id="38" name="Text 36"/>
          <p:cNvSpPr/>
          <p:nvPr/>
        </p:nvSpPr>
        <p:spPr>
          <a:xfrm>
            <a:off x="8266176" y="351129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A0AE"/>
                </a:solidFill>
              </a:rPr>
              <a:t>07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8933688" y="3392424"/>
            <a:ext cx="2551176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933688" y="3392424"/>
            <a:ext cx="64008" cy="16276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16568" y="3520440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Lifecycle service</a:t>
            </a:r>
            <a:endParaRPr lang="en-US" sz="1320" dirty="0"/>
          </a:p>
        </p:txBody>
      </p:sp>
      <p:sp>
        <p:nvSpPr>
          <p:cNvPr id="42" name="Text 40"/>
          <p:cNvSpPr/>
          <p:nvPr/>
        </p:nvSpPr>
        <p:spPr>
          <a:xfrm>
            <a:off x="9116568" y="3840480"/>
            <a:ext cx="22219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536B7D"/>
                </a:solidFill>
              </a:rPr>
              <a:t>IaC, approvals, attestation, rotation, offboarding, chargeback</a:t>
            </a:r>
            <a:endParaRPr lang="en-US" sz="940" dirty="0"/>
          </a:p>
        </p:txBody>
      </p:sp>
      <p:sp>
        <p:nvSpPr>
          <p:cNvPr id="43" name="Text 41"/>
          <p:cNvSpPr/>
          <p:nvPr/>
        </p:nvSpPr>
        <p:spPr>
          <a:xfrm>
            <a:off x="11045952" y="351129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8AA0AE"/>
                </a:solidFill>
              </a:rPr>
              <a:t>08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585216" y="5495544"/>
            <a:ext cx="11018520" cy="429768"/>
          </a:xfrm>
          <a:prstGeom prst="roundRect">
            <a:avLst>
              <a:gd name="adj" fmla="val 8511"/>
            </a:avLst>
          </a:prstGeom>
          <a:solidFill>
            <a:srgbClr val="E4F6F8"/>
          </a:solidFill>
          <a:ln w="10160">
            <a:solidFill>
              <a:srgbClr val="B7E3E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5216" y="5495544"/>
            <a:ext cx="64008" cy="42976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9808" y="5605272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24515A"/>
                </a:solidFill>
              </a:rPr>
              <a:t>Every catalog item has: product owner, supported patterns, automated provisioning, security controls, SLO/support tier, usage meter, and deprecation policy.</a:t>
            </a:r>
            <a:endParaRPr lang="en-US" sz="9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4688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Responsibility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8813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36B7D"/>
                </a:solidFill>
              </a:rPr>
              <a:t>Name one end-to-end integration product owner; distribute implementation duties without fragmenting accountability.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2743200" cy="438912"/>
          </a:xfrm>
          <a:prstGeom prst="rect">
            <a:avLst/>
          </a:prstGeom>
          <a:solidFill>
            <a:srgbClr val="1E29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2648" y="150876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Capability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310128" y="1371600"/>
            <a:ext cx="1920240" cy="438912"/>
          </a:xfrm>
          <a:prstGeom prst="rect">
            <a:avLst/>
          </a:prstGeom>
          <a:solidFill>
            <a:srgbClr val="087F8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55848" y="150876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Domain team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230368" y="1371600"/>
            <a:ext cx="1920240" cy="438912"/>
          </a:xfrm>
          <a:prstGeom prst="rect">
            <a:avLst/>
          </a:prstGeom>
          <a:solidFill>
            <a:srgbClr val="087F8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76088" y="150876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MSK platform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150608" y="1371600"/>
            <a:ext cx="2148840" cy="438912"/>
          </a:xfrm>
          <a:prstGeom prst="rect">
            <a:avLst/>
          </a:prstGeom>
          <a:solidFill>
            <a:srgbClr val="087F8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96328" y="1508760"/>
            <a:ext cx="2057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Integration product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299448" y="1371600"/>
            <a:ext cx="2057400" cy="438912"/>
          </a:xfrm>
          <a:prstGeom prst="rect">
            <a:avLst/>
          </a:prstGeom>
          <a:solidFill>
            <a:srgbClr val="087F8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45168" y="1508760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Cohere / vendor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6928" y="1810512"/>
            <a:ext cx="274320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1965960"/>
            <a:ext cx="2633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02A43"/>
                </a:solidFill>
              </a:rPr>
              <a:t>Event meaning &amp; source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3310128" y="1810512"/>
            <a:ext cx="192024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64992" y="1965960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536B7D"/>
                </a:solidFill>
              </a:rPr>
              <a:t>A/R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5230368" y="1810512"/>
            <a:ext cx="192024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85232" y="1965960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36B7D"/>
                </a:solidFill>
              </a:rPr>
              <a:t>C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7150608" y="1810512"/>
            <a:ext cx="214884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05472" y="1965960"/>
            <a:ext cx="2039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36B7D"/>
                </a:solidFill>
              </a:rPr>
              <a:t>C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9299448" y="1810512"/>
            <a:ext cx="205740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54312" y="1965960"/>
            <a:ext cx="1947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36B7D"/>
                </a:solidFill>
              </a:rPr>
              <a:t>I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566928" y="2267712"/>
            <a:ext cx="27432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2423160"/>
            <a:ext cx="2633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02A43"/>
                </a:solidFill>
              </a:rPr>
              <a:t>Capture &amp; publication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3310128" y="2267712"/>
            <a:ext cx="19202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2423160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36B7D"/>
                </a:solidFill>
              </a:rPr>
              <a:t>R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5230368" y="2267712"/>
            <a:ext cx="19202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85232" y="2423160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36B7D"/>
                </a:solidFill>
              </a:rPr>
              <a:t>C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7150608" y="2267712"/>
            <a:ext cx="21488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05472" y="2423160"/>
            <a:ext cx="2039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536B7D"/>
                </a:solidFill>
              </a:rPr>
              <a:t>A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9299448" y="2267712"/>
            <a:ext cx="20574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54312" y="2423160"/>
            <a:ext cx="1947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36B7D"/>
                </a:solidFill>
              </a:rPr>
              <a:t>I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566928" y="2724912"/>
            <a:ext cx="274320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" y="2880360"/>
            <a:ext cx="2633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02A43"/>
                </a:solidFill>
              </a:rPr>
              <a:t>Topics / broker / quotas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3310128" y="2724912"/>
            <a:ext cx="192024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64992" y="2880360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36B7D"/>
                </a:solidFill>
              </a:rPr>
              <a:t>C</a:t>
            </a:r>
            <a:endParaRPr lang="en-US" sz="830" dirty="0"/>
          </a:p>
        </p:txBody>
      </p:sp>
      <p:sp>
        <p:nvSpPr>
          <p:cNvPr id="38" name="Shape 36"/>
          <p:cNvSpPr/>
          <p:nvPr/>
        </p:nvSpPr>
        <p:spPr>
          <a:xfrm>
            <a:off x="5230368" y="2724912"/>
            <a:ext cx="192024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85232" y="2880360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536B7D"/>
                </a:solidFill>
              </a:rPr>
              <a:t>A/R</a:t>
            </a:r>
            <a:endParaRPr lang="en-US" sz="830" dirty="0"/>
          </a:p>
        </p:txBody>
      </p:sp>
      <p:sp>
        <p:nvSpPr>
          <p:cNvPr id="40" name="Shape 38"/>
          <p:cNvSpPr/>
          <p:nvPr/>
        </p:nvSpPr>
        <p:spPr>
          <a:xfrm>
            <a:off x="7150608" y="2724912"/>
            <a:ext cx="214884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05472" y="2880360"/>
            <a:ext cx="2039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36B7D"/>
                </a:solidFill>
              </a:rPr>
              <a:t>C</a:t>
            </a:r>
            <a:endParaRPr lang="en-US" sz="830" dirty="0"/>
          </a:p>
        </p:txBody>
      </p:sp>
      <p:sp>
        <p:nvSpPr>
          <p:cNvPr id="42" name="Shape 40"/>
          <p:cNvSpPr/>
          <p:nvPr/>
        </p:nvSpPr>
        <p:spPr>
          <a:xfrm>
            <a:off x="9299448" y="2724912"/>
            <a:ext cx="205740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54312" y="2880360"/>
            <a:ext cx="1947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36B7D"/>
                </a:solidFill>
              </a:rPr>
              <a:t>I</a:t>
            </a:r>
            <a:endParaRPr lang="en-US" sz="830" dirty="0"/>
          </a:p>
        </p:txBody>
      </p:sp>
      <p:sp>
        <p:nvSpPr>
          <p:cNvPr id="44" name="Shape 42"/>
          <p:cNvSpPr/>
          <p:nvPr/>
        </p:nvSpPr>
        <p:spPr>
          <a:xfrm>
            <a:off x="566928" y="3182112"/>
            <a:ext cx="27432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" y="3337560"/>
            <a:ext cx="2633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02A43"/>
                </a:solidFill>
              </a:rPr>
              <a:t>Projection / mapping</a:t>
            </a:r>
            <a:endParaRPr lang="en-US" sz="830" dirty="0"/>
          </a:p>
        </p:txBody>
      </p:sp>
      <p:sp>
        <p:nvSpPr>
          <p:cNvPr id="46" name="Shape 44"/>
          <p:cNvSpPr/>
          <p:nvPr/>
        </p:nvSpPr>
        <p:spPr>
          <a:xfrm>
            <a:off x="3310128" y="3182112"/>
            <a:ext cx="19202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64992" y="3337560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36B7D"/>
                </a:solidFill>
              </a:rPr>
              <a:t>C</a:t>
            </a:r>
            <a:endParaRPr lang="en-US" sz="830" dirty="0"/>
          </a:p>
        </p:txBody>
      </p:sp>
      <p:sp>
        <p:nvSpPr>
          <p:cNvPr id="48" name="Shape 46"/>
          <p:cNvSpPr/>
          <p:nvPr/>
        </p:nvSpPr>
        <p:spPr>
          <a:xfrm>
            <a:off x="5230368" y="3182112"/>
            <a:ext cx="19202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85232" y="3337560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36B7D"/>
                </a:solidFill>
              </a:rPr>
              <a:t>C</a:t>
            </a:r>
            <a:endParaRPr lang="en-US" sz="830" dirty="0"/>
          </a:p>
        </p:txBody>
      </p:sp>
      <p:sp>
        <p:nvSpPr>
          <p:cNvPr id="50" name="Shape 48"/>
          <p:cNvSpPr/>
          <p:nvPr/>
        </p:nvSpPr>
        <p:spPr>
          <a:xfrm>
            <a:off x="7150608" y="3182112"/>
            <a:ext cx="21488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05472" y="3337560"/>
            <a:ext cx="2039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536B7D"/>
                </a:solidFill>
              </a:rPr>
              <a:t>A/R</a:t>
            </a:r>
            <a:endParaRPr lang="en-US" sz="830" dirty="0"/>
          </a:p>
        </p:txBody>
      </p:sp>
      <p:sp>
        <p:nvSpPr>
          <p:cNvPr id="52" name="Shape 50"/>
          <p:cNvSpPr/>
          <p:nvPr/>
        </p:nvSpPr>
        <p:spPr>
          <a:xfrm>
            <a:off x="9299448" y="3182112"/>
            <a:ext cx="20574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54312" y="3337560"/>
            <a:ext cx="1947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36B7D"/>
                </a:solidFill>
              </a:rPr>
              <a:t>C</a:t>
            </a:r>
            <a:endParaRPr lang="en-US" sz="830" dirty="0"/>
          </a:p>
        </p:txBody>
      </p:sp>
      <p:sp>
        <p:nvSpPr>
          <p:cNvPr id="54" name="Shape 52"/>
          <p:cNvSpPr/>
          <p:nvPr/>
        </p:nvSpPr>
        <p:spPr>
          <a:xfrm>
            <a:off x="566928" y="3639312"/>
            <a:ext cx="274320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" y="3794760"/>
            <a:ext cx="2633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02A43"/>
                </a:solidFill>
              </a:rPr>
              <a:t>Vendor client &amp; AI workflow</a:t>
            </a:r>
            <a:endParaRPr lang="en-US" sz="830" dirty="0"/>
          </a:p>
        </p:txBody>
      </p:sp>
      <p:sp>
        <p:nvSpPr>
          <p:cNvPr id="56" name="Shape 54"/>
          <p:cNvSpPr/>
          <p:nvPr/>
        </p:nvSpPr>
        <p:spPr>
          <a:xfrm>
            <a:off x="3310128" y="3639312"/>
            <a:ext cx="192024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64992" y="3794760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36B7D"/>
                </a:solidFill>
              </a:rPr>
              <a:t>I</a:t>
            </a:r>
            <a:endParaRPr lang="en-US" sz="830" dirty="0"/>
          </a:p>
        </p:txBody>
      </p:sp>
      <p:sp>
        <p:nvSpPr>
          <p:cNvPr id="58" name="Shape 56"/>
          <p:cNvSpPr/>
          <p:nvPr/>
        </p:nvSpPr>
        <p:spPr>
          <a:xfrm>
            <a:off x="5230368" y="3639312"/>
            <a:ext cx="192024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85232" y="3794760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36B7D"/>
                </a:solidFill>
              </a:rPr>
              <a:t>C</a:t>
            </a:r>
            <a:endParaRPr lang="en-US" sz="830" dirty="0"/>
          </a:p>
        </p:txBody>
      </p:sp>
      <p:sp>
        <p:nvSpPr>
          <p:cNvPr id="60" name="Shape 58"/>
          <p:cNvSpPr/>
          <p:nvPr/>
        </p:nvSpPr>
        <p:spPr>
          <a:xfrm>
            <a:off x="7150608" y="3639312"/>
            <a:ext cx="214884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05472" y="3794760"/>
            <a:ext cx="2039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36B7D"/>
                </a:solidFill>
              </a:rPr>
              <a:t>C</a:t>
            </a:r>
            <a:endParaRPr lang="en-US" sz="830" dirty="0"/>
          </a:p>
        </p:txBody>
      </p:sp>
      <p:sp>
        <p:nvSpPr>
          <p:cNvPr id="62" name="Shape 60"/>
          <p:cNvSpPr/>
          <p:nvPr/>
        </p:nvSpPr>
        <p:spPr>
          <a:xfrm>
            <a:off x="9299448" y="3639312"/>
            <a:ext cx="205740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354312" y="3794760"/>
            <a:ext cx="1947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536B7D"/>
                </a:solidFill>
              </a:rPr>
              <a:t>A/R</a:t>
            </a:r>
            <a:endParaRPr lang="en-US" sz="830" dirty="0"/>
          </a:p>
        </p:txBody>
      </p:sp>
      <p:sp>
        <p:nvSpPr>
          <p:cNvPr id="64" name="Shape 62"/>
          <p:cNvSpPr/>
          <p:nvPr/>
        </p:nvSpPr>
        <p:spPr>
          <a:xfrm>
            <a:off x="566928" y="4096512"/>
            <a:ext cx="27432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1792" y="4251960"/>
            <a:ext cx="2633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02A43"/>
                </a:solidFill>
              </a:rPr>
              <a:t>End-to-end SLO</a:t>
            </a:r>
            <a:endParaRPr lang="en-US" sz="830" dirty="0"/>
          </a:p>
        </p:txBody>
      </p:sp>
      <p:sp>
        <p:nvSpPr>
          <p:cNvPr id="66" name="Shape 64"/>
          <p:cNvSpPr/>
          <p:nvPr/>
        </p:nvSpPr>
        <p:spPr>
          <a:xfrm>
            <a:off x="3310128" y="4096512"/>
            <a:ext cx="19202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364992" y="4251960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36B7D"/>
                </a:solidFill>
              </a:rPr>
              <a:t>C</a:t>
            </a:r>
            <a:endParaRPr lang="en-US" sz="830" dirty="0"/>
          </a:p>
        </p:txBody>
      </p:sp>
      <p:sp>
        <p:nvSpPr>
          <p:cNvPr id="68" name="Shape 66"/>
          <p:cNvSpPr/>
          <p:nvPr/>
        </p:nvSpPr>
        <p:spPr>
          <a:xfrm>
            <a:off x="5230368" y="4096512"/>
            <a:ext cx="19202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285232" y="4251960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36B7D"/>
                </a:solidFill>
              </a:rPr>
              <a:t>R</a:t>
            </a:r>
            <a:endParaRPr lang="en-US" sz="830" dirty="0"/>
          </a:p>
        </p:txBody>
      </p:sp>
      <p:sp>
        <p:nvSpPr>
          <p:cNvPr id="70" name="Shape 68"/>
          <p:cNvSpPr/>
          <p:nvPr/>
        </p:nvSpPr>
        <p:spPr>
          <a:xfrm>
            <a:off x="7150608" y="4096512"/>
            <a:ext cx="21488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05472" y="4251960"/>
            <a:ext cx="2039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536B7D"/>
                </a:solidFill>
              </a:rPr>
              <a:t>A</a:t>
            </a:r>
            <a:endParaRPr lang="en-US" sz="830" dirty="0"/>
          </a:p>
        </p:txBody>
      </p:sp>
      <p:sp>
        <p:nvSpPr>
          <p:cNvPr id="72" name="Shape 70"/>
          <p:cNvSpPr/>
          <p:nvPr/>
        </p:nvSpPr>
        <p:spPr>
          <a:xfrm>
            <a:off x="9299448" y="4096512"/>
            <a:ext cx="20574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354312" y="4251960"/>
            <a:ext cx="1947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36B7D"/>
                </a:solidFill>
              </a:rPr>
              <a:t>R</a:t>
            </a:r>
            <a:endParaRPr lang="en-US" sz="830" dirty="0"/>
          </a:p>
        </p:txBody>
      </p:sp>
      <p:sp>
        <p:nvSpPr>
          <p:cNvPr id="74" name="Shape 72"/>
          <p:cNvSpPr/>
          <p:nvPr/>
        </p:nvSpPr>
        <p:spPr>
          <a:xfrm>
            <a:off x="566928" y="4553712"/>
            <a:ext cx="274320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1792" y="4709160"/>
            <a:ext cx="2633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02A43"/>
                </a:solidFill>
              </a:rPr>
              <a:t>Reconciliation &amp; replay</a:t>
            </a:r>
            <a:endParaRPr lang="en-US" sz="830" dirty="0"/>
          </a:p>
        </p:txBody>
      </p:sp>
      <p:sp>
        <p:nvSpPr>
          <p:cNvPr id="76" name="Shape 74"/>
          <p:cNvSpPr/>
          <p:nvPr/>
        </p:nvSpPr>
        <p:spPr>
          <a:xfrm>
            <a:off x="3310128" y="4553712"/>
            <a:ext cx="192024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364992" y="4709160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36B7D"/>
                </a:solidFill>
              </a:rPr>
              <a:t>R</a:t>
            </a:r>
            <a:endParaRPr lang="en-US" sz="830" dirty="0"/>
          </a:p>
        </p:txBody>
      </p:sp>
      <p:sp>
        <p:nvSpPr>
          <p:cNvPr id="78" name="Shape 76"/>
          <p:cNvSpPr/>
          <p:nvPr/>
        </p:nvSpPr>
        <p:spPr>
          <a:xfrm>
            <a:off x="5230368" y="4553712"/>
            <a:ext cx="192024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285232" y="4709160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36B7D"/>
                </a:solidFill>
              </a:rPr>
              <a:t>R</a:t>
            </a:r>
            <a:endParaRPr lang="en-US" sz="830" dirty="0"/>
          </a:p>
        </p:txBody>
      </p:sp>
      <p:sp>
        <p:nvSpPr>
          <p:cNvPr id="80" name="Shape 78"/>
          <p:cNvSpPr/>
          <p:nvPr/>
        </p:nvSpPr>
        <p:spPr>
          <a:xfrm>
            <a:off x="7150608" y="4553712"/>
            <a:ext cx="214884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205472" y="4709160"/>
            <a:ext cx="2039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536B7D"/>
                </a:solidFill>
              </a:rPr>
              <a:t>A</a:t>
            </a:r>
            <a:endParaRPr lang="en-US" sz="830" dirty="0"/>
          </a:p>
        </p:txBody>
      </p:sp>
      <p:sp>
        <p:nvSpPr>
          <p:cNvPr id="82" name="Shape 80"/>
          <p:cNvSpPr/>
          <p:nvPr/>
        </p:nvSpPr>
        <p:spPr>
          <a:xfrm>
            <a:off x="9299448" y="4553712"/>
            <a:ext cx="2057400" cy="457200"/>
          </a:xfrm>
          <a:prstGeom prst="rect">
            <a:avLst/>
          </a:prstGeom>
          <a:solidFill>
            <a:srgbClr val="EDF5F7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354312" y="4709160"/>
            <a:ext cx="1947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36B7D"/>
                </a:solidFill>
              </a:rPr>
              <a:t>C</a:t>
            </a:r>
            <a:endParaRPr lang="en-US" sz="830" dirty="0"/>
          </a:p>
        </p:txBody>
      </p:sp>
      <p:sp>
        <p:nvSpPr>
          <p:cNvPr id="84" name="Shape 82"/>
          <p:cNvSpPr/>
          <p:nvPr/>
        </p:nvSpPr>
        <p:spPr>
          <a:xfrm>
            <a:off x="566928" y="5010912"/>
            <a:ext cx="27432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21792" y="5166360"/>
            <a:ext cx="2633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02A43"/>
                </a:solidFill>
              </a:rPr>
              <a:t>Security / offboarding</a:t>
            </a:r>
            <a:endParaRPr lang="en-US" sz="830" dirty="0"/>
          </a:p>
        </p:txBody>
      </p:sp>
      <p:sp>
        <p:nvSpPr>
          <p:cNvPr id="86" name="Shape 84"/>
          <p:cNvSpPr/>
          <p:nvPr/>
        </p:nvSpPr>
        <p:spPr>
          <a:xfrm>
            <a:off x="3310128" y="5010912"/>
            <a:ext cx="19202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64992" y="5166360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36B7D"/>
                </a:solidFill>
              </a:rPr>
              <a:t>C</a:t>
            </a:r>
            <a:endParaRPr lang="en-US" sz="830" dirty="0"/>
          </a:p>
        </p:txBody>
      </p:sp>
      <p:sp>
        <p:nvSpPr>
          <p:cNvPr id="88" name="Shape 86"/>
          <p:cNvSpPr/>
          <p:nvPr/>
        </p:nvSpPr>
        <p:spPr>
          <a:xfrm>
            <a:off x="5230368" y="5010912"/>
            <a:ext cx="19202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285232" y="5166360"/>
            <a:ext cx="1810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36B7D"/>
                </a:solidFill>
              </a:rPr>
              <a:t>R</a:t>
            </a:r>
            <a:endParaRPr lang="en-US" sz="830" dirty="0"/>
          </a:p>
        </p:txBody>
      </p:sp>
      <p:sp>
        <p:nvSpPr>
          <p:cNvPr id="90" name="Shape 88"/>
          <p:cNvSpPr/>
          <p:nvPr/>
        </p:nvSpPr>
        <p:spPr>
          <a:xfrm>
            <a:off x="7150608" y="5010912"/>
            <a:ext cx="214884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205472" y="5166360"/>
            <a:ext cx="2039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536B7D"/>
                </a:solidFill>
              </a:rPr>
              <a:t>A</a:t>
            </a:r>
            <a:endParaRPr lang="en-US" sz="830" dirty="0"/>
          </a:p>
        </p:txBody>
      </p:sp>
      <p:sp>
        <p:nvSpPr>
          <p:cNvPr id="92" name="Shape 90"/>
          <p:cNvSpPr/>
          <p:nvPr/>
        </p:nvSpPr>
        <p:spPr>
          <a:xfrm>
            <a:off x="9299448" y="5010912"/>
            <a:ext cx="20574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D5E4E9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354312" y="5166360"/>
            <a:ext cx="1947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536B7D"/>
                </a:solidFill>
              </a:rPr>
              <a:t>R</a:t>
            </a:r>
            <a:endParaRPr lang="en-US" sz="830" dirty="0"/>
          </a:p>
        </p:txBody>
      </p:sp>
      <p:sp>
        <p:nvSpPr>
          <p:cNvPr id="94" name="Shape 92"/>
          <p:cNvSpPr/>
          <p:nvPr/>
        </p:nvSpPr>
        <p:spPr>
          <a:xfrm>
            <a:off x="585216" y="5641848"/>
            <a:ext cx="11018520" cy="429768"/>
          </a:xfrm>
          <a:prstGeom prst="roundRect">
            <a:avLst>
              <a:gd name="adj" fmla="val 8511"/>
            </a:avLst>
          </a:prstGeom>
          <a:solidFill>
            <a:srgbClr val="E4F6F8"/>
          </a:solidFill>
          <a:ln w="10160">
            <a:solidFill>
              <a:srgbClr val="B7E3E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85216" y="5641848"/>
            <a:ext cx="64008" cy="42976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49808" y="5751576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24515A"/>
                </a:solidFill>
              </a:rPr>
              <a:t>R = responsible, A = accountable, C = consulted, I = informed. Validate the model contractually with Cohere.</a:t>
            </a:r>
            <a:endParaRPr lang="en-US" sz="9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4688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Reusable vendor onboarding lifecycle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8813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36B7D"/>
                </a:solidFill>
              </a:rPr>
              <a:t>The same lifecycle supports Cohere Health and future vendors with different business use cases.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969264" y="1545336"/>
            <a:ext cx="548640" cy="5486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79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" y="1737360"/>
            <a:ext cx="548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98B5"/>
                </a:solidFill>
              </a:rPr>
              <a:t>01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1527048" y="1819656"/>
            <a:ext cx="621792" cy="0"/>
          </a:xfrm>
          <a:prstGeom prst="line">
            <a:avLst/>
          </a:prstGeom>
          <a:noFill/>
          <a:ln w="20320">
            <a:solidFill>
              <a:srgbClr val="91CBD4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484632" y="24231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02A43"/>
                </a:solidFill>
              </a:rPr>
              <a:t>Discover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484632" y="2816352"/>
            <a:ext cx="1508760" cy="1993392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3163824"/>
            <a:ext cx="12710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36B7D"/>
                </a:solidFill>
              </a:rPr>
              <a:t>Use case, purpose, data, vendor capability, contract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33472" y="1545336"/>
            <a:ext cx="548640" cy="5486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798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33472" y="1737360"/>
            <a:ext cx="548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98B5"/>
                </a:solidFill>
              </a:rPr>
              <a:t>02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191256" y="1819656"/>
            <a:ext cx="621792" cy="0"/>
          </a:xfrm>
          <a:prstGeom prst="line">
            <a:avLst/>
          </a:prstGeom>
          <a:noFill/>
          <a:ln w="20320">
            <a:solidFill>
              <a:srgbClr val="91CBD4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148840" y="24231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02A43"/>
                </a:solidFill>
              </a:rPr>
              <a:t>Classify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2148840" y="2816352"/>
            <a:ext cx="1508760" cy="1993392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67712" y="3163824"/>
            <a:ext cx="12710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36B7D"/>
                </a:solidFill>
              </a:rPr>
              <a:t>Risk, PHI, architecture option, support tier, cost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97680" y="1545336"/>
            <a:ext cx="548640" cy="5486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798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737360"/>
            <a:ext cx="548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98B5"/>
                </a:solidFill>
              </a:rPr>
              <a:t>03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855464" y="1819656"/>
            <a:ext cx="621792" cy="0"/>
          </a:xfrm>
          <a:prstGeom prst="line">
            <a:avLst/>
          </a:prstGeom>
          <a:noFill/>
          <a:ln w="20320">
            <a:solidFill>
              <a:srgbClr val="91CBD4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813048" y="24231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02A43"/>
                </a:solidFill>
              </a:rPr>
              <a:t>Design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3813048" y="2816352"/>
            <a:ext cx="1508760" cy="1993392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3163824"/>
            <a:ext cx="12710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36B7D"/>
                </a:solidFill>
              </a:rPr>
              <a:t>Events, key, topics, identity, network, SLO, recovery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961888" y="1545336"/>
            <a:ext cx="548640" cy="5486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798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61888" y="1737360"/>
            <a:ext cx="548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98B5"/>
                </a:solidFill>
              </a:rPr>
              <a:t>04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519672" y="1819656"/>
            <a:ext cx="621792" cy="0"/>
          </a:xfrm>
          <a:prstGeom prst="line">
            <a:avLst/>
          </a:prstGeom>
          <a:noFill/>
          <a:ln w="20320">
            <a:solidFill>
              <a:srgbClr val="91CBD4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5477256" y="24231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02A43"/>
                </a:solidFill>
              </a:rPr>
              <a:t>Provision</a:t>
            </a:r>
            <a:endParaRPr lang="en-US" sz="1130" dirty="0"/>
          </a:p>
        </p:txBody>
      </p:sp>
      <p:sp>
        <p:nvSpPr>
          <p:cNvPr id="26" name="Shape 24"/>
          <p:cNvSpPr/>
          <p:nvPr/>
        </p:nvSpPr>
        <p:spPr>
          <a:xfrm>
            <a:off x="5477256" y="2816352"/>
            <a:ext cx="1508760" cy="1993392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96128" y="3163824"/>
            <a:ext cx="12710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36B7D"/>
                </a:solidFill>
              </a:rPr>
              <a:t>IaC, schemas, roles, connection, dashboards, runbooks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626096" y="1545336"/>
            <a:ext cx="548640" cy="5486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798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26096" y="1737360"/>
            <a:ext cx="548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98B5"/>
                </a:solidFill>
              </a:rPr>
              <a:t>05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8183880" y="1819656"/>
            <a:ext cx="621792" cy="0"/>
          </a:xfrm>
          <a:prstGeom prst="line">
            <a:avLst/>
          </a:prstGeom>
          <a:noFill/>
          <a:ln w="20320">
            <a:solidFill>
              <a:srgbClr val="91CBD4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7141464" y="24231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02A43"/>
                </a:solidFill>
              </a:rPr>
              <a:t>Certify</a:t>
            </a:r>
            <a:endParaRPr lang="en-US" sz="1130" dirty="0"/>
          </a:p>
        </p:txBody>
      </p:sp>
      <p:sp>
        <p:nvSpPr>
          <p:cNvPr id="32" name="Shape 30"/>
          <p:cNvSpPr/>
          <p:nvPr/>
        </p:nvSpPr>
        <p:spPr>
          <a:xfrm>
            <a:off x="7141464" y="2816352"/>
            <a:ext cx="1508760" cy="1993392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60336" y="3163824"/>
            <a:ext cx="12710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36B7D"/>
                </a:solidFill>
              </a:rPr>
              <a:t>Contract, load, duplicate, outage, replay, security tests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290304" y="1545336"/>
            <a:ext cx="548640" cy="5486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798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90304" y="1737360"/>
            <a:ext cx="548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98B5"/>
                </a:solidFill>
              </a:rPr>
              <a:t>06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9848088" y="1819656"/>
            <a:ext cx="621792" cy="0"/>
          </a:xfrm>
          <a:prstGeom prst="line">
            <a:avLst/>
          </a:prstGeom>
          <a:noFill/>
          <a:ln w="20320">
            <a:solidFill>
              <a:srgbClr val="91CBD4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8805672" y="24231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02A43"/>
                </a:solidFill>
              </a:rPr>
              <a:t>Operate</a:t>
            </a:r>
            <a:endParaRPr lang="en-US" sz="1130" dirty="0"/>
          </a:p>
        </p:txBody>
      </p:sp>
      <p:sp>
        <p:nvSpPr>
          <p:cNvPr id="38" name="Shape 36"/>
          <p:cNvSpPr/>
          <p:nvPr/>
        </p:nvSpPr>
        <p:spPr>
          <a:xfrm>
            <a:off x="8805672" y="2816352"/>
            <a:ext cx="1508760" cy="1993392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24544" y="3163824"/>
            <a:ext cx="12710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36B7D"/>
                </a:solidFill>
              </a:rPr>
              <a:t>Release, monitor, reconcile, attest, rotate, optimize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0954512" y="1545336"/>
            <a:ext cx="548640" cy="5486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B4231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954512" y="1737360"/>
            <a:ext cx="548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B42318"/>
                </a:solidFill>
              </a:rPr>
              <a:t>07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0469880" y="24231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02A43"/>
                </a:solidFill>
              </a:rPr>
              <a:t>Offboard</a:t>
            </a:r>
            <a:endParaRPr lang="en-US" sz="1130" dirty="0"/>
          </a:p>
        </p:txBody>
      </p:sp>
      <p:sp>
        <p:nvSpPr>
          <p:cNvPr id="43" name="Shape 41"/>
          <p:cNvSpPr/>
          <p:nvPr/>
        </p:nvSpPr>
        <p:spPr>
          <a:xfrm>
            <a:off x="10469880" y="2816352"/>
            <a:ext cx="1508760" cy="1993392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588752" y="3163824"/>
            <a:ext cx="12710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36B7D"/>
                </a:solidFill>
              </a:rPr>
              <a:t>Stop producer/consumer, revoke, archive/delete, evidence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85216" y="5376672"/>
            <a:ext cx="11018520" cy="429768"/>
          </a:xfrm>
          <a:prstGeom prst="roundRect">
            <a:avLst>
              <a:gd name="adj" fmla="val 8511"/>
            </a:avLst>
          </a:prstGeom>
          <a:solidFill>
            <a:srgbClr val="E4F6F8"/>
          </a:solidFill>
          <a:ln w="10160">
            <a:solidFill>
              <a:srgbClr val="B7E3E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85216" y="5376672"/>
            <a:ext cx="64008" cy="42976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9808" y="5486400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24515A"/>
                </a:solidFill>
              </a:rPr>
              <a:t>Production exit gate: contract and privacy approval, certified consumer behavior, operational ownership, recovery evidence, and measured SLO.</a:t>
            </a:r>
            <a:endParaRPr lang="en-US" sz="9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4688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Recommended implementation roadmap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8813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36B7D"/>
                </a:solidFill>
              </a:rPr>
              <a:t>Deliver a thin Cohere vertical slice, then productize and scale.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603504" y="1545336"/>
            <a:ext cx="2560320" cy="320040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3504" y="1545336"/>
            <a:ext cx="64008" cy="3200400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1673352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Discovery &amp; decisions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786384" y="1993392"/>
            <a:ext cx="223113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B7D"/>
                </a:solidFill>
              </a:rPr>
              <a:t>Confirm Cohere Kafka capability, select deployment option, define event and source-of-truth.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832104" y="4224528"/>
            <a:ext cx="2103120" cy="283464"/>
          </a:xfrm>
          <a:prstGeom prst="roundRect">
            <a:avLst>
              <a:gd name="adj" fmla="val 22581"/>
            </a:avLst>
          </a:prstGeom>
          <a:solidFill>
            <a:srgbClr val="E4F6F8"/>
          </a:solidFill>
          <a:ln w="12700">
            <a:solidFill>
              <a:srgbClr val="E4F6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4279392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087F8C"/>
                </a:solidFill>
              </a:rPr>
              <a:t>0–4 weeks</a:t>
            </a:r>
            <a:endParaRPr lang="en-US" sz="810" dirty="0"/>
          </a:p>
        </p:txBody>
      </p:sp>
      <p:sp>
        <p:nvSpPr>
          <p:cNvPr id="10" name="Shape 8"/>
          <p:cNvSpPr/>
          <p:nvPr/>
        </p:nvSpPr>
        <p:spPr>
          <a:xfrm>
            <a:off x="3227832" y="2761488"/>
            <a:ext cx="201168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01568" y="1545336"/>
            <a:ext cx="2560320" cy="320040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01568" y="1545336"/>
            <a:ext cx="64008" cy="3200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4448" y="1673352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Thin vertical slice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3584448" y="1993392"/>
            <a:ext cx="223113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B7D"/>
                </a:solidFill>
              </a:rPr>
              <a:t>One source event → MSK → Cohere processing → status evidence; include failure tests.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3630168" y="4224528"/>
            <a:ext cx="2103120" cy="283464"/>
          </a:xfrm>
          <a:prstGeom prst="roundRect">
            <a:avLst>
              <a:gd name="adj" fmla="val 22581"/>
            </a:avLst>
          </a:prstGeom>
          <a:solidFill>
            <a:srgbClr val="E8F7ED"/>
          </a:solidFill>
          <a:ln w="12700">
            <a:solidFill>
              <a:srgbClr val="E8F7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75888" y="4279392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16A34A"/>
                </a:solidFill>
              </a:rPr>
              <a:t>4–10 weeks</a:t>
            </a:r>
            <a:endParaRPr lang="en-US" sz="810" dirty="0"/>
          </a:p>
        </p:txBody>
      </p:sp>
      <p:sp>
        <p:nvSpPr>
          <p:cNvPr id="17" name="Shape 15"/>
          <p:cNvSpPr/>
          <p:nvPr/>
        </p:nvSpPr>
        <p:spPr>
          <a:xfrm>
            <a:off x="6025896" y="2761488"/>
            <a:ext cx="201168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99632" y="1545336"/>
            <a:ext cx="2560320" cy="320040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99632" y="1545336"/>
            <a:ext cx="64008" cy="3200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1673352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Product hardening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6382512" y="1993392"/>
            <a:ext cx="223113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B7D"/>
                </a:solidFill>
              </a:rPr>
              <a:t>Automate provisioning, contract gates, dashboards, replay, reconciliation, support.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428232" y="4224528"/>
            <a:ext cx="2103120" cy="283464"/>
          </a:xfrm>
          <a:prstGeom prst="roundRect">
            <a:avLst>
              <a:gd name="adj" fmla="val 22581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4279392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2563EB"/>
                </a:solidFill>
              </a:rPr>
              <a:t>10–16 weeks</a:t>
            </a:r>
            <a:endParaRPr lang="en-US" sz="810" dirty="0"/>
          </a:p>
        </p:txBody>
      </p:sp>
      <p:sp>
        <p:nvSpPr>
          <p:cNvPr id="24" name="Shape 22"/>
          <p:cNvSpPr/>
          <p:nvPr/>
        </p:nvSpPr>
        <p:spPr>
          <a:xfrm>
            <a:off x="8823960" y="2761488"/>
            <a:ext cx="201168" cy="256032"/>
          </a:xfrm>
          <a:prstGeom prst="chevron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97696" y="1545336"/>
            <a:ext cx="2560320" cy="3200400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997696" y="1545336"/>
            <a:ext cx="64008" cy="3200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0576" y="1673352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Scale vendors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9180576" y="1993392"/>
            <a:ext cx="223113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36B7D"/>
                </a:solidFill>
              </a:rPr>
              <a:t>Onboard additional use cases using the catalog and certify product economics.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9226296" y="4224528"/>
            <a:ext cx="2103120" cy="283464"/>
          </a:xfrm>
          <a:prstGeom prst="roundRect">
            <a:avLst>
              <a:gd name="adj" fmla="val 22581"/>
            </a:avLst>
          </a:prstGeom>
          <a:solidFill>
            <a:srgbClr val="F0EAFE"/>
          </a:solidFill>
          <a:ln w="12700">
            <a:solidFill>
              <a:srgbClr val="F0EA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72016" y="4279392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7C3AED"/>
                </a:solidFill>
              </a:rPr>
              <a:t>16+ weeks</a:t>
            </a:r>
            <a:endParaRPr lang="en-US" sz="810" dirty="0"/>
          </a:p>
        </p:txBody>
      </p:sp>
      <p:sp>
        <p:nvSpPr>
          <p:cNvPr id="31" name="Shape 29"/>
          <p:cNvSpPr/>
          <p:nvPr/>
        </p:nvSpPr>
        <p:spPr>
          <a:xfrm>
            <a:off x="585216" y="5184648"/>
            <a:ext cx="11018520" cy="429768"/>
          </a:xfrm>
          <a:prstGeom prst="roundRect">
            <a:avLst>
              <a:gd name="adj" fmla="val 8511"/>
            </a:avLst>
          </a:prstGeom>
          <a:solidFill>
            <a:srgbClr val="E4F6F8"/>
          </a:solidFill>
          <a:ln w="10160">
            <a:solidFill>
              <a:srgbClr val="B7E3E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5216" y="5184648"/>
            <a:ext cx="64008" cy="42976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5294376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24515A"/>
                </a:solidFill>
              </a:rPr>
              <a:t>Pilot success: no lost source change, controlled duplicates, secure vendor access, measurable freshness, recoverable outage, reconciled business state.</a:t>
            </a:r>
            <a:endParaRPr lang="en-US" sz="990" dirty="0"/>
          </a:p>
        </p:txBody>
      </p:sp>
      <p:sp>
        <p:nvSpPr>
          <p:cNvPr id="34" name="Text 32"/>
          <p:cNvSpPr/>
          <p:nvPr/>
        </p:nvSpPr>
        <p:spPr>
          <a:xfrm>
            <a:off x="585216" y="6291072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F8795"/>
                </a:solidFill>
              </a:rPr>
              <a:t>Timeline is directional and must be refined after Cohere technical discovery and enterprise delivery estimates.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4688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D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87968" y="-1097280"/>
            <a:ext cx="4389120" cy="4389120"/>
          </a:xfrm>
          <a:prstGeom prst="ellipse">
            <a:avLst/>
          </a:prstGeom>
          <a:solidFill>
            <a:srgbClr val="C5EEF2">
              <a:alpha val="80000"/>
            </a:srgbClr>
          </a:solidFill>
          <a:ln w="12700">
            <a:solidFill>
              <a:srgbClr val="C5EEF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22976" y="50292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522976" y="676656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✓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965960" y="133502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102A43"/>
                </a:solidFill>
              </a:rPr>
              <a:t>Decisions required now</a:t>
            </a:r>
            <a:endParaRPr lang="en-US" sz="3700" dirty="0"/>
          </a:p>
        </p:txBody>
      </p:sp>
      <p:sp>
        <p:nvSpPr>
          <p:cNvPr id="6" name="Shape 4"/>
          <p:cNvSpPr/>
          <p:nvPr/>
        </p:nvSpPr>
        <p:spPr>
          <a:xfrm>
            <a:off x="411480" y="2331720"/>
            <a:ext cx="21488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240">
            <a:solidFill>
              <a:srgbClr val="0798B5"/>
            </a:solidFill>
            <a:prstDash val="solid"/>
          </a:ln>
          <a:effectLst>
            <a:outerShdw sx="100000" sy="100000" kx="0" ky="0" algn="bl" rotWithShape="0" blurRad="12700" dist="50800" dir="2700000">
              <a:srgbClr val="A8C2CC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53288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798B5"/>
                </a:solidFill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7784" y="2880360"/>
            <a:ext cx="1856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02A43"/>
                </a:solidFill>
              </a:rPr>
              <a:t>Cohere access pattern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576072" y="3429000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36B7D"/>
                </a:solidFill>
              </a:rPr>
              <a:t>Direct MSK consumer, managed relay, or projection cluster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70632" y="2331720"/>
            <a:ext cx="21488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240">
            <a:solidFill>
              <a:srgbClr val="0798B5"/>
            </a:solidFill>
            <a:prstDash val="solid"/>
          </a:ln>
          <a:effectLst>
            <a:outerShdw sx="100000" sy="100000" kx="0" ky="0" algn="bl" rotWithShape="0" blurRad="12700" dist="50800" dir="2700000">
              <a:srgbClr val="A8C2CC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07792" y="253288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798B5"/>
                </a:solidFill>
              </a:rPr>
              <a:t>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916936" y="2880360"/>
            <a:ext cx="1856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02A43"/>
                </a:solidFill>
              </a:rPr>
              <a:t>First business delta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2935224" y="3429000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36B7D"/>
                </a:solidFill>
              </a:rPr>
              <a:t>Authoritative source, event owner, stable key, payload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129784" y="2331720"/>
            <a:ext cx="21488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240">
            <a:solidFill>
              <a:srgbClr val="0798B5"/>
            </a:solidFill>
            <a:prstDash val="solid"/>
          </a:ln>
          <a:effectLst>
            <a:outerShdw sx="100000" sy="100000" kx="0" ky="0" algn="bl" rotWithShape="0" blurRad="12700" dist="50800" dir="2700000">
              <a:srgbClr val="A8C2CC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66944" y="253288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798B5"/>
                </a:solidFill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276088" y="2880360"/>
            <a:ext cx="1856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02A43"/>
                </a:solidFill>
              </a:rPr>
              <a:t>Trust boundary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5294376" y="3429000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36B7D"/>
                </a:solidFill>
              </a:rPr>
              <a:t>Network, identity, credential lifecycle, PHI approval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488936" y="2331720"/>
            <a:ext cx="21488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240">
            <a:solidFill>
              <a:srgbClr val="0798B5"/>
            </a:solidFill>
            <a:prstDash val="solid"/>
          </a:ln>
          <a:effectLst>
            <a:outerShdw sx="100000" sy="100000" kx="0" ky="0" algn="bl" rotWithShape="0" blurRad="12700" dist="50800" dir="2700000">
              <a:srgbClr val="A8C2CC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626096" y="253288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798B5"/>
                </a:solidFill>
              </a:rPr>
              <a:t>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635240" y="2880360"/>
            <a:ext cx="1856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02A43"/>
                </a:solidFill>
              </a:rPr>
              <a:t>Product ownership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7653528" y="3429000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36B7D"/>
                </a:solidFill>
              </a:rPr>
              <a:t>MSK product, integration product, support, funding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848088" y="2331720"/>
            <a:ext cx="21488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240">
            <a:solidFill>
              <a:srgbClr val="0798B5"/>
            </a:solidFill>
            <a:prstDash val="solid"/>
          </a:ln>
          <a:effectLst>
            <a:outerShdw sx="100000" sy="100000" kx="0" ky="0" algn="bl" rotWithShape="0" blurRad="12700" dist="50800" dir="2700000">
              <a:srgbClr val="A8C2CC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985248" y="253288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798B5"/>
                </a:solidFill>
              </a:rPr>
              <a:t>5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994392" y="2880360"/>
            <a:ext cx="18562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02A43"/>
                </a:solidFill>
              </a:rPr>
              <a:t>Pilot acceptance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10012680" y="3429000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36B7D"/>
                </a:solidFill>
              </a:rPr>
              <a:t>SLO, failure tests, replay and reconciliation evidence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600200" y="501091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36B7D"/>
                </a:solidFill>
              </a:rPr>
              <a:t>Next architecture workshop: validate Cohere capability and select the first thin vertical slice.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291840" y="580644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087F8C"/>
                </a:solidFill>
              </a:rPr>
              <a:t>OUTCOME  •  Signed architecture decision record + pilot charter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76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02A43"/>
                </a:solidFill>
              </a:rPr>
              <a:t>Architecture sources and validation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108813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36B7D"/>
                </a:solidFill>
              </a:rPr>
              <a:t>Primary references support the platform mechanics; contract-specific Cohere capabilities still require confirmation.</a:t>
            </a:r>
            <a:endParaRPr lang="en-US" sz="1140" dirty="0"/>
          </a:p>
        </p:txBody>
      </p:sp>
      <p:sp>
        <p:nvSpPr>
          <p:cNvPr id="4" name="Shape 2"/>
          <p:cNvSpPr/>
          <p:nvPr/>
        </p:nvSpPr>
        <p:spPr>
          <a:xfrm>
            <a:off x="612648" y="1362456"/>
            <a:ext cx="5294376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1362456"/>
            <a:ext cx="64008" cy="877824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490472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Cohere Health API platform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795528" y="1810512"/>
            <a:ext cx="4965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36B7D"/>
                </a:solidFill>
              </a:rPr>
              <a:t>coherehealth.com/utilization-management/api-based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6208776" y="1362456"/>
            <a:ext cx="5294376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08776" y="1362456"/>
            <a:ext cx="64008" cy="8778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91656" y="1490472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Cohere Health AI platform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6391656" y="1810512"/>
            <a:ext cx="4965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36B7D"/>
                </a:solidFill>
              </a:rPr>
              <a:t>coherehealth.com/platform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612648" y="2441448"/>
            <a:ext cx="5294376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" y="2441448"/>
            <a:ext cx="64008" cy="877824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569464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Amazon MSK multi-VPC connectivity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795528" y="2889504"/>
            <a:ext cx="4965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36B7D"/>
                </a:solidFill>
              </a:rPr>
              <a:t>docs.aws.amazon.com/msk/latest/developerguide/aws-access-mult-vpc.html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6208776" y="2441448"/>
            <a:ext cx="5294376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08776" y="2441448"/>
            <a:ext cx="64008" cy="8778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1656" y="2569464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MSK client access / auth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6391656" y="2889504"/>
            <a:ext cx="4965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36B7D"/>
                </a:solidFill>
              </a:rPr>
              <a:t>docs.aws.amazon.com/msk/latest/developerguide/client-access.html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612648" y="3520440"/>
            <a:ext cx="5294376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" y="3520440"/>
            <a:ext cx="64008" cy="877824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3648456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Amazon MSK Connect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795528" y="3968496"/>
            <a:ext cx="4965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36B7D"/>
                </a:solidFill>
              </a:rPr>
              <a:t>docs.aws.amazon.com/msk/latest/developerguide/msk-connect.html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6208776" y="3520440"/>
            <a:ext cx="5294376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08776" y="3520440"/>
            <a:ext cx="64008" cy="8778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91656" y="3648456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Microsoft Entra client credentials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6391656" y="3968496"/>
            <a:ext cx="4965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36B7D"/>
                </a:solidFill>
              </a:rPr>
              <a:t>learn.microsoft.com/entra/identity-platform/v2-oauth2-client-creds-grant-flow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12648" y="4599432"/>
            <a:ext cx="5294376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" y="4599432"/>
            <a:ext cx="64008" cy="877824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727448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CMS prior authorization rule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795528" y="5047488"/>
            <a:ext cx="4965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36B7D"/>
                </a:solidFill>
              </a:rPr>
              <a:t>cms.gov/newsroom/fact-sheets/cms-interoperability-prior-authorization-final-rule-cms-0057-f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6208776" y="4599432"/>
            <a:ext cx="5294376" cy="877824"/>
          </a:xfrm>
          <a:prstGeom prst="roundRect">
            <a:avLst>
              <a:gd name="adj" fmla="val 5208"/>
            </a:avLst>
          </a:prstGeom>
          <a:solidFill>
            <a:srgbClr val="FFFFFF"/>
          </a:solidFill>
          <a:ln w="12700">
            <a:solidFill>
              <a:srgbClr val="D5E4E9"/>
            </a:solidFill>
            <a:prstDash val="solid"/>
          </a:ln>
          <a:effectLst>
            <a:outerShdw sx="100000" sy="100000" kx="0" ky="0" algn="bl" rotWithShape="0" blurRad="12700" dist="50800" dir="2700000">
              <a:srgbClr val="A7BEC8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08776" y="4599432"/>
            <a:ext cx="64008" cy="87782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91656" y="4727448"/>
            <a:ext cx="4965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</a:rPr>
              <a:t>FHIR R4 Subscription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6391656" y="5047488"/>
            <a:ext cx="4965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36B7D"/>
                </a:solidFill>
              </a:rPr>
              <a:t>hl7.org/fhir/R4/subscription.html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585216" y="5824728"/>
            <a:ext cx="11018520" cy="429768"/>
          </a:xfrm>
          <a:prstGeom prst="roundRect">
            <a:avLst>
              <a:gd name="adj" fmla="val 8511"/>
            </a:avLst>
          </a:prstGeom>
          <a:solidFill>
            <a:srgbClr val="E4F6F8"/>
          </a:solidFill>
          <a:ln w="10160">
            <a:solidFill>
              <a:srgbClr val="B7E3E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5216" y="5824728"/>
            <a:ext cx="64008" cy="429768"/>
          </a:xfrm>
          <a:prstGeom prst="rect">
            <a:avLst/>
          </a:prstGeom>
          <a:solidFill>
            <a:srgbClr val="0798B5"/>
          </a:solidFill>
          <a:ln w="12700">
            <a:solidFill>
              <a:srgbClr val="0798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" y="5934456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24515A"/>
                </a:solidFill>
              </a:rPr>
              <a:t>Validate with Cohere: direct Kafka support, supported auth mechanisms, network topology, consumer checkpoint behavior, topic/schema expectations, rate/volume limits, and contractual AI data use.</a:t>
            </a:r>
            <a:endParaRPr lang="en-US" sz="9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246888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890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Enterprise Architecture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Vendor Delta Streaming on Amazon MSK</dc:title>
  <dc:subject>SFTP batch to vendor-triggered delta streaming with Amazon MSK</dc:subject>
  <dc:creator>Enterprise Architecture</dc:creator>
  <cp:lastModifiedBy>Enterprise Architecture</cp:lastModifiedBy>
  <cp:revision>1</cp:revision>
  <dcterms:created xsi:type="dcterms:W3CDTF">2026-10-12T15:00:33Z</dcterms:created>
  <dcterms:modified xsi:type="dcterms:W3CDTF">2026-10-12T15:00:33Z</dcterms:modified>
</cp:coreProperties>
</file>