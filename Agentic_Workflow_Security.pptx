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648"/>
  </p:normalViewPr>
  <p:slideViewPr>
    <p:cSldViewPr snapToGrid="0" snapToObjects="1">
      <p:cViewPr varScale="1">
        <p:scale>
          <a:sx n="84" d="100"/>
          <a:sy n="84" d="100"/>
        </p:scale>
        <p:origin x="15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1605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 are moving AI agents from chat assistants into production business processes that touch regulated data, make decisions, and trigger real actions. That shift demands a different architecture — one that is auditable, governable, and secure by design. This deck answers the HOW, not just the what or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numbers tell the story. 85% of enterprises can't operationalize AI at scale — the bottleneck is governance, not capability. KPMG found that security, compliance, and auditability are the top barriers to agent deployment, not cost or technology readiness. And Gartner is saying 30% of enterprises will have agents autonomously triggering transactions by next year. That's already happening in healthcare, insurance, and finance. The window to build the right foundation is now, before the agents multiply and the governance debt becomes unmanageable.</a:t>
            </a:r>
          </a:p>
          <a:p>
            <a:r>
              <a:rPr lang="en-US" sz="1200" b="0" i="0" u="none" strike="noStrike" kern="1200" dirty="0">
                <a:solidFill>
                  <a:schemeClr val="tx1"/>
                </a:solidFill>
                <a:effectLst/>
                <a:latin typeface="+mn-lt"/>
                <a:ea typeface="+mn-ea"/>
                <a:cs typeface="+mn-cs"/>
              </a:rPr>
              <a:t>On the bottom half — BPMN is not new, but pairing it with AI agents is the architectural move that solves the trust problem. The BPMN model that ships to production is the same one the compliance officer audits. DMN replaces hallucination-prone LLM decisions with </a:t>
            </a:r>
            <a:r>
              <a:rPr lang="en-US" sz="1200" b="0" i="0" u="none" strike="noStrike" kern="1200" dirty="0" err="1">
                <a:solidFill>
                  <a:schemeClr val="tx1"/>
                </a:solidFill>
                <a:effectLst/>
                <a:latin typeface="+mn-lt"/>
                <a:ea typeface="+mn-ea"/>
                <a:cs typeface="+mn-cs"/>
              </a:rPr>
              <a:t>versionable</a:t>
            </a:r>
            <a:r>
              <a:rPr lang="en-US" sz="1200" b="0" i="0" u="none" strike="noStrike" kern="1200" dirty="0">
                <a:solidFill>
                  <a:schemeClr val="tx1"/>
                </a:solidFill>
                <a:effectLst/>
                <a:latin typeface="+mn-lt"/>
                <a:ea typeface="+mn-ea"/>
                <a:cs typeface="+mn-cs"/>
              </a:rPr>
              <a:t> rules. MCP and Agent Cards give us standardized, discoverable, authenticated connections between agents and tools.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Walk from bottom to top. Infrastructure and identity is the foundation — SPIFFE/SPIRE gives every agent a cryptographic identity, Vault manages secrets, Kubernetes provides the runtime boundary. Above that, the agent execution layer is where LLMs and specialized agents actually do work. The communication layer — MCP with OAuth 2.1 and A2A — is the standardized wire protocol. The orchestration platform, Camunda or </a:t>
            </a:r>
            <a:r>
              <a:rPr lang="en-US" sz="1200" b="0" i="0" u="none" strike="noStrike" kern="1200" dirty="0" err="1">
                <a:solidFill>
                  <a:schemeClr val="tx1"/>
                </a:solidFill>
                <a:effectLst/>
                <a:latin typeface="+mn-lt"/>
                <a:ea typeface="+mn-ea"/>
                <a:cs typeface="+mn-cs"/>
              </a:rPr>
              <a:t>Dapr</a:t>
            </a:r>
            <a:r>
              <a:rPr lang="en-US" sz="1200" b="0" i="0" u="none" strike="noStrike" kern="1200" dirty="0">
                <a:solidFill>
                  <a:schemeClr val="tx1"/>
                </a:solidFill>
                <a:effectLst/>
                <a:latin typeface="+mn-lt"/>
                <a:ea typeface="+mn-ea"/>
                <a:cs typeface="+mn-cs"/>
              </a:rPr>
              <a:t>, is where the BPMN lives and where governance is enforced. At the top, the agent registry is where agents are discoverable — Agent Cards published as machine-readable JSON-LD so the orchestrator can find the right agent for the right task without hardcoded knowledge.</a:t>
            </a:r>
          </a:p>
          <a:p>
            <a:r>
              <a:rPr lang="en-US" sz="1200" b="0" i="0" u="none" strike="noStrike" kern="1200" dirty="0">
                <a:solidFill>
                  <a:schemeClr val="tx1"/>
                </a:solidFill>
                <a:effectLst/>
                <a:latin typeface="+mn-lt"/>
                <a:ea typeface="+mn-ea"/>
                <a:cs typeface="+mn-cs"/>
              </a:rPr>
              <a:t>The discovery flow on the right is the key insight: agents don't just appear in workflows — they self-register, they carry signed metadata, they receive a trust score, and the BPMN engine invokes them with a verified identity. That is fundamentally different from how most teams are wiring agents today.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DMN Decision Gates replace the single biggest compliance risk in agentic AI — letting an LLM make a regulated decision. You put the rule in a table, you version it, you audit it.</a:t>
            </a:r>
          </a:p>
          <a:p>
            <a:r>
              <a:rPr lang="en-US" sz="1200" b="0" i="0" u="none" strike="noStrike" kern="1200" dirty="0">
                <a:solidFill>
                  <a:schemeClr val="tx1"/>
                </a:solidFill>
                <a:effectLst/>
                <a:latin typeface="+mn-lt"/>
                <a:ea typeface="+mn-ea"/>
                <a:cs typeface="+mn-cs"/>
              </a:rPr>
              <a:t>HITL gates are not one thing — they are four different patterns mapped to risk level. Advisory just informs. Validating requires clinician sign-off with a four-hour SLA. Blocking stops execution until a PHI check clears in 15 minutes. Escalating routes novel situations to a human authority. The right gate at the right place is the difference between a functional agent and a liability.</a:t>
            </a:r>
          </a:p>
          <a:p>
            <a:r>
              <a:rPr lang="en-US" sz="1200" b="0" i="0" u="none" strike="noStrike" kern="1200" dirty="0">
                <a:solidFill>
                  <a:schemeClr val="tx1"/>
                </a:solidFill>
                <a:effectLst/>
                <a:latin typeface="+mn-lt"/>
                <a:ea typeface="+mn-ea"/>
                <a:cs typeface="+mn-cs"/>
              </a:rPr>
              <a:t>Timer boundaries prevent runaway agents. Every ad-hoc sub-process gets a deadline. Miss it, escalate to human.</a:t>
            </a:r>
          </a:p>
          <a:p>
            <a:r>
              <a:rPr lang="en-US" sz="1200" b="0" i="0" u="none" strike="noStrike" kern="1200" dirty="0">
                <a:solidFill>
                  <a:schemeClr val="tx1"/>
                </a:solidFill>
                <a:effectLst/>
                <a:latin typeface="+mn-lt"/>
                <a:ea typeface="+mn-ea"/>
                <a:cs typeface="+mn-cs"/>
              </a:rPr>
              <a:t>Compensating transactions are the rollback story. If an agent sends an email, writes a record, and then the next step fails — you need a compensation handler that can undo or notify. BPMN has this built in.</a:t>
            </a:r>
          </a:p>
          <a:p>
            <a:r>
              <a:rPr lang="en-US" sz="1200" b="0" i="0" u="none" strike="noStrike" kern="1200" dirty="0">
                <a:solidFill>
                  <a:schemeClr val="tx1"/>
                </a:solidFill>
                <a:effectLst/>
                <a:latin typeface="+mn-lt"/>
                <a:ea typeface="+mn-ea"/>
                <a:cs typeface="+mn-cs"/>
              </a:rPr>
              <a:t>Task-scoped tool allow-lists mean each BPMN task specifies exactly which MCP tools it can call. The gateway rejects everything else. Zero implicit trust.</a:t>
            </a:r>
          </a:p>
          <a:p>
            <a:r>
              <a:rPr lang="en-US" sz="1200" b="0" i="0" u="none" strike="noStrike" kern="1200" dirty="0">
                <a:solidFill>
                  <a:schemeClr val="tx1"/>
                </a:solidFill>
                <a:effectLst/>
                <a:latin typeface="+mn-lt"/>
                <a:ea typeface="+mn-ea"/>
                <a:cs typeface="+mn-cs"/>
              </a:rPr>
              <a:t>Process-bound audit trail is the compliance artifact. One process instance ID equals one complete, tamper-evident record of every decision, every agent invocation, every human approval.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stat at the top reframes the problem. Non-human identities already outnumber humans 17-to-1. Half of organizations have had breaches tied to compromised machine identities. Static API keys and shared service accounts are not a security posture — they are a waiting incident.</a:t>
            </a:r>
          </a:p>
          <a:p>
            <a:r>
              <a:rPr lang="en-US" sz="1200" b="0" i="0" u="none" strike="noStrike" kern="1200" dirty="0">
                <a:solidFill>
                  <a:schemeClr val="tx1"/>
                </a:solidFill>
                <a:effectLst/>
                <a:latin typeface="+mn-lt"/>
                <a:ea typeface="+mn-ea"/>
                <a:cs typeface="+mn-cs"/>
              </a:rPr>
              <a:t>SPIFFE solves the foundational identity problem. Every agent container gets a SVID — a short-lived X.509 certificate that proves who it is, rotates automatically every hour, and leaves no static secret anywhere in the system. When something goes wrong, you can answer immediately: which agent, which workload, what did it have access to.</a:t>
            </a:r>
          </a:p>
          <a:p>
            <a:r>
              <a:rPr lang="en-US" sz="1200" b="0" i="0" u="none" strike="noStrike" kern="1200" dirty="0">
                <a:solidFill>
                  <a:schemeClr val="tx1"/>
                </a:solidFill>
                <a:effectLst/>
                <a:latin typeface="+mn-lt"/>
                <a:ea typeface="+mn-ea"/>
                <a:cs typeface="+mn-cs"/>
              </a:rPr>
              <a:t>Per-request authorization means every MCP tool call generates a fresh </a:t>
            </a:r>
            <a:r>
              <a:rPr lang="en-US" sz="1200" b="0" i="0" u="none" strike="noStrike" kern="1200" dirty="0" err="1">
                <a:solidFill>
                  <a:schemeClr val="tx1"/>
                </a:solidFill>
                <a:effectLst/>
                <a:latin typeface="+mn-lt"/>
                <a:ea typeface="+mn-ea"/>
                <a:cs typeface="+mn-cs"/>
              </a:rPr>
              <a:t>AuthZ</a:t>
            </a:r>
            <a:r>
              <a:rPr lang="en-US" sz="1200" b="0" i="0" u="none" strike="noStrike" kern="1200" dirty="0">
                <a:solidFill>
                  <a:schemeClr val="tx1"/>
                </a:solidFill>
                <a:effectLst/>
                <a:latin typeface="+mn-lt"/>
                <a:ea typeface="+mn-ea"/>
                <a:cs typeface="+mn-cs"/>
              </a:rPr>
              <a:t> decision. Not session-wide. Not token-wide. Each call evaluated against the agent's SVID, the tool action, the resource, and the delegation context. OAuth 2.1 tokens are audience-bound to one MCP server and expire in minutes.</a:t>
            </a:r>
          </a:p>
          <a:p>
            <a:r>
              <a:rPr lang="en-US" sz="1200" b="0" i="0" u="none" strike="noStrike" kern="1200" dirty="0">
                <a:solidFill>
                  <a:schemeClr val="tx1"/>
                </a:solidFill>
                <a:effectLst/>
                <a:latin typeface="+mn-lt"/>
                <a:ea typeface="+mn-ea"/>
                <a:cs typeface="+mn-cs"/>
              </a:rPr>
              <a:t>JIT access means agents are provisioned on demand with a TTL attached. When the task is done, the identity is retired. No orphaned credentials sitting in configuration files waiting to be discovered.</a:t>
            </a:r>
          </a:p>
          <a:p>
            <a:r>
              <a:rPr lang="en-US" sz="1200" b="0" i="0" u="none" strike="noStrike" kern="1200" dirty="0">
                <a:solidFill>
                  <a:schemeClr val="tx1"/>
                </a:solidFill>
                <a:effectLst/>
                <a:latin typeface="+mn-lt"/>
                <a:ea typeface="+mn-ea"/>
                <a:cs typeface="+mn-cs"/>
              </a:rPr>
              <a:t>The registry pillar closes the loop — Agent Cards and MCP Registry with signed manifests give you supply-chain attestation before an agent ever touches production data.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Use this slide as the team ownership conversation. Every row is a threat with a named owner. Registration and creation is AppSec and Platform Engineering. Runtime execution is </a:t>
            </a:r>
            <a:r>
              <a:rPr lang="en-US" sz="1200" b="0" i="0" u="none" strike="noStrike" kern="1200" dirty="0" err="1">
                <a:solidFill>
                  <a:schemeClr val="tx1"/>
                </a:solidFill>
                <a:effectLst/>
                <a:latin typeface="+mn-lt"/>
                <a:ea typeface="+mn-ea"/>
                <a:cs typeface="+mn-cs"/>
              </a:rPr>
              <a:t>CyberSecurity</a:t>
            </a:r>
            <a:r>
              <a:rPr lang="en-US" sz="1200" b="0" i="0" u="none" strike="noStrike" kern="1200" dirty="0">
                <a:solidFill>
                  <a:schemeClr val="tx1"/>
                </a:solidFill>
                <a:effectLst/>
                <a:latin typeface="+mn-lt"/>
                <a:ea typeface="+mn-ea"/>
                <a:cs typeface="+mn-cs"/>
              </a:rPr>
              <a:t> and AppSec. Decision gateways are Compliance and Business Analysts. Multi-agent handoff is IAM and Platform Engineering. SRE owns drift and deregistration.</a:t>
            </a:r>
          </a:p>
          <a:p>
            <a:r>
              <a:rPr lang="en-US" sz="1200" b="0" i="0" u="none" strike="noStrike" kern="1200" dirty="0">
                <a:solidFill>
                  <a:schemeClr val="tx1"/>
                </a:solidFill>
                <a:effectLst/>
                <a:latin typeface="+mn-lt"/>
                <a:ea typeface="+mn-ea"/>
                <a:cs typeface="+mn-cs"/>
              </a:rPr>
              <a:t>The HOW column is the implementation detail — this is what you're asking teams to actually build. Signed Agent Cards and SLSA attestation at registration. LLM Firewall plus task-scoped allow-lists at execution. DMN tables and HITL gates at decision points. Delegation chain tokens and OPA at handoff. OTEL traces to SIEM everywhere.</a:t>
            </a:r>
          </a:p>
          <a:p>
            <a:r>
              <a:rPr lang="en-US" sz="1200" b="0" i="0" u="none" strike="noStrike" kern="1200" dirty="0">
                <a:solidFill>
                  <a:schemeClr val="tx1"/>
                </a:solidFill>
                <a:effectLst/>
                <a:latin typeface="+mn-lt"/>
                <a:ea typeface="+mn-ea"/>
                <a:cs typeface="+mn-cs"/>
              </a:rPr>
              <a:t>This matrix becomes the security architecture review document for any agentic workflow before it goes to production.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Three regulatory frames, each with a specific HOW.</a:t>
            </a:r>
          </a:p>
          <a:p>
            <a:r>
              <a:rPr lang="en-US" sz="1200" b="0" i="0" u="none" strike="noStrike" kern="1200" dirty="0">
                <a:solidFill>
                  <a:schemeClr val="tx1"/>
                </a:solidFill>
                <a:effectLst/>
                <a:latin typeface="+mn-lt"/>
                <a:ea typeface="+mn-ea"/>
                <a:cs typeface="+mn-cs"/>
              </a:rPr>
              <a:t>For HIPAA: PHI flows as encrypted process variables. The BPMN audit trail is the compliance documentation — not a separate reporting system. HITL blocking gate is required before any agent action touches PHI. DMN tables encode the minimum-necessary standard so you can prove to an auditor exactly what data was accessed and why.</a:t>
            </a:r>
          </a:p>
          <a:p>
            <a:r>
              <a:rPr lang="en-US" sz="1200" b="0" i="0" u="none" strike="noStrike" kern="1200" dirty="0">
                <a:solidFill>
                  <a:schemeClr val="tx1"/>
                </a:solidFill>
                <a:effectLst/>
                <a:latin typeface="+mn-lt"/>
                <a:ea typeface="+mn-ea"/>
                <a:cs typeface="+mn-cs"/>
              </a:rPr>
              <a:t>For the EU AI Act, which takes effect August 2026: the requirement for logging key lifecycle events in high-risk AI systems is satisfied by BPMN process IDs. The human oversight requirement is satisfied by BPMN User Task gates. The explainability requirement is satisfied by the visual BPMN model itself — that diagram is the evidence.</a:t>
            </a:r>
          </a:p>
          <a:p>
            <a:r>
              <a:rPr lang="en-US" sz="1200" b="0" i="0" u="none" strike="noStrike" kern="1200" dirty="0">
                <a:solidFill>
                  <a:schemeClr val="tx1"/>
                </a:solidFill>
                <a:effectLst/>
                <a:latin typeface="+mn-lt"/>
                <a:ea typeface="+mn-ea"/>
                <a:cs typeface="+mn-cs"/>
              </a:rPr>
              <a:t>For SOC 2 and ISO 42001: OTEL traces to immutable WORM storage. SPIFFE TTL enforcing the JML lifecycle for every agent identity. BPMN versions in Git so every deployment is a change record. Quarterly tool allow-list reviews per process ID.</a:t>
            </a:r>
          </a:p>
          <a:p>
            <a:r>
              <a:rPr lang="en-US" sz="1200" b="0" i="0" u="none" strike="noStrike" kern="1200" dirty="0">
                <a:solidFill>
                  <a:schemeClr val="tx1"/>
                </a:solidFill>
                <a:effectLst/>
                <a:latin typeface="+mn-lt"/>
                <a:ea typeface="+mn-ea"/>
                <a:cs typeface="+mn-cs"/>
              </a:rPr>
              <a:t>The right column is the operating rhythm — design time review, pre-production scanning, runtime enforcement, quarterly audit, and an incident playbook that starts with BPMN incident, runs through SIEM alert, and ends with full trace replay.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Phase one is foundation. Get SPIFFE deployed, get agents issuing SVIDs, stand up the registry, get Agent Cards published, get per-request OPA </a:t>
            </a:r>
            <a:r>
              <a:rPr lang="en-US" sz="1200" b="0" i="0" u="none" strike="noStrike" kern="1200" dirty="0" err="1">
                <a:solidFill>
                  <a:schemeClr val="tx1"/>
                </a:solidFill>
                <a:effectLst/>
                <a:latin typeface="+mn-lt"/>
                <a:ea typeface="+mn-ea"/>
                <a:cs typeface="+mn-cs"/>
              </a:rPr>
              <a:t>AuthZ</a:t>
            </a:r>
            <a:r>
              <a:rPr lang="en-US" sz="1200" b="0" i="0" u="none" strike="noStrike" kern="1200" dirty="0">
                <a:solidFill>
                  <a:schemeClr val="tx1"/>
                </a:solidFill>
                <a:effectLst/>
                <a:latin typeface="+mn-lt"/>
                <a:ea typeface="+mn-ea"/>
                <a:cs typeface="+mn-cs"/>
              </a:rPr>
              <a:t> running at the MCP gateway, and get OTEL traces flowing to SIEM. None of this requires changing any existing business process.</a:t>
            </a:r>
          </a:p>
          <a:p>
            <a:r>
              <a:rPr lang="en-US" sz="1200" b="0" i="0" u="none" strike="noStrike" kern="1200" dirty="0">
                <a:solidFill>
                  <a:schemeClr val="tx1"/>
                </a:solidFill>
                <a:effectLst/>
                <a:latin typeface="+mn-lt"/>
                <a:ea typeface="+mn-ea"/>
                <a:cs typeface="+mn-cs"/>
              </a:rPr>
              <a:t>Phase two is where the BPMN work happens. Take your top three agentic use cases and migrate them into Camunda models. Replace ad-hoc LLM decisions with DMN tables. Add the HITL gate patterns appropriate to each risk level. Add timer boundaries and compensation handlers. Put </a:t>
            </a:r>
            <a:r>
              <a:rPr lang="en-US" sz="1200" b="0" i="0" u="none" strike="noStrike" kern="1200" dirty="0" err="1">
                <a:solidFill>
                  <a:schemeClr val="tx1"/>
                </a:solidFill>
                <a:effectLst/>
                <a:latin typeface="+mn-lt"/>
                <a:ea typeface="+mn-ea"/>
                <a:cs typeface="+mn-cs"/>
              </a:rPr>
              <a:t>McpSafetyScanner</a:t>
            </a:r>
            <a:r>
              <a:rPr lang="en-US" sz="1200" b="0" i="0" u="none" strike="noStrike" kern="1200" dirty="0">
                <a:solidFill>
                  <a:schemeClr val="tx1"/>
                </a:solidFill>
                <a:effectLst/>
                <a:latin typeface="+mn-lt"/>
                <a:ea typeface="+mn-ea"/>
                <a:cs typeface="+mn-cs"/>
              </a:rPr>
              <a:t> in the CI pipeline and block on critical findings.</a:t>
            </a:r>
          </a:p>
          <a:p>
            <a:r>
              <a:rPr lang="en-US" sz="1200" b="0" i="0" u="none" strike="noStrike" kern="1200" dirty="0">
                <a:solidFill>
                  <a:schemeClr val="tx1"/>
                </a:solidFill>
                <a:effectLst/>
                <a:latin typeface="+mn-lt"/>
                <a:ea typeface="+mn-ea"/>
                <a:cs typeface="+mn-cs"/>
              </a:rPr>
              <a:t>Phase three is compliance close-out. Map the audit trail to HIPAA and SOC 2 evidence requirements. Red team the workflows — specifically prompt injection and RADE retrieval attacks. Establish the quarterly review cadence. Present the BPMN model to your compliance officer as the audit artifact.</a:t>
            </a:r>
          </a:p>
          <a:p>
            <a:r>
              <a:rPr lang="en-US" sz="1200" b="0" i="0" u="none" strike="noStrike" kern="1200" dirty="0">
                <a:solidFill>
                  <a:schemeClr val="tx1"/>
                </a:solidFill>
                <a:effectLst/>
                <a:latin typeface="+mn-lt"/>
                <a:ea typeface="+mn-ea"/>
                <a:cs typeface="+mn-cs"/>
              </a:rPr>
              <a:t>The call to action bar at the bottom is what you are asking executives to decide today: approve BPMN-first as the enterprise standard for agentic workflows, fund the SPIFFE identity deployment, mandate Agent Card registration for anything going to production, and require HITL gates for all regulated processes. </a:t>
            </a:r>
            <a:r>
              <a:rPr lang="en-US" sz="1200" b="0" i="0" u="none" strike="noStrike" kern="1200">
                <a:solidFill>
                  <a:schemeClr val="tx1"/>
                </a:solidFill>
                <a:effectLst/>
                <a:latin typeface="+mn-lt"/>
                <a:ea typeface="+mn-ea"/>
                <a:cs typeface="+mn-cs"/>
              </a:rPr>
              <a:t>Those four decisions are the governance foundation everything else builds 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sp>
      <p:sp>
        <p:nvSpPr>
          <p:cNvPr id="3" name="Shape 1"/>
          <p:cNvSpPr/>
          <p:nvPr/>
        </p:nvSpPr>
        <p:spPr>
          <a:xfrm>
            <a:off x="8503920" y="0"/>
            <a:ext cx="3657600" cy="6858000"/>
          </a:xfrm>
          <a:prstGeom prst="rect">
            <a:avLst/>
          </a:prstGeom>
          <a:solidFill>
            <a:srgbClr val="0077B6"/>
          </a:solidFill>
          <a:ln/>
        </p:spPr>
      </p:sp>
      <p:sp>
        <p:nvSpPr>
          <p:cNvPr id="4" name="Shape 2"/>
          <p:cNvSpPr/>
          <p:nvPr/>
        </p:nvSpPr>
        <p:spPr>
          <a:xfrm>
            <a:off x="9875520" y="0"/>
            <a:ext cx="2286000" cy="6858000"/>
          </a:xfrm>
          <a:prstGeom prst="rect">
            <a:avLst/>
          </a:prstGeom>
          <a:solidFill>
            <a:srgbClr val="005A82"/>
          </a:solidFill>
          <a:ln/>
        </p:spPr>
      </p:sp>
      <p:sp>
        <p:nvSpPr>
          <p:cNvPr id="5" name="Shape 3"/>
          <p:cNvSpPr/>
          <p:nvPr/>
        </p:nvSpPr>
        <p:spPr>
          <a:xfrm>
            <a:off x="8503920" y="365760"/>
            <a:ext cx="3657600" cy="0"/>
          </a:xfrm>
          <a:prstGeom prst="line">
            <a:avLst/>
          </a:prstGeom>
          <a:noFill/>
          <a:ln w="12700">
            <a:solidFill>
              <a:srgbClr val="007BA0">
                <a:alpha val="40000"/>
              </a:srgbClr>
            </a:solidFill>
            <a:prstDash val="solid"/>
          </a:ln>
        </p:spPr>
      </p:sp>
      <p:sp>
        <p:nvSpPr>
          <p:cNvPr id="6" name="Shape 4"/>
          <p:cNvSpPr/>
          <p:nvPr/>
        </p:nvSpPr>
        <p:spPr>
          <a:xfrm>
            <a:off x="8503920" y="1188720"/>
            <a:ext cx="3657600" cy="0"/>
          </a:xfrm>
          <a:prstGeom prst="line">
            <a:avLst/>
          </a:prstGeom>
          <a:noFill/>
          <a:ln w="12700">
            <a:solidFill>
              <a:srgbClr val="007BA0">
                <a:alpha val="40000"/>
              </a:srgbClr>
            </a:solidFill>
            <a:prstDash val="solid"/>
          </a:ln>
        </p:spPr>
      </p:sp>
      <p:sp>
        <p:nvSpPr>
          <p:cNvPr id="7" name="Shape 5"/>
          <p:cNvSpPr/>
          <p:nvPr/>
        </p:nvSpPr>
        <p:spPr>
          <a:xfrm>
            <a:off x="8503920" y="2011680"/>
            <a:ext cx="3657600" cy="0"/>
          </a:xfrm>
          <a:prstGeom prst="line">
            <a:avLst/>
          </a:prstGeom>
          <a:noFill/>
          <a:ln w="12700">
            <a:solidFill>
              <a:srgbClr val="007BA0">
                <a:alpha val="40000"/>
              </a:srgbClr>
            </a:solidFill>
            <a:prstDash val="solid"/>
          </a:ln>
        </p:spPr>
      </p:sp>
      <p:sp>
        <p:nvSpPr>
          <p:cNvPr id="8" name="Shape 6"/>
          <p:cNvSpPr/>
          <p:nvPr/>
        </p:nvSpPr>
        <p:spPr>
          <a:xfrm>
            <a:off x="8503920" y="2834640"/>
            <a:ext cx="3657600" cy="0"/>
          </a:xfrm>
          <a:prstGeom prst="line">
            <a:avLst/>
          </a:prstGeom>
          <a:noFill/>
          <a:ln w="12700">
            <a:solidFill>
              <a:srgbClr val="007BA0">
                <a:alpha val="40000"/>
              </a:srgbClr>
            </a:solidFill>
            <a:prstDash val="solid"/>
          </a:ln>
        </p:spPr>
      </p:sp>
      <p:sp>
        <p:nvSpPr>
          <p:cNvPr id="9" name="Shape 7"/>
          <p:cNvSpPr/>
          <p:nvPr/>
        </p:nvSpPr>
        <p:spPr>
          <a:xfrm>
            <a:off x="8503920" y="3657600"/>
            <a:ext cx="3657600" cy="0"/>
          </a:xfrm>
          <a:prstGeom prst="line">
            <a:avLst/>
          </a:prstGeom>
          <a:noFill/>
          <a:ln w="12700">
            <a:solidFill>
              <a:srgbClr val="007BA0">
                <a:alpha val="40000"/>
              </a:srgbClr>
            </a:solidFill>
            <a:prstDash val="solid"/>
          </a:ln>
        </p:spPr>
      </p:sp>
      <p:sp>
        <p:nvSpPr>
          <p:cNvPr id="10" name="Shape 8"/>
          <p:cNvSpPr/>
          <p:nvPr/>
        </p:nvSpPr>
        <p:spPr>
          <a:xfrm>
            <a:off x="8503920" y="4480560"/>
            <a:ext cx="3657600" cy="0"/>
          </a:xfrm>
          <a:prstGeom prst="line">
            <a:avLst/>
          </a:prstGeom>
          <a:noFill/>
          <a:ln w="12700">
            <a:solidFill>
              <a:srgbClr val="007BA0">
                <a:alpha val="40000"/>
              </a:srgbClr>
            </a:solidFill>
            <a:prstDash val="solid"/>
          </a:ln>
        </p:spPr>
      </p:sp>
      <p:sp>
        <p:nvSpPr>
          <p:cNvPr id="11" name="Shape 9"/>
          <p:cNvSpPr/>
          <p:nvPr/>
        </p:nvSpPr>
        <p:spPr>
          <a:xfrm>
            <a:off x="8503920" y="5303520"/>
            <a:ext cx="3657600" cy="0"/>
          </a:xfrm>
          <a:prstGeom prst="line">
            <a:avLst/>
          </a:prstGeom>
          <a:noFill/>
          <a:ln w="12700">
            <a:solidFill>
              <a:srgbClr val="007BA0">
                <a:alpha val="40000"/>
              </a:srgbClr>
            </a:solidFill>
            <a:prstDash val="solid"/>
          </a:ln>
        </p:spPr>
      </p:sp>
      <p:sp>
        <p:nvSpPr>
          <p:cNvPr id="12" name="Shape 10"/>
          <p:cNvSpPr/>
          <p:nvPr/>
        </p:nvSpPr>
        <p:spPr>
          <a:xfrm>
            <a:off x="8503920" y="6126480"/>
            <a:ext cx="3657600" cy="0"/>
          </a:xfrm>
          <a:prstGeom prst="line">
            <a:avLst/>
          </a:prstGeom>
          <a:noFill/>
          <a:ln w="12700">
            <a:solidFill>
              <a:srgbClr val="007BA0">
                <a:alpha val="40000"/>
              </a:srgbClr>
            </a:solidFill>
            <a:prstDash val="solid"/>
          </a:ln>
        </p:spPr>
      </p:sp>
      <p:sp>
        <p:nvSpPr>
          <p:cNvPr id="13" name="Shape 11"/>
          <p:cNvSpPr/>
          <p:nvPr/>
        </p:nvSpPr>
        <p:spPr>
          <a:xfrm>
            <a:off x="0" y="0"/>
            <a:ext cx="137160" cy="6858000"/>
          </a:xfrm>
          <a:prstGeom prst="rect">
            <a:avLst/>
          </a:prstGeom>
          <a:solidFill>
            <a:srgbClr val="00B4D8"/>
          </a:solidFill>
          <a:ln/>
        </p:spPr>
      </p:sp>
      <p:sp>
        <p:nvSpPr>
          <p:cNvPr id="14" name="Shape 12"/>
          <p:cNvSpPr/>
          <p:nvPr/>
        </p:nvSpPr>
        <p:spPr>
          <a:xfrm>
            <a:off x="365760" y="1371600"/>
            <a:ext cx="731520" cy="731520"/>
          </a:xfrm>
          <a:prstGeom prst="rect">
            <a:avLst/>
          </a:prstGeom>
          <a:solidFill>
            <a:srgbClr val="00B4D8"/>
          </a:solidFill>
          <a:ln/>
        </p:spPr>
      </p:sp>
      <p:sp>
        <p:nvSpPr>
          <p:cNvPr id="15" name="Text 13"/>
          <p:cNvSpPr/>
          <p:nvPr/>
        </p:nvSpPr>
        <p:spPr>
          <a:xfrm>
            <a:off x="365760" y="1371600"/>
            <a:ext cx="731520" cy="731520"/>
          </a:xfrm>
          <a:prstGeom prst="rect">
            <a:avLst/>
          </a:prstGeom>
          <a:noFill/>
          <a:ln/>
        </p:spPr>
        <p:txBody>
          <a:bodyPr wrap="square" rtlCol="0" anchor="ctr"/>
          <a:lstStyle/>
          <a:p>
            <a:pPr marL="0" indent="0" algn="ctr">
              <a:buNone/>
            </a:pPr>
            <a:r>
              <a:rPr lang="en-US" sz="2800" dirty="0">
                <a:solidFill>
                  <a:srgbClr val="0D1B2A"/>
                </a:solidFill>
              </a:rPr>
              <a:t>⬡</a:t>
            </a:r>
            <a:endParaRPr lang="en-US" sz="2800" dirty="0"/>
          </a:p>
        </p:txBody>
      </p:sp>
      <p:sp>
        <p:nvSpPr>
          <p:cNvPr id="16" name="Text 14"/>
          <p:cNvSpPr/>
          <p:nvPr/>
        </p:nvSpPr>
        <p:spPr>
          <a:xfrm>
            <a:off x="274320" y="2286000"/>
            <a:ext cx="7863840" cy="6400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AGENTIC BPMN</a:t>
            </a:r>
            <a:endParaRPr lang="en-US" sz="4000" dirty="0"/>
          </a:p>
        </p:txBody>
      </p:sp>
      <p:sp>
        <p:nvSpPr>
          <p:cNvPr id="17" name="Text 15"/>
          <p:cNvSpPr/>
          <p:nvPr/>
        </p:nvSpPr>
        <p:spPr>
          <a:xfrm>
            <a:off x="274320" y="2834640"/>
            <a:ext cx="7863840" cy="640080"/>
          </a:xfrm>
          <a:prstGeom prst="rect">
            <a:avLst/>
          </a:prstGeom>
          <a:noFill/>
          <a:ln/>
        </p:spPr>
        <p:txBody>
          <a:bodyPr wrap="square" rtlCol="0" anchor="ctr"/>
          <a:lstStyle/>
          <a:p>
            <a:pPr marL="0" indent="0">
              <a:buNone/>
            </a:pPr>
            <a:r>
              <a:rPr lang="en-US" sz="4000" b="1" dirty="0">
                <a:solidFill>
                  <a:srgbClr val="00B4D8"/>
                </a:solidFill>
                <a:latin typeface="Calibri" pitchFamily="34" charset="0"/>
                <a:ea typeface="Calibri" pitchFamily="34" charset="-122"/>
                <a:cs typeface="Calibri" pitchFamily="34" charset="-120"/>
              </a:rPr>
              <a:t>WORKFLOW SECURITY</a:t>
            </a:r>
            <a:endParaRPr lang="en-US" sz="4000" dirty="0"/>
          </a:p>
        </p:txBody>
      </p:sp>
      <p:sp>
        <p:nvSpPr>
          <p:cNvPr id="18" name="Text 16"/>
          <p:cNvSpPr/>
          <p:nvPr/>
        </p:nvSpPr>
        <p:spPr>
          <a:xfrm>
            <a:off x="274320" y="3520440"/>
            <a:ext cx="7863840" cy="411480"/>
          </a:xfrm>
          <a:prstGeom prst="rect">
            <a:avLst/>
          </a:prstGeom>
          <a:noFill/>
          <a:ln/>
        </p:spPr>
        <p:txBody>
          <a:bodyPr wrap="square" rtlCol="0" anchor="ctr"/>
          <a:lstStyle/>
          <a:p>
            <a:pPr marL="0" indent="0">
              <a:buNone/>
            </a:pPr>
            <a:r>
              <a:rPr lang="en-US" sz="1800" i="1" dirty="0">
                <a:solidFill>
                  <a:srgbClr val="90E0EF"/>
                </a:solidFill>
                <a:latin typeface="Calibri" pitchFamily="34" charset="0"/>
                <a:ea typeface="Calibri" pitchFamily="34" charset="-122"/>
                <a:cs typeface="Calibri" pitchFamily="34" charset="-120"/>
              </a:rPr>
              <a:t>Guardrails · Governance · Compliance</a:t>
            </a:r>
            <a:endParaRPr lang="en-US" sz="1800" dirty="0"/>
          </a:p>
        </p:txBody>
      </p:sp>
      <p:sp>
        <p:nvSpPr>
          <p:cNvPr id="19" name="Text 17"/>
          <p:cNvSpPr/>
          <p:nvPr/>
        </p:nvSpPr>
        <p:spPr>
          <a:xfrm>
            <a:off x="274320" y="3977640"/>
            <a:ext cx="7863840" cy="320040"/>
          </a:xfrm>
          <a:prstGeom prst="rect">
            <a:avLst/>
          </a:prstGeom>
          <a:noFill/>
          <a:ln/>
        </p:spPr>
        <p:txBody>
          <a:bodyPr wrap="square" rtlCol="0" anchor="ctr"/>
          <a:lstStyle/>
          <a:p>
            <a:pPr marL="0" indent="0">
              <a:buNone/>
            </a:pPr>
            <a:r>
              <a:rPr lang="en-US" sz="1100" b="1" kern="0" spc="150" dirty="0">
                <a:solidFill>
                  <a:srgbClr val="E76F51"/>
                </a:solidFill>
                <a:latin typeface="Calibri" pitchFamily="34" charset="0"/>
                <a:ea typeface="Calibri" pitchFamily="34" charset="-122"/>
                <a:cs typeface="Calibri" pitchFamily="34" charset="-120"/>
              </a:rPr>
              <a:t>HOW-TO FRAMEWORK FOR ENTERPRISE ARCHITECTS</a:t>
            </a:r>
            <a:endParaRPr lang="en-US" sz="1100" dirty="0"/>
          </a:p>
        </p:txBody>
      </p:sp>
      <p:sp>
        <p:nvSpPr>
          <p:cNvPr id="20" name="Shape 18"/>
          <p:cNvSpPr/>
          <p:nvPr/>
        </p:nvSpPr>
        <p:spPr>
          <a:xfrm>
            <a:off x="274320" y="4663440"/>
            <a:ext cx="1828800" cy="292608"/>
          </a:xfrm>
          <a:prstGeom prst="rect">
            <a:avLst/>
          </a:prstGeom>
          <a:solidFill>
            <a:srgbClr val="1E3A52"/>
          </a:solidFill>
          <a:ln w="12700">
            <a:solidFill>
              <a:srgbClr val="00B4D8"/>
            </a:solidFill>
            <a:prstDash val="solid"/>
          </a:ln>
        </p:spPr>
      </p:sp>
      <p:sp>
        <p:nvSpPr>
          <p:cNvPr id="21" name="Text 19"/>
          <p:cNvSpPr/>
          <p:nvPr/>
        </p:nvSpPr>
        <p:spPr>
          <a:xfrm>
            <a:off x="274320" y="4663440"/>
            <a:ext cx="1828800" cy="292608"/>
          </a:xfrm>
          <a:prstGeom prst="rect">
            <a:avLst/>
          </a:prstGeom>
          <a:noFill/>
          <a:ln/>
        </p:spPr>
        <p:txBody>
          <a:bodyPr wrap="square" rtlCol="0" anchor="ctr"/>
          <a:lstStyle/>
          <a:p>
            <a:pPr marL="0" indent="0" algn="ctr">
              <a:buNone/>
            </a:pPr>
            <a:r>
              <a:rPr lang="en-US" sz="900" dirty="0">
                <a:solidFill>
                  <a:srgbClr val="90E0EF"/>
                </a:solidFill>
                <a:latin typeface="Calibri" pitchFamily="34" charset="0"/>
                <a:ea typeface="Calibri" pitchFamily="34" charset="-122"/>
                <a:cs typeface="Calibri" pitchFamily="34" charset="-120"/>
              </a:rPr>
              <a:t>MCP</a:t>
            </a:r>
            <a:endParaRPr lang="en-US" sz="900" dirty="0"/>
          </a:p>
        </p:txBody>
      </p:sp>
      <p:sp>
        <p:nvSpPr>
          <p:cNvPr id="22" name="Shape 20"/>
          <p:cNvSpPr/>
          <p:nvPr/>
        </p:nvSpPr>
        <p:spPr>
          <a:xfrm>
            <a:off x="274320" y="4663440"/>
            <a:ext cx="1828800" cy="292608"/>
          </a:xfrm>
          <a:prstGeom prst="rect">
            <a:avLst/>
          </a:prstGeom>
          <a:solidFill>
            <a:srgbClr val="1E3A52"/>
          </a:solidFill>
          <a:ln w="12700">
            <a:solidFill>
              <a:srgbClr val="00B4D8"/>
            </a:solidFill>
            <a:prstDash val="solid"/>
          </a:ln>
        </p:spPr>
      </p:sp>
      <p:sp>
        <p:nvSpPr>
          <p:cNvPr id="23" name="Text 21"/>
          <p:cNvSpPr/>
          <p:nvPr/>
        </p:nvSpPr>
        <p:spPr>
          <a:xfrm>
            <a:off x="274320" y="4663440"/>
            <a:ext cx="1828800" cy="292608"/>
          </a:xfrm>
          <a:prstGeom prst="rect">
            <a:avLst/>
          </a:prstGeom>
          <a:noFill/>
          <a:ln/>
        </p:spPr>
        <p:txBody>
          <a:bodyPr wrap="square" rtlCol="0" anchor="ctr"/>
          <a:lstStyle/>
          <a:p>
            <a:pPr marL="0" indent="0" algn="ctr">
              <a:buNone/>
            </a:pPr>
            <a:r>
              <a:rPr lang="en-US" sz="900" dirty="0">
                <a:solidFill>
                  <a:srgbClr val="90E0EF"/>
                </a:solidFill>
                <a:latin typeface="Calibri" pitchFamily="34" charset="0"/>
                <a:ea typeface="Calibri" pitchFamily="34" charset="-122"/>
                <a:cs typeface="Calibri" pitchFamily="34" charset="-120"/>
              </a:rPr>
              <a:t>A2A Agent Cards</a:t>
            </a:r>
            <a:endParaRPr lang="en-US" sz="900" dirty="0"/>
          </a:p>
        </p:txBody>
      </p:sp>
      <p:sp>
        <p:nvSpPr>
          <p:cNvPr id="24" name="Shape 22"/>
          <p:cNvSpPr/>
          <p:nvPr/>
        </p:nvSpPr>
        <p:spPr>
          <a:xfrm>
            <a:off x="274320" y="4663440"/>
            <a:ext cx="1828800" cy="292608"/>
          </a:xfrm>
          <a:prstGeom prst="rect">
            <a:avLst/>
          </a:prstGeom>
          <a:solidFill>
            <a:srgbClr val="1E3A52"/>
          </a:solidFill>
          <a:ln w="12700">
            <a:solidFill>
              <a:srgbClr val="00B4D8"/>
            </a:solidFill>
            <a:prstDash val="solid"/>
          </a:ln>
        </p:spPr>
      </p:sp>
      <p:sp>
        <p:nvSpPr>
          <p:cNvPr id="25" name="Text 23"/>
          <p:cNvSpPr/>
          <p:nvPr/>
        </p:nvSpPr>
        <p:spPr>
          <a:xfrm>
            <a:off x="274320" y="4663440"/>
            <a:ext cx="1828800" cy="292608"/>
          </a:xfrm>
          <a:prstGeom prst="rect">
            <a:avLst/>
          </a:prstGeom>
          <a:noFill/>
          <a:ln/>
        </p:spPr>
        <p:txBody>
          <a:bodyPr wrap="square" rtlCol="0" anchor="ctr"/>
          <a:lstStyle/>
          <a:p>
            <a:pPr marL="0" indent="0" algn="ctr">
              <a:buNone/>
            </a:pPr>
            <a:r>
              <a:rPr lang="en-US" sz="900" dirty="0">
                <a:solidFill>
                  <a:srgbClr val="90E0EF"/>
                </a:solidFill>
                <a:latin typeface="Calibri" pitchFamily="34" charset="0"/>
                <a:ea typeface="Calibri" pitchFamily="34" charset="-122"/>
                <a:cs typeface="Calibri" pitchFamily="34" charset="-120"/>
              </a:rPr>
              <a:t>BPMN / DMN</a:t>
            </a:r>
            <a:endParaRPr lang="en-US" sz="900" dirty="0"/>
          </a:p>
        </p:txBody>
      </p:sp>
      <p:sp>
        <p:nvSpPr>
          <p:cNvPr id="26" name="Shape 24"/>
          <p:cNvSpPr/>
          <p:nvPr/>
        </p:nvSpPr>
        <p:spPr>
          <a:xfrm>
            <a:off x="274320" y="4663440"/>
            <a:ext cx="1828800" cy="292608"/>
          </a:xfrm>
          <a:prstGeom prst="rect">
            <a:avLst/>
          </a:prstGeom>
          <a:solidFill>
            <a:srgbClr val="1E3A52"/>
          </a:solidFill>
          <a:ln w="12700">
            <a:solidFill>
              <a:srgbClr val="00B4D8"/>
            </a:solidFill>
            <a:prstDash val="solid"/>
          </a:ln>
        </p:spPr>
      </p:sp>
      <p:sp>
        <p:nvSpPr>
          <p:cNvPr id="27" name="Text 25"/>
          <p:cNvSpPr/>
          <p:nvPr/>
        </p:nvSpPr>
        <p:spPr>
          <a:xfrm>
            <a:off x="274320" y="4663440"/>
            <a:ext cx="1828800" cy="292608"/>
          </a:xfrm>
          <a:prstGeom prst="rect">
            <a:avLst/>
          </a:prstGeom>
          <a:noFill/>
          <a:ln/>
        </p:spPr>
        <p:txBody>
          <a:bodyPr wrap="square" rtlCol="0" anchor="ctr"/>
          <a:lstStyle/>
          <a:p>
            <a:pPr marL="0" indent="0" algn="ctr">
              <a:buNone/>
            </a:pPr>
            <a:r>
              <a:rPr lang="en-US" sz="900" dirty="0">
                <a:solidFill>
                  <a:srgbClr val="90E0EF"/>
                </a:solidFill>
                <a:latin typeface="Calibri" pitchFamily="34" charset="0"/>
                <a:ea typeface="Calibri" pitchFamily="34" charset="-122"/>
                <a:cs typeface="Calibri" pitchFamily="34" charset="-120"/>
              </a:rPr>
              <a:t>Camunda</a:t>
            </a:r>
            <a:endParaRPr lang="en-US" sz="900" dirty="0"/>
          </a:p>
        </p:txBody>
      </p:sp>
      <p:sp>
        <p:nvSpPr>
          <p:cNvPr id="28" name="Shape 26"/>
          <p:cNvSpPr/>
          <p:nvPr/>
        </p:nvSpPr>
        <p:spPr>
          <a:xfrm>
            <a:off x="274320" y="5074920"/>
            <a:ext cx="1828800" cy="292608"/>
          </a:xfrm>
          <a:prstGeom prst="rect">
            <a:avLst/>
          </a:prstGeom>
          <a:solidFill>
            <a:srgbClr val="1E3A52"/>
          </a:solidFill>
          <a:ln w="12700">
            <a:solidFill>
              <a:srgbClr val="00B4D8"/>
            </a:solidFill>
            <a:prstDash val="solid"/>
          </a:ln>
        </p:spPr>
      </p:sp>
      <p:sp>
        <p:nvSpPr>
          <p:cNvPr id="29" name="Text 27"/>
          <p:cNvSpPr/>
          <p:nvPr/>
        </p:nvSpPr>
        <p:spPr>
          <a:xfrm>
            <a:off x="274320" y="5074920"/>
            <a:ext cx="1828800" cy="292608"/>
          </a:xfrm>
          <a:prstGeom prst="rect">
            <a:avLst/>
          </a:prstGeom>
          <a:noFill/>
          <a:ln/>
        </p:spPr>
        <p:txBody>
          <a:bodyPr wrap="square" rtlCol="0" anchor="ctr"/>
          <a:lstStyle/>
          <a:p>
            <a:pPr marL="0" indent="0" algn="ctr">
              <a:buNone/>
            </a:pPr>
            <a:r>
              <a:rPr lang="en-US" sz="900" dirty="0">
                <a:solidFill>
                  <a:srgbClr val="90E0EF"/>
                </a:solidFill>
                <a:latin typeface="Calibri" pitchFamily="34" charset="0"/>
                <a:ea typeface="Calibri" pitchFamily="34" charset="-122"/>
                <a:cs typeface="Calibri" pitchFamily="34" charset="-120"/>
              </a:rPr>
              <a:t>Dapr</a:t>
            </a:r>
            <a:endParaRPr lang="en-US" sz="900" dirty="0"/>
          </a:p>
        </p:txBody>
      </p:sp>
      <p:sp>
        <p:nvSpPr>
          <p:cNvPr id="30" name="Shape 28"/>
          <p:cNvSpPr/>
          <p:nvPr/>
        </p:nvSpPr>
        <p:spPr>
          <a:xfrm>
            <a:off x="2240280" y="5074920"/>
            <a:ext cx="1828800" cy="292608"/>
          </a:xfrm>
          <a:prstGeom prst="rect">
            <a:avLst/>
          </a:prstGeom>
          <a:solidFill>
            <a:srgbClr val="1E3A52"/>
          </a:solidFill>
          <a:ln w="12700">
            <a:solidFill>
              <a:srgbClr val="00B4D8"/>
            </a:solidFill>
            <a:prstDash val="solid"/>
          </a:ln>
        </p:spPr>
      </p:sp>
      <p:sp>
        <p:nvSpPr>
          <p:cNvPr id="31" name="Text 29"/>
          <p:cNvSpPr/>
          <p:nvPr/>
        </p:nvSpPr>
        <p:spPr>
          <a:xfrm>
            <a:off x="2240280" y="5074920"/>
            <a:ext cx="1828800" cy="292608"/>
          </a:xfrm>
          <a:prstGeom prst="rect">
            <a:avLst/>
          </a:prstGeom>
          <a:noFill/>
          <a:ln/>
        </p:spPr>
        <p:txBody>
          <a:bodyPr wrap="square" rtlCol="0" anchor="ctr"/>
          <a:lstStyle/>
          <a:p>
            <a:pPr marL="0" indent="0" algn="ctr">
              <a:buNone/>
            </a:pPr>
            <a:r>
              <a:rPr lang="en-US" sz="900" dirty="0">
                <a:solidFill>
                  <a:srgbClr val="90E0EF"/>
                </a:solidFill>
                <a:latin typeface="Calibri" pitchFamily="34" charset="0"/>
                <a:ea typeface="Calibri" pitchFamily="34" charset="-122"/>
                <a:cs typeface="Calibri" pitchFamily="34" charset="-120"/>
              </a:rPr>
              <a:t>SPIFFE/SVID</a:t>
            </a:r>
            <a:endParaRPr lang="en-US" sz="900" dirty="0"/>
          </a:p>
        </p:txBody>
      </p:sp>
      <p:sp>
        <p:nvSpPr>
          <p:cNvPr id="32" name="Shape 30"/>
          <p:cNvSpPr/>
          <p:nvPr/>
        </p:nvSpPr>
        <p:spPr>
          <a:xfrm>
            <a:off x="4206240" y="5074920"/>
            <a:ext cx="1828800" cy="292608"/>
          </a:xfrm>
          <a:prstGeom prst="rect">
            <a:avLst/>
          </a:prstGeom>
          <a:solidFill>
            <a:srgbClr val="1E3A52"/>
          </a:solidFill>
          <a:ln w="12700">
            <a:solidFill>
              <a:srgbClr val="00B4D8"/>
            </a:solidFill>
            <a:prstDash val="solid"/>
          </a:ln>
        </p:spPr>
      </p:sp>
      <p:sp>
        <p:nvSpPr>
          <p:cNvPr id="33" name="Text 31"/>
          <p:cNvSpPr/>
          <p:nvPr/>
        </p:nvSpPr>
        <p:spPr>
          <a:xfrm>
            <a:off x="4206240" y="5074920"/>
            <a:ext cx="1828800" cy="292608"/>
          </a:xfrm>
          <a:prstGeom prst="rect">
            <a:avLst/>
          </a:prstGeom>
          <a:noFill/>
          <a:ln/>
        </p:spPr>
        <p:txBody>
          <a:bodyPr wrap="square" rtlCol="0" anchor="ctr"/>
          <a:lstStyle/>
          <a:p>
            <a:pPr marL="0" indent="0" algn="ctr">
              <a:buNone/>
            </a:pPr>
            <a:r>
              <a:rPr lang="en-US" sz="900" dirty="0">
                <a:solidFill>
                  <a:srgbClr val="90E0EF"/>
                </a:solidFill>
                <a:latin typeface="Calibri" pitchFamily="34" charset="0"/>
                <a:ea typeface="Calibri" pitchFamily="34" charset="-122"/>
                <a:cs typeface="Calibri" pitchFamily="34" charset="-120"/>
              </a:rPr>
              <a:t>Zero Trust</a:t>
            </a:r>
            <a:endParaRPr lang="en-US" sz="900" dirty="0"/>
          </a:p>
        </p:txBody>
      </p:sp>
      <p:sp>
        <p:nvSpPr>
          <p:cNvPr id="34" name="Text 32"/>
          <p:cNvSpPr/>
          <p:nvPr/>
        </p:nvSpPr>
        <p:spPr>
          <a:xfrm>
            <a:off x="274320" y="6263640"/>
            <a:ext cx="7315200" cy="274320"/>
          </a:xfrm>
          <a:prstGeom prst="rect">
            <a:avLst/>
          </a:prstGeom>
          <a:noFill/>
          <a:ln/>
        </p:spPr>
        <p:txBody>
          <a:bodyPr wrap="square" rtlCol="0" anchor="ctr"/>
          <a:lstStyle/>
          <a:p>
            <a:pPr marL="0" indent="0">
              <a:buNone/>
            </a:pPr>
            <a:r>
              <a:rPr lang="en-US" sz="900" dirty="0">
                <a:solidFill>
                  <a:srgbClr val="A8C4D4"/>
                </a:solidFill>
                <a:latin typeface="Calibri" pitchFamily="34" charset="0"/>
                <a:ea typeface="Calibri" pitchFamily="34" charset="-122"/>
                <a:cs typeface="Calibri" pitchFamily="34" charset="-120"/>
              </a:rPr>
              <a:t>Enterprise Architecture  |  2025–2026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sp>
      <p:sp>
        <p:nvSpPr>
          <p:cNvPr id="3" name="Shape 1"/>
          <p:cNvSpPr/>
          <p:nvPr/>
        </p:nvSpPr>
        <p:spPr>
          <a:xfrm>
            <a:off x="0" y="0"/>
            <a:ext cx="12192000" cy="1005840"/>
          </a:xfrm>
          <a:prstGeom prst="rect">
            <a:avLst/>
          </a:prstGeom>
          <a:solidFill>
            <a:srgbClr val="112240"/>
          </a:solidFill>
          <a:ln/>
        </p:spPr>
      </p:sp>
      <p:sp>
        <p:nvSpPr>
          <p:cNvPr id="4" name="Shape 2"/>
          <p:cNvSpPr/>
          <p:nvPr/>
        </p:nvSpPr>
        <p:spPr>
          <a:xfrm>
            <a:off x="0" y="0"/>
            <a:ext cx="64008" cy="1005840"/>
          </a:xfrm>
          <a:prstGeom prst="rect">
            <a:avLst/>
          </a:prstGeom>
          <a:solidFill>
            <a:srgbClr val="00B4D8"/>
          </a:solidFill>
          <a:ln/>
        </p:spPr>
      </p:sp>
      <p:sp>
        <p:nvSpPr>
          <p:cNvPr id="5" name="Text 3"/>
          <p:cNvSpPr/>
          <p:nvPr/>
        </p:nvSpPr>
        <p:spPr>
          <a:xfrm>
            <a:off x="201168" y="73152"/>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Now: The Agentic BPMN Imperative</a:t>
            </a:r>
            <a:endParaRPr lang="en-US" sz="2200" dirty="0"/>
          </a:p>
        </p:txBody>
      </p:sp>
      <p:sp>
        <p:nvSpPr>
          <p:cNvPr id="6" name="Text 4"/>
          <p:cNvSpPr/>
          <p:nvPr/>
        </p:nvSpPr>
        <p:spPr>
          <a:xfrm>
            <a:off x="201168" y="603504"/>
            <a:ext cx="9144000" cy="329184"/>
          </a:xfrm>
          <a:prstGeom prst="rect">
            <a:avLst/>
          </a:prstGeom>
          <a:noFill/>
          <a:ln/>
        </p:spPr>
        <p:txBody>
          <a:bodyPr wrap="square" rtlCol="0" anchor="ctr"/>
          <a:lstStyle/>
          <a:p>
            <a:pPr marL="0" indent="0">
              <a:buNone/>
            </a:pPr>
            <a:r>
              <a:rPr lang="en-US" sz="1200" i="1" dirty="0">
                <a:solidFill>
                  <a:srgbClr val="00B4D8"/>
                </a:solidFill>
                <a:latin typeface="Calibri" pitchFamily="34" charset="0"/>
                <a:ea typeface="Calibri" pitchFamily="34" charset="-122"/>
                <a:cs typeface="Calibri" pitchFamily="34" charset="-120"/>
              </a:rPr>
              <a:t>The convergence of AI autonomy, workflow standards, and regulatory demand</a:t>
            </a:r>
            <a:endParaRPr lang="en-US" sz="1200" dirty="0"/>
          </a:p>
        </p:txBody>
      </p:sp>
      <p:sp>
        <p:nvSpPr>
          <p:cNvPr id="7" name="Shape 5"/>
          <p:cNvSpPr/>
          <p:nvPr/>
        </p:nvSpPr>
        <p:spPr>
          <a:xfrm>
            <a:off x="0" y="6583680"/>
            <a:ext cx="12192000" cy="54864"/>
          </a:xfrm>
          <a:prstGeom prst="rect">
            <a:avLst/>
          </a:prstGeom>
          <a:solidFill>
            <a:srgbClr val="00B4D8"/>
          </a:solidFill>
          <a:ln/>
        </p:spPr>
      </p:sp>
      <p:sp>
        <p:nvSpPr>
          <p:cNvPr id="8" name="Text 6"/>
          <p:cNvSpPr/>
          <p:nvPr/>
        </p:nvSpPr>
        <p:spPr>
          <a:xfrm>
            <a:off x="182880" y="6638544"/>
            <a:ext cx="11887200" cy="201168"/>
          </a:xfrm>
          <a:prstGeom prst="rect">
            <a:avLst/>
          </a:prstGeom>
          <a:noFill/>
          <a:ln/>
        </p:spPr>
        <p:txBody>
          <a:bodyPr wrap="square" rtlCol="0" anchor="ctr"/>
          <a:lstStyle/>
          <a:p>
            <a:pPr marL="0" indent="0">
              <a:buNone/>
            </a:pPr>
            <a:r>
              <a:rPr lang="en-US" sz="800" dirty="0">
                <a:solidFill>
                  <a:srgbClr val="A8C4D4"/>
                </a:solidFill>
                <a:latin typeface="Calibri" pitchFamily="34" charset="0"/>
                <a:ea typeface="Calibri" pitchFamily="34" charset="-122"/>
                <a:cs typeface="Calibri" pitchFamily="34" charset="-120"/>
              </a:rPr>
              <a:t>CONFIDENTIAL  |  Agentic BPMN Workflow Security  |  Enterprise Architecture</a:t>
            </a:r>
            <a:endParaRPr lang="en-US" sz="800" dirty="0"/>
          </a:p>
        </p:txBody>
      </p:sp>
      <p:sp>
        <p:nvSpPr>
          <p:cNvPr id="9" name="Shape 7"/>
          <p:cNvSpPr/>
          <p:nvPr/>
        </p:nvSpPr>
        <p:spPr>
          <a:xfrm>
            <a:off x="274320" y="1188720"/>
            <a:ext cx="3657600" cy="1417320"/>
          </a:xfrm>
          <a:prstGeom prst="rect">
            <a:avLst/>
          </a:prstGeom>
          <a:solidFill>
            <a:srgbClr val="162B3F"/>
          </a:solidFill>
          <a:ln w="12700">
            <a:solidFill>
              <a:srgbClr val="00B4D8"/>
            </a:solidFill>
            <a:prstDash val="solid"/>
          </a:ln>
        </p:spPr>
      </p:sp>
      <p:sp>
        <p:nvSpPr>
          <p:cNvPr id="10" name="Text 8"/>
          <p:cNvSpPr/>
          <p:nvPr/>
        </p:nvSpPr>
        <p:spPr>
          <a:xfrm>
            <a:off x="274320" y="1234440"/>
            <a:ext cx="3657600" cy="685800"/>
          </a:xfrm>
          <a:prstGeom prst="rect">
            <a:avLst/>
          </a:prstGeom>
          <a:noFill/>
          <a:ln/>
        </p:spPr>
        <p:txBody>
          <a:bodyPr wrap="square" rtlCol="0" anchor="ctr"/>
          <a:lstStyle/>
          <a:p>
            <a:pPr marL="0" indent="0" algn="ctr">
              <a:buNone/>
            </a:pPr>
            <a:r>
              <a:rPr lang="en-US" sz="4200" b="1" dirty="0">
                <a:solidFill>
                  <a:srgbClr val="00B4D8"/>
                </a:solidFill>
                <a:latin typeface="Calibri" pitchFamily="34" charset="0"/>
                <a:ea typeface="Calibri" pitchFamily="34" charset="-122"/>
                <a:cs typeface="Calibri" pitchFamily="34" charset="-120"/>
              </a:rPr>
              <a:t>85%</a:t>
            </a:r>
            <a:endParaRPr lang="en-US" sz="4200" dirty="0"/>
          </a:p>
        </p:txBody>
      </p:sp>
      <p:sp>
        <p:nvSpPr>
          <p:cNvPr id="11" name="Text 9"/>
          <p:cNvSpPr/>
          <p:nvPr/>
        </p:nvSpPr>
        <p:spPr>
          <a:xfrm>
            <a:off x="365760" y="1920240"/>
            <a:ext cx="3474720" cy="457200"/>
          </a:xfrm>
          <a:prstGeom prst="rect">
            <a:avLst/>
          </a:prstGeom>
          <a:noFill/>
          <a:ln/>
        </p:spPr>
        <p:txBody>
          <a:bodyPr wrap="square" rtlCol="0" anchor="ctr"/>
          <a:lstStyle/>
          <a:p>
            <a:pPr marL="0" indent="0" algn="ctr">
              <a:buNone/>
            </a:pPr>
            <a:r>
              <a:rPr lang="en-US" sz="1000" dirty="0">
                <a:solidFill>
                  <a:srgbClr val="E8F4F8"/>
                </a:solidFill>
                <a:latin typeface="Calibri" pitchFamily="34" charset="0"/>
                <a:ea typeface="Calibri" pitchFamily="34" charset="-122"/>
                <a:cs typeface="Calibri" pitchFamily="34" charset="-120"/>
              </a:rPr>
              <a:t>of enterprises face challenges operationalizing AI at scale</a:t>
            </a:r>
            <a:endParaRPr lang="en-US" sz="1000" dirty="0"/>
          </a:p>
        </p:txBody>
      </p:sp>
      <p:sp>
        <p:nvSpPr>
          <p:cNvPr id="12" name="Text 10"/>
          <p:cNvSpPr/>
          <p:nvPr/>
        </p:nvSpPr>
        <p:spPr>
          <a:xfrm>
            <a:off x="365760" y="2395728"/>
            <a:ext cx="3474720" cy="182880"/>
          </a:xfrm>
          <a:prstGeom prst="rect">
            <a:avLst/>
          </a:prstGeom>
          <a:noFill/>
          <a:ln/>
        </p:spPr>
        <p:txBody>
          <a:bodyPr wrap="square" rtlCol="0" anchor="ctr"/>
          <a:lstStyle/>
          <a:p>
            <a:pPr marL="0" indent="0" algn="ctr">
              <a:buNone/>
            </a:pPr>
            <a:r>
              <a:rPr lang="en-US" sz="750" i="1" dirty="0">
                <a:solidFill>
                  <a:srgbClr val="A8C4D4"/>
                </a:solidFill>
                <a:latin typeface="Calibri" pitchFamily="34" charset="0"/>
                <a:ea typeface="Calibri" pitchFamily="34" charset="-122"/>
                <a:cs typeface="Calibri" pitchFamily="34" charset="-120"/>
              </a:rPr>
              <a:t>Camunda 2025 State of Orchestration</a:t>
            </a:r>
            <a:endParaRPr lang="en-US" sz="750" dirty="0"/>
          </a:p>
        </p:txBody>
      </p:sp>
      <p:sp>
        <p:nvSpPr>
          <p:cNvPr id="13" name="Shape 11"/>
          <p:cNvSpPr/>
          <p:nvPr/>
        </p:nvSpPr>
        <p:spPr>
          <a:xfrm>
            <a:off x="4206240" y="1188720"/>
            <a:ext cx="3657600" cy="1417320"/>
          </a:xfrm>
          <a:prstGeom prst="rect">
            <a:avLst/>
          </a:prstGeom>
          <a:solidFill>
            <a:srgbClr val="162B3F"/>
          </a:solidFill>
          <a:ln w="12700">
            <a:solidFill>
              <a:srgbClr val="00B4D8"/>
            </a:solidFill>
            <a:prstDash val="solid"/>
          </a:ln>
        </p:spPr>
      </p:sp>
      <p:sp>
        <p:nvSpPr>
          <p:cNvPr id="14" name="Text 12"/>
          <p:cNvSpPr/>
          <p:nvPr/>
        </p:nvSpPr>
        <p:spPr>
          <a:xfrm>
            <a:off x="4206240" y="1234440"/>
            <a:ext cx="3657600" cy="685800"/>
          </a:xfrm>
          <a:prstGeom prst="rect">
            <a:avLst/>
          </a:prstGeom>
          <a:noFill/>
          <a:ln/>
        </p:spPr>
        <p:txBody>
          <a:bodyPr wrap="square" rtlCol="0" anchor="ctr"/>
          <a:lstStyle/>
          <a:p>
            <a:pPr marL="0" indent="0" algn="ctr">
              <a:buNone/>
            </a:pPr>
            <a:r>
              <a:rPr lang="en-US" sz="4200" b="1" dirty="0">
                <a:solidFill>
                  <a:srgbClr val="00B4D8"/>
                </a:solidFill>
                <a:latin typeface="Calibri" pitchFamily="34" charset="0"/>
                <a:ea typeface="Calibri" pitchFamily="34" charset="-122"/>
                <a:cs typeface="Calibri" pitchFamily="34" charset="-120"/>
              </a:rPr>
              <a:t>75%</a:t>
            </a:r>
            <a:endParaRPr lang="en-US" sz="4200" dirty="0"/>
          </a:p>
        </p:txBody>
      </p:sp>
      <p:sp>
        <p:nvSpPr>
          <p:cNvPr id="15" name="Text 13"/>
          <p:cNvSpPr/>
          <p:nvPr/>
        </p:nvSpPr>
        <p:spPr>
          <a:xfrm>
            <a:off x="4297680" y="1920240"/>
            <a:ext cx="3474720" cy="457200"/>
          </a:xfrm>
          <a:prstGeom prst="rect">
            <a:avLst/>
          </a:prstGeom>
          <a:noFill/>
          <a:ln/>
        </p:spPr>
        <p:txBody>
          <a:bodyPr wrap="square" rtlCol="0" anchor="ctr"/>
          <a:lstStyle/>
          <a:p>
            <a:pPr marL="0" indent="0" algn="ctr">
              <a:buNone/>
            </a:pPr>
            <a:r>
              <a:rPr lang="en-US" sz="1000" dirty="0">
                <a:solidFill>
                  <a:srgbClr val="E8F4F8"/>
                </a:solidFill>
                <a:latin typeface="Calibri" pitchFamily="34" charset="0"/>
                <a:ea typeface="Calibri" pitchFamily="34" charset="-122"/>
                <a:cs typeface="Calibri" pitchFamily="34" charset="-120"/>
              </a:rPr>
              <a:t>cite security, compliance &amp; auditability as top agent deployment barriers</a:t>
            </a:r>
            <a:endParaRPr lang="en-US" sz="1000" dirty="0"/>
          </a:p>
        </p:txBody>
      </p:sp>
      <p:sp>
        <p:nvSpPr>
          <p:cNvPr id="16" name="Text 14"/>
          <p:cNvSpPr/>
          <p:nvPr/>
        </p:nvSpPr>
        <p:spPr>
          <a:xfrm>
            <a:off x="4297680" y="2395728"/>
            <a:ext cx="3474720" cy="182880"/>
          </a:xfrm>
          <a:prstGeom prst="rect">
            <a:avLst/>
          </a:prstGeom>
          <a:noFill/>
          <a:ln/>
        </p:spPr>
        <p:txBody>
          <a:bodyPr wrap="square" rtlCol="0" anchor="ctr"/>
          <a:lstStyle/>
          <a:p>
            <a:pPr marL="0" indent="0" algn="ctr">
              <a:buNone/>
            </a:pPr>
            <a:r>
              <a:rPr lang="en-US" sz="750" i="1" dirty="0">
                <a:solidFill>
                  <a:srgbClr val="A8C4D4"/>
                </a:solidFill>
                <a:latin typeface="Calibri" pitchFamily="34" charset="0"/>
                <a:ea typeface="Calibri" pitchFamily="34" charset="-122"/>
                <a:cs typeface="Calibri" pitchFamily="34" charset="-120"/>
              </a:rPr>
              <a:t>KPMG 2026 Enterprise Survey</a:t>
            </a:r>
            <a:endParaRPr lang="en-US" sz="750" dirty="0"/>
          </a:p>
        </p:txBody>
      </p:sp>
      <p:sp>
        <p:nvSpPr>
          <p:cNvPr id="17" name="Shape 15"/>
          <p:cNvSpPr/>
          <p:nvPr/>
        </p:nvSpPr>
        <p:spPr>
          <a:xfrm>
            <a:off x="8138160" y="1188720"/>
            <a:ext cx="3657600" cy="1417320"/>
          </a:xfrm>
          <a:prstGeom prst="rect">
            <a:avLst/>
          </a:prstGeom>
          <a:solidFill>
            <a:srgbClr val="162B3F"/>
          </a:solidFill>
          <a:ln w="12700">
            <a:solidFill>
              <a:srgbClr val="00B4D8"/>
            </a:solidFill>
            <a:prstDash val="solid"/>
          </a:ln>
        </p:spPr>
      </p:sp>
      <p:sp>
        <p:nvSpPr>
          <p:cNvPr id="18" name="Text 16"/>
          <p:cNvSpPr/>
          <p:nvPr/>
        </p:nvSpPr>
        <p:spPr>
          <a:xfrm>
            <a:off x="8138160" y="1234440"/>
            <a:ext cx="3657600" cy="685800"/>
          </a:xfrm>
          <a:prstGeom prst="rect">
            <a:avLst/>
          </a:prstGeom>
          <a:noFill/>
          <a:ln/>
        </p:spPr>
        <p:txBody>
          <a:bodyPr wrap="square" rtlCol="0" anchor="ctr"/>
          <a:lstStyle/>
          <a:p>
            <a:pPr marL="0" indent="0" algn="ctr">
              <a:buNone/>
            </a:pPr>
            <a:r>
              <a:rPr lang="en-US" sz="4200" b="1" dirty="0">
                <a:solidFill>
                  <a:srgbClr val="00B4D8"/>
                </a:solidFill>
                <a:latin typeface="Calibri" pitchFamily="34" charset="0"/>
                <a:ea typeface="Calibri" pitchFamily="34" charset="-122"/>
                <a:cs typeface="Calibri" pitchFamily="34" charset="-120"/>
              </a:rPr>
              <a:t>30%</a:t>
            </a:r>
            <a:endParaRPr lang="en-US" sz="4200" dirty="0"/>
          </a:p>
        </p:txBody>
      </p:sp>
      <p:sp>
        <p:nvSpPr>
          <p:cNvPr id="19" name="Text 17"/>
          <p:cNvSpPr/>
          <p:nvPr/>
        </p:nvSpPr>
        <p:spPr>
          <a:xfrm>
            <a:off x="8229600" y="1920240"/>
            <a:ext cx="3474720" cy="457200"/>
          </a:xfrm>
          <a:prstGeom prst="rect">
            <a:avLst/>
          </a:prstGeom>
          <a:noFill/>
          <a:ln/>
        </p:spPr>
        <p:txBody>
          <a:bodyPr wrap="square" rtlCol="0" anchor="ctr"/>
          <a:lstStyle/>
          <a:p>
            <a:pPr marL="0" indent="0" algn="ctr">
              <a:buNone/>
            </a:pPr>
            <a:r>
              <a:rPr lang="en-US" sz="1000" dirty="0">
                <a:solidFill>
                  <a:srgbClr val="E8F4F8"/>
                </a:solidFill>
                <a:latin typeface="Calibri" pitchFamily="34" charset="0"/>
                <a:ea typeface="Calibri" pitchFamily="34" charset="-122"/>
                <a:cs typeface="Calibri" pitchFamily="34" charset="-120"/>
              </a:rPr>
              <a:t>of enterprises will rely on autonomous AI agents triggering transactions by 2026</a:t>
            </a:r>
            <a:endParaRPr lang="en-US" sz="1000" dirty="0"/>
          </a:p>
        </p:txBody>
      </p:sp>
      <p:sp>
        <p:nvSpPr>
          <p:cNvPr id="20" name="Text 18"/>
          <p:cNvSpPr/>
          <p:nvPr/>
        </p:nvSpPr>
        <p:spPr>
          <a:xfrm>
            <a:off x="8229600" y="2395728"/>
            <a:ext cx="3474720" cy="182880"/>
          </a:xfrm>
          <a:prstGeom prst="rect">
            <a:avLst/>
          </a:prstGeom>
          <a:noFill/>
          <a:ln/>
        </p:spPr>
        <p:txBody>
          <a:bodyPr wrap="square" rtlCol="0" anchor="ctr"/>
          <a:lstStyle/>
          <a:p>
            <a:pPr marL="0" indent="0" algn="ctr">
              <a:buNone/>
            </a:pPr>
            <a:r>
              <a:rPr lang="en-US" sz="750" i="1" dirty="0">
                <a:solidFill>
                  <a:srgbClr val="A8C4D4"/>
                </a:solidFill>
                <a:latin typeface="Calibri" pitchFamily="34" charset="0"/>
                <a:ea typeface="Calibri" pitchFamily="34" charset="-122"/>
                <a:cs typeface="Calibri" pitchFamily="34" charset="-120"/>
              </a:rPr>
              <a:t>Gartner 2025 Forecast</a:t>
            </a:r>
            <a:endParaRPr lang="en-US" sz="750" dirty="0"/>
          </a:p>
        </p:txBody>
      </p:sp>
      <p:sp>
        <p:nvSpPr>
          <p:cNvPr id="21" name="Text 19"/>
          <p:cNvSpPr/>
          <p:nvPr/>
        </p:nvSpPr>
        <p:spPr>
          <a:xfrm>
            <a:off x="274320" y="2834640"/>
            <a:ext cx="11612880" cy="347472"/>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What Is Agentic BPMN?</a:t>
            </a:r>
            <a:endParaRPr lang="en-US" sz="1400" dirty="0"/>
          </a:p>
        </p:txBody>
      </p:sp>
      <p:sp>
        <p:nvSpPr>
          <p:cNvPr id="22" name="Shape 20"/>
          <p:cNvSpPr/>
          <p:nvPr/>
        </p:nvSpPr>
        <p:spPr>
          <a:xfrm>
            <a:off x="274320" y="3291840"/>
            <a:ext cx="54864" cy="548640"/>
          </a:xfrm>
          <a:prstGeom prst="rect">
            <a:avLst/>
          </a:prstGeom>
          <a:solidFill>
            <a:srgbClr val="00B4D8"/>
          </a:solidFill>
          <a:ln/>
        </p:spPr>
      </p:sp>
      <p:sp>
        <p:nvSpPr>
          <p:cNvPr id="23" name="Text 21"/>
          <p:cNvSpPr/>
          <p:nvPr/>
        </p:nvSpPr>
        <p:spPr>
          <a:xfrm>
            <a:off x="457200" y="3291840"/>
            <a:ext cx="5212080" cy="685800"/>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BPMN (Business Process Model and Notation) provides deterministic, auditable, executable workflow orchestration — the compliance officer audits the same model that ships to production.</a:t>
            </a:r>
            <a:endParaRPr lang="en-US" sz="950" dirty="0"/>
          </a:p>
        </p:txBody>
      </p:sp>
      <p:sp>
        <p:nvSpPr>
          <p:cNvPr id="24" name="Shape 22"/>
          <p:cNvSpPr/>
          <p:nvPr/>
        </p:nvSpPr>
        <p:spPr>
          <a:xfrm>
            <a:off x="274320" y="4069080"/>
            <a:ext cx="54864" cy="548640"/>
          </a:xfrm>
          <a:prstGeom prst="rect">
            <a:avLst/>
          </a:prstGeom>
          <a:solidFill>
            <a:srgbClr val="00B4D8"/>
          </a:solidFill>
          <a:ln/>
        </p:spPr>
      </p:sp>
      <p:sp>
        <p:nvSpPr>
          <p:cNvPr id="25" name="Text 23"/>
          <p:cNvSpPr/>
          <p:nvPr/>
        </p:nvSpPr>
        <p:spPr>
          <a:xfrm>
            <a:off x="457200" y="4069080"/>
            <a:ext cx="5212080" cy="685800"/>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AI Agents embed inside BPMN task nodes where probabilistic reasoning adds value — clinical judgment, document extraction, triage — while deterministic BPMN enforces sequencing, SLAs and audit trails.</a:t>
            </a:r>
            <a:endParaRPr lang="en-US" sz="950" dirty="0"/>
          </a:p>
        </p:txBody>
      </p:sp>
      <p:sp>
        <p:nvSpPr>
          <p:cNvPr id="26" name="Shape 24"/>
          <p:cNvSpPr/>
          <p:nvPr/>
        </p:nvSpPr>
        <p:spPr>
          <a:xfrm>
            <a:off x="274320" y="4846320"/>
            <a:ext cx="54864" cy="548640"/>
          </a:xfrm>
          <a:prstGeom prst="rect">
            <a:avLst/>
          </a:prstGeom>
          <a:solidFill>
            <a:srgbClr val="00B4D8"/>
          </a:solidFill>
          <a:ln/>
        </p:spPr>
      </p:sp>
      <p:sp>
        <p:nvSpPr>
          <p:cNvPr id="27" name="Text 25"/>
          <p:cNvSpPr/>
          <p:nvPr/>
        </p:nvSpPr>
        <p:spPr>
          <a:xfrm>
            <a:off x="457200" y="4846320"/>
            <a:ext cx="5212080" cy="685800"/>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DMN (Decision Model &amp; Notation) replaces ad-hoc AI decisions with explicit, versionable business rules — ensuring regulatory consistency at every gateway.</a:t>
            </a:r>
            <a:endParaRPr lang="en-US" sz="950" dirty="0"/>
          </a:p>
        </p:txBody>
      </p:sp>
      <p:sp>
        <p:nvSpPr>
          <p:cNvPr id="28" name="Shape 26"/>
          <p:cNvSpPr/>
          <p:nvPr/>
        </p:nvSpPr>
        <p:spPr>
          <a:xfrm>
            <a:off x="6035040" y="3291840"/>
            <a:ext cx="54864" cy="548640"/>
          </a:xfrm>
          <a:prstGeom prst="rect">
            <a:avLst/>
          </a:prstGeom>
          <a:solidFill>
            <a:srgbClr val="E76F51"/>
          </a:solidFill>
          <a:ln/>
        </p:spPr>
      </p:sp>
      <p:sp>
        <p:nvSpPr>
          <p:cNvPr id="29" name="Text 27"/>
          <p:cNvSpPr/>
          <p:nvPr/>
        </p:nvSpPr>
        <p:spPr>
          <a:xfrm>
            <a:off x="6217920" y="3291840"/>
            <a:ext cx="5577840" cy="685800"/>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MCP / CLI connections wire agents to tools and resources through a standardised JSON-RPC interface with OAuth 2.1 scoped tokens and mTLS transport.</a:t>
            </a:r>
            <a:endParaRPr lang="en-US" sz="950" dirty="0"/>
          </a:p>
        </p:txBody>
      </p:sp>
      <p:sp>
        <p:nvSpPr>
          <p:cNvPr id="30" name="Shape 28"/>
          <p:cNvSpPr/>
          <p:nvPr/>
        </p:nvSpPr>
        <p:spPr>
          <a:xfrm>
            <a:off x="6035040" y="4069080"/>
            <a:ext cx="54864" cy="548640"/>
          </a:xfrm>
          <a:prstGeom prst="rect">
            <a:avLst/>
          </a:prstGeom>
          <a:solidFill>
            <a:srgbClr val="E76F51"/>
          </a:solidFill>
          <a:ln/>
        </p:spPr>
      </p:sp>
      <p:sp>
        <p:nvSpPr>
          <p:cNvPr id="31" name="Text 29"/>
          <p:cNvSpPr/>
          <p:nvPr/>
        </p:nvSpPr>
        <p:spPr>
          <a:xfrm>
            <a:off x="6217920" y="4069080"/>
            <a:ext cx="5577840" cy="685800"/>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Agent Cards (A2A / Open Agent Spec) make agents discoverable in a registry — publishing capabilities, auth requirements and trust level in machine-readable JSON-LD metadata.</a:t>
            </a:r>
            <a:endParaRPr lang="en-US" sz="950" dirty="0"/>
          </a:p>
        </p:txBody>
      </p:sp>
      <p:sp>
        <p:nvSpPr>
          <p:cNvPr id="32" name="Shape 30"/>
          <p:cNvSpPr/>
          <p:nvPr/>
        </p:nvSpPr>
        <p:spPr>
          <a:xfrm>
            <a:off x="6035040" y="4846320"/>
            <a:ext cx="54864" cy="548640"/>
          </a:xfrm>
          <a:prstGeom prst="rect">
            <a:avLst/>
          </a:prstGeom>
          <a:solidFill>
            <a:srgbClr val="E76F51"/>
          </a:solidFill>
          <a:ln/>
        </p:spPr>
      </p:sp>
      <p:sp>
        <p:nvSpPr>
          <p:cNvPr id="33" name="Text 31"/>
          <p:cNvSpPr/>
          <p:nvPr/>
        </p:nvSpPr>
        <p:spPr>
          <a:xfrm>
            <a:off x="6217920" y="4846320"/>
            <a:ext cx="5577840" cy="685800"/>
          </a:xfrm>
          <a:prstGeom prst="rect">
            <a:avLst/>
          </a:prstGeom>
          <a:noFill/>
          <a:ln/>
        </p:spPr>
        <p:txBody>
          <a:bodyPr wrap="square" rtlCol="0" anchor="ctr"/>
          <a:lstStyle/>
          <a:p>
            <a:pPr marL="0" indent="0">
              <a:buNone/>
            </a:pPr>
            <a:r>
              <a:rPr lang="en-US" sz="950" dirty="0">
                <a:solidFill>
                  <a:srgbClr val="E8F4F8"/>
                </a:solidFill>
                <a:latin typeface="Calibri" pitchFamily="34" charset="0"/>
                <a:ea typeface="Calibri" pitchFamily="34" charset="-122"/>
                <a:cs typeface="Calibri" pitchFamily="34" charset="-120"/>
              </a:rPr>
              <a:t>Platforms like Camunda, Dapr, and Cohere Health supply the orchestration layer that brings state management, human-in-the-loop gates, retry logic and compliance traceability.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sp>
      <p:sp>
        <p:nvSpPr>
          <p:cNvPr id="3" name="Shape 1"/>
          <p:cNvSpPr/>
          <p:nvPr/>
        </p:nvSpPr>
        <p:spPr>
          <a:xfrm>
            <a:off x="0" y="0"/>
            <a:ext cx="12192000" cy="1005840"/>
          </a:xfrm>
          <a:prstGeom prst="rect">
            <a:avLst/>
          </a:prstGeom>
          <a:solidFill>
            <a:srgbClr val="112240"/>
          </a:solidFill>
          <a:ln/>
        </p:spPr>
      </p:sp>
      <p:sp>
        <p:nvSpPr>
          <p:cNvPr id="4" name="Shape 2"/>
          <p:cNvSpPr/>
          <p:nvPr/>
        </p:nvSpPr>
        <p:spPr>
          <a:xfrm>
            <a:off x="0" y="0"/>
            <a:ext cx="64008" cy="1005840"/>
          </a:xfrm>
          <a:prstGeom prst="rect">
            <a:avLst/>
          </a:prstGeom>
          <a:solidFill>
            <a:srgbClr val="00B4D8"/>
          </a:solidFill>
          <a:ln/>
        </p:spPr>
      </p:sp>
      <p:sp>
        <p:nvSpPr>
          <p:cNvPr id="5" name="Text 3"/>
          <p:cNvSpPr/>
          <p:nvPr/>
        </p:nvSpPr>
        <p:spPr>
          <a:xfrm>
            <a:off x="201168" y="73152"/>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Reference Architecture: Agentic BPMN Workflow Stack</a:t>
            </a:r>
            <a:endParaRPr lang="en-US" sz="2200" dirty="0"/>
          </a:p>
        </p:txBody>
      </p:sp>
      <p:sp>
        <p:nvSpPr>
          <p:cNvPr id="6" name="Text 4"/>
          <p:cNvSpPr/>
          <p:nvPr/>
        </p:nvSpPr>
        <p:spPr>
          <a:xfrm>
            <a:off x="201168" y="603504"/>
            <a:ext cx="9144000" cy="329184"/>
          </a:xfrm>
          <a:prstGeom prst="rect">
            <a:avLst/>
          </a:prstGeom>
          <a:noFill/>
          <a:ln/>
        </p:spPr>
        <p:txBody>
          <a:bodyPr wrap="square" rtlCol="0" anchor="ctr"/>
          <a:lstStyle/>
          <a:p>
            <a:pPr marL="0" indent="0">
              <a:buNone/>
            </a:pPr>
            <a:r>
              <a:rPr lang="en-US" sz="1200" i="1" dirty="0">
                <a:solidFill>
                  <a:srgbClr val="00B4D8"/>
                </a:solidFill>
                <a:latin typeface="Calibri" pitchFamily="34" charset="0"/>
                <a:ea typeface="Calibri" pitchFamily="34" charset="-122"/>
                <a:cs typeface="Calibri" pitchFamily="34" charset="-120"/>
              </a:rPr>
              <a:t>Five layers from agent registry through to execution infrastructure</a:t>
            </a:r>
            <a:endParaRPr lang="en-US" sz="1200" dirty="0"/>
          </a:p>
        </p:txBody>
      </p:sp>
      <p:sp>
        <p:nvSpPr>
          <p:cNvPr id="7" name="Shape 5"/>
          <p:cNvSpPr/>
          <p:nvPr/>
        </p:nvSpPr>
        <p:spPr>
          <a:xfrm>
            <a:off x="0" y="6583680"/>
            <a:ext cx="12192000" cy="54864"/>
          </a:xfrm>
          <a:prstGeom prst="rect">
            <a:avLst/>
          </a:prstGeom>
          <a:solidFill>
            <a:srgbClr val="00B4D8"/>
          </a:solidFill>
          <a:ln/>
        </p:spPr>
      </p:sp>
      <p:sp>
        <p:nvSpPr>
          <p:cNvPr id="8" name="Text 6"/>
          <p:cNvSpPr/>
          <p:nvPr/>
        </p:nvSpPr>
        <p:spPr>
          <a:xfrm>
            <a:off x="182880" y="6638544"/>
            <a:ext cx="11887200" cy="201168"/>
          </a:xfrm>
          <a:prstGeom prst="rect">
            <a:avLst/>
          </a:prstGeom>
          <a:noFill/>
          <a:ln/>
        </p:spPr>
        <p:txBody>
          <a:bodyPr wrap="square" rtlCol="0" anchor="ctr"/>
          <a:lstStyle/>
          <a:p>
            <a:pPr marL="0" indent="0">
              <a:buNone/>
            </a:pPr>
            <a:r>
              <a:rPr lang="en-US" sz="800" dirty="0">
                <a:solidFill>
                  <a:srgbClr val="A8C4D4"/>
                </a:solidFill>
                <a:latin typeface="Calibri" pitchFamily="34" charset="0"/>
                <a:ea typeface="Calibri" pitchFamily="34" charset="-122"/>
                <a:cs typeface="Calibri" pitchFamily="34" charset="-120"/>
              </a:rPr>
              <a:t>CONFIDENTIAL  |  Agentic BPMN Workflow Security  |  Enterprise Architecture</a:t>
            </a:r>
            <a:endParaRPr lang="en-US" sz="800" dirty="0"/>
          </a:p>
        </p:txBody>
      </p:sp>
      <p:sp>
        <p:nvSpPr>
          <p:cNvPr id="9" name="Shape 7"/>
          <p:cNvSpPr/>
          <p:nvPr/>
        </p:nvSpPr>
        <p:spPr>
          <a:xfrm>
            <a:off x="274320" y="1097280"/>
            <a:ext cx="8229600" cy="841248"/>
          </a:xfrm>
          <a:prstGeom prst="rect">
            <a:avLst/>
          </a:prstGeom>
          <a:solidFill>
            <a:srgbClr val="7B2D8B"/>
          </a:solidFill>
          <a:ln w="12700">
            <a:solidFill>
              <a:srgbClr val="00B4D8"/>
            </a:solidFill>
            <a:prstDash val="solid"/>
          </a:ln>
        </p:spPr>
      </p:sp>
      <p:sp>
        <p:nvSpPr>
          <p:cNvPr id="10" name="Shape 8"/>
          <p:cNvSpPr/>
          <p:nvPr/>
        </p:nvSpPr>
        <p:spPr>
          <a:xfrm>
            <a:off x="347472" y="1225296"/>
            <a:ext cx="566928" cy="566928"/>
          </a:xfrm>
          <a:prstGeom prst="ellipse">
            <a:avLst/>
          </a:prstGeom>
          <a:solidFill>
            <a:srgbClr val="0D1B2A"/>
          </a:solidFill>
          <a:ln w="12700">
            <a:solidFill>
              <a:srgbClr val="FFFFFF"/>
            </a:solidFill>
            <a:prstDash val="solid"/>
          </a:ln>
        </p:spPr>
      </p:sp>
      <p:sp>
        <p:nvSpPr>
          <p:cNvPr id="11" name="Text 9"/>
          <p:cNvSpPr/>
          <p:nvPr/>
        </p:nvSpPr>
        <p:spPr>
          <a:xfrm>
            <a:off x="347472" y="1225296"/>
            <a:ext cx="566928" cy="566928"/>
          </a:xfrm>
          <a:prstGeom prst="rect">
            <a:avLst/>
          </a:prstGeom>
          <a:noFill/>
          <a:ln/>
        </p:spPr>
        <p:txBody>
          <a:bodyPr wrap="square" rtlCol="0" anchor="ctr"/>
          <a:lstStyle/>
          <a:p>
            <a:pPr marL="0" indent="0" algn="ctr">
              <a:buNone/>
            </a:pPr>
            <a:r>
              <a:rPr lang="en-US" sz="1400" dirty="0">
                <a:solidFill>
                  <a:srgbClr val="FFFFFF"/>
                </a:solidFill>
              </a:rPr>
              <a:t>⊕</a:t>
            </a:r>
            <a:endParaRPr lang="en-US" sz="1400" dirty="0"/>
          </a:p>
        </p:txBody>
      </p:sp>
      <p:sp>
        <p:nvSpPr>
          <p:cNvPr id="12" name="Text 10"/>
          <p:cNvSpPr/>
          <p:nvPr/>
        </p:nvSpPr>
        <p:spPr>
          <a:xfrm>
            <a:off x="1051560" y="1170432"/>
            <a:ext cx="731520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AGENT REGISTRY</a:t>
            </a:r>
            <a:endParaRPr lang="en-US" sz="1200" dirty="0"/>
          </a:p>
        </p:txBody>
      </p:sp>
      <p:sp>
        <p:nvSpPr>
          <p:cNvPr id="13" name="Text 11"/>
          <p:cNvSpPr/>
          <p:nvPr/>
        </p:nvSpPr>
        <p:spPr>
          <a:xfrm>
            <a:off x="1051560" y="1499616"/>
            <a:ext cx="7315200" cy="347472"/>
          </a:xfrm>
          <a:prstGeom prst="rect">
            <a:avLst/>
          </a:prstGeom>
          <a:noFill/>
          <a:ln/>
        </p:spPr>
        <p:txBody>
          <a:bodyPr wrap="square" rtlCol="0" anchor="ctr"/>
          <a:lstStyle/>
          <a:p>
            <a:pPr marL="0" indent="0">
              <a:buNone/>
            </a:pPr>
            <a:r>
              <a:rPr lang="en-US" sz="900" dirty="0">
                <a:solidFill>
                  <a:srgbClr val="90E0EF"/>
                </a:solidFill>
                <a:latin typeface="Calibri" pitchFamily="34" charset="0"/>
                <a:ea typeface="Calibri" pitchFamily="34" charset="-122"/>
                <a:cs typeface="Calibri" pitchFamily="34" charset="-120"/>
              </a:rPr>
              <a:t>Agent Cards · Open Agent Spec · MCP Registry · Microsoft Entra Agent ID</a:t>
            </a:r>
            <a:endParaRPr lang="en-US" sz="900" dirty="0"/>
          </a:p>
        </p:txBody>
      </p:sp>
      <p:sp>
        <p:nvSpPr>
          <p:cNvPr id="14" name="Shape 12"/>
          <p:cNvSpPr/>
          <p:nvPr/>
        </p:nvSpPr>
        <p:spPr>
          <a:xfrm>
            <a:off x="8275320" y="1353312"/>
            <a:ext cx="256032" cy="310896"/>
          </a:xfrm>
          <a:prstGeom prst="rect">
            <a:avLst/>
          </a:prstGeom>
          <a:solidFill>
            <a:srgbClr val="E76F51"/>
          </a:solidFill>
          <a:ln/>
        </p:spPr>
      </p:sp>
      <p:sp>
        <p:nvSpPr>
          <p:cNvPr id="15" name="Text 13"/>
          <p:cNvSpPr/>
          <p:nvPr/>
        </p:nvSpPr>
        <p:spPr>
          <a:xfrm>
            <a:off x="8275320" y="1353312"/>
            <a:ext cx="25603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L1</a:t>
            </a:r>
            <a:endParaRPr lang="en-US" sz="900" dirty="0"/>
          </a:p>
        </p:txBody>
      </p:sp>
      <p:sp>
        <p:nvSpPr>
          <p:cNvPr id="16" name="Shape 14"/>
          <p:cNvSpPr/>
          <p:nvPr/>
        </p:nvSpPr>
        <p:spPr>
          <a:xfrm>
            <a:off x="4206240" y="1938528"/>
            <a:ext cx="109728" cy="128016"/>
          </a:xfrm>
          <a:prstGeom prst="rect">
            <a:avLst/>
          </a:prstGeom>
          <a:solidFill>
            <a:srgbClr val="00B4D8"/>
          </a:solidFill>
          <a:ln/>
        </p:spPr>
      </p:sp>
      <p:sp>
        <p:nvSpPr>
          <p:cNvPr id="17" name="Shape 15"/>
          <p:cNvSpPr/>
          <p:nvPr/>
        </p:nvSpPr>
        <p:spPr>
          <a:xfrm>
            <a:off x="274320" y="2066544"/>
            <a:ext cx="8229600" cy="841248"/>
          </a:xfrm>
          <a:prstGeom prst="rect">
            <a:avLst/>
          </a:prstGeom>
          <a:solidFill>
            <a:srgbClr val="0077B6"/>
          </a:solidFill>
          <a:ln w="12700">
            <a:solidFill>
              <a:srgbClr val="00B4D8"/>
            </a:solidFill>
            <a:prstDash val="solid"/>
          </a:ln>
        </p:spPr>
      </p:sp>
      <p:sp>
        <p:nvSpPr>
          <p:cNvPr id="18" name="Shape 16"/>
          <p:cNvSpPr/>
          <p:nvPr/>
        </p:nvSpPr>
        <p:spPr>
          <a:xfrm>
            <a:off x="347472" y="2194560"/>
            <a:ext cx="566928" cy="566928"/>
          </a:xfrm>
          <a:prstGeom prst="ellipse">
            <a:avLst/>
          </a:prstGeom>
          <a:solidFill>
            <a:srgbClr val="0D1B2A"/>
          </a:solidFill>
          <a:ln w="12700">
            <a:solidFill>
              <a:srgbClr val="FFFFFF"/>
            </a:solidFill>
            <a:prstDash val="solid"/>
          </a:ln>
        </p:spPr>
      </p:sp>
      <p:sp>
        <p:nvSpPr>
          <p:cNvPr id="19" name="Text 17"/>
          <p:cNvSpPr/>
          <p:nvPr/>
        </p:nvSpPr>
        <p:spPr>
          <a:xfrm>
            <a:off x="347472" y="2194560"/>
            <a:ext cx="566928" cy="566928"/>
          </a:xfrm>
          <a:prstGeom prst="rect">
            <a:avLst/>
          </a:prstGeom>
          <a:noFill/>
          <a:ln/>
        </p:spPr>
        <p:txBody>
          <a:bodyPr wrap="square" rtlCol="0" anchor="ctr"/>
          <a:lstStyle/>
          <a:p>
            <a:pPr marL="0" indent="0" algn="ctr">
              <a:buNone/>
            </a:pPr>
            <a:r>
              <a:rPr lang="en-US" sz="1400" dirty="0">
                <a:solidFill>
                  <a:srgbClr val="FFFFFF"/>
                </a:solidFill>
              </a:rPr>
              <a:t>⟳</a:t>
            </a:r>
            <a:endParaRPr lang="en-US" sz="1400" dirty="0"/>
          </a:p>
        </p:txBody>
      </p:sp>
      <p:sp>
        <p:nvSpPr>
          <p:cNvPr id="20" name="Text 18"/>
          <p:cNvSpPr/>
          <p:nvPr/>
        </p:nvSpPr>
        <p:spPr>
          <a:xfrm>
            <a:off x="1051560" y="2139696"/>
            <a:ext cx="731520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ORCHESTRATION PLATFORM</a:t>
            </a:r>
            <a:endParaRPr lang="en-US" sz="1200" dirty="0"/>
          </a:p>
        </p:txBody>
      </p:sp>
      <p:sp>
        <p:nvSpPr>
          <p:cNvPr id="21" name="Text 19"/>
          <p:cNvSpPr/>
          <p:nvPr/>
        </p:nvSpPr>
        <p:spPr>
          <a:xfrm>
            <a:off x="1051560" y="2468880"/>
            <a:ext cx="7315200" cy="347472"/>
          </a:xfrm>
          <a:prstGeom prst="rect">
            <a:avLst/>
          </a:prstGeom>
          <a:noFill/>
          <a:ln/>
        </p:spPr>
        <p:txBody>
          <a:bodyPr wrap="square" rtlCol="0" anchor="ctr"/>
          <a:lstStyle/>
          <a:p>
            <a:pPr marL="0" indent="0">
              <a:buNone/>
            </a:pPr>
            <a:r>
              <a:rPr lang="en-US" sz="900" dirty="0">
                <a:solidFill>
                  <a:srgbClr val="90E0EF"/>
                </a:solidFill>
                <a:latin typeface="Calibri" pitchFamily="34" charset="0"/>
                <a:ea typeface="Calibri" pitchFamily="34" charset="-122"/>
                <a:cs typeface="Calibri" pitchFamily="34" charset="-120"/>
              </a:rPr>
              <a:t>Camunda (BPMN / DMN)  ·  Dapr Workflow  ·  Cohere Health  ·  Temporal</a:t>
            </a:r>
            <a:endParaRPr lang="en-US" sz="900" dirty="0"/>
          </a:p>
        </p:txBody>
      </p:sp>
      <p:sp>
        <p:nvSpPr>
          <p:cNvPr id="22" name="Shape 20"/>
          <p:cNvSpPr/>
          <p:nvPr/>
        </p:nvSpPr>
        <p:spPr>
          <a:xfrm>
            <a:off x="8275320" y="2322576"/>
            <a:ext cx="256032" cy="310896"/>
          </a:xfrm>
          <a:prstGeom prst="rect">
            <a:avLst/>
          </a:prstGeom>
          <a:solidFill>
            <a:srgbClr val="E76F51"/>
          </a:solidFill>
          <a:ln/>
        </p:spPr>
      </p:sp>
      <p:sp>
        <p:nvSpPr>
          <p:cNvPr id="23" name="Text 21"/>
          <p:cNvSpPr/>
          <p:nvPr/>
        </p:nvSpPr>
        <p:spPr>
          <a:xfrm>
            <a:off x="8275320" y="2322576"/>
            <a:ext cx="25603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L2</a:t>
            </a:r>
            <a:endParaRPr lang="en-US" sz="900" dirty="0"/>
          </a:p>
        </p:txBody>
      </p:sp>
      <p:sp>
        <p:nvSpPr>
          <p:cNvPr id="24" name="Shape 22"/>
          <p:cNvSpPr/>
          <p:nvPr/>
        </p:nvSpPr>
        <p:spPr>
          <a:xfrm>
            <a:off x="4206240" y="2907792"/>
            <a:ext cx="109728" cy="128016"/>
          </a:xfrm>
          <a:prstGeom prst="rect">
            <a:avLst/>
          </a:prstGeom>
          <a:solidFill>
            <a:srgbClr val="00B4D8"/>
          </a:solidFill>
          <a:ln/>
        </p:spPr>
      </p:sp>
      <p:sp>
        <p:nvSpPr>
          <p:cNvPr id="25" name="Shape 23"/>
          <p:cNvSpPr/>
          <p:nvPr/>
        </p:nvSpPr>
        <p:spPr>
          <a:xfrm>
            <a:off x="274320" y="3035808"/>
            <a:ext cx="8229600" cy="841248"/>
          </a:xfrm>
          <a:prstGeom prst="rect">
            <a:avLst/>
          </a:prstGeom>
          <a:solidFill>
            <a:srgbClr val="00B4D8"/>
          </a:solidFill>
          <a:ln w="12700">
            <a:solidFill>
              <a:srgbClr val="00B4D8"/>
            </a:solidFill>
            <a:prstDash val="solid"/>
          </a:ln>
        </p:spPr>
      </p:sp>
      <p:sp>
        <p:nvSpPr>
          <p:cNvPr id="26" name="Shape 24"/>
          <p:cNvSpPr/>
          <p:nvPr/>
        </p:nvSpPr>
        <p:spPr>
          <a:xfrm>
            <a:off x="347472" y="3163824"/>
            <a:ext cx="566928" cy="566928"/>
          </a:xfrm>
          <a:prstGeom prst="ellipse">
            <a:avLst/>
          </a:prstGeom>
          <a:solidFill>
            <a:srgbClr val="0D1B2A"/>
          </a:solidFill>
          <a:ln w="12700">
            <a:solidFill>
              <a:srgbClr val="FFFFFF"/>
            </a:solidFill>
            <a:prstDash val="solid"/>
          </a:ln>
        </p:spPr>
      </p:sp>
      <p:sp>
        <p:nvSpPr>
          <p:cNvPr id="27" name="Text 25"/>
          <p:cNvSpPr/>
          <p:nvPr/>
        </p:nvSpPr>
        <p:spPr>
          <a:xfrm>
            <a:off x="347472" y="3163824"/>
            <a:ext cx="566928" cy="566928"/>
          </a:xfrm>
          <a:prstGeom prst="rect">
            <a:avLst/>
          </a:prstGeom>
          <a:noFill/>
          <a:ln/>
        </p:spPr>
        <p:txBody>
          <a:bodyPr wrap="square" rtlCol="0" anchor="ctr"/>
          <a:lstStyle/>
          <a:p>
            <a:pPr marL="0" indent="0" algn="ctr">
              <a:buNone/>
            </a:pPr>
            <a:r>
              <a:rPr lang="en-US" sz="1400" dirty="0">
                <a:solidFill>
                  <a:srgbClr val="FFFFFF"/>
                </a:solidFill>
              </a:rPr>
              <a:t>⇄</a:t>
            </a:r>
            <a:endParaRPr lang="en-US" sz="1400" dirty="0"/>
          </a:p>
        </p:txBody>
      </p:sp>
      <p:sp>
        <p:nvSpPr>
          <p:cNvPr id="28" name="Text 26"/>
          <p:cNvSpPr/>
          <p:nvPr/>
        </p:nvSpPr>
        <p:spPr>
          <a:xfrm>
            <a:off x="1051560" y="3108960"/>
            <a:ext cx="731520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AGENT COMMUNICATION</a:t>
            </a:r>
            <a:endParaRPr lang="en-US" sz="1200" dirty="0"/>
          </a:p>
        </p:txBody>
      </p:sp>
      <p:sp>
        <p:nvSpPr>
          <p:cNvPr id="29" name="Text 27"/>
          <p:cNvSpPr/>
          <p:nvPr/>
        </p:nvSpPr>
        <p:spPr>
          <a:xfrm>
            <a:off x="1051560" y="3438144"/>
            <a:ext cx="7315200" cy="347472"/>
          </a:xfrm>
          <a:prstGeom prst="rect">
            <a:avLst/>
          </a:prstGeom>
          <a:noFill/>
          <a:ln/>
        </p:spPr>
        <p:txBody>
          <a:bodyPr wrap="square" rtlCol="0" anchor="ctr"/>
          <a:lstStyle/>
          <a:p>
            <a:pPr marL="0" indent="0">
              <a:buNone/>
            </a:pPr>
            <a:r>
              <a:rPr lang="en-US" sz="900" dirty="0">
                <a:solidFill>
                  <a:srgbClr val="90E0EF"/>
                </a:solidFill>
                <a:latin typeface="Calibri" pitchFamily="34" charset="0"/>
                <a:ea typeface="Calibri" pitchFamily="34" charset="-122"/>
                <a:cs typeface="Calibri" pitchFamily="34" charset="-120"/>
              </a:rPr>
              <a:t>MCP (JSON-RPC 2.1 + OAuth 2.1)  ·  A2A Protocol  ·  CLI Adapters  ·  Agent Gateway</a:t>
            </a:r>
            <a:endParaRPr lang="en-US" sz="900" dirty="0"/>
          </a:p>
        </p:txBody>
      </p:sp>
      <p:sp>
        <p:nvSpPr>
          <p:cNvPr id="30" name="Shape 28"/>
          <p:cNvSpPr/>
          <p:nvPr/>
        </p:nvSpPr>
        <p:spPr>
          <a:xfrm>
            <a:off x="8275320" y="3291840"/>
            <a:ext cx="256032" cy="310896"/>
          </a:xfrm>
          <a:prstGeom prst="rect">
            <a:avLst/>
          </a:prstGeom>
          <a:solidFill>
            <a:srgbClr val="E76F51"/>
          </a:solidFill>
          <a:ln/>
        </p:spPr>
      </p:sp>
      <p:sp>
        <p:nvSpPr>
          <p:cNvPr id="31" name="Text 29"/>
          <p:cNvSpPr/>
          <p:nvPr/>
        </p:nvSpPr>
        <p:spPr>
          <a:xfrm>
            <a:off x="8275320" y="3291840"/>
            <a:ext cx="25603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L3</a:t>
            </a:r>
            <a:endParaRPr lang="en-US" sz="900" dirty="0"/>
          </a:p>
        </p:txBody>
      </p:sp>
      <p:sp>
        <p:nvSpPr>
          <p:cNvPr id="32" name="Shape 30"/>
          <p:cNvSpPr/>
          <p:nvPr/>
        </p:nvSpPr>
        <p:spPr>
          <a:xfrm>
            <a:off x="4206240" y="3877056"/>
            <a:ext cx="109728" cy="128016"/>
          </a:xfrm>
          <a:prstGeom prst="rect">
            <a:avLst/>
          </a:prstGeom>
          <a:solidFill>
            <a:srgbClr val="00B4D8"/>
          </a:solidFill>
          <a:ln/>
        </p:spPr>
      </p:sp>
      <p:sp>
        <p:nvSpPr>
          <p:cNvPr id="33" name="Shape 31"/>
          <p:cNvSpPr/>
          <p:nvPr/>
        </p:nvSpPr>
        <p:spPr>
          <a:xfrm>
            <a:off x="274320" y="4005072"/>
            <a:ext cx="8229600" cy="841248"/>
          </a:xfrm>
          <a:prstGeom prst="rect">
            <a:avLst/>
          </a:prstGeom>
          <a:solidFill>
            <a:srgbClr val="155E75"/>
          </a:solidFill>
          <a:ln w="12700">
            <a:solidFill>
              <a:srgbClr val="00B4D8"/>
            </a:solidFill>
            <a:prstDash val="solid"/>
          </a:ln>
        </p:spPr>
      </p:sp>
      <p:sp>
        <p:nvSpPr>
          <p:cNvPr id="34" name="Shape 32"/>
          <p:cNvSpPr/>
          <p:nvPr/>
        </p:nvSpPr>
        <p:spPr>
          <a:xfrm>
            <a:off x="347472" y="4133088"/>
            <a:ext cx="566928" cy="566928"/>
          </a:xfrm>
          <a:prstGeom prst="ellipse">
            <a:avLst/>
          </a:prstGeom>
          <a:solidFill>
            <a:srgbClr val="0D1B2A"/>
          </a:solidFill>
          <a:ln w="12700">
            <a:solidFill>
              <a:srgbClr val="FFFFFF"/>
            </a:solidFill>
            <a:prstDash val="solid"/>
          </a:ln>
        </p:spPr>
      </p:sp>
      <p:sp>
        <p:nvSpPr>
          <p:cNvPr id="35" name="Text 33"/>
          <p:cNvSpPr/>
          <p:nvPr/>
        </p:nvSpPr>
        <p:spPr>
          <a:xfrm>
            <a:off x="347472" y="4133088"/>
            <a:ext cx="566928" cy="566928"/>
          </a:xfrm>
          <a:prstGeom prst="rect">
            <a:avLst/>
          </a:prstGeom>
          <a:noFill/>
          <a:ln/>
        </p:spPr>
        <p:txBody>
          <a:bodyPr wrap="square" rtlCol="0" anchor="ctr"/>
          <a:lstStyle/>
          <a:p>
            <a:pPr marL="0" indent="0" algn="ctr">
              <a:buNone/>
            </a:pPr>
            <a:r>
              <a:rPr lang="en-US" sz="1400" dirty="0">
                <a:solidFill>
                  <a:srgbClr val="FFFFFF"/>
                </a:solidFill>
              </a:rPr>
              <a:t>⚡</a:t>
            </a:r>
            <a:endParaRPr lang="en-US" sz="1400" dirty="0"/>
          </a:p>
        </p:txBody>
      </p:sp>
      <p:sp>
        <p:nvSpPr>
          <p:cNvPr id="36" name="Text 34"/>
          <p:cNvSpPr/>
          <p:nvPr/>
        </p:nvSpPr>
        <p:spPr>
          <a:xfrm>
            <a:off x="1051560" y="4078224"/>
            <a:ext cx="731520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AGENT EXECUTION LAYER</a:t>
            </a:r>
            <a:endParaRPr lang="en-US" sz="1200" dirty="0"/>
          </a:p>
        </p:txBody>
      </p:sp>
      <p:sp>
        <p:nvSpPr>
          <p:cNvPr id="37" name="Text 35"/>
          <p:cNvSpPr/>
          <p:nvPr/>
        </p:nvSpPr>
        <p:spPr>
          <a:xfrm>
            <a:off x="1051560" y="4407408"/>
            <a:ext cx="7315200" cy="347472"/>
          </a:xfrm>
          <a:prstGeom prst="rect">
            <a:avLst/>
          </a:prstGeom>
          <a:noFill/>
          <a:ln/>
        </p:spPr>
        <p:txBody>
          <a:bodyPr wrap="square" rtlCol="0" anchor="ctr"/>
          <a:lstStyle/>
          <a:p>
            <a:pPr marL="0" indent="0">
              <a:buNone/>
            </a:pPr>
            <a:r>
              <a:rPr lang="en-US" sz="900" dirty="0">
                <a:solidFill>
                  <a:srgbClr val="90E0EF"/>
                </a:solidFill>
                <a:latin typeface="Calibri" pitchFamily="34" charset="0"/>
                <a:ea typeface="Calibri" pitchFamily="34" charset="-122"/>
                <a:cs typeface="Calibri" pitchFamily="34" charset="-120"/>
              </a:rPr>
              <a:t>LLM Workers (Claude · GPT-4o · Gemini)  ·  Specialized Agents  ·  Tool Servers</a:t>
            </a:r>
            <a:endParaRPr lang="en-US" sz="900" dirty="0"/>
          </a:p>
        </p:txBody>
      </p:sp>
      <p:sp>
        <p:nvSpPr>
          <p:cNvPr id="38" name="Shape 36"/>
          <p:cNvSpPr/>
          <p:nvPr/>
        </p:nvSpPr>
        <p:spPr>
          <a:xfrm>
            <a:off x="8275320" y="4261104"/>
            <a:ext cx="256032" cy="310896"/>
          </a:xfrm>
          <a:prstGeom prst="rect">
            <a:avLst/>
          </a:prstGeom>
          <a:solidFill>
            <a:srgbClr val="E76F51"/>
          </a:solidFill>
          <a:ln/>
        </p:spPr>
      </p:sp>
      <p:sp>
        <p:nvSpPr>
          <p:cNvPr id="39" name="Text 37"/>
          <p:cNvSpPr/>
          <p:nvPr/>
        </p:nvSpPr>
        <p:spPr>
          <a:xfrm>
            <a:off x="8275320" y="4261104"/>
            <a:ext cx="25603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L4</a:t>
            </a:r>
            <a:endParaRPr lang="en-US" sz="900" dirty="0"/>
          </a:p>
        </p:txBody>
      </p:sp>
      <p:sp>
        <p:nvSpPr>
          <p:cNvPr id="40" name="Shape 38"/>
          <p:cNvSpPr/>
          <p:nvPr/>
        </p:nvSpPr>
        <p:spPr>
          <a:xfrm>
            <a:off x="4206240" y="4846320"/>
            <a:ext cx="109728" cy="128016"/>
          </a:xfrm>
          <a:prstGeom prst="rect">
            <a:avLst/>
          </a:prstGeom>
          <a:solidFill>
            <a:srgbClr val="00B4D8"/>
          </a:solidFill>
          <a:ln/>
        </p:spPr>
      </p:sp>
      <p:sp>
        <p:nvSpPr>
          <p:cNvPr id="41" name="Shape 39"/>
          <p:cNvSpPr/>
          <p:nvPr/>
        </p:nvSpPr>
        <p:spPr>
          <a:xfrm>
            <a:off x="274320" y="4974336"/>
            <a:ext cx="8229600" cy="841248"/>
          </a:xfrm>
          <a:prstGeom prst="rect">
            <a:avLst/>
          </a:prstGeom>
          <a:solidFill>
            <a:srgbClr val="1A3A4A"/>
          </a:solidFill>
          <a:ln w="12700">
            <a:solidFill>
              <a:srgbClr val="00B4D8"/>
            </a:solidFill>
            <a:prstDash val="solid"/>
          </a:ln>
        </p:spPr>
      </p:sp>
      <p:sp>
        <p:nvSpPr>
          <p:cNvPr id="42" name="Shape 40"/>
          <p:cNvSpPr/>
          <p:nvPr/>
        </p:nvSpPr>
        <p:spPr>
          <a:xfrm>
            <a:off x="347472" y="5102352"/>
            <a:ext cx="566928" cy="566928"/>
          </a:xfrm>
          <a:prstGeom prst="ellipse">
            <a:avLst/>
          </a:prstGeom>
          <a:solidFill>
            <a:srgbClr val="0D1B2A"/>
          </a:solidFill>
          <a:ln w="12700">
            <a:solidFill>
              <a:srgbClr val="FFFFFF"/>
            </a:solidFill>
            <a:prstDash val="solid"/>
          </a:ln>
        </p:spPr>
      </p:sp>
      <p:sp>
        <p:nvSpPr>
          <p:cNvPr id="43" name="Text 41"/>
          <p:cNvSpPr/>
          <p:nvPr/>
        </p:nvSpPr>
        <p:spPr>
          <a:xfrm>
            <a:off x="347472" y="5102352"/>
            <a:ext cx="566928" cy="566928"/>
          </a:xfrm>
          <a:prstGeom prst="rect">
            <a:avLst/>
          </a:prstGeom>
          <a:noFill/>
          <a:ln/>
        </p:spPr>
        <p:txBody>
          <a:bodyPr wrap="square" rtlCol="0" anchor="ctr"/>
          <a:lstStyle/>
          <a:p>
            <a:pPr marL="0" indent="0" algn="ctr">
              <a:buNone/>
            </a:pPr>
            <a:r>
              <a:rPr lang="en-US" sz="1400" dirty="0">
                <a:solidFill>
                  <a:srgbClr val="FFFFFF"/>
                </a:solidFill>
              </a:rPr>
              <a:t>🔐</a:t>
            </a:r>
            <a:endParaRPr lang="en-US" sz="1400" dirty="0"/>
          </a:p>
        </p:txBody>
      </p:sp>
      <p:sp>
        <p:nvSpPr>
          <p:cNvPr id="44" name="Text 42"/>
          <p:cNvSpPr/>
          <p:nvPr/>
        </p:nvSpPr>
        <p:spPr>
          <a:xfrm>
            <a:off x="1051560" y="5047488"/>
            <a:ext cx="731520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INFRASTRUCTURE &amp; IDENTITY</a:t>
            </a:r>
            <a:endParaRPr lang="en-US" sz="1200" dirty="0"/>
          </a:p>
        </p:txBody>
      </p:sp>
      <p:sp>
        <p:nvSpPr>
          <p:cNvPr id="45" name="Text 43"/>
          <p:cNvSpPr/>
          <p:nvPr/>
        </p:nvSpPr>
        <p:spPr>
          <a:xfrm>
            <a:off x="1051560" y="5376672"/>
            <a:ext cx="7315200" cy="347472"/>
          </a:xfrm>
          <a:prstGeom prst="rect">
            <a:avLst/>
          </a:prstGeom>
          <a:noFill/>
          <a:ln/>
        </p:spPr>
        <p:txBody>
          <a:bodyPr wrap="square" rtlCol="0" anchor="ctr"/>
          <a:lstStyle/>
          <a:p>
            <a:pPr marL="0" indent="0">
              <a:buNone/>
            </a:pPr>
            <a:r>
              <a:rPr lang="en-US" sz="900" dirty="0">
                <a:solidFill>
                  <a:srgbClr val="90E0EF"/>
                </a:solidFill>
                <a:latin typeface="Calibri" pitchFamily="34" charset="0"/>
                <a:ea typeface="Calibri" pitchFamily="34" charset="-122"/>
                <a:cs typeface="Calibri" pitchFamily="34" charset="-120"/>
              </a:rPr>
              <a:t>SPIFFE/SPIRE  ·  HashiCorp Vault  ·  Kubernetes  ·  mTLS  ·  SIEM / OTEL</a:t>
            </a:r>
            <a:endParaRPr lang="en-US" sz="900" dirty="0"/>
          </a:p>
        </p:txBody>
      </p:sp>
      <p:sp>
        <p:nvSpPr>
          <p:cNvPr id="46" name="Shape 44"/>
          <p:cNvSpPr/>
          <p:nvPr/>
        </p:nvSpPr>
        <p:spPr>
          <a:xfrm>
            <a:off x="8275320" y="5230368"/>
            <a:ext cx="256032" cy="310896"/>
          </a:xfrm>
          <a:prstGeom prst="rect">
            <a:avLst/>
          </a:prstGeom>
          <a:solidFill>
            <a:srgbClr val="E76F51"/>
          </a:solidFill>
          <a:ln/>
        </p:spPr>
      </p:sp>
      <p:sp>
        <p:nvSpPr>
          <p:cNvPr id="47" name="Text 45"/>
          <p:cNvSpPr/>
          <p:nvPr/>
        </p:nvSpPr>
        <p:spPr>
          <a:xfrm>
            <a:off x="8275320" y="5230368"/>
            <a:ext cx="25603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L5</a:t>
            </a:r>
            <a:endParaRPr lang="en-US" sz="900" dirty="0"/>
          </a:p>
        </p:txBody>
      </p:sp>
      <p:sp>
        <p:nvSpPr>
          <p:cNvPr id="48" name="Shape 46"/>
          <p:cNvSpPr/>
          <p:nvPr/>
        </p:nvSpPr>
        <p:spPr>
          <a:xfrm>
            <a:off x="8778240" y="1097280"/>
            <a:ext cx="3063240" cy="5120640"/>
          </a:xfrm>
          <a:prstGeom prst="rect">
            <a:avLst/>
          </a:prstGeom>
          <a:solidFill>
            <a:srgbClr val="162B3F"/>
          </a:solidFill>
          <a:ln w="12700">
            <a:solidFill>
              <a:srgbClr val="00B4D8"/>
            </a:solidFill>
            <a:prstDash val="solid"/>
          </a:ln>
        </p:spPr>
      </p:sp>
      <p:sp>
        <p:nvSpPr>
          <p:cNvPr id="49" name="Text 47"/>
          <p:cNvSpPr/>
          <p:nvPr/>
        </p:nvSpPr>
        <p:spPr>
          <a:xfrm>
            <a:off x="8869680" y="1170432"/>
            <a:ext cx="2834640" cy="310896"/>
          </a:xfrm>
          <a:prstGeom prst="rect">
            <a:avLst/>
          </a:prstGeom>
          <a:noFill/>
          <a:ln/>
        </p:spPr>
        <p:txBody>
          <a:bodyPr wrap="square"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AGENT DISCOVERY FLOW</a:t>
            </a:r>
            <a:endParaRPr lang="en-US" sz="900" dirty="0"/>
          </a:p>
        </p:txBody>
      </p:sp>
      <p:sp>
        <p:nvSpPr>
          <p:cNvPr id="50" name="Shape 48"/>
          <p:cNvSpPr/>
          <p:nvPr/>
        </p:nvSpPr>
        <p:spPr>
          <a:xfrm>
            <a:off x="8851392" y="1572768"/>
            <a:ext cx="2880360" cy="658368"/>
          </a:xfrm>
          <a:prstGeom prst="rect">
            <a:avLst/>
          </a:prstGeom>
          <a:solidFill>
            <a:srgbClr val="0D1B2A"/>
          </a:solidFill>
          <a:ln w="12700">
            <a:solidFill>
              <a:srgbClr val="1E3A52"/>
            </a:solidFill>
            <a:prstDash val="solid"/>
          </a:ln>
        </p:spPr>
      </p:sp>
      <p:sp>
        <p:nvSpPr>
          <p:cNvPr id="51" name="Text 49"/>
          <p:cNvSpPr/>
          <p:nvPr/>
        </p:nvSpPr>
        <p:spPr>
          <a:xfrm>
            <a:off x="8887968" y="1591056"/>
            <a:ext cx="2816352" cy="621792"/>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① Agent publishes Agent Card</a:t>
            </a:r>
            <a:endParaRPr lang="en-US" sz="850" dirty="0"/>
          </a:p>
          <a:p>
            <a:pPr marL="0" indent="0">
              <a:buNone/>
            </a:pPr>
            <a:r>
              <a:rPr lang="en-US" sz="850" dirty="0">
                <a:solidFill>
                  <a:srgbClr val="E8F4F8"/>
                </a:solidFill>
                <a:latin typeface="Calibri" pitchFamily="34" charset="0"/>
                <a:ea typeface="Calibri" pitchFamily="34" charset="-122"/>
                <a:cs typeface="Calibri" pitchFamily="34" charset="-120"/>
              </a:rPr>
              <a:t>   to registry (well-known URL)</a:t>
            </a:r>
            <a:endParaRPr lang="en-US" sz="850" dirty="0"/>
          </a:p>
        </p:txBody>
      </p:sp>
      <p:sp>
        <p:nvSpPr>
          <p:cNvPr id="52" name="Shape 50"/>
          <p:cNvSpPr/>
          <p:nvPr/>
        </p:nvSpPr>
        <p:spPr>
          <a:xfrm>
            <a:off x="8851392" y="2322576"/>
            <a:ext cx="2880360" cy="658368"/>
          </a:xfrm>
          <a:prstGeom prst="rect">
            <a:avLst/>
          </a:prstGeom>
          <a:solidFill>
            <a:srgbClr val="112240"/>
          </a:solidFill>
          <a:ln w="12700">
            <a:solidFill>
              <a:srgbClr val="1E3A52"/>
            </a:solidFill>
            <a:prstDash val="solid"/>
          </a:ln>
        </p:spPr>
      </p:sp>
      <p:sp>
        <p:nvSpPr>
          <p:cNvPr id="53" name="Text 51"/>
          <p:cNvSpPr/>
          <p:nvPr/>
        </p:nvSpPr>
        <p:spPr>
          <a:xfrm>
            <a:off x="8887968" y="2340864"/>
            <a:ext cx="2816352" cy="621792"/>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② Orchestrator queries registry</a:t>
            </a:r>
            <a:endParaRPr lang="en-US" sz="850" dirty="0"/>
          </a:p>
          <a:p>
            <a:pPr marL="0" indent="0">
              <a:buNone/>
            </a:pPr>
            <a:r>
              <a:rPr lang="en-US" sz="850" dirty="0">
                <a:solidFill>
                  <a:srgbClr val="E8F4F8"/>
                </a:solidFill>
                <a:latin typeface="Calibri" pitchFamily="34" charset="0"/>
                <a:ea typeface="Calibri" pitchFamily="34" charset="-122"/>
                <a:cs typeface="Calibri" pitchFamily="34" charset="-120"/>
              </a:rPr>
              <a:t>   for capability match</a:t>
            </a:r>
            <a:endParaRPr lang="en-US" sz="850" dirty="0"/>
          </a:p>
        </p:txBody>
      </p:sp>
      <p:sp>
        <p:nvSpPr>
          <p:cNvPr id="54" name="Shape 52"/>
          <p:cNvSpPr/>
          <p:nvPr/>
        </p:nvSpPr>
        <p:spPr>
          <a:xfrm>
            <a:off x="8851392" y="3072384"/>
            <a:ext cx="2880360" cy="658368"/>
          </a:xfrm>
          <a:prstGeom prst="rect">
            <a:avLst/>
          </a:prstGeom>
          <a:solidFill>
            <a:srgbClr val="0D1B2A"/>
          </a:solidFill>
          <a:ln w="12700">
            <a:solidFill>
              <a:srgbClr val="1E3A52"/>
            </a:solidFill>
            <a:prstDash val="solid"/>
          </a:ln>
        </p:spPr>
      </p:sp>
      <p:sp>
        <p:nvSpPr>
          <p:cNvPr id="55" name="Text 53"/>
          <p:cNvSpPr/>
          <p:nvPr/>
        </p:nvSpPr>
        <p:spPr>
          <a:xfrm>
            <a:off x="8887968" y="3090672"/>
            <a:ext cx="2816352" cy="621792"/>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③ Registry returns signed</a:t>
            </a:r>
            <a:endParaRPr lang="en-US" sz="850" dirty="0"/>
          </a:p>
          <a:p>
            <a:pPr marL="0" indent="0">
              <a:buNone/>
            </a:pPr>
            <a:r>
              <a:rPr lang="en-US" sz="850" dirty="0">
                <a:solidFill>
                  <a:srgbClr val="E8F4F8"/>
                </a:solidFill>
                <a:latin typeface="Calibri" pitchFamily="34" charset="0"/>
                <a:ea typeface="Calibri" pitchFamily="34" charset="-122"/>
                <a:cs typeface="Calibri" pitchFamily="34" charset="-120"/>
              </a:rPr>
              <a:t>   Agent Card + trust score</a:t>
            </a:r>
            <a:endParaRPr lang="en-US" sz="850" dirty="0"/>
          </a:p>
        </p:txBody>
      </p:sp>
      <p:sp>
        <p:nvSpPr>
          <p:cNvPr id="56" name="Shape 54"/>
          <p:cNvSpPr/>
          <p:nvPr/>
        </p:nvSpPr>
        <p:spPr>
          <a:xfrm>
            <a:off x="8851392" y="3822192"/>
            <a:ext cx="2880360" cy="658368"/>
          </a:xfrm>
          <a:prstGeom prst="rect">
            <a:avLst/>
          </a:prstGeom>
          <a:solidFill>
            <a:srgbClr val="112240"/>
          </a:solidFill>
          <a:ln w="12700">
            <a:solidFill>
              <a:srgbClr val="1E3A52"/>
            </a:solidFill>
            <a:prstDash val="solid"/>
          </a:ln>
        </p:spPr>
      </p:sp>
      <p:sp>
        <p:nvSpPr>
          <p:cNvPr id="57" name="Text 55"/>
          <p:cNvSpPr/>
          <p:nvPr/>
        </p:nvSpPr>
        <p:spPr>
          <a:xfrm>
            <a:off x="8887968" y="3840480"/>
            <a:ext cx="2816352" cy="621792"/>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④ BPMN engine invokes agent</a:t>
            </a:r>
            <a:endParaRPr lang="en-US" sz="850" dirty="0"/>
          </a:p>
          <a:p>
            <a:pPr marL="0" indent="0">
              <a:buNone/>
            </a:pPr>
            <a:r>
              <a:rPr lang="en-US" sz="850" dirty="0">
                <a:solidFill>
                  <a:srgbClr val="E8F4F8"/>
                </a:solidFill>
                <a:latin typeface="Calibri" pitchFamily="34" charset="0"/>
                <a:ea typeface="Calibri" pitchFamily="34" charset="-122"/>
                <a:cs typeface="Calibri" pitchFamily="34" charset="-120"/>
              </a:rPr>
              <a:t>   via MCP / CLI with SVID auth</a:t>
            </a:r>
            <a:endParaRPr lang="en-US" sz="850" dirty="0"/>
          </a:p>
        </p:txBody>
      </p:sp>
      <p:sp>
        <p:nvSpPr>
          <p:cNvPr id="58" name="Shape 56"/>
          <p:cNvSpPr/>
          <p:nvPr/>
        </p:nvSpPr>
        <p:spPr>
          <a:xfrm>
            <a:off x="8851392" y="4572000"/>
            <a:ext cx="2880360" cy="658368"/>
          </a:xfrm>
          <a:prstGeom prst="rect">
            <a:avLst/>
          </a:prstGeom>
          <a:solidFill>
            <a:srgbClr val="0D1B2A"/>
          </a:solidFill>
          <a:ln w="12700">
            <a:solidFill>
              <a:srgbClr val="1E3A52"/>
            </a:solidFill>
            <a:prstDash val="solid"/>
          </a:ln>
        </p:spPr>
      </p:sp>
      <p:sp>
        <p:nvSpPr>
          <p:cNvPr id="59" name="Text 57"/>
          <p:cNvSpPr/>
          <p:nvPr/>
        </p:nvSpPr>
        <p:spPr>
          <a:xfrm>
            <a:off x="8887968" y="4590288"/>
            <a:ext cx="2816352" cy="621792"/>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⑤ Agent executes, streams</a:t>
            </a:r>
            <a:endParaRPr lang="en-US" sz="850" dirty="0"/>
          </a:p>
          <a:p>
            <a:pPr marL="0" indent="0">
              <a:buNone/>
            </a:pPr>
            <a:r>
              <a:rPr lang="en-US" sz="850" dirty="0">
                <a:solidFill>
                  <a:srgbClr val="E8F4F8"/>
                </a:solidFill>
                <a:latin typeface="Calibri" pitchFamily="34" charset="0"/>
                <a:ea typeface="Calibri" pitchFamily="34" charset="-122"/>
                <a:cs typeface="Calibri" pitchFamily="34" charset="-120"/>
              </a:rPr>
              <a:t>   result back to BPMN task</a:t>
            </a:r>
            <a:endParaRPr lang="en-US" sz="850" dirty="0"/>
          </a:p>
        </p:txBody>
      </p:sp>
      <p:sp>
        <p:nvSpPr>
          <p:cNvPr id="60" name="Shape 58"/>
          <p:cNvSpPr/>
          <p:nvPr/>
        </p:nvSpPr>
        <p:spPr>
          <a:xfrm>
            <a:off x="8851392" y="5321808"/>
            <a:ext cx="2880360" cy="658368"/>
          </a:xfrm>
          <a:prstGeom prst="rect">
            <a:avLst/>
          </a:prstGeom>
          <a:solidFill>
            <a:srgbClr val="112240"/>
          </a:solidFill>
          <a:ln w="12700">
            <a:solidFill>
              <a:srgbClr val="1E3A52"/>
            </a:solidFill>
            <a:prstDash val="solid"/>
          </a:ln>
        </p:spPr>
      </p:sp>
      <p:sp>
        <p:nvSpPr>
          <p:cNvPr id="61" name="Text 59"/>
          <p:cNvSpPr/>
          <p:nvPr/>
        </p:nvSpPr>
        <p:spPr>
          <a:xfrm>
            <a:off x="8887968" y="5340096"/>
            <a:ext cx="2816352" cy="621792"/>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⑥ Audit log captures full</a:t>
            </a:r>
            <a:endParaRPr lang="en-US" sz="850" dirty="0"/>
          </a:p>
          <a:p>
            <a:pPr marL="0" indent="0">
              <a:buNone/>
            </a:pPr>
            <a:r>
              <a:rPr lang="en-US" sz="850" dirty="0">
                <a:solidFill>
                  <a:srgbClr val="E8F4F8"/>
                </a:solidFill>
                <a:latin typeface="Calibri" pitchFamily="34" charset="0"/>
                <a:ea typeface="Calibri" pitchFamily="34" charset="-122"/>
                <a:cs typeface="Calibri" pitchFamily="34" charset="-120"/>
              </a:rPr>
              <a:t>   invocation trace + decision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sp>
      <p:sp>
        <p:nvSpPr>
          <p:cNvPr id="3" name="Shape 1"/>
          <p:cNvSpPr/>
          <p:nvPr/>
        </p:nvSpPr>
        <p:spPr>
          <a:xfrm>
            <a:off x="0" y="0"/>
            <a:ext cx="12192000" cy="1005840"/>
          </a:xfrm>
          <a:prstGeom prst="rect">
            <a:avLst/>
          </a:prstGeom>
          <a:solidFill>
            <a:srgbClr val="112240"/>
          </a:solidFill>
          <a:ln/>
        </p:spPr>
      </p:sp>
      <p:sp>
        <p:nvSpPr>
          <p:cNvPr id="4" name="Shape 2"/>
          <p:cNvSpPr/>
          <p:nvPr/>
        </p:nvSpPr>
        <p:spPr>
          <a:xfrm>
            <a:off x="0" y="0"/>
            <a:ext cx="64008" cy="1005840"/>
          </a:xfrm>
          <a:prstGeom prst="rect">
            <a:avLst/>
          </a:prstGeom>
          <a:solidFill>
            <a:srgbClr val="00B4D8"/>
          </a:solidFill>
          <a:ln/>
        </p:spPr>
      </p:sp>
      <p:sp>
        <p:nvSpPr>
          <p:cNvPr id="5" name="Text 3"/>
          <p:cNvSpPr/>
          <p:nvPr/>
        </p:nvSpPr>
        <p:spPr>
          <a:xfrm>
            <a:off x="201168" y="73152"/>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BPMN Guardrail Patterns — The HOW</a:t>
            </a:r>
            <a:endParaRPr lang="en-US" sz="2200" dirty="0"/>
          </a:p>
        </p:txBody>
      </p:sp>
      <p:sp>
        <p:nvSpPr>
          <p:cNvPr id="6" name="Text 4"/>
          <p:cNvSpPr/>
          <p:nvPr/>
        </p:nvSpPr>
        <p:spPr>
          <a:xfrm>
            <a:off x="201168" y="603504"/>
            <a:ext cx="9144000" cy="329184"/>
          </a:xfrm>
          <a:prstGeom prst="rect">
            <a:avLst/>
          </a:prstGeom>
          <a:noFill/>
          <a:ln/>
        </p:spPr>
        <p:txBody>
          <a:bodyPr wrap="square" rtlCol="0" anchor="ctr"/>
          <a:lstStyle/>
          <a:p>
            <a:pPr marL="0" indent="0">
              <a:buNone/>
            </a:pPr>
            <a:r>
              <a:rPr lang="en-US" sz="1200" i="1" dirty="0">
                <a:solidFill>
                  <a:srgbClr val="00B4D8"/>
                </a:solidFill>
                <a:latin typeface="Calibri" pitchFamily="34" charset="0"/>
                <a:ea typeface="Calibri" pitchFamily="34" charset="-122"/>
                <a:cs typeface="Calibri" pitchFamily="34" charset="-120"/>
              </a:rPr>
              <a:t>Six structural controls that operationalize safety in agentic workflows</a:t>
            </a:r>
            <a:endParaRPr lang="en-US" sz="1200" dirty="0"/>
          </a:p>
        </p:txBody>
      </p:sp>
      <p:sp>
        <p:nvSpPr>
          <p:cNvPr id="7" name="Shape 5"/>
          <p:cNvSpPr/>
          <p:nvPr/>
        </p:nvSpPr>
        <p:spPr>
          <a:xfrm>
            <a:off x="0" y="6583680"/>
            <a:ext cx="12192000" cy="54864"/>
          </a:xfrm>
          <a:prstGeom prst="rect">
            <a:avLst/>
          </a:prstGeom>
          <a:solidFill>
            <a:srgbClr val="00B4D8"/>
          </a:solidFill>
          <a:ln/>
        </p:spPr>
      </p:sp>
      <p:sp>
        <p:nvSpPr>
          <p:cNvPr id="8" name="Text 6"/>
          <p:cNvSpPr/>
          <p:nvPr/>
        </p:nvSpPr>
        <p:spPr>
          <a:xfrm>
            <a:off x="182880" y="6638544"/>
            <a:ext cx="11887200" cy="201168"/>
          </a:xfrm>
          <a:prstGeom prst="rect">
            <a:avLst/>
          </a:prstGeom>
          <a:noFill/>
          <a:ln/>
        </p:spPr>
        <p:txBody>
          <a:bodyPr wrap="square" rtlCol="0" anchor="ctr"/>
          <a:lstStyle/>
          <a:p>
            <a:pPr marL="0" indent="0">
              <a:buNone/>
            </a:pPr>
            <a:r>
              <a:rPr lang="en-US" sz="800" dirty="0">
                <a:solidFill>
                  <a:srgbClr val="A8C4D4"/>
                </a:solidFill>
                <a:latin typeface="Calibri" pitchFamily="34" charset="0"/>
                <a:ea typeface="Calibri" pitchFamily="34" charset="-122"/>
                <a:cs typeface="Calibri" pitchFamily="34" charset="-120"/>
              </a:rPr>
              <a:t>CONFIDENTIAL  |  Agentic BPMN Workflow Security  |  Enterprise Architecture</a:t>
            </a:r>
            <a:endParaRPr lang="en-US" sz="800" dirty="0"/>
          </a:p>
        </p:txBody>
      </p:sp>
      <p:sp>
        <p:nvSpPr>
          <p:cNvPr id="9" name="Shape 7"/>
          <p:cNvSpPr/>
          <p:nvPr/>
        </p:nvSpPr>
        <p:spPr>
          <a:xfrm>
            <a:off x="228600" y="1097280"/>
            <a:ext cx="3794760" cy="2450592"/>
          </a:xfrm>
          <a:prstGeom prst="rect">
            <a:avLst/>
          </a:prstGeom>
          <a:solidFill>
            <a:srgbClr val="162B3F"/>
          </a:solidFill>
          <a:ln w="12700">
            <a:solidFill>
              <a:srgbClr val="00B4D8"/>
            </a:solidFill>
            <a:prstDash val="solid"/>
          </a:ln>
        </p:spPr>
      </p:sp>
      <p:sp>
        <p:nvSpPr>
          <p:cNvPr id="10" name="Shape 8"/>
          <p:cNvSpPr/>
          <p:nvPr/>
        </p:nvSpPr>
        <p:spPr>
          <a:xfrm>
            <a:off x="228600" y="1097280"/>
            <a:ext cx="3794760" cy="438912"/>
          </a:xfrm>
          <a:prstGeom prst="rect">
            <a:avLst/>
          </a:prstGeom>
          <a:solidFill>
            <a:srgbClr val="00B4D8"/>
          </a:solidFill>
          <a:ln/>
        </p:spPr>
      </p:sp>
      <p:sp>
        <p:nvSpPr>
          <p:cNvPr id="11" name="Text 9"/>
          <p:cNvSpPr/>
          <p:nvPr/>
        </p:nvSpPr>
        <p:spPr>
          <a:xfrm>
            <a:off x="320040" y="1097280"/>
            <a:ext cx="3611880" cy="43891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DMN Decision Gates</a:t>
            </a:r>
            <a:endParaRPr lang="en-US" sz="1100" dirty="0"/>
          </a:p>
        </p:txBody>
      </p:sp>
      <p:sp>
        <p:nvSpPr>
          <p:cNvPr id="12" name="Text 10"/>
          <p:cNvSpPr/>
          <p:nvPr/>
        </p:nvSpPr>
        <p:spPr>
          <a:xfrm>
            <a:off x="320040" y="1591056"/>
            <a:ext cx="457200" cy="201168"/>
          </a:xfrm>
          <a:prstGeom prst="rect">
            <a:avLst/>
          </a:prstGeom>
          <a:noFill/>
          <a:ln/>
        </p:spPr>
        <p:txBody>
          <a:bodyPr wrap="square" rtlCol="0" anchor="ctr"/>
          <a:lstStyle/>
          <a:p>
            <a:pPr marL="0" indent="0">
              <a:buNone/>
            </a:pPr>
            <a:r>
              <a:rPr lang="en-US" sz="800" b="1" dirty="0">
                <a:solidFill>
                  <a:srgbClr val="00B4D8"/>
                </a:solidFill>
                <a:latin typeface="Calibri" pitchFamily="34" charset="0"/>
                <a:ea typeface="Calibri" pitchFamily="34" charset="-122"/>
                <a:cs typeface="Calibri" pitchFamily="34" charset="-120"/>
              </a:rPr>
              <a:t>HOW:</a:t>
            </a:r>
            <a:endParaRPr lang="en-US" sz="800" dirty="0"/>
          </a:p>
        </p:txBody>
      </p:sp>
      <p:sp>
        <p:nvSpPr>
          <p:cNvPr id="13" name="Text 11"/>
          <p:cNvSpPr/>
          <p:nvPr/>
        </p:nvSpPr>
        <p:spPr>
          <a:xfrm>
            <a:off x="320040" y="1591056"/>
            <a:ext cx="3611880" cy="932688"/>
          </a:xfrm>
          <a:prstGeom prst="rect">
            <a:avLst/>
          </a:prstGeom>
          <a:noFill/>
          <a:ln/>
        </p:spPr>
        <p:txBody>
          <a:bodyPr wrap="square" lIns="0" tIns="457200" rIns="0" bIns="0" rtlCol="0" anchor="ctr"/>
          <a:lstStyle/>
          <a:p>
            <a:pPr marL="0" indent="0">
              <a:buNone/>
            </a:pPr>
            <a:r>
              <a:rPr lang="en-US" sz="850" dirty="0">
                <a:solidFill>
                  <a:srgbClr val="E8F4F8"/>
                </a:solidFill>
                <a:latin typeface="Calibri" pitchFamily="34" charset="0"/>
                <a:ea typeface="Calibri" pitchFamily="34" charset="-122"/>
                <a:cs typeface="Calibri" pitchFamily="34" charset="-120"/>
              </a:rPr>
              <a:t>Replace free-form LLM decisions with explicit DMN decision tables at every business-critical gateway. Version-control rules; new rule = new deployment ID.</a:t>
            </a:r>
            <a:endParaRPr lang="en-US" sz="850" dirty="0"/>
          </a:p>
        </p:txBody>
      </p:sp>
      <p:sp>
        <p:nvSpPr>
          <p:cNvPr id="14" name="Text 12"/>
          <p:cNvSpPr/>
          <p:nvPr/>
        </p:nvSpPr>
        <p:spPr>
          <a:xfrm>
            <a:off x="320040" y="2615184"/>
            <a:ext cx="594360" cy="201168"/>
          </a:xfrm>
          <a:prstGeom prst="rect">
            <a:avLst/>
          </a:prstGeom>
          <a:noFill/>
          <a:ln/>
        </p:spPr>
        <p:txBody>
          <a:bodyPr wrap="square" rtlCol="0" anchor="ctr"/>
          <a:lstStyle/>
          <a:p>
            <a:pPr marL="0" indent="0">
              <a:buNone/>
            </a:pPr>
            <a:r>
              <a:rPr lang="en-US" sz="750" b="1" dirty="0">
                <a:solidFill>
                  <a:srgbClr val="A8C4D4"/>
                </a:solidFill>
                <a:latin typeface="Calibri" pitchFamily="34" charset="0"/>
                <a:ea typeface="Calibri" pitchFamily="34" charset="-122"/>
                <a:cs typeface="Calibri" pitchFamily="34" charset="-120"/>
              </a:rPr>
              <a:t>TOOLING:</a:t>
            </a:r>
            <a:endParaRPr lang="en-US" sz="750" dirty="0"/>
          </a:p>
        </p:txBody>
      </p:sp>
      <p:sp>
        <p:nvSpPr>
          <p:cNvPr id="15" name="Text 13"/>
          <p:cNvSpPr/>
          <p:nvPr/>
        </p:nvSpPr>
        <p:spPr>
          <a:xfrm>
            <a:off x="320040" y="2615184"/>
            <a:ext cx="3611880" cy="822960"/>
          </a:xfrm>
          <a:prstGeom prst="rect">
            <a:avLst/>
          </a:prstGeom>
          <a:noFill/>
          <a:ln/>
        </p:spPr>
        <p:txBody>
          <a:bodyPr wrap="square" lIns="0" tIns="609600" rIns="0" bIns="0" rtlCol="0" anchor="ctr"/>
          <a:lstStyle/>
          <a:p>
            <a:pPr marL="0" indent="0">
              <a:buNone/>
            </a:pPr>
            <a:r>
              <a:rPr lang="en-US" sz="750" dirty="0">
                <a:solidFill>
                  <a:srgbClr val="A8C4D4"/>
                </a:solidFill>
                <a:latin typeface="Calibri" pitchFamily="34" charset="0"/>
                <a:ea typeface="Calibri" pitchFamily="34" charset="-122"/>
                <a:cs typeface="Calibri" pitchFamily="34" charset="-120"/>
              </a:rPr>
              <a:t>Camunda DMN engine · Cedar / OPA policy expressions · FEEL expression language</a:t>
            </a:r>
            <a:endParaRPr lang="en-US" sz="750" dirty="0"/>
          </a:p>
        </p:txBody>
      </p:sp>
      <p:sp>
        <p:nvSpPr>
          <p:cNvPr id="16" name="Shape 14"/>
          <p:cNvSpPr/>
          <p:nvPr/>
        </p:nvSpPr>
        <p:spPr>
          <a:xfrm>
            <a:off x="4206240" y="1097280"/>
            <a:ext cx="3794760" cy="2450592"/>
          </a:xfrm>
          <a:prstGeom prst="rect">
            <a:avLst/>
          </a:prstGeom>
          <a:solidFill>
            <a:srgbClr val="162B3F"/>
          </a:solidFill>
          <a:ln w="12700">
            <a:solidFill>
              <a:srgbClr val="E76F51"/>
            </a:solidFill>
            <a:prstDash val="solid"/>
          </a:ln>
        </p:spPr>
      </p:sp>
      <p:sp>
        <p:nvSpPr>
          <p:cNvPr id="17" name="Shape 15"/>
          <p:cNvSpPr/>
          <p:nvPr/>
        </p:nvSpPr>
        <p:spPr>
          <a:xfrm>
            <a:off x="4206240" y="1097280"/>
            <a:ext cx="3794760" cy="438912"/>
          </a:xfrm>
          <a:prstGeom prst="rect">
            <a:avLst/>
          </a:prstGeom>
          <a:solidFill>
            <a:srgbClr val="E76F51"/>
          </a:solidFill>
          <a:ln/>
        </p:spPr>
      </p:sp>
      <p:sp>
        <p:nvSpPr>
          <p:cNvPr id="18" name="Text 16"/>
          <p:cNvSpPr/>
          <p:nvPr/>
        </p:nvSpPr>
        <p:spPr>
          <a:xfrm>
            <a:off x="4297680" y="1097280"/>
            <a:ext cx="3611880" cy="43891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Human-in-the-Loop (HITL) Gates</a:t>
            </a:r>
            <a:endParaRPr lang="en-US" sz="1100" dirty="0"/>
          </a:p>
        </p:txBody>
      </p:sp>
      <p:sp>
        <p:nvSpPr>
          <p:cNvPr id="19" name="Text 17"/>
          <p:cNvSpPr/>
          <p:nvPr/>
        </p:nvSpPr>
        <p:spPr>
          <a:xfrm>
            <a:off x="4297680" y="1591056"/>
            <a:ext cx="457200" cy="201168"/>
          </a:xfrm>
          <a:prstGeom prst="rect">
            <a:avLst/>
          </a:prstGeom>
          <a:noFill/>
          <a:ln/>
        </p:spPr>
        <p:txBody>
          <a:bodyPr wrap="square" rtlCol="0" anchor="ctr"/>
          <a:lstStyle/>
          <a:p>
            <a:pPr marL="0" indent="0">
              <a:buNone/>
            </a:pPr>
            <a:r>
              <a:rPr lang="en-US" sz="800" b="1" dirty="0">
                <a:solidFill>
                  <a:srgbClr val="E76F51"/>
                </a:solidFill>
                <a:latin typeface="Calibri" pitchFamily="34" charset="0"/>
                <a:ea typeface="Calibri" pitchFamily="34" charset="-122"/>
                <a:cs typeface="Calibri" pitchFamily="34" charset="-120"/>
              </a:rPr>
              <a:t>HOW:</a:t>
            </a:r>
            <a:endParaRPr lang="en-US" sz="800" dirty="0"/>
          </a:p>
        </p:txBody>
      </p:sp>
      <p:sp>
        <p:nvSpPr>
          <p:cNvPr id="20" name="Text 18"/>
          <p:cNvSpPr/>
          <p:nvPr/>
        </p:nvSpPr>
        <p:spPr>
          <a:xfrm>
            <a:off x="4297680" y="1591056"/>
            <a:ext cx="3611880" cy="932688"/>
          </a:xfrm>
          <a:prstGeom prst="rect">
            <a:avLst/>
          </a:prstGeom>
          <a:noFill/>
          <a:ln/>
        </p:spPr>
        <p:txBody>
          <a:bodyPr wrap="square" lIns="0" tIns="457200" rIns="0" bIns="0" rtlCol="0" anchor="ctr"/>
          <a:lstStyle/>
          <a:p>
            <a:pPr marL="0" indent="0">
              <a:buNone/>
            </a:pPr>
            <a:r>
              <a:rPr lang="en-US" sz="850" dirty="0">
                <a:solidFill>
                  <a:srgbClr val="E8F4F8"/>
                </a:solidFill>
                <a:latin typeface="Calibri" pitchFamily="34" charset="0"/>
                <a:ea typeface="Calibri" pitchFamily="34" charset="-122"/>
                <a:cs typeface="Calibri" pitchFamily="34" charset="-120"/>
              </a:rPr>
              <a:t>Four gate types mapped to risk: Advisory (inform), Validating (clinician sign-off, SLA 4 hr), Blocking (PHI exposure check, SLA 15 min), Escalating (novel clause → partner review).</a:t>
            </a:r>
            <a:endParaRPr lang="en-US" sz="850" dirty="0"/>
          </a:p>
        </p:txBody>
      </p:sp>
      <p:sp>
        <p:nvSpPr>
          <p:cNvPr id="21" name="Text 19"/>
          <p:cNvSpPr/>
          <p:nvPr/>
        </p:nvSpPr>
        <p:spPr>
          <a:xfrm>
            <a:off x="4297680" y="2615184"/>
            <a:ext cx="594360" cy="201168"/>
          </a:xfrm>
          <a:prstGeom prst="rect">
            <a:avLst/>
          </a:prstGeom>
          <a:noFill/>
          <a:ln/>
        </p:spPr>
        <p:txBody>
          <a:bodyPr wrap="square" rtlCol="0" anchor="ctr"/>
          <a:lstStyle/>
          <a:p>
            <a:pPr marL="0" indent="0">
              <a:buNone/>
            </a:pPr>
            <a:r>
              <a:rPr lang="en-US" sz="750" b="1" dirty="0">
                <a:solidFill>
                  <a:srgbClr val="A8C4D4"/>
                </a:solidFill>
                <a:latin typeface="Calibri" pitchFamily="34" charset="0"/>
                <a:ea typeface="Calibri" pitchFamily="34" charset="-122"/>
                <a:cs typeface="Calibri" pitchFamily="34" charset="-120"/>
              </a:rPr>
              <a:t>TOOLING:</a:t>
            </a:r>
            <a:endParaRPr lang="en-US" sz="750" dirty="0"/>
          </a:p>
        </p:txBody>
      </p:sp>
      <p:sp>
        <p:nvSpPr>
          <p:cNvPr id="22" name="Text 20"/>
          <p:cNvSpPr/>
          <p:nvPr/>
        </p:nvSpPr>
        <p:spPr>
          <a:xfrm>
            <a:off x="4297680" y="2615184"/>
            <a:ext cx="3611880" cy="822960"/>
          </a:xfrm>
          <a:prstGeom prst="rect">
            <a:avLst/>
          </a:prstGeom>
          <a:noFill/>
          <a:ln/>
        </p:spPr>
        <p:txBody>
          <a:bodyPr wrap="square" lIns="0" tIns="609600" rIns="0" bIns="0" rtlCol="0" anchor="ctr"/>
          <a:lstStyle/>
          <a:p>
            <a:pPr marL="0" indent="0">
              <a:buNone/>
            </a:pPr>
            <a:r>
              <a:rPr lang="en-US" sz="750" dirty="0">
                <a:solidFill>
                  <a:srgbClr val="A8C4D4"/>
                </a:solidFill>
                <a:latin typeface="Calibri" pitchFamily="34" charset="0"/>
                <a:ea typeface="Calibri" pitchFamily="34" charset="-122"/>
                <a:cs typeface="Calibri" pitchFamily="34" charset="-120"/>
              </a:rPr>
              <a:t>Camunda User Task · Dapr workflow pause · AWS Bedrock AgentCore HITL · Agentic Loop Interrupt</a:t>
            </a:r>
            <a:endParaRPr lang="en-US" sz="750" dirty="0"/>
          </a:p>
        </p:txBody>
      </p:sp>
      <p:sp>
        <p:nvSpPr>
          <p:cNvPr id="23" name="Shape 21"/>
          <p:cNvSpPr/>
          <p:nvPr/>
        </p:nvSpPr>
        <p:spPr>
          <a:xfrm>
            <a:off x="8183880" y="1097280"/>
            <a:ext cx="3794760" cy="2450592"/>
          </a:xfrm>
          <a:prstGeom prst="rect">
            <a:avLst/>
          </a:prstGeom>
          <a:solidFill>
            <a:srgbClr val="162B3F"/>
          </a:solidFill>
          <a:ln w="12700">
            <a:solidFill>
              <a:srgbClr val="7B2D8B"/>
            </a:solidFill>
            <a:prstDash val="solid"/>
          </a:ln>
        </p:spPr>
      </p:sp>
      <p:sp>
        <p:nvSpPr>
          <p:cNvPr id="24" name="Shape 22"/>
          <p:cNvSpPr/>
          <p:nvPr/>
        </p:nvSpPr>
        <p:spPr>
          <a:xfrm>
            <a:off x="8183880" y="1097280"/>
            <a:ext cx="3794760" cy="438912"/>
          </a:xfrm>
          <a:prstGeom prst="rect">
            <a:avLst/>
          </a:prstGeom>
          <a:solidFill>
            <a:srgbClr val="7B2D8B"/>
          </a:solidFill>
          <a:ln/>
        </p:spPr>
      </p:sp>
      <p:sp>
        <p:nvSpPr>
          <p:cNvPr id="25" name="Text 23"/>
          <p:cNvSpPr/>
          <p:nvPr/>
        </p:nvSpPr>
        <p:spPr>
          <a:xfrm>
            <a:off x="8275320" y="1097280"/>
            <a:ext cx="3611880" cy="43891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Time-Bounded Sub-Processes</a:t>
            </a:r>
            <a:endParaRPr lang="en-US" sz="1100" dirty="0"/>
          </a:p>
        </p:txBody>
      </p:sp>
      <p:sp>
        <p:nvSpPr>
          <p:cNvPr id="26" name="Text 24"/>
          <p:cNvSpPr/>
          <p:nvPr/>
        </p:nvSpPr>
        <p:spPr>
          <a:xfrm>
            <a:off x="8275320" y="1591056"/>
            <a:ext cx="457200" cy="201168"/>
          </a:xfrm>
          <a:prstGeom prst="rect">
            <a:avLst/>
          </a:prstGeom>
          <a:noFill/>
          <a:ln/>
        </p:spPr>
        <p:txBody>
          <a:bodyPr wrap="square" rtlCol="0" anchor="ctr"/>
          <a:lstStyle/>
          <a:p>
            <a:pPr marL="0" indent="0">
              <a:buNone/>
            </a:pPr>
            <a:r>
              <a:rPr lang="en-US" sz="800" b="1" dirty="0">
                <a:solidFill>
                  <a:srgbClr val="7B2D8B"/>
                </a:solidFill>
                <a:latin typeface="Calibri" pitchFamily="34" charset="0"/>
                <a:ea typeface="Calibri" pitchFamily="34" charset="-122"/>
                <a:cs typeface="Calibri" pitchFamily="34" charset="-120"/>
              </a:rPr>
              <a:t>HOW:</a:t>
            </a:r>
            <a:endParaRPr lang="en-US" sz="800" dirty="0"/>
          </a:p>
        </p:txBody>
      </p:sp>
      <p:sp>
        <p:nvSpPr>
          <p:cNvPr id="27" name="Text 25"/>
          <p:cNvSpPr/>
          <p:nvPr/>
        </p:nvSpPr>
        <p:spPr>
          <a:xfrm>
            <a:off x="8275320" y="1591056"/>
            <a:ext cx="3611880" cy="932688"/>
          </a:xfrm>
          <a:prstGeom prst="rect">
            <a:avLst/>
          </a:prstGeom>
          <a:noFill/>
          <a:ln/>
        </p:spPr>
        <p:txBody>
          <a:bodyPr wrap="square" lIns="0" tIns="457200" rIns="0" bIns="0" rtlCol="0" anchor="ctr"/>
          <a:lstStyle/>
          <a:p>
            <a:pPr marL="0" indent="0">
              <a:buNone/>
            </a:pPr>
            <a:r>
              <a:rPr lang="en-US" sz="850" dirty="0">
                <a:solidFill>
                  <a:srgbClr val="E8F4F8"/>
                </a:solidFill>
                <a:latin typeface="Calibri" pitchFamily="34" charset="0"/>
                <a:ea typeface="Calibri" pitchFamily="34" charset="-122"/>
                <a:cs typeface="Calibri" pitchFamily="34" charset="-120"/>
              </a:rPr>
              <a:t>Wrap every agent-driven ad-hoc sub-process in a Timer Boundary Event. On timeout → escalate to human. Prevents runaway loops and enforces SLA compliance.</a:t>
            </a:r>
            <a:endParaRPr lang="en-US" sz="850" dirty="0"/>
          </a:p>
        </p:txBody>
      </p:sp>
      <p:sp>
        <p:nvSpPr>
          <p:cNvPr id="28" name="Text 26"/>
          <p:cNvSpPr/>
          <p:nvPr/>
        </p:nvSpPr>
        <p:spPr>
          <a:xfrm>
            <a:off x="8275320" y="2615184"/>
            <a:ext cx="594360" cy="201168"/>
          </a:xfrm>
          <a:prstGeom prst="rect">
            <a:avLst/>
          </a:prstGeom>
          <a:noFill/>
          <a:ln/>
        </p:spPr>
        <p:txBody>
          <a:bodyPr wrap="square" rtlCol="0" anchor="ctr"/>
          <a:lstStyle/>
          <a:p>
            <a:pPr marL="0" indent="0">
              <a:buNone/>
            </a:pPr>
            <a:r>
              <a:rPr lang="en-US" sz="750" b="1" dirty="0">
                <a:solidFill>
                  <a:srgbClr val="A8C4D4"/>
                </a:solidFill>
                <a:latin typeface="Calibri" pitchFamily="34" charset="0"/>
                <a:ea typeface="Calibri" pitchFamily="34" charset="-122"/>
                <a:cs typeface="Calibri" pitchFamily="34" charset="-120"/>
              </a:rPr>
              <a:t>TOOLING:</a:t>
            </a:r>
            <a:endParaRPr lang="en-US" sz="750" dirty="0"/>
          </a:p>
        </p:txBody>
      </p:sp>
      <p:sp>
        <p:nvSpPr>
          <p:cNvPr id="29" name="Text 27"/>
          <p:cNvSpPr/>
          <p:nvPr/>
        </p:nvSpPr>
        <p:spPr>
          <a:xfrm>
            <a:off x="8275320" y="2615184"/>
            <a:ext cx="3611880" cy="822960"/>
          </a:xfrm>
          <a:prstGeom prst="rect">
            <a:avLst/>
          </a:prstGeom>
          <a:noFill/>
          <a:ln/>
        </p:spPr>
        <p:txBody>
          <a:bodyPr wrap="square" lIns="0" tIns="609600" rIns="0" bIns="0" rtlCol="0" anchor="ctr"/>
          <a:lstStyle/>
          <a:p>
            <a:pPr marL="0" indent="0">
              <a:buNone/>
            </a:pPr>
            <a:r>
              <a:rPr lang="en-US" sz="750" dirty="0">
                <a:solidFill>
                  <a:srgbClr val="A8C4D4"/>
                </a:solidFill>
                <a:latin typeface="Calibri" pitchFamily="34" charset="0"/>
                <a:ea typeface="Calibri" pitchFamily="34" charset="-122"/>
                <a:cs typeface="Calibri" pitchFamily="34" charset="-120"/>
              </a:rPr>
              <a:t>BPMN 2.0 Timer Boundary · Camunda job worker timeout · Dapr workflow durability guarantee</a:t>
            </a:r>
            <a:endParaRPr lang="en-US" sz="750" dirty="0"/>
          </a:p>
        </p:txBody>
      </p:sp>
      <p:sp>
        <p:nvSpPr>
          <p:cNvPr id="30" name="Shape 28"/>
          <p:cNvSpPr/>
          <p:nvPr/>
        </p:nvSpPr>
        <p:spPr>
          <a:xfrm>
            <a:off x="228600" y="3703320"/>
            <a:ext cx="3794760" cy="2450592"/>
          </a:xfrm>
          <a:prstGeom prst="rect">
            <a:avLst/>
          </a:prstGeom>
          <a:solidFill>
            <a:srgbClr val="162B3F"/>
          </a:solidFill>
          <a:ln w="12700">
            <a:solidFill>
              <a:srgbClr val="F4A261"/>
            </a:solidFill>
            <a:prstDash val="solid"/>
          </a:ln>
        </p:spPr>
      </p:sp>
      <p:sp>
        <p:nvSpPr>
          <p:cNvPr id="31" name="Shape 29"/>
          <p:cNvSpPr/>
          <p:nvPr/>
        </p:nvSpPr>
        <p:spPr>
          <a:xfrm>
            <a:off x="228600" y="3703320"/>
            <a:ext cx="3794760" cy="438912"/>
          </a:xfrm>
          <a:prstGeom prst="rect">
            <a:avLst/>
          </a:prstGeom>
          <a:solidFill>
            <a:srgbClr val="F4A261"/>
          </a:solidFill>
          <a:ln/>
        </p:spPr>
      </p:sp>
      <p:sp>
        <p:nvSpPr>
          <p:cNvPr id="32" name="Text 30"/>
          <p:cNvSpPr/>
          <p:nvPr/>
        </p:nvSpPr>
        <p:spPr>
          <a:xfrm>
            <a:off x="320040" y="3703320"/>
            <a:ext cx="3611880" cy="43891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Compensating Transactions</a:t>
            </a:r>
            <a:endParaRPr lang="en-US" sz="1100" dirty="0"/>
          </a:p>
        </p:txBody>
      </p:sp>
      <p:sp>
        <p:nvSpPr>
          <p:cNvPr id="33" name="Text 31"/>
          <p:cNvSpPr/>
          <p:nvPr/>
        </p:nvSpPr>
        <p:spPr>
          <a:xfrm>
            <a:off x="320040" y="4197096"/>
            <a:ext cx="457200" cy="201168"/>
          </a:xfrm>
          <a:prstGeom prst="rect">
            <a:avLst/>
          </a:prstGeom>
          <a:noFill/>
          <a:ln/>
        </p:spPr>
        <p:txBody>
          <a:bodyPr wrap="square" rtlCol="0" anchor="ctr"/>
          <a:lstStyle/>
          <a:p>
            <a:pPr marL="0" indent="0">
              <a:buNone/>
            </a:pPr>
            <a:r>
              <a:rPr lang="en-US" sz="800" b="1" dirty="0">
                <a:solidFill>
                  <a:srgbClr val="F4A261"/>
                </a:solidFill>
                <a:latin typeface="Calibri" pitchFamily="34" charset="0"/>
                <a:ea typeface="Calibri" pitchFamily="34" charset="-122"/>
                <a:cs typeface="Calibri" pitchFamily="34" charset="-120"/>
              </a:rPr>
              <a:t>HOW:</a:t>
            </a:r>
            <a:endParaRPr lang="en-US" sz="800" dirty="0"/>
          </a:p>
        </p:txBody>
      </p:sp>
      <p:sp>
        <p:nvSpPr>
          <p:cNvPr id="34" name="Text 32"/>
          <p:cNvSpPr/>
          <p:nvPr/>
        </p:nvSpPr>
        <p:spPr>
          <a:xfrm>
            <a:off x="320040" y="4197096"/>
            <a:ext cx="3611880" cy="932688"/>
          </a:xfrm>
          <a:prstGeom prst="rect">
            <a:avLst/>
          </a:prstGeom>
          <a:noFill/>
          <a:ln/>
        </p:spPr>
        <p:txBody>
          <a:bodyPr wrap="square" lIns="0" tIns="457200" rIns="0" bIns="0" rtlCol="0" anchor="ctr"/>
          <a:lstStyle/>
          <a:p>
            <a:pPr marL="0" indent="0">
              <a:buNone/>
            </a:pPr>
            <a:r>
              <a:rPr lang="en-US" sz="850" dirty="0">
                <a:solidFill>
                  <a:srgbClr val="E8F4F8"/>
                </a:solidFill>
                <a:latin typeface="Calibri" pitchFamily="34" charset="0"/>
                <a:ea typeface="Calibri" pitchFamily="34" charset="-122"/>
                <a:cs typeface="Calibri" pitchFamily="34" charset="-120"/>
              </a:rPr>
              <a:t>Every destructive agent action (delete, send, publish) must have a corresponding BPMN Compensation Handler. Ensures rollback atomicity when multi-step workflow partially fails.</a:t>
            </a:r>
            <a:endParaRPr lang="en-US" sz="850" dirty="0"/>
          </a:p>
        </p:txBody>
      </p:sp>
      <p:sp>
        <p:nvSpPr>
          <p:cNvPr id="35" name="Text 33"/>
          <p:cNvSpPr/>
          <p:nvPr/>
        </p:nvSpPr>
        <p:spPr>
          <a:xfrm>
            <a:off x="320040" y="5221224"/>
            <a:ext cx="594360" cy="201168"/>
          </a:xfrm>
          <a:prstGeom prst="rect">
            <a:avLst/>
          </a:prstGeom>
          <a:noFill/>
          <a:ln/>
        </p:spPr>
        <p:txBody>
          <a:bodyPr wrap="square" rtlCol="0" anchor="ctr"/>
          <a:lstStyle/>
          <a:p>
            <a:pPr marL="0" indent="0">
              <a:buNone/>
            </a:pPr>
            <a:r>
              <a:rPr lang="en-US" sz="750" b="1" dirty="0">
                <a:solidFill>
                  <a:srgbClr val="A8C4D4"/>
                </a:solidFill>
                <a:latin typeface="Calibri" pitchFamily="34" charset="0"/>
                <a:ea typeface="Calibri" pitchFamily="34" charset="-122"/>
                <a:cs typeface="Calibri" pitchFamily="34" charset="-120"/>
              </a:rPr>
              <a:t>TOOLING:</a:t>
            </a:r>
            <a:endParaRPr lang="en-US" sz="750" dirty="0"/>
          </a:p>
        </p:txBody>
      </p:sp>
      <p:sp>
        <p:nvSpPr>
          <p:cNvPr id="36" name="Text 34"/>
          <p:cNvSpPr/>
          <p:nvPr/>
        </p:nvSpPr>
        <p:spPr>
          <a:xfrm>
            <a:off x="320040" y="5221224"/>
            <a:ext cx="3611880" cy="822960"/>
          </a:xfrm>
          <a:prstGeom prst="rect">
            <a:avLst/>
          </a:prstGeom>
          <a:noFill/>
          <a:ln/>
        </p:spPr>
        <p:txBody>
          <a:bodyPr wrap="square" lIns="0" tIns="609600" rIns="0" bIns="0" rtlCol="0" anchor="ctr"/>
          <a:lstStyle/>
          <a:p>
            <a:pPr marL="0" indent="0">
              <a:buNone/>
            </a:pPr>
            <a:r>
              <a:rPr lang="en-US" sz="750" dirty="0">
                <a:solidFill>
                  <a:srgbClr val="A8C4D4"/>
                </a:solidFill>
                <a:latin typeface="Calibri" pitchFamily="34" charset="0"/>
                <a:ea typeface="Calibri" pitchFamily="34" charset="-122"/>
                <a:cs typeface="Calibri" pitchFamily="34" charset="-120"/>
              </a:rPr>
              <a:t>BPMN Compensation Events · Saga pattern via Dapr · Camunda incident management</a:t>
            </a:r>
            <a:endParaRPr lang="en-US" sz="750" dirty="0"/>
          </a:p>
        </p:txBody>
      </p:sp>
      <p:sp>
        <p:nvSpPr>
          <p:cNvPr id="37" name="Shape 35"/>
          <p:cNvSpPr/>
          <p:nvPr/>
        </p:nvSpPr>
        <p:spPr>
          <a:xfrm>
            <a:off x="4206240" y="3703320"/>
            <a:ext cx="3794760" cy="2450592"/>
          </a:xfrm>
          <a:prstGeom prst="rect">
            <a:avLst/>
          </a:prstGeom>
          <a:solidFill>
            <a:srgbClr val="162B3F"/>
          </a:solidFill>
          <a:ln w="12700">
            <a:solidFill>
              <a:srgbClr val="0077B6"/>
            </a:solidFill>
            <a:prstDash val="solid"/>
          </a:ln>
        </p:spPr>
      </p:sp>
      <p:sp>
        <p:nvSpPr>
          <p:cNvPr id="38" name="Shape 36"/>
          <p:cNvSpPr/>
          <p:nvPr/>
        </p:nvSpPr>
        <p:spPr>
          <a:xfrm>
            <a:off x="4206240" y="3703320"/>
            <a:ext cx="3794760" cy="438912"/>
          </a:xfrm>
          <a:prstGeom prst="rect">
            <a:avLst/>
          </a:prstGeom>
          <a:solidFill>
            <a:srgbClr val="0077B6"/>
          </a:solidFill>
          <a:ln/>
        </p:spPr>
      </p:sp>
      <p:sp>
        <p:nvSpPr>
          <p:cNvPr id="39" name="Text 37"/>
          <p:cNvSpPr/>
          <p:nvPr/>
        </p:nvSpPr>
        <p:spPr>
          <a:xfrm>
            <a:off x="4297680" y="3703320"/>
            <a:ext cx="3611880" cy="43891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Tool Allow-Lists at BPMN Task Level</a:t>
            </a:r>
            <a:endParaRPr lang="en-US" sz="1100" dirty="0"/>
          </a:p>
        </p:txBody>
      </p:sp>
      <p:sp>
        <p:nvSpPr>
          <p:cNvPr id="40" name="Text 38"/>
          <p:cNvSpPr/>
          <p:nvPr/>
        </p:nvSpPr>
        <p:spPr>
          <a:xfrm>
            <a:off x="4297680" y="4197096"/>
            <a:ext cx="457200" cy="201168"/>
          </a:xfrm>
          <a:prstGeom prst="rect">
            <a:avLst/>
          </a:prstGeom>
          <a:noFill/>
          <a:ln/>
        </p:spPr>
        <p:txBody>
          <a:bodyPr wrap="square" rtlCol="0" anchor="ctr"/>
          <a:lstStyle/>
          <a:p>
            <a:pPr marL="0" indent="0">
              <a:buNone/>
            </a:pPr>
            <a:r>
              <a:rPr lang="en-US" sz="800" b="1" dirty="0">
                <a:solidFill>
                  <a:srgbClr val="0077B6"/>
                </a:solidFill>
                <a:latin typeface="Calibri" pitchFamily="34" charset="0"/>
                <a:ea typeface="Calibri" pitchFamily="34" charset="-122"/>
                <a:cs typeface="Calibri" pitchFamily="34" charset="-120"/>
              </a:rPr>
              <a:t>HOW:</a:t>
            </a:r>
            <a:endParaRPr lang="en-US" sz="800" dirty="0"/>
          </a:p>
        </p:txBody>
      </p:sp>
      <p:sp>
        <p:nvSpPr>
          <p:cNvPr id="41" name="Text 39"/>
          <p:cNvSpPr/>
          <p:nvPr/>
        </p:nvSpPr>
        <p:spPr>
          <a:xfrm>
            <a:off x="4297680" y="4197096"/>
            <a:ext cx="3611880" cy="932688"/>
          </a:xfrm>
          <a:prstGeom prst="rect">
            <a:avLst/>
          </a:prstGeom>
          <a:noFill/>
          <a:ln/>
        </p:spPr>
        <p:txBody>
          <a:bodyPr wrap="square" lIns="0" tIns="457200" rIns="0" bIns="0" rtlCol="0" anchor="ctr"/>
          <a:lstStyle/>
          <a:p>
            <a:pPr marL="0" indent="0">
              <a:buNone/>
            </a:pPr>
            <a:r>
              <a:rPr lang="en-US" sz="850" dirty="0">
                <a:solidFill>
                  <a:srgbClr val="E8F4F8"/>
                </a:solidFill>
                <a:latin typeface="Calibri" pitchFamily="34" charset="0"/>
                <a:ea typeface="Calibri" pitchFamily="34" charset="-122"/>
                <a:cs typeface="Calibri" pitchFamily="34" charset="-120"/>
              </a:rPr>
              <a:t>Each BPMN Service Task specifies the exact MCP tool set it is permitted to invoke. The agent gateway rejects any tool call not on the task-scoped allow-list — zero implicit trust.</a:t>
            </a:r>
            <a:endParaRPr lang="en-US" sz="850" dirty="0"/>
          </a:p>
        </p:txBody>
      </p:sp>
      <p:sp>
        <p:nvSpPr>
          <p:cNvPr id="42" name="Text 40"/>
          <p:cNvSpPr/>
          <p:nvPr/>
        </p:nvSpPr>
        <p:spPr>
          <a:xfrm>
            <a:off x="4297680" y="5221224"/>
            <a:ext cx="594360" cy="201168"/>
          </a:xfrm>
          <a:prstGeom prst="rect">
            <a:avLst/>
          </a:prstGeom>
          <a:noFill/>
          <a:ln/>
        </p:spPr>
        <p:txBody>
          <a:bodyPr wrap="square" rtlCol="0" anchor="ctr"/>
          <a:lstStyle/>
          <a:p>
            <a:pPr marL="0" indent="0">
              <a:buNone/>
            </a:pPr>
            <a:r>
              <a:rPr lang="en-US" sz="750" b="1" dirty="0">
                <a:solidFill>
                  <a:srgbClr val="A8C4D4"/>
                </a:solidFill>
                <a:latin typeface="Calibri" pitchFamily="34" charset="0"/>
                <a:ea typeface="Calibri" pitchFamily="34" charset="-122"/>
                <a:cs typeface="Calibri" pitchFamily="34" charset="-120"/>
              </a:rPr>
              <a:t>TOOLING:</a:t>
            </a:r>
            <a:endParaRPr lang="en-US" sz="750" dirty="0"/>
          </a:p>
        </p:txBody>
      </p:sp>
      <p:sp>
        <p:nvSpPr>
          <p:cNvPr id="43" name="Text 41"/>
          <p:cNvSpPr/>
          <p:nvPr/>
        </p:nvSpPr>
        <p:spPr>
          <a:xfrm>
            <a:off x="4297680" y="5221224"/>
            <a:ext cx="3611880" cy="822960"/>
          </a:xfrm>
          <a:prstGeom prst="rect">
            <a:avLst/>
          </a:prstGeom>
          <a:noFill/>
          <a:ln/>
        </p:spPr>
        <p:txBody>
          <a:bodyPr wrap="square" lIns="0" tIns="609600" rIns="0" bIns="0" rtlCol="0" anchor="ctr"/>
          <a:lstStyle/>
          <a:p>
            <a:pPr marL="0" indent="0">
              <a:buNone/>
            </a:pPr>
            <a:r>
              <a:rPr lang="en-US" sz="750" dirty="0">
                <a:solidFill>
                  <a:srgbClr val="A8C4D4"/>
                </a:solidFill>
                <a:latin typeface="Calibri" pitchFamily="34" charset="0"/>
                <a:ea typeface="Calibri" pitchFamily="34" charset="-122"/>
                <a:cs typeface="Calibri" pitchFamily="34" charset="-120"/>
              </a:rPr>
              <a:t>MCP tool annotations (readOnlyHint · destructiveHint) · Agent Gateway policy · OPA Rego rules</a:t>
            </a:r>
            <a:endParaRPr lang="en-US" sz="750" dirty="0"/>
          </a:p>
        </p:txBody>
      </p:sp>
      <p:sp>
        <p:nvSpPr>
          <p:cNvPr id="44" name="Shape 42"/>
          <p:cNvSpPr/>
          <p:nvPr/>
        </p:nvSpPr>
        <p:spPr>
          <a:xfrm>
            <a:off x="8183880" y="3703320"/>
            <a:ext cx="3794760" cy="2450592"/>
          </a:xfrm>
          <a:prstGeom prst="rect">
            <a:avLst/>
          </a:prstGeom>
          <a:solidFill>
            <a:srgbClr val="162B3F"/>
          </a:solidFill>
          <a:ln w="12700">
            <a:solidFill>
              <a:srgbClr val="2DC653"/>
            </a:solidFill>
            <a:prstDash val="solid"/>
          </a:ln>
        </p:spPr>
      </p:sp>
      <p:sp>
        <p:nvSpPr>
          <p:cNvPr id="45" name="Shape 43"/>
          <p:cNvSpPr/>
          <p:nvPr/>
        </p:nvSpPr>
        <p:spPr>
          <a:xfrm>
            <a:off x="8183880" y="3703320"/>
            <a:ext cx="3794760" cy="438912"/>
          </a:xfrm>
          <a:prstGeom prst="rect">
            <a:avLst/>
          </a:prstGeom>
          <a:solidFill>
            <a:srgbClr val="2DC653"/>
          </a:solidFill>
          <a:ln/>
        </p:spPr>
      </p:sp>
      <p:sp>
        <p:nvSpPr>
          <p:cNvPr id="46" name="Text 44"/>
          <p:cNvSpPr/>
          <p:nvPr/>
        </p:nvSpPr>
        <p:spPr>
          <a:xfrm>
            <a:off x="8275320" y="3703320"/>
            <a:ext cx="3611880" cy="43891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Process-Bound Audit Trail</a:t>
            </a:r>
            <a:endParaRPr lang="en-US" sz="1100" dirty="0"/>
          </a:p>
        </p:txBody>
      </p:sp>
      <p:sp>
        <p:nvSpPr>
          <p:cNvPr id="47" name="Text 45"/>
          <p:cNvSpPr/>
          <p:nvPr/>
        </p:nvSpPr>
        <p:spPr>
          <a:xfrm>
            <a:off x="8275320" y="4197096"/>
            <a:ext cx="457200" cy="201168"/>
          </a:xfrm>
          <a:prstGeom prst="rect">
            <a:avLst/>
          </a:prstGeom>
          <a:noFill/>
          <a:ln/>
        </p:spPr>
        <p:txBody>
          <a:bodyPr wrap="square" rtlCol="0" anchor="ctr"/>
          <a:lstStyle/>
          <a:p>
            <a:pPr marL="0" indent="0">
              <a:buNone/>
            </a:pPr>
            <a:r>
              <a:rPr lang="en-US" sz="800" b="1" dirty="0">
                <a:solidFill>
                  <a:srgbClr val="2DC653"/>
                </a:solidFill>
                <a:latin typeface="Calibri" pitchFamily="34" charset="0"/>
                <a:ea typeface="Calibri" pitchFamily="34" charset="-122"/>
                <a:cs typeface="Calibri" pitchFamily="34" charset="-120"/>
              </a:rPr>
              <a:t>HOW:</a:t>
            </a:r>
            <a:endParaRPr lang="en-US" sz="800" dirty="0"/>
          </a:p>
        </p:txBody>
      </p:sp>
      <p:sp>
        <p:nvSpPr>
          <p:cNvPr id="48" name="Text 46"/>
          <p:cNvSpPr/>
          <p:nvPr/>
        </p:nvSpPr>
        <p:spPr>
          <a:xfrm>
            <a:off x="8275320" y="4197096"/>
            <a:ext cx="3611880" cy="932688"/>
          </a:xfrm>
          <a:prstGeom prst="rect">
            <a:avLst/>
          </a:prstGeom>
          <a:noFill/>
          <a:ln/>
        </p:spPr>
        <p:txBody>
          <a:bodyPr wrap="square" lIns="0" tIns="457200" rIns="0" bIns="0" rtlCol="0" anchor="ctr"/>
          <a:lstStyle/>
          <a:p>
            <a:pPr marL="0" indent="0">
              <a:buNone/>
            </a:pPr>
            <a:r>
              <a:rPr lang="en-US" sz="850" dirty="0">
                <a:solidFill>
                  <a:srgbClr val="E8F4F8"/>
                </a:solidFill>
                <a:latin typeface="Calibri" pitchFamily="34" charset="0"/>
                <a:ea typeface="Calibri" pitchFamily="34" charset="-122"/>
                <a:cs typeface="Calibri" pitchFamily="34" charset="-120"/>
              </a:rPr>
              <a:t>BPMN engine persists every task transition, variable mutation, agent invocation, and human approval as a tamper-evident event log. One process instance ID = one compliance record.</a:t>
            </a:r>
            <a:endParaRPr lang="en-US" sz="850" dirty="0"/>
          </a:p>
        </p:txBody>
      </p:sp>
      <p:sp>
        <p:nvSpPr>
          <p:cNvPr id="49" name="Text 47"/>
          <p:cNvSpPr/>
          <p:nvPr/>
        </p:nvSpPr>
        <p:spPr>
          <a:xfrm>
            <a:off x="8275320" y="5221224"/>
            <a:ext cx="594360" cy="201168"/>
          </a:xfrm>
          <a:prstGeom prst="rect">
            <a:avLst/>
          </a:prstGeom>
          <a:noFill/>
          <a:ln/>
        </p:spPr>
        <p:txBody>
          <a:bodyPr wrap="square" rtlCol="0" anchor="ctr"/>
          <a:lstStyle/>
          <a:p>
            <a:pPr marL="0" indent="0">
              <a:buNone/>
            </a:pPr>
            <a:r>
              <a:rPr lang="en-US" sz="750" b="1" dirty="0">
                <a:solidFill>
                  <a:srgbClr val="A8C4D4"/>
                </a:solidFill>
                <a:latin typeface="Calibri" pitchFamily="34" charset="0"/>
                <a:ea typeface="Calibri" pitchFamily="34" charset="-122"/>
                <a:cs typeface="Calibri" pitchFamily="34" charset="-120"/>
              </a:rPr>
              <a:t>TOOLING:</a:t>
            </a:r>
            <a:endParaRPr lang="en-US" sz="750" dirty="0"/>
          </a:p>
        </p:txBody>
      </p:sp>
      <p:sp>
        <p:nvSpPr>
          <p:cNvPr id="50" name="Text 48"/>
          <p:cNvSpPr/>
          <p:nvPr/>
        </p:nvSpPr>
        <p:spPr>
          <a:xfrm>
            <a:off x="8275320" y="5221224"/>
            <a:ext cx="3611880" cy="822960"/>
          </a:xfrm>
          <a:prstGeom prst="rect">
            <a:avLst/>
          </a:prstGeom>
          <a:noFill/>
          <a:ln/>
        </p:spPr>
        <p:txBody>
          <a:bodyPr wrap="square" lIns="0" tIns="609600" rIns="0" bIns="0" rtlCol="0" anchor="ctr"/>
          <a:lstStyle/>
          <a:p>
            <a:pPr marL="0" indent="0">
              <a:buNone/>
            </a:pPr>
            <a:r>
              <a:rPr lang="en-US" sz="750" dirty="0">
                <a:solidFill>
                  <a:srgbClr val="A8C4D4"/>
                </a:solidFill>
                <a:latin typeface="Calibri" pitchFamily="34" charset="0"/>
                <a:ea typeface="Calibri" pitchFamily="34" charset="-122"/>
                <a:cs typeface="Calibri" pitchFamily="34" charset="-120"/>
              </a:rPr>
              <a:t>Camunda Operate audit log · Dapr state trace · OpenTelemetry OTEL spans · SIEM ingest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sp>
      <p:sp>
        <p:nvSpPr>
          <p:cNvPr id="3" name="Shape 1"/>
          <p:cNvSpPr/>
          <p:nvPr/>
        </p:nvSpPr>
        <p:spPr>
          <a:xfrm>
            <a:off x="0" y="0"/>
            <a:ext cx="12192000" cy="1005840"/>
          </a:xfrm>
          <a:prstGeom prst="rect">
            <a:avLst/>
          </a:prstGeom>
          <a:solidFill>
            <a:srgbClr val="112240"/>
          </a:solidFill>
          <a:ln/>
        </p:spPr>
      </p:sp>
      <p:sp>
        <p:nvSpPr>
          <p:cNvPr id="4" name="Shape 2"/>
          <p:cNvSpPr/>
          <p:nvPr/>
        </p:nvSpPr>
        <p:spPr>
          <a:xfrm>
            <a:off x="0" y="0"/>
            <a:ext cx="64008" cy="1005840"/>
          </a:xfrm>
          <a:prstGeom prst="rect">
            <a:avLst/>
          </a:prstGeom>
          <a:solidFill>
            <a:srgbClr val="00B4D8"/>
          </a:solidFill>
          <a:ln/>
        </p:spPr>
      </p:sp>
      <p:sp>
        <p:nvSpPr>
          <p:cNvPr id="5" name="Text 3"/>
          <p:cNvSpPr/>
          <p:nvPr/>
        </p:nvSpPr>
        <p:spPr>
          <a:xfrm>
            <a:off x="201168" y="73152"/>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Agent Identity &amp; Zero Trust — The HOW</a:t>
            </a:r>
            <a:endParaRPr lang="en-US" sz="2200" dirty="0"/>
          </a:p>
        </p:txBody>
      </p:sp>
      <p:sp>
        <p:nvSpPr>
          <p:cNvPr id="6" name="Text 4"/>
          <p:cNvSpPr/>
          <p:nvPr/>
        </p:nvSpPr>
        <p:spPr>
          <a:xfrm>
            <a:off x="201168" y="603504"/>
            <a:ext cx="9144000" cy="329184"/>
          </a:xfrm>
          <a:prstGeom prst="rect">
            <a:avLst/>
          </a:prstGeom>
          <a:noFill/>
          <a:ln/>
        </p:spPr>
        <p:txBody>
          <a:bodyPr wrap="square" rtlCol="0" anchor="ctr"/>
          <a:lstStyle/>
          <a:p>
            <a:pPr marL="0" indent="0">
              <a:buNone/>
            </a:pPr>
            <a:r>
              <a:rPr lang="en-US" sz="1200" i="1" dirty="0">
                <a:solidFill>
                  <a:srgbClr val="00B4D8"/>
                </a:solidFill>
                <a:latin typeface="Calibri" pitchFamily="34" charset="0"/>
                <a:ea typeface="Calibri" pitchFamily="34" charset="-122"/>
                <a:cs typeface="Calibri" pitchFamily="34" charset="-120"/>
              </a:rPr>
              <a:t>From static API keys to cryptographic workload identity for every agent</a:t>
            </a:r>
            <a:endParaRPr lang="en-US" sz="1200" dirty="0"/>
          </a:p>
        </p:txBody>
      </p:sp>
      <p:sp>
        <p:nvSpPr>
          <p:cNvPr id="7" name="Shape 5"/>
          <p:cNvSpPr/>
          <p:nvPr/>
        </p:nvSpPr>
        <p:spPr>
          <a:xfrm>
            <a:off x="0" y="6583680"/>
            <a:ext cx="12192000" cy="54864"/>
          </a:xfrm>
          <a:prstGeom prst="rect">
            <a:avLst/>
          </a:prstGeom>
          <a:solidFill>
            <a:srgbClr val="00B4D8"/>
          </a:solidFill>
          <a:ln/>
        </p:spPr>
      </p:sp>
      <p:sp>
        <p:nvSpPr>
          <p:cNvPr id="8" name="Text 6"/>
          <p:cNvSpPr/>
          <p:nvPr/>
        </p:nvSpPr>
        <p:spPr>
          <a:xfrm>
            <a:off x="182880" y="6638544"/>
            <a:ext cx="11887200" cy="201168"/>
          </a:xfrm>
          <a:prstGeom prst="rect">
            <a:avLst/>
          </a:prstGeom>
          <a:noFill/>
          <a:ln/>
        </p:spPr>
        <p:txBody>
          <a:bodyPr wrap="square" rtlCol="0" anchor="ctr"/>
          <a:lstStyle/>
          <a:p>
            <a:pPr marL="0" indent="0">
              <a:buNone/>
            </a:pPr>
            <a:r>
              <a:rPr lang="en-US" sz="800" dirty="0">
                <a:solidFill>
                  <a:srgbClr val="A8C4D4"/>
                </a:solidFill>
                <a:latin typeface="Calibri" pitchFamily="34" charset="0"/>
                <a:ea typeface="Calibri" pitchFamily="34" charset="-122"/>
                <a:cs typeface="Calibri" pitchFamily="34" charset="-120"/>
              </a:rPr>
              <a:t>CONFIDENTIAL  |  Agentic BPMN Workflow Security  |  Enterprise Architecture</a:t>
            </a:r>
            <a:endParaRPr lang="en-US" sz="800" dirty="0"/>
          </a:p>
        </p:txBody>
      </p:sp>
      <p:sp>
        <p:nvSpPr>
          <p:cNvPr id="9" name="Shape 7"/>
          <p:cNvSpPr/>
          <p:nvPr/>
        </p:nvSpPr>
        <p:spPr>
          <a:xfrm>
            <a:off x="274320" y="1097280"/>
            <a:ext cx="11612880" cy="530352"/>
          </a:xfrm>
          <a:prstGeom prst="rect">
            <a:avLst/>
          </a:prstGeom>
          <a:solidFill>
            <a:srgbClr val="1A0A0A"/>
          </a:solidFill>
          <a:ln w="12700">
            <a:solidFill>
              <a:srgbClr val="E76F51"/>
            </a:solidFill>
            <a:prstDash val="solid"/>
          </a:ln>
        </p:spPr>
      </p:sp>
      <p:sp>
        <p:nvSpPr>
          <p:cNvPr id="10" name="Text 8"/>
          <p:cNvSpPr/>
          <p:nvPr/>
        </p:nvSpPr>
        <p:spPr>
          <a:xfrm>
            <a:off x="411480" y="1115568"/>
            <a:ext cx="11338560" cy="493776"/>
          </a:xfrm>
          <a:prstGeom prst="rect">
            <a:avLst/>
          </a:prstGeom>
          <a:noFill/>
          <a:ln/>
        </p:spPr>
        <p:txBody>
          <a:bodyPr wrap="square" rtlCol="0" anchor="ctr"/>
          <a:lstStyle/>
          <a:p>
            <a:pPr marL="0" indent="0">
              <a:buNone/>
            </a:pPr>
            <a:r>
              <a:rPr lang="en-US" sz="950" dirty="0">
                <a:solidFill>
                  <a:srgbClr val="F4A261"/>
                </a:solidFill>
                <a:latin typeface="Calibri" pitchFamily="34" charset="0"/>
                <a:ea typeface="Calibri" pitchFamily="34" charset="-122"/>
                <a:cs typeface="Calibri" pitchFamily="34" charset="-120"/>
              </a:rPr>
              <a:t>⚠  NHIs outnumber human identities 17:1 on average (100:1 in cloud-native). 50% of organizations experienced breaches tied to compromised machine identities. Static API keys and shared service accounts are the primary failure mode in agentic deployments.</a:t>
            </a:r>
            <a:endParaRPr lang="en-US" sz="950" dirty="0"/>
          </a:p>
        </p:txBody>
      </p:sp>
      <p:sp>
        <p:nvSpPr>
          <p:cNvPr id="11" name="Shape 9"/>
          <p:cNvSpPr/>
          <p:nvPr/>
        </p:nvSpPr>
        <p:spPr>
          <a:xfrm>
            <a:off x="274320" y="1828800"/>
            <a:ext cx="2834640" cy="4434840"/>
          </a:xfrm>
          <a:prstGeom prst="rect">
            <a:avLst/>
          </a:prstGeom>
          <a:solidFill>
            <a:srgbClr val="162B3F"/>
          </a:solidFill>
          <a:ln w="12700">
            <a:solidFill>
              <a:srgbClr val="00B4D8"/>
            </a:solidFill>
            <a:prstDash val="solid"/>
          </a:ln>
        </p:spPr>
      </p:sp>
      <p:sp>
        <p:nvSpPr>
          <p:cNvPr id="12" name="Shape 10"/>
          <p:cNvSpPr/>
          <p:nvPr/>
        </p:nvSpPr>
        <p:spPr>
          <a:xfrm>
            <a:off x="274320" y="1828800"/>
            <a:ext cx="2834640" cy="502920"/>
          </a:xfrm>
          <a:prstGeom prst="rect">
            <a:avLst/>
          </a:prstGeom>
          <a:solidFill>
            <a:srgbClr val="00B4D8"/>
          </a:solidFill>
          <a:ln/>
        </p:spPr>
      </p:sp>
      <p:sp>
        <p:nvSpPr>
          <p:cNvPr id="13" name="Text 11"/>
          <p:cNvSpPr/>
          <p:nvPr/>
        </p:nvSpPr>
        <p:spPr>
          <a:xfrm>
            <a:off x="365760" y="1847088"/>
            <a:ext cx="2651760" cy="4663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01  Workload Identity</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(SPIFFE / SPIRE)</a:t>
            </a:r>
            <a:endParaRPr lang="en-US" sz="1000" dirty="0"/>
          </a:p>
        </p:txBody>
      </p:sp>
      <p:sp>
        <p:nvSpPr>
          <p:cNvPr id="14" name="Shape 12"/>
          <p:cNvSpPr/>
          <p:nvPr/>
        </p:nvSpPr>
        <p:spPr>
          <a:xfrm>
            <a:off x="411480" y="2450592"/>
            <a:ext cx="118872" cy="118872"/>
          </a:xfrm>
          <a:prstGeom prst="ellipse">
            <a:avLst/>
          </a:prstGeom>
          <a:solidFill>
            <a:srgbClr val="00B4D8"/>
          </a:solidFill>
          <a:ln/>
        </p:spPr>
      </p:sp>
      <p:sp>
        <p:nvSpPr>
          <p:cNvPr id="15" name="Text 13"/>
          <p:cNvSpPr/>
          <p:nvPr/>
        </p:nvSpPr>
        <p:spPr>
          <a:xfrm>
            <a:off x="594360" y="2395728"/>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Every agent container gets a SPIFFE ID: spiffe://trust-domain/agent-name</a:t>
            </a:r>
            <a:endParaRPr lang="en-US" sz="850" dirty="0"/>
          </a:p>
        </p:txBody>
      </p:sp>
      <p:sp>
        <p:nvSpPr>
          <p:cNvPr id="16" name="Shape 14"/>
          <p:cNvSpPr/>
          <p:nvPr/>
        </p:nvSpPr>
        <p:spPr>
          <a:xfrm>
            <a:off x="411480" y="3383280"/>
            <a:ext cx="118872" cy="118872"/>
          </a:xfrm>
          <a:prstGeom prst="ellipse">
            <a:avLst/>
          </a:prstGeom>
          <a:solidFill>
            <a:srgbClr val="00B4D8"/>
          </a:solidFill>
          <a:ln/>
        </p:spPr>
      </p:sp>
      <p:sp>
        <p:nvSpPr>
          <p:cNvPr id="17" name="Text 15"/>
          <p:cNvSpPr/>
          <p:nvPr/>
        </p:nvSpPr>
        <p:spPr>
          <a:xfrm>
            <a:off x="594360" y="3328416"/>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SVID issued as short-lived X.509 cert or JWT — auto-rotates every hour</a:t>
            </a:r>
            <a:endParaRPr lang="en-US" sz="850" dirty="0"/>
          </a:p>
        </p:txBody>
      </p:sp>
      <p:sp>
        <p:nvSpPr>
          <p:cNvPr id="18" name="Shape 16"/>
          <p:cNvSpPr/>
          <p:nvPr/>
        </p:nvSpPr>
        <p:spPr>
          <a:xfrm>
            <a:off x="411480" y="4315968"/>
            <a:ext cx="118872" cy="118872"/>
          </a:xfrm>
          <a:prstGeom prst="ellipse">
            <a:avLst/>
          </a:prstGeom>
          <a:solidFill>
            <a:srgbClr val="00B4D8"/>
          </a:solidFill>
          <a:ln/>
        </p:spPr>
      </p:sp>
      <p:sp>
        <p:nvSpPr>
          <p:cNvPr id="19" name="Text 17"/>
          <p:cNvSpPr/>
          <p:nvPr/>
        </p:nvSpPr>
        <p:spPr>
          <a:xfrm>
            <a:off x="594360" y="4261104"/>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No static secrets stored in config files or environment variables</a:t>
            </a:r>
            <a:endParaRPr lang="en-US" sz="850" dirty="0"/>
          </a:p>
        </p:txBody>
      </p:sp>
      <p:sp>
        <p:nvSpPr>
          <p:cNvPr id="20" name="Shape 18"/>
          <p:cNvSpPr/>
          <p:nvPr/>
        </p:nvSpPr>
        <p:spPr>
          <a:xfrm>
            <a:off x="411480" y="5248656"/>
            <a:ext cx="118872" cy="118872"/>
          </a:xfrm>
          <a:prstGeom prst="ellipse">
            <a:avLst/>
          </a:prstGeom>
          <a:solidFill>
            <a:srgbClr val="00B4D8"/>
          </a:solidFill>
          <a:ln/>
        </p:spPr>
      </p:sp>
      <p:sp>
        <p:nvSpPr>
          <p:cNvPr id="21" name="Text 19"/>
          <p:cNvSpPr/>
          <p:nvPr/>
        </p:nvSpPr>
        <p:spPr>
          <a:xfrm>
            <a:off x="594360" y="5193792"/>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SPIRE attestation validates runtime: K8s namespace + service account + image digest</a:t>
            </a:r>
            <a:endParaRPr lang="en-US" sz="850" dirty="0"/>
          </a:p>
        </p:txBody>
      </p:sp>
      <p:sp>
        <p:nvSpPr>
          <p:cNvPr id="22" name="Shape 20"/>
          <p:cNvSpPr/>
          <p:nvPr/>
        </p:nvSpPr>
        <p:spPr>
          <a:xfrm>
            <a:off x="3246120" y="1828800"/>
            <a:ext cx="2834640" cy="4434840"/>
          </a:xfrm>
          <a:prstGeom prst="rect">
            <a:avLst/>
          </a:prstGeom>
          <a:solidFill>
            <a:srgbClr val="162B3F"/>
          </a:solidFill>
          <a:ln w="12700">
            <a:solidFill>
              <a:srgbClr val="E76F51"/>
            </a:solidFill>
            <a:prstDash val="solid"/>
          </a:ln>
        </p:spPr>
      </p:sp>
      <p:sp>
        <p:nvSpPr>
          <p:cNvPr id="23" name="Shape 21"/>
          <p:cNvSpPr/>
          <p:nvPr/>
        </p:nvSpPr>
        <p:spPr>
          <a:xfrm>
            <a:off x="3246120" y="1828800"/>
            <a:ext cx="2834640" cy="502920"/>
          </a:xfrm>
          <a:prstGeom prst="rect">
            <a:avLst/>
          </a:prstGeom>
          <a:solidFill>
            <a:srgbClr val="E76F51"/>
          </a:solidFill>
          <a:ln/>
        </p:spPr>
      </p:sp>
      <p:sp>
        <p:nvSpPr>
          <p:cNvPr id="24" name="Text 22"/>
          <p:cNvSpPr/>
          <p:nvPr/>
        </p:nvSpPr>
        <p:spPr>
          <a:xfrm>
            <a:off x="3337560" y="1847088"/>
            <a:ext cx="2651760" cy="4663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02  Per-Request</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Authorization</a:t>
            </a:r>
            <a:endParaRPr lang="en-US" sz="1000" dirty="0"/>
          </a:p>
        </p:txBody>
      </p:sp>
      <p:sp>
        <p:nvSpPr>
          <p:cNvPr id="25" name="Shape 23"/>
          <p:cNvSpPr/>
          <p:nvPr/>
        </p:nvSpPr>
        <p:spPr>
          <a:xfrm>
            <a:off x="3383280" y="2450592"/>
            <a:ext cx="118872" cy="118872"/>
          </a:xfrm>
          <a:prstGeom prst="ellipse">
            <a:avLst/>
          </a:prstGeom>
          <a:solidFill>
            <a:srgbClr val="E76F51"/>
          </a:solidFill>
          <a:ln/>
        </p:spPr>
      </p:sp>
      <p:sp>
        <p:nvSpPr>
          <p:cNvPr id="26" name="Text 24"/>
          <p:cNvSpPr/>
          <p:nvPr/>
        </p:nvSpPr>
        <p:spPr>
          <a:xfrm>
            <a:off x="3566160" y="2395728"/>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Every MCP tool call generates an AuthZ check — never session-wide grants</a:t>
            </a:r>
            <a:endParaRPr lang="en-US" sz="850" dirty="0"/>
          </a:p>
        </p:txBody>
      </p:sp>
      <p:sp>
        <p:nvSpPr>
          <p:cNvPr id="27" name="Shape 25"/>
          <p:cNvSpPr/>
          <p:nvPr/>
        </p:nvSpPr>
        <p:spPr>
          <a:xfrm>
            <a:off x="3383280" y="3383280"/>
            <a:ext cx="118872" cy="118872"/>
          </a:xfrm>
          <a:prstGeom prst="ellipse">
            <a:avLst/>
          </a:prstGeom>
          <a:solidFill>
            <a:srgbClr val="E76F51"/>
          </a:solidFill>
          <a:ln/>
        </p:spPr>
      </p:sp>
      <p:sp>
        <p:nvSpPr>
          <p:cNvPr id="28" name="Text 26"/>
          <p:cNvSpPr/>
          <p:nvPr/>
        </p:nvSpPr>
        <p:spPr>
          <a:xfrm>
            <a:off x="3566160" y="3328416"/>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OPA / Cedar policy: agent SVID + tool action + resource + delegation context</a:t>
            </a:r>
            <a:endParaRPr lang="en-US" sz="850" dirty="0"/>
          </a:p>
        </p:txBody>
      </p:sp>
      <p:sp>
        <p:nvSpPr>
          <p:cNvPr id="29" name="Shape 27"/>
          <p:cNvSpPr/>
          <p:nvPr/>
        </p:nvSpPr>
        <p:spPr>
          <a:xfrm>
            <a:off x="3383280" y="4315968"/>
            <a:ext cx="118872" cy="118872"/>
          </a:xfrm>
          <a:prstGeom prst="ellipse">
            <a:avLst/>
          </a:prstGeom>
          <a:solidFill>
            <a:srgbClr val="E76F51"/>
          </a:solidFill>
          <a:ln/>
        </p:spPr>
      </p:sp>
      <p:sp>
        <p:nvSpPr>
          <p:cNvPr id="30" name="Text 28"/>
          <p:cNvSpPr/>
          <p:nvPr/>
        </p:nvSpPr>
        <p:spPr>
          <a:xfrm>
            <a:off x="3566160" y="4261104"/>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OAuth 2.1 scoped tokens: audience bound to one MCP server, expires in minutes</a:t>
            </a:r>
            <a:endParaRPr lang="en-US" sz="850" dirty="0"/>
          </a:p>
        </p:txBody>
      </p:sp>
      <p:sp>
        <p:nvSpPr>
          <p:cNvPr id="31" name="Shape 29"/>
          <p:cNvSpPr/>
          <p:nvPr/>
        </p:nvSpPr>
        <p:spPr>
          <a:xfrm>
            <a:off x="3383280" y="5248656"/>
            <a:ext cx="118872" cy="118872"/>
          </a:xfrm>
          <a:prstGeom prst="ellipse">
            <a:avLst/>
          </a:prstGeom>
          <a:solidFill>
            <a:srgbClr val="E76F51"/>
          </a:solidFill>
          <a:ln/>
        </p:spPr>
      </p:sp>
      <p:sp>
        <p:nvSpPr>
          <p:cNvPr id="32" name="Text 30"/>
          <p:cNvSpPr/>
          <p:nvPr/>
        </p:nvSpPr>
        <p:spPr>
          <a:xfrm>
            <a:off x="3566160" y="5193792"/>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Confused-deputy prevention: token passthrough explicitly forbidden per MCP spec</a:t>
            </a:r>
            <a:endParaRPr lang="en-US" sz="850" dirty="0"/>
          </a:p>
        </p:txBody>
      </p:sp>
      <p:sp>
        <p:nvSpPr>
          <p:cNvPr id="33" name="Shape 31"/>
          <p:cNvSpPr/>
          <p:nvPr/>
        </p:nvSpPr>
        <p:spPr>
          <a:xfrm>
            <a:off x="6217920" y="1828800"/>
            <a:ext cx="2834640" cy="4434840"/>
          </a:xfrm>
          <a:prstGeom prst="rect">
            <a:avLst/>
          </a:prstGeom>
          <a:solidFill>
            <a:srgbClr val="162B3F"/>
          </a:solidFill>
          <a:ln w="12700">
            <a:solidFill>
              <a:srgbClr val="7B2D8B"/>
            </a:solidFill>
            <a:prstDash val="solid"/>
          </a:ln>
        </p:spPr>
      </p:sp>
      <p:sp>
        <p:nvSpPr>
          <p:cNvPr id="34" name="Shape 32"/>
          <p:cNvSpPr/>
          <p:nvPr/>
        </p:nvSpPr>
        <p:spPr>
          <a:xfrm>
            <a:off x="6217920" y="1828800"/>
            <a:ext cx="2834640" cy="502920"/>
          </a:xfrm>
          <a:prstGeom prst="rect">
            <a:avLst/>
          </a:prstGeom>
          <a:solidFill>
            <a:srgbClr val="7B2D8B"/>
          </a:solidFill>
          <a:ln/>
        </p:spPr>
      </p:sp>
      <p:sp>
        <p:nvSpPr>
          <p:cNvPr id="35" name="Text 33"/>
          <p:cNvSpPr/>
          <p:nvPr/>
        </p:nvSpPr>
        <p:spPr>
          <a:xfrm>
            <a:off x="6309360" y="1847088"/>
            <a:ext cx="2651760" cy="4663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03  Least Privilege</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&amp; JIT Access</a:t>
            </a:r>
            <a:endParaRPr lang="en-US" sz="1000" dirty="0"/>
          </a:p>
        </p:txBody>
      </p:sp>
      <p:sp>
        <p:nvSpPr>
          <p:cNvPr id="36" name="Shape 34"/>
          <p:cNvSpPr/>
          <p:nvPr/>
        </p:nvSpPr>
        <p:spPr>
          <a:xfrm>
            <a:off x="6355080" y="2450592"/>
            <a:ext cx="118872" cy="118872"/>
          </a:xfrm>
          <a:prstGeom prst="ellipse">
            <a:avLst/>
          </a:prstGeom>
          <a:solidFill>
            <a:srgbClr val="7B2D8B"/>
          </a:solidFill>
          <a:ln/>
        </p:spPr>
      </p:sp>
      <p:sp>
        <p:nvSpPr>
          <p:cNvPr id="37" name="Text 35"/>
          <p:cNvSpPr/>
          <p:nvPr/>
        </p:nvSpPr>
        <p:spPr>
          <a:xfrm>
            <a:off x="6537960" y="2395728"/>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Agent provisioned on-demand with TTL, purpose, risk level as attributes</a:t>
            </a:r>
            <a:endParaRPr lang="en-US" sz="850" dirty="0"/>
          </a:p>
        </p:txBody>
      </p:sp>
      <p:sp>
        <p:nvSpPr>
          <p:cNvPr id="38" name="Shape 36"/>
          <p:cNvSpPr/>
          <p:nvPr/>
        </p:nvSpPr>
        <p:spPr>
          <a:xfrm>
            <a:off x="6355080" y="3383280"/>
            <a:ext cx="118872" cy="118872"/>
          </a:xfrm>
          <a:prstGeom prst="ellipse">
            <a:avLst/>
          </a:prstGeom>
          <a:solidFill>
            <a:srgbClr val="7B2D8B"/>
          </a:solidFill>
          <a:ln/>
        </p:spPr>
      </p:sp>
      <p:sp>
        <p:nvSpPr>
          <p:cNvPr id="39" name="Text 37"/>
          <p:cNvSpPr/>
          <p:nvPr/>
        </p:nvSpPr>
        <p:spPr>
          <a:xfrm>
            <a:off x="6537960" y="3328416"/>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Identity retired after task completion — no orphaned credentials</a:t>
            </a:r>
            <a:endParaRPr lang="en-US" sz="850" dirty="0"/>
          </a:p>
        </p:txBody>
      </p:sp>
      <p:sp>
        <p:nvSpPr>
          <p:cNvPr id="40" name="Shape 38"/>
          <p:cNvSpPr/>
          <p:nvPr/>
        </p:nvSpPr>
        <p:spPr>
          <a:xfrm>
            <a:off x="6355080" y="4315968"/>
            <a:ext cx="118872" cy="118872"/>
          </a:xfrm>
          <a:prstGeom prst="ellipse">
            <a:avLst/>
          </a:prstGeom>
          <a:solidFill>
            <a:srgbClr val="7B2D8B"/>
          </a:solidFill>
          <a:ln/>
        </p:spPr>
      </p:sp>
      <p:sp>
        <p:nvSpPr>
          <p:cNvPr id="41" name="Text 39"/>
          <p:cNvSpPr/>
          <p:nvPr/>
        </p:nvSpPr>
        <p:spPr>
          <a:xfrm>
            <a:off x="6537960" y="4261104"/>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Tool allow-lists scoped to BPMN task, not session-wide</a:t>
            </a:r>
            <a:endParaRPr lang="en-US" sz="850" dirty="0"/>
          </a:p>
        </p:txBody>
      </p:sp>
      <p:sp>
        <p:nvSpPr>
          <p:cNvPr id="42" name="Shape 40"/>
          <p:cNvSpPr/>
          <p:nvPr/>
        </p:nvSpPr>
        <p:spPr>
          <a:xfrm>
            <a:off x="6355080" y="5248656"/>
            <a:ext cx="118872" cy="118872"/>
          </a:xfrm>
          <a:prstGeom prst="ellipse">
            <a:avLst/>
          </a:prstGeom>
          <a:solidFill>
            <a:srgbClr val="7B2D8B"/>
          </a:solidFill>
          <a:ln/>
        </p:spPr>
      </p:sp>
      <p:sp>
        <p:nvSpPr>
          <p:cNvPr id="43" name="Text 41"/>
          <p:cNvSpPr/>
          <p:nvPr/>
        </p:nvSpPr>
        <p:spPr>
          <a:xfrm>
            <a:off x="6537960" y="5193792"/>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Delegation chains: on-behalf-of tokens bind user context to agent action</a:t>
            </a:r>
            <a:endParaRPr lang="en-US" sz="850" dirty="0"/>
          </a:p>
        </p:txBody>
      </p:sp>
      <p:sp>
        <p:nvSpPr>
          <p:cNvPr id="44" name="Shape 42"/>
          <p:cNvSpPr/>
          <p:nvPr/>
        </p:nvSpPr>
        <p:spPr>
          <a:xfrm>
            <a:off x="9189720" y="1828800"/>
            <a:ext cx="2834640" cy="4434840"/>
          </a:xfrm>
          <a:prstGeom prst="rect">
            <a:avLst/>
          </a:prstGeom>
          <a:solidFill>
            <a:srgbClr val="162B3F"/>
          </a:solidFill>
          <a:ln w="12700">
            <a:solidFill>
              <a:srgbClr val="F4A261"/>
            </a:solidFill>
            <a:prstDash val="solid"/>
          </a:ln>
        </p:spPr>
      </p:sp>
      <p:sp>
        <p:nvSpPr>
          <p:cNvPr id="45" name="Shape 43"/>
          <p:cNvSpPr/>
          <p:nvPr/>
        </p:nvSpPr>
        <p:spPr>
          <a:xfrm>
            <a:off x="9189720" y="1828800"/>
            <a:ext cx="2834640" cy="502920"/>
          </a:xfrm>
          <a:prstGeom prst="rect">
            <a:avLst/>
          </a:prstGeom>
          <a:solidFill>
            <a:srgbClr val="F4A261"/>
          </a:solidFill>
          <a:ln/>
        </p:spPr>
      </p:sp>
      <p:sp>
        <p:nvSpPr>
          <p:cNvPr id="46" name="Text 44"/>
          <p:cNvSpPr/>
          <p:nvPr/>
        </p:nvSpPr>
        <p:spPr>
          <a:xfrm>
            <a:off x="9281160" y="1847088"/>
            <a:ext cx="2651760" cy="4663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04  Agent Registry</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&amp; Discovery</a:t>
            </a:r>
            <a:endParaRPr lang="en-US" sz="1000" dirty="0"/>
          </a:p>
        </p:txBody>
      </p:sp>
      <p:sp>
        <p:nvSpPr>
          <p:cNvPr id="47" name="Shape 45"/>
          <p:cNvSpPr/>
          <p:nvPr/>
        </p:nvSpPr>
        <p:spPr>
          <a:xfrm>
            <a:off x="9326880" y="2450592"/>
            <a:ext cx="118872" cy="118872"/>
          </a:xfrm>
          <a:prstGeom prst="ellipse">
            <a:avLst/>
          </a:prstGeom>
          <a:solidFill>
            <a:srgbClr val="F4A261"/>
          </a:solidFill>
          <a:ln/>
        </p:spPr>
      </p:sp>
      <p:sp>
        <p:nvSpPr>
          <p:cNvPr id="48" name="Text 46"/>
          <p:cNvSpPr/>
          <p:nvPr/>
        </p:nvSpPr>
        <p:spPr>
          <a:xfrm>
            <a:off x="9509760" y="2395728"/>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Agent Cards (JSON-LD) published at /.well-known/agent.json — capability + auth requirements</a:t>
            </a:r>
            <a:endParaRPr lang="en-US" sz="850" dirty="0"/>
          </a:p>
        </p:txBody>
      </p:sp>
      <p:sp>
        <p:nvSpPr>
          <p:cNvPr id="49" name="Shape 47"/>
          <p:cNvSpPr/>
          <p:nvPr/>
        </p:nvSpPr>
        <p:spPr>
          <a:xfrm>
            <a:off x="9326880" y="3383280"/>
            <a:ext cx="118872" cy="118872"/>
          </a:xfrm>
          <a:prstGeom prst="ellipse">
            <a:avLst/>
          </a:prstGeom>
          <a:solidFill>
            <a:srgbClr val="F4A261"/>
          </a:solidFill>
          <a:ln/>
        </p:spPr>
      </p:sp>
      <p:sp>
        <p:nvSpPr>
          <p:cNvPr id="50" name="Text 48"/>
          <p:cNvSpPr/>
          <p:nvPr/>
        </p:nvSpPr>
        <p:spPr>
          <a:xfrm>
            <a:off x="9509760" y="3328416"/>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MCP Registry GA: signed server manifests with trust scoring</a:t>
            </a:r>
            <a:endParaRPr lang="en-US" sz="850" dirty="0"/>
          </a:p>
        </p:txBody>
      </p:sp>
      <p:sp>
        <p:nvSpPr>
          <p:cNvPr id="51" name="Shape 49"/>
          <p:cNvSpPr/>
          <p:nvPr/>
        </p:nvSpPr>
        <p:spPr>
          <a:xfrm>
            <a:off x="9326880" y="4315968"/>
            <a:ext cx="118872" cy="118872"/>
          </a:xfrm>
          <a:prstGeom prst="ellipse">
            <a:avLst/>
          </a:prstGeom>
          <a:solidFill>
            <a:srgbClr val="F4A261"/>
          </a:solidFill>
          <a:ln/>
        </p:spPr>
      </p:sp>
      <p:sp>
        <p:nvSpPr>
          <p:cNvPr id="52" name="Text 50"/>
          <p:cNvSpPr/>
          <p:nvPr/>
        </p:nvSpPr>
        <p:spPr>
          <a:xfrm>
            <a:off x="9509760" y="4261104"/>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Microsoft Entra Agent ID: enterprise lifecycle governance built into Azure AD</a:t>
            </a:r>
            <a:endParaRPr lang="en-US" sz="850" dirty="0"/>
          </a:p>
        </p:txBody>
      </p:sp>
      <p:sp>
        <p:nvSpPr>
          <p:cNvPr id="53" name="Shape 51"/>
          <p:cNvSpPr/>
          <p:nvPr/>
        </p:nvSpPr>
        <p:spPr>
          <a:xfrm>
            <a:off x="9326880" y="5248656"/>
            <a:ext cx="118872" cy="118872"/>
          </a:xfrm>
          <a:prstGeom prst="ellipse">
            <a:avLst/>
          </a:prstGeom>
          <a:solidFill>
            <a:srgbClr val="F4A261"/>
          </a:solidFill>
          <a:ln/>
        </p:spPr>
      </p:sp>
      <p:sp>
        <p:nvSpPr>
          <p:cNvPr id="54" name="Text 52"/>
          <p:cNvSpPr/>
          <p:nvPr/>
        </p:nvSpPr>
        <p:spPr>
          <a:xfrm>
            <a:off x="9509760" y="5193792"/>
            <a:ext cx="2423160" cy="841248"/>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NANDA Index: W3C Verifiable Credentials for registry-poisoning prevention</a:t>
            </a:r>
            <a:endParaRPr lang="en-US" sz="850" dirty="0"/>
          </a:p>
        </p:txBody>
      </p:sp>
      <p:sp>
        <p:nvSpPr>
          <p:cNvPr id="55" name="Text 53"/>
          <p:cNvSpPr/>
          <p:nvPr/>
        </p:nvSpPr>
        <p:spPr>
          <a:xfrm>
            <a:off x="274320" y="6400800"/>
            <a:ext cx="11612880" cy="164592"/>
          </a:xfrm>
          <a:prstGeom prst="rect">
            <a:avLst/>
          </a:prstGeom>
          <a:noFill/>
          <a:ln/>
        </p:spPr>
        <p:txBody>
          <a:bodyPr wrap="square" rtlCol="0" anchor="ctr"/>
          <a:lstStyle/>
          <a:p>
            <a:pPr marL="0" indent="0">
              <a:buNone/>
            </a:pPr>
            <a:r>
              <a:rPr lang="en-US" sz="800" i="1" dirty="0">
                <a:solidFill>
                  <a:srgbClr val="00B4D8"/>
                </a:solidFill>
                <a:latin typeface="Calibri" pitchFamily="34" charset="0"/>
                <a:ea typeface="Calibri" pitchFamily="34" charset="-122"/>
                <a:cs typeface="Calibri" pitchFamily="34" charset="-120"/>
              </a:rPr>
              <a:t>🔑  HOW TO IMPLEMENT: Deploy SPIRE server → register agent workloads → issue SVIDs on startup → mount into MCP client as mTLS cert → connect OPA PDP at agent gateway → all tool calls evaluated before execution.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sp>
      <p:sp>
        <p:nvSpPr>
          <p:cNvPr id="3" name="Shape 1"/>
          <p:cNvSpPr/>
          <p:nvPr/>
        </p:nvSpPr>
        <p:spPr>
          <a:xfrm>
            <a:off x="0" y="0"/>
            <a:ext cx="12192000" cy="1005840"/>
          </a:xfrm>
          <a:prstGeom prst="rect">
            <a:avLst/>
          </a:prstGeom>
          <a:solidFill>
            <a:srgbClr val="112240"/>
          </a:solidFill>
          <a:ln/>
        </p:spPr>
      </p:sp>
      <p:sp>
        <p:nvSpPr>
          <p:cNvPr id="4" name="Shape 2"/>
          <p:cNvSpPr/>
          <p:nvPr/>
        </p:nvSpPr>
        <p:spPr>
          <a:xfrm>
            <a:off x="0" y="0"/>
            <a:ext cx="64008" cy="1005840"/>
          </a:xfrm>
          <a:prstGeom prst="rect">
            <a:avLst/>
          </a:prstGeom>
          <a:solidFill>
            <a:srgbClr val="00B4D8"/>
          </a:solidFill>
          <a:ln/>
        </p:spPr>
      </p:sp>
      <p:sp>
        <p:nvSpPr>
          <p:cNvPr id="5" name="Text 3"/>
          <p:cNvSpPr/>
          <p:nvPr/>
        </p:nvSpPr>
        <p:spPr>
          <a:xfrm>
            <a:off x="201168" y="73152"/>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Security Controls Matrix — BPMN Workflow Layer Mapping</a:t>
            </a:r>
            <a:endParaRPr lang="en-US" sz="2200" dirty="0"/>
          </a:p>
        </p:txBody>
      </p:sp>
      <p:sp>
        <p:nvSpPr>
          <p:cNvPr id="6" name="Text 4"/>
          <p:cNvSpPr/>
          <p:nvPr/>
        </p:nvSpPr>
        <p:spPr>
          <a:xfrm>
            <a:off x="201168" y="603504"/>
            <a:ext cx="9144000" cy="329184"/>
          </a:xfrm>
          <a:prstGeom prst="rect">
            <a:avLst/>
          </a:prstGeom>
          <a:noFill/>
          <a:ln/>
        </p:spPr>
        <p:txBody>
          <a:bodyPr wrap="square" rtlCol="0" anchor="ctr"/>
          <a:lstStyle/>
          <a:p>
            <a:pPr marL="0" indent="0">
              <a:buNone/>
            </a:pPr>
            <a:r>
              <a:rPr lang="en-US" sz="1200" i="1" dirty="0">
                <a:solidFill>
                  <a:srgbClr val="00B4D8"/>
                </a:solidFill>
                <a:latin typeface="Calibri" pitchFamily="34" charset="0"/>
                <a:ea typeface="Calibri" pitchFamily="34" charset="-122"/>
                <a:cs typeface="Calibri" pitchFamily="34" charset="-120"/>
              </a:rPr>
              <a:t>Where each control fires across the agentic workflow lifecycle</a:t>
            </a:r>
            <a:endParaRPr lang="en-US" sz="1200" dirty="0"/>
          </a:p>
        </p:txBody>
      </p:sp>
      <p:sp>
        <p:nvSpPr>
          <p:cNvPr id="7" name="Shape 5"/>
          <p:cNvSpPr/>
          <p:nvPr/>
        </p:nvSpPr>
        <p:spPr>
          <a:xfrm>
            <a:off x="0" y="6583680"/>
            <a:ext cx="12192000" cy="54864"/>
          </a:xfrm>
          <a:prstGeom prst="rect">
            <a:avLst/>
          </a:prstGeom>
          <a:solidFill>
            <a:srgbClr val="00B4D8"/>
          </a:solidFill>
          <a:ln/>
        </p:spPr>
      </p:sp>
      <p:sp>
        <p:nvSpPr>
          <p:cNvPr id="8" name="Text 6"/>
          <p:cNvSpPr/>
          <p:nvPr/>
        </p:nvSpPr>
        <p:spPr>
          <a:xfrm>
            <a:off x="182880" y="6638544"/>
            <a:ext cx="11887200" cy="201168"/>
          </a:xfrm>
          <a:prstGeom prst="rect">
            <a:avLst/>
          </a:prstGeom>
          <a:noFill/>
          <a:ln/>
        </p:spPr>
        <p:txBody>
          <a:bodyPr wrap="square" rtlCol="0" anchor="ctr"/>
          <a:lstStyle/>
          <a:p>
            <a:pPr marL="0" indent="0">
              <a:buNone/>
            </a:pPr>
            <a:r>
              <a:rPr lang="en-US" sz="800" dirty="0">
                <a:solidFill>
                  <a:srgbClr val="A8C4D4"/>
                </a:solidFill>
                <a:latin typeface="Calibri" pitchFamily="34" charset="0"/>
                <a:ea typeface="Calibri" pitchFamily="34" charset="-122"/>
                <a:cs typeface="Calibri" pitchFamily="34" charset="-120"/>
              </a:rPr>
              <a:t>CONFIDENTIAL  |  Agentic BPMN Workflow Security  |  Enterprise Architecture</a:t>
            </a:r>
            <a:endParaRPr lang="en-US" sz="800" dirty="0"/>
          </a:p>
        </p:txBody>
      </p:sp>
      <p:sp>
        <p:nvSpPr>
          <p:cNvPr id="9" name="Shape 7"/>
          <p:cNvSpPr/>
          <p:nvPr/>
        </p:nvSpPr>
        <p:spPr>
          <a:xfrm>
            <a:off x="182880" y="1097280"/>
            <a:ext cx="2011680" cy="384048"/>
          </a:xfrm>
          <a:prstGeom prst="rect">
            <a:avLst/>
          </a:prstGeom>
          <a:solidFill>
            <a:srgbClr val="0077B6"/>
          </a:solidFill>
          <a:ln w="12700">
            <a:solidFill>
              <a:srgbClr val="00B4D8"/>
            </a:solidFill>
            <a:prstDash val="solid"/>
          </a:ln>
        </p:spPr>
      </p:sp>
      <p:sp>
        <p:nvSpPr>
          <p:cNvPr id="10" name="Text 8"/>
          <p:cNvSpPr/>
          <p:nvPr/>
        </p:nvSpPr>
        <p:spPr>
          <a:xfrm>
            <a:off x="228600" y="1097280"/>
            <a:ext cx="1920240" cy="384048"/>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BPMN LIFECYCLE PHASE</a:t>
            </a:r>
            <a:endParaRPr lang="en-US" sz="750" dirty="0"/>
          </a:p>
        </p:txBody>
      </p:sp>
      <p:sp>
        <p:nvSpPr>
          <p:cNvPr id="11" name="Shape 9"/>
          <p:cNvSpPr/>
          <p:nvPr/>
        </p:nvSpPr>
        <p:spPr>
          <a:xfrm>
            <a:off x="2194560" y="1097280"/>
            <a:ext cx="2103120" cy="384048"/>
          </a:xfrm>
          <a:prstGeom prst="rect">
            <a:avLst/>
          </a:prstGeom>
          <a:solidFill>
            <a:srgbClr val="0077B6"/>
          </a:solidFill>
          <a:ln w="12700">
            <a:solidFill>
              <a:srgbClr val="00B4D8"/>
            </a:solidFill>
            <a:prstDash val="solid"/>
          </a:ln>
        </p:spPr>
      </p:sp>
      <p:sp>
        <p:nvSpPr>
          <p:cNvPr id="12" name="Text 10"/>
          <p:cNvSpPr/>
          <p:nvPr/>
        </p:nvSpPr>
        <p:spPr>
          <a:xfrm>
            <a:off x="2240280" y="1097280"/>
            <a:ext cx="2011680" cy="384048"/>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THREAT VECTOR</a:t>
            </a:r>
            <a:endParaRPr lang="en-US" sz="750" dirty="0"/>
          </a:p>
        </p:txBody>
      </p:sp>
      <p:sp>
        <p:nvSpPr>
          <p:cNvPr id="13" name="Shape 11"/>
          <p:cNvSpPr/>
          <p:nvPr/>
        </p:nvSpPr>
        <p:spPr>
          <a:xfrm>
            <a:off x="4297680" y="1097280"/>
            <a:ext cx="2926080" cy="384048"/>
          </a:xfrm>
          <a:prstGeom prst="rect">
            <a:avLst/>
          </a:prstGeom>
          <a:solidFill>
            <a:srgbClr val="0077B6"/>
          </a:solidFill>
          <a:ln w="12700">
            <a:solidFill>
              <a:srgbClr val="00B4D8"/>
            </a:solidFill>
            <a:prstDash val="solid"/>
          </a:ln>
        </p:spPr>
      </p:sp>
      <p:sp>
        <p:nvSpPr>
          <p:cNvPr id="14" name="Text 12"/>
          <p:cNvSpPr/>
          <p:nvPr/>
        </p:nvSpPr>
        <p:spPr>
          <a:xfrm>
            <a:off x="4343400" y="1097280"/>
            <a:ext cx="2834640" cy="384048"/>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HOW: CONTROL MECHANISM</a:t>
            </a:r>
            <a:endParaRPr lang="en-US" sz="750" dirty="0"/>
          </a:p>
        </p:txBody>
      </p:sp>
      <p:sp>
        <p:nvSpPr>
          <p:cNvPr id="15" name="Shape 13"/>
          <p:cNvSpPr/>
          <p:nvPr/>
        </p:nvSpPr>
        <p:spPr>
          <a:xfrm>
            <a:off x="7223760" y="1097280"/>
            <a:ext cx="2560320" cy="384048"/>
          </a:xfrm>
          <a:prstGeom prst="rect">
            <a:avLst/>
          </a:prstGeom>
          <a:solidFill>
            <a:srgbClr val="0077B6"/>
          </a:solidFill>
          <a:ln w="12700">
            <a:solidFill>
              <a:srgbClr val="00B4D8"/>
            </a:solidFill>
            <a:prstDash val="solid"/>
          </a:ln>
        </p:spPr>
      </p:sp>
      <p:sp>
        <p:nvSpPr>
          <p:cNvPr id="16" name="Text 14"/>
          <p:cNvSpPr/>
          <p:nvPr/>
        </p:nvSpPr>
        <p:spPr>
          <a:xfrm>
            <a:off x="7269480" y="1097280"/>
            <a:ext cx="2468880" cy="384048"/>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TOOLING / ENFORCEMENT</a:t>
            </a:r>
            <a:endParaRPr lang="en-US" sz="750" dirty="0"/>
          </a:p>
        </p:txBody>
      </p:sp>
      <p:sp>
        <p:nvSpPr>
          <p:cNvPr id="17" name="Shape 15"/>
          <p:cNvSpPr/>
          <p:nvPr/>
        </p:nvSpPr>
        <p:spPr>
          <a:xfrm>
            <a:off x="9784080" y="1097280"/>
            <a:ext cx="1645920" cy="384048"/>
          </a:xfrm>
          <a:prstGeom prst="rect">
            <a:avLst/>
          </a:prstGeom>
          <a:solidFill>
            <a:srgbClr val="0077B6"/>
          </a:solidFill>
          <a:ln w="12700">
            <a:solidFill>
              <a:srgbClr val="00B4D8"/>
            </a:solidFill>
            <a:prstDash val="solid"/>
          </a:ln>
        </p:spPr>
      </p:sp>
      <p:sp>
        <p:nvSpPr>
          <p:cNvPr id="18" name="Text 16"/>
          <p:cNvSpPr/>
          <p:nvPr/>
        </p:nvSpPr>
        <p:spPr>
          <a:xfrm>
            <a:off x="9829800" y="1097280"/>
            <a:ext cx="1554480" cy="384048"/>
          </a:xfrm>
          <a:prstGeom prst="rect">
            <a:avLst/>
          </a:prstGeom>
          <a:noFill/>
          <a:ln/>
        </p:spPr>
        <p:txBody>
          <a:bodyPr wrap="square"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TEAM OWNER</a:t>
            </a:r>
            <a:endParaRPr lang="en-US" sz="750" dirty="0"/>
          </a:p>
        </p:txBody>
      </p:sp>
      <p:sp>
        <p:nvSpPr>
          <p:cNvPr id="19" name="Shape 17"/>
          <p:cNvSpPr/>
          <p:nvPr/>
        </p:nvSpPr>
        <p:spPr>
          <a:xfrm>
            <a:off x="182880" y="1481328"/>
            <a:ext cx="2011680" cy="502920"/>
          </a:xfrm>
          <a:prstGeom prst="rect">
            <a:avLst/>
          </a:prstGeom>
          <a:solidFill>
            <a:srgbClr val="162B3F"/>
          </a:solidFill>
          <a:ln w="12700">
            <a:solidFill>
              <a:srgbClr val="1E3A52"/>
            </a:solidFill>
            <a:prstDash val="solid"/>
          </a:ln>
        </p:spPr>
      </p:sp>
      <p:sp>
        <p:nvSpPr>
          <p:cNvPr id="20" name="Text 18"/>
          <p:cNvSpPr/>
          <p:nvPr/>
        </p:nvSpPr>
        <p:spPr>
          <a:xfrm>
            <a:off x="228600" y="1490472"/>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Registration / Creation</a:t>
            </a:r>
            <a:endParaRPr lang="en-US" sz="750" dirty="0"/>
          </a:p>
        </p:txBody>
      </p:sp>
      <p:sp>
        <p:nvSpPr>
          <p:cNvPr id="21" name="Shape 19"/>
          <p:cNvSpPr/>
          <p:nvPr/>
        </p:nvSpPr>
        <p:spPr>
          <a:xfrm>
            <a:off x="2194560" y="1481328"/>
            <a:ext cx="2103120" cy="502920"/>
          </a:xfrm>
          <a:prstGeom prst="rect">
            <a:avLst/>
          </a:prstGeom>
          <a:solidFill>
            <a:srgbClr val="162B3F"/>
          </a:solidFill>
          <a:ln w="12700">
            <a:solidFill>
              <a:srgbClr val="1E3A52"/>
            </a:solidFill>
            <a:prstDash val="solid"/>
          </a:ln>
        </p:spPr>
      </p:sp>
      <p:sp>
        <p:nvSpPr>
          <p:cNvPr id="22" name="Text 20"/>
          <p:cNvSpPr/>
          <p:nvPr/>
        </p:nvSpPr>
        <p:spPr>
          <a:xfrm>
            <a:off x="2240280" y="1490472"/>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Trojanized Agent / Tool</a:t>
            </a:r>
            <a:endParaRPr lang="en-US" sz="750" dirty="0"/>
          </a:p>
        </p:txBody>
      </p:sp>
      <p:sp>
        <p:nvSpPr>
          <p:cNvPr id="23" name="Shape 21"/>
          <p:cNvSpPr/>
          <p:nvPr/>
        </p:nvSpPr>
        <p:spPr>
          <a:xfrm>
            <a:off x="4297680" y="1481328"/>
            <a:ext cx="2926080" cy="502920"/>
          </a:xfrm>
          <a:prstGeom prst="rect">
            <a:avLst/>
          </a:prstGeom>
          <a:solidFill>
            <a:srgbClr val="162B3F"/>
          </a:solidFill>
          <a:ln w="12700">
            <a:solidFill>
              <a:srgbClr val="1E3A52"/>
            </a:solidFill>
            <a:prstDash val="solid"/>
          </a:ln>
        </p:spPr>
      </p:sp>
      <p:sp>
        <p:nvSpPr>
          <p:cNvPr id="24" name="Text 22"/>
          <p:cNvSpPr/>
          <p:nvPr/>
        </p:nvSpPr>
        <p:spPr>
          <a:xfrm>
            <a:off x="4343400" y="1490472"/>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Signed Agent Cards + registry trust score; supply-chain attestation (SLSA)</a:t>
            </a:r>
            <a:endParaRPr lang="en-US" sz="750" dirty="0"/>
          </a:p>
        </p:txBody>
      </p:sp>
      <p:sp>
        <p:nvSpPr>
          <p:cNvPr id="25" name="Shape 23"/>
          <p:cNvSpPr/>
          <p:nvPr/>
        </p:nvSpPr>
        <p:spPr>
          <a:xfrm>
            <a:off x="7223760" y="1481328"/>
            <a:ext cx="2560320" cy="502920"/>
          </a:xfrm>
          <a:prstGeom prst="rect">
            <a:avLst/>
          </a:prstGeom>
          <a:solidFill>
            <a:srgbClr val="162B3F"/>
          </a:solidFill>
          <a:ln w="12700">
            <a:solidFill>
              <a:srgbClr val="1E3A52"/>
            </a:solidFill>
            <a:prstDash val="solid"/>
          </a:ln>
        </p:spPr>
      </p:sp>
      <p:sp>
        <p:nvSpPr>
          <p:cNvPr id="26" name="Text 24"/>
          <p:cNvSpPr/>
          <p:nvPr/>
        </p:nvSpPr>
        <p:spPr>
          <a:xfrm>
            <a:off x="7269480" y="1490472"/>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MCP Registry · NANDA · Sigstore Cosign</a:t>
            </a:r>
            <a:endParaRPr lang="en-US" sz="750" dirty="0"/>
          </a:p>
        </p:txBody>
      </p:sp>
      <p:sp>
        <p:nvSpPr>
          <p:cNvPr id="27" name="Shape 25"/>
          <p:cNvSpPr/>
          <p:nvPr/>
        </p:nvSpPr>
        <p:spPr>
          <a:xfrm>
            <a:off x="9784080" y="1481328"/>
            <a:ext cx="1645920" cy="502920"/>
          </a:xfrm>
          <a:prstGeom prst="rect">
            <a:avLst/>
          </a:prstGeom>
          <a:solidFill>
            <a:srgbClr val="162B3F"/>
          </a:solidFill>
          <a:ln w="12700">
            <a:solidFill>
              <a:srgbClr val="1E3A52"/>
            </a:solidFill>
            <a:prstDash val="solid"/>
          </a:ln>
        </p:spPr>
      </p:sp>
      <p:sp>
        <p:nvSpPr>
          <p:cNvPr id="28" name="Text 26"/>
          <p:cNvSpPr/>
          <p:nvPr/>
        </p:nvSpPr>
        <p:spPr>
          <a:xfrm>
            <a:off x="9829800" y="1490472"/>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AppSec / Platform Eng</a:t>
            </a:r>
            <a:endParaRPr lang="en-US" sz="750" dirty="0"/>
          </a:p>
        </p:txBody>
      </p:sp>
      <p:sp>
        <p:nvSpPr>
          <p:cNvPr id="29" name="Shape 27"/>
          <p:cNvSpPr/>
          <p:nvPr/>
        </p:nvSpPr>
        <p:spPr>
          <a:xfrm>
            <a:off x="182880" y="2011680"/>
            <a:ext cx="2011680" cy="502920"/>
          </a:xfrm>
          <a:prstGeom prst="rect">
            <a:avLst/>
          </a:prstGeom>
          <a:solidFill>
            <a:srgbClr val="112240"/>
          </a:solidFill>
          <a:ln w="12700">
            <a:solidFill>
              <a:srgbClr val="1E3A52"/>
            </a:solidFill>
            <a:prstDash val="solid"/>
          </a:ln>
        </p:spPr>
      </p:sp>
      <p:sp>
        <p:nvSpPr>
          <p:cNvPr id="30" name="Text 28"/>
          <p:cNvSpPr/>
          <p:nvPr/>
        </p:nvSpPr>
        <p:spPr>
          <a:xfrm>
            <a:off x="228600" y="2020824"/>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Discovery</a:t>
            </a:r>
            <a:endParaRPr lang="en-US" sz="750" dirty="0"/>
          </a:p>
        </p:txBody>
      </p:sp>
      <p:sp>
        <p:nvSpPr>
          <p:cNvPr id="31" name="Shape 29"/>
          <p:cNvSpPr/>
          <p:nvPr/>
        </p:nvSpPr>
        <p:spPr>
          <a:xfrm>
            <a:off x="2194560" y="2011680"/>
            <a:ext cx="2103120" cy="502920"/>
          </a:xfrm>
          <a:prstGeom prst="rect">
            <a:avLst/>
          </a:prstGeom>
          <a:solidFill>
            <a:srgbClr val="112240"/>
          </a:solidFill>
          <a:ln w="12700">
            <a:solidFill>
              <a:srgbClr val="1E3A52"/>
            </a:solidFill>
            <a:prstDash val="solid"/>
          </a:ln>
        </p:spPr>
      </p:sp>
      <p:sp>
        <p:nvSpPr>
          <p:cNvPr id="32" name="Text 30"/>
          <p:cNvSpPr/>
          <p:nvPr/>
        </p:nvSpPr>
        <p:spPr>
          <a:xfrm>
            <a:off x="2240280" y="2020824"/>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Tool Shadowing / Poisoned Metadata</a:t>
            </a:r>
            <a:endParaRPr lang="en-US" sz="750" dirty="0"/>
          </a:p>
        </p:txBody>
      </p:sp>
      <p:sp>
        <p:nvSpPr>
          <p:cNvPr id="33" name="Shape 31"/>
          <p:cNvSpPr/>
          <p:nvPr/>
        </p:nvSpPr>
        <p:spPr>
          <a:xfrm>
            <a:off x="4297680" y="2011680"/>
            <a:ext cx="2926080" cy="502920"/>
          </a:xfrm>
          <a:prstGeom prst="rect">
            <a:avLst/>
          </a:prstGeom>
          <a:solidFill>
            <a:srgbClr val="112240"/>
          </a:solidFill>
          <a:ln w="12700">
            <a:solidFill>
              <a:srgbClr val="1E3A52"/>
            </a:solidFill>
            <a:prstDash val="solid"/>
          </a:ln>
        </p:spPr>
      </p:sp>
      <p:sp>
        <p:nvSpPr>
          <p:cNvPr id="34" name="Text 32"/>
          <p:cNvSpPr/>
          <p:nvPr/>
        </p:nvSpPr>
        <p:spPr>
          <a:xfrm>
            <a:off x="4343400" y="2020824"/>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Allow-list at BPMN Task level; meta-data schema validation before LLM context injection</a:t>
            </a:r>
            <a:endParaRPr lang="en-US" sz="750" dirty="0"/>
          </a:p>
        </p:txBody>
      </p:sp>
      <p:sp>
        <p:nvSpPr>
          <p:cNvPr id="35" name="Shape 33"/>
          <p:cNvSpPr/>
          <p:nvPr/>
        </p:nvSpPr>
        <p:spPr>
          <a:xfrm>
            <a:off x="7223760" y="2011680"/>
            <a:ext cx="2560320" cy="502920"/>
          </a:xfrm>
          <a:prstGeom prst="rect">
            <a:avLst/>
          </a:prstGeom>
          <a:solidFill>
            <a:srgbClr val="112240"/>
          </a:solidFill>
          <a:ln w="12700">
            <a:solidFill>
              <a:srgbClr val="1E3A52"/>
            </a:solidFill>
            <a:prstDash val="solid"/>
          </a:ln>
        </p:spPr>
      </p:sp>
      <p:sp>
        <p:nvSpPr>
          <p:cNvPr id="36" name="Text 34"/>
          <p:cNvSpPr/>
          <p:nvPr/>
        </p:nvSpPr>
        <p:spPr>
          <a:xfrm>
            <a:off x="7269480" y="2020824"/>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Camunda connector policy · Agent Gateway · OPA</a:t>
            </a:r>
            <a:endParaRPr lang="en-US" sz="750" dirty="0"/>
          </a:p>
        </p:txBody>
      </p:sp>
      <p:sp>
        <p:nvSpPr>
          <p:cNvPr id="37" name="Shape 35"/>
          <p:cNvSpPr/>
          <p:nvPr/>
        </p:nvSpPr>
        <p:spPr>
          <a:xfrm>
            <a:off x="9784080" y="2011680"/>
            <a:ext cx="1645920" cy="502920"/>
          </a:xfrm>
          <a:prstGeom prst="rect">
            <a:avLst/>
          </a:prstGeom>
          <a:solidFill>
            <a:srgbClr val="112240"/>
          </a:solidFill>
          <a:ln w="12700">
            <a:solidFill>
              <a:srgbClr val="1E3A52"/>
            </a:solidFill>
            <a:prstDash val="solid"/>
          </a:ln>
        </p:spPr>
      </p:sp>
      <p:sp>
        <p:nvSpPr>
          <p:cNvPr id="38" name="Text 36"/>
          <p:cNvSpPr/>
          <p:nvPr/>
        </p:nvSpPr>
        <p:spPr>
          <a:xfrm>
            <a:off x="9829800" y="2020824"/>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AppSec / DevSecOps</a:t>
            </a:r>
            <a:endParaRPr lang="en-US" sz="750" dirty="0"/>
          </a:p>
        </p:txBody>
      </p:sp>
      <p:sp>
        <p:nvSpPr>
          <p:cNvPr id="39" name="Shape 37"/>
          <p:cNvSpPr/>
          <p:nvPr/>
        </p:nvSpPr>
        <p:spPr>
          <a:xfrm>
            <a:off x="182880" y="2542032"/>
            <a:ext cx="2011680" cy="502920"/>
          </a:xfrm>
          <a:prstGeom prst="rect">
            <a:avLst/>
          </a:prstGeom>
          <a:solidFill>
            <a:srgbClr val="162B3F"/>
          </a:solidFill>
          <a:ln w="12700">
            <a:solidFill>
              <a:srgbClr val="1E3A52"/>
            </a:solidFill>
            <a:prstDash val="solid"/>
          </a:ln>
        </p:spPr>
      </p:sp>
      <p:sp>
        <p:nvSpPr>
          <p:cNvPr id="40" name="Text 38"/>
          <p:cNvSpPr/>
          <p:nvPr/>
        </p:nvSpPr>
        <p:spPr>
          <a:xfrm>
            <a:off x="228600" y="2551176"/>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Invocation / Execution</a:t>
            </a:r>
            <a:endParaRPr lang="en-US" sz="750" dirty="0"/>
          </a:p>
        </p:txBody>
      </p:sp>
      <p:sp>
        <p:nvSpPr>
          <p:cNvPr id="41" name="Shape 39"/>
          <p:cNvSpPr/>
          <p:nvPr/>
        </p:nvSpPr>
        <p:spPr>
          <a:xfrm>
            <a:off x="2194560" y="2542032"/>
            <a:ext cx="2103120" cy="502920"/>
          </a:xfrm>
          <a:prstGeom prst="rect">
            <a:avLst/>
          </a:prstGeom>
          <a:solidFill>
            <a:srgbClr val="162B3F"/>
          </a:solidFill>
          <a:ln w="12700">
            <a:solidFill>
              <a:srgbClr val="1E3A52"/>
            </a:solidFill>
            <a:prstDash val="solid"/>
          </a:ln>
        </p:spPr>
      </p:sp>
      <p:sp>
        <p:nvSpPr>
          <p:cNvPr id="42" name="Text 40"/>
          <p:cNvSpPr/>
          <p:nvPr/>
        </p:nvSpPr>
        <p:spPr>
          <a:xfrm>
            <a:off x="2240280" y="2551176"/>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Prompt Injection → BPMN Tool Call</a:t>
            </a:r>
            <a:endParaRPr lang="en-US" sz="750" dirty="0"/>
          </a:p>
        </p:txBody>
      </p:sp>
      <p:sp>
        <p:nvSpPr>
          <p:cNvPr id="43" name="Shape 41"/>
          <p:cNvSpPr/>
          <p:nvPr/>
        </p:nvSpPr>
        <p:spPr>
          <a:xfrm>
            <a:off x="4297680" y="2542032"/>
            <a:ext cx="2926080" cy="502920"/>
          </a:xfrm>
          <a:prstGeom prst="rect">
            <a:avLst/>
          </a:prstGeom>
          <a:solidFill>
            <a:srgbClr val="162B3F"/>
          </a:solidFill>
          <a:ln w="12700">
            <a:solidFill>
              <a:srgbClr val="1E3A52"/>
            </a:solidFill>
            <a:prstDash val="solid"/>
          </a:ln>
        </p:spPr>
      </p:sp>
      <p:sp>
        <p:nvSpPr>
          <p:cNvPr id="44" name="Text 42"/>
          <p:cNvSpPr/>
          <p:nvPr/>
        </p:nvSpPr>
        <p:spPr>
          <a:xfrm>
            <a:off x="4343400" y="2551176"/>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LLM Firewall (Lakera / LlamaFirewall) + BPMN task-scoped tool allow-list</a:t>
            </a:r>
            <a:endParaRPr lang="en-US" sz="750" dirty="0"/>
          </a:p>
        </p:txBody>
      </p:sp>
      <p:sp>
        <p:nvSpPr>
          <p:cNvPr id="45" name="Shape 43"/>
          <p:cNvSpPr/>
          <p:nvPr/>
        </p:nvSpPr>
        <p:spPr>
          <a:xfrm>
            <a:off x="7223760" y="2542032"/>
            <a:ext cx="2560320" cy="502920"/>
          </a:xfrm>
          <a:prstGeom prst="rect">
            <a:avLst/>
          </a:prstGeom>
          <a:solidFill>
            <a:srgbClr val="162B3F"/>
          </a:solidFill>
          <a:ln w="12700">
            <a:solidFill>
              <a:srgbClr val="1E3A52"/>
            </a:solidFill>
            <a:prstDash val="solid"/>
          </a:ln>
        </p:spPr>
      </p:sp>
      <p:sp>
        <p:nvSpPr>
          <p:cNvPr id="46" name="Text 44"/>
          <p:cNvSpPr/>
          <p:nvPr/>
        </p:nvSpPr>
        <p:spPr>
          <a:xfrm>
            <a:off x="7269480" y="2551176"/>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Agent Gateway · Lakera Guard · MCP tool annotations</a:t>
            </a:r>
            <a:endParaRPr lang="en-US" sz="750" dirty="0"/>
          </a:p>
        </p:txBody>
      </p:sp>
      <p:sp>
        <p:nvSpPr>
          <p:cNvPr id="47" name="Shape 45"/>
          <p:cNvSpPr/>
          <p:nvPr/>
        </p:nvSpPr>
        <p:spPr>
          <a:xfrm>
            <a:off x="9784080" y="2542032"/>
            <a:ext cx="1645920" cy="502920"/>
          </a:xfrm>
          <a:prstGeom prst="rect">
            <a:avLst/>
          </a:prstGeom>
          <a:solidFill>
            <a:srgbClr val="162B3F"/>
          </a:solidFill>
          <a:ln w="12700">
            <a:solidFill>
              <a:srgbClr val="1E3A52"/>
            </a:solidFill>
            <a:prstDash val="solid"/>
          </a:ln>
        </p:spPr>
      </p:sp>
      <p:sp>
        <p:nvSpPr>
          <p:cNvPr id="48" name="Text 46"/>
          <p:cNvSpPr/>
          <p:nvPr/>
        </p:nvSpPr>
        <p:spPr>
          <a:xfrm>
            <a:off x="9829800" y="2551176"/>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CyberSecurity / AppSec</a:t>
            </a:r>
            <a:endParaRPr lang="en-US" sz="750" dirty="0"/>
          </a:p>
        </p:txBody>
      </p:sp>
      <p:sp>
        <p:nvSpPr>
          <p:cNvPr id="49" name="Shape 47"/>
          <p:cNvSpPr/>
          <p:nvPr/>
        </p:nvSpPr>
        <p:spPr>
          <a:xfrm>
            <a:off x="182880" y="3072384"/>
            <a:ext cx="2011680" cy="502920"/>
          </a:xfrm>
          <a:prstGeom prst="rect">
            <a:avLst/>
          </a:prstGeom>
          <a:solidFill>
            <a:srgbClr val="112240"/>
          </a:solidFill>
          <a:ln w="12700">
            <a:solidFill>
              <a:srgbClr val="1E3A52"/>
            </a:solidFill>
            <a:prstDash val="solid"/>
          </a:ln>
        </p:spPr>
      </p:sp>
      <p:sp>
        <p:nvSpPr>
          <p:cNvPr id="50" name="Text 48"/>
          <p:cNvSpPr/>
          <p:nvPr/>
        </p:nvSpPr>
        <p:spPr>
          <a:xfrm>
            <a:off x="228600" y="3081528"/>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Invocation / Execution</a:t>
            </a:r>
            <a:endParaRPr lang="en-US" sz="750" dirty="0"/>
          </a:p>
        </p:txBody>
      </p:sp>
      <p:sp>
        <p:nvSpPr>
          <p:cNvPr id="51" name="Shape 49"/>
          <p:cNvSpPr/>
          <p:nvPr/>
        </p:nvSpPr>
        <p:spPr>
          <a:xfrm>
            <a:off x="2194560" y="3072384"/>
            <a:ext cx="2103120" cy="502920"/>
          </a:xfrm>
          <a:prstGeom prst="rect">
            <a:avLst/>
          </a:prstGeom>
          <a:solidFill>
            <a:srgbClr val="112240"/>
          </a:solidFill>
          <a:ln w="12700">
            <a:solidFill>
              <a:srgbClr val="1E3A52"/>
            </a:solidFill>
            <a:prstDash val="solid"/>
          </a:ln>
        </p:spPr>
      </p:sp>
      <p:sp>
        <p:nvSpPr>
          <p:cNvPr id="52" name="Text 50"/>
          <p:cNvSpPr/>
          <p:nvPr/>
        </p:nvSpPr>
        <p:spPr>
          <a:xfrm>
            <a:off x="2240280" y="3081528"/>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Privilege Escalation / Confused Deputy</a:t>
            </a:r>
            <a:endParaRPr lang="en-US" sz="750" dirty="0"/>
          </a:p>
        </p:txBody>
      </p:sp>
      <p:sp>
        <p:nvSpPr>
          <p:cNvPr id="53" name="Shape 51"/>
          <p:cNvSpPr/>
          <p:nvPr/>
        </p:nvSpPr>
        <p:spPr>
          <a:xfrm>
            <a:off x="4297680" y="3072384"/>
            <a:ext cx="2926080" cy="502920"/>
          </a:xfrm>
          <a:prstGeom prst="rect">
            <a:avLst/>
          </a:prstGeom>
          <a:solidFill>
            <a:srgbClr val="112240"/>
          </a:solidFill>
          <a:ln w="12700">
            <a:solidFill>
              <a:srgbClr val="1E3A52"/>
            </a:solidFill>
            <a:prstDash val="solid"/>
          </a:ln>
        </p:spPr>
      </p:sp>
      <p:sp>
        <p:nvSpPr>
          <p:cNvPr id="54" name="Text 52"/>
          <p:cNvSpPr/>
          <p:nvPr/>
        </p:nvSpPr>
        <p:spPr>
          <a:xfrm>
            <a:off x="4343400" y="3081528"/>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Per-request OAuth 2.1 PKCE; audience-bound JWTs; SPIFFE SVID mTLS on every MCP call</a:t>
            </a:r>
            <a:endParaRPr lang="en-US" sz="750" dirty="0"/>
          </a:p>
        </p:txBody>
      </p:sp>
      <p:sp>
        <p:nvSpPr>
          <p:cNvPr id="55" name="Shape 53"/>
          <p:cNvSpPr/>
          <p:nvPr/>
        </p:nvSpPr>
        <p:spPr>
          <a:xfrm>
            <a:off x="7223760" y="3072384"/>
            <a:ext cx="2560320" cy="502920"/>
          </a:xfrm>
          <a:prstGeom prst="rect">
            <a:avLst/>
          </a:prstGeom>
          <a:solidFill>
            <a:srgbClr val="112240"/>
          </a:solidFill>
          <a:ln w="12700">
            <a:solidFill>
              <a:srgbClr val="1E3A52"/>
            </a:solidFill>
            <a:prstDash val="solid"/>
          </a:ln>
        </p:spPr>
      </p:sp>
      <p:sp>
        <p:nvSpPr>
          <p:cNvPr id="56" name="Text 54"/>
          <p:cNvSpPr/>
          <p:nvPr/>
        </p:nvSpPr>
        <p:spPr>
          <a:xfrm>
            <a:off x="7269480" y="3081528"/>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SPIRE · Cerbos · HashiCorp Vault · mTLS</a:t>
            </a:r>
            <a:endParaRPr lang="en-US" sz="750" dirty="0"/>
          </a:p>
        </p:txBody>
      </p:sp>
      <p:sp>
        <p:nvSpPr>
          <p:cNvPr id="57" name="Shape 55"/>
          <p:cNvSpPr/>
          <p:nvPr/>
        </p:nvSpPr>
        <p:spPr>
          <a:xfrm>
            <a:off x="9784080" y="3072384"/>
            <a:ext cx="1645920" cy="502920"/>
          </a:xfrm>
          <a:prstGeom prst="rect">
            <a:avLst/>
          </a:prstGeom>
          <a:solidFill>
            <a:srgbClr val="112240"/>
          </a:solidFill>
          <a:ln w="12700">
            <a:solidFill>
              <a:srgbClr val="1E3A52"/>
            </a:solidFill>
            <a:prstDash val="solid"/>
          </a:ln>
        </p:spPr>
      </p:sp>
      <p:sp>
        <p:nvSpPr>
          <p:cNvPr id="58" name="Text 56"/>
          <p:cNvSpPr/>
          <p:nvPr/>
        </p:nvSpPr>
        <p:spPr>
          <a:xfrm>
            <a:off x="9829800" y="3081528"/>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IAM / Network</a:t>
            </a:r>
            <a:endParaRPr lang="en-US" sz="750" dirty="0"/>
          </a:p>
        </p:txBody>
      </p:sp>
      <p:sp>
        <p:nvSpPr>
          <p:cNvPr id="59" name="Shape 57"/>
          <p:cNvSpPr/>
          <p:nvPr/>
        </p:nvSpPr>
        <p:spPr>
          <a:xfrm>
            <a:off x="182880" y="3602736"/>
            <a:ext cx="2011680" cy="502920"/>
          </a:xfrm>
          <a:prstGeom prst="rect">
            <a:avLst/>
          </a:prstGeom>
          <a:solidFill>
            <a:srgbClr val="162B3F"/>
          </a:solidFill>
          <a:ln w="12700">
            <a:solidFill>
              <a:srgbClr val="1E3A52"/>
            </a:solidFill>
            <a:prstDash val="solid"/>
          </a:ln>
        </p:spPr>
      </p:sp>
      <p:sp>
        <p:nvSpPr>
          <p:cNvPr id="60" name="Text 58"/>
          <p:cNvSpPr/>
          <p:nvPr/>
        </p:nvSpPr>
        <p:spPr>
          <a:xfrm>
            <a:off x="228600" y="3611880"/>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Decision Gateways</a:t>
            </a:r>
            <a:endParaRPr lang="en-US" sz="750" dirty="0"/>
          </a:p>
        </p:txBody>
      </p:sp>
      <p:sp>
        <p:nvSpPr>
          <p:cNvPr id="61" name="Shape 59"/>
          <p:cNvSpPr/>
          <p:nvPr/>
        </p:nvSpPr>
        <p:spPr>
          <a:xfrm>
            <a:off x="2194560" y="3602736"/>
            <a:ext cx="2103120" cy="502920"/>
          </a:xfrm>
          <a:prstGeom prst="rect">
            <a:avLst/>
          </a:prstGeom>
          <a:solidFill>
            <a:srgbClr val="162B3F"/>
          </a:solidFill>
          <a:ln w="12700">
            <a:solidFill>
              <a:srgbClr val="1E3A52"/>
            </a:solidFill>
            <a:prstDash val="solid"/>
          </a:ln>
        </p:spPr>
      </p:sp>
      <p:sp>
        <p:nvSpPr>
          <p:cNvPr id="62" name="Text 60"/>
          <p:cNvSpPr/>
          <p:nvPr/>
        </p:nvSpPr>
        <p:spPr>
          <a:xfrm>
            <a:off x="2240280" y="3611880"/>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AI Hallucination → Compliance Breach</a:t>
            </a:r>
            <a:endParaRPr lang="en-US" sz="750" dirty="0"/>
          </a:p>
        </p:txBody>
      </p:sp>
      <p:sp>
        <p:nvSpPr>
          <p:cNvPr id="63" name="Shape 61"/>
          <p:cNvSpPr/>
          <p:nvPr/>
        </p:nvSpPr>
        <p:spPr>
          <a:xfrm>
            <a:off x="4297680" y="3602736"/>
            <a:ext cx="2926080" cy="502920"/>
          </a:xfrm>
          <a:prstGeom prst="rect">
            <a:avLst/>
          </a:prstGeom>
          <a:solidFill>
            <a:srgbClr val="162B3F"/>
          </a:solidFill>
          <a:ln w="12700">
            <a:solidFill>
              <a:srgbClr val="1E3A52"/>
            </a:solidFill>
            <a:prstDash val="solid"/>
          </a:ln>
        </p:spPr>
      </p:sp>
      <p:sp>
        <p:nvSpPr>
          <p:cNvPr id="64" name="Text 62"/>
          <p:cNvSpPr/>
          <p:nvPr/>
        </p:nvSpPr>
        <p:spPr>
          <a:xfrm>
            <a:off x="4343400" y="3611880"/>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DMN decision tables replace LLM judgment; HITL blocking gate for PHI / regulated actions</a:t>
            </a:r>
            <a:endParaRPr lang="en-US" sz="750" dirty="0"/>
          </a:p>
        </p:txBody>
      </p:sp>
      <p:sp>
        <p:nvSpPr>
          <p:cNvPr id="65" name="Shape 63"/>
          <p:cNvSpPr/>
          <p:nvPr/>
        </p:nvSpPr>
        <p:spPr>
          <a:xfrm>
            <a:off x="7223760" y="3602736"/>
            <a:ext cx="2560320" cy="502920"/>
          </a:xfrm>
          <a:prstGeom prst="rect">
            <a:avLst/>
          </a:prstGeom>
          <a:solidFill>
            <a:srgbClr val="162B3F"/>
          </a:solidFill>
          <a:ln w="12700">
            <a:solidFill>
              <a:srgbClr val="1E3A52"/>
            </a:solidFill>
            <a:prstDash val="solid"/>
          </a:ln>
        </p:spPr>
      </p:sp>
      <p:sp>
        <p:nvSpPr>
          <p:cNvPr id="66" name="Text 64"/>
          <p:cNvSpPr/>
          <p:nvPr/>
        </p:nvSpPr>
        <p:spPr>
          <a:xfrm>
            <a:off x="7269480" y="3611880"/>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Camunda DMN · BPMN User Task · FEEL rules</a:t>
            </a:r>
            <a:endParaRPr lang="en-US" sz="750" dirty="0"/>
          </a:p>
        </p:txBody>
      </p:sp>
      <p:sp>
        <p:nvSpPr>
          <p:cNvPr id="67" name="Shape 65"/>
          <p:cNvSpPr/>
          <p:nvPr/>
        </p:nvSpPr>
        <p:spPr>
          <a:xfrm>
            <a:off x="9784080" y="3602736"/>
            <a:ext cx="1645920" cy="502920"/>
          </a:xfrm>
          <a:prstGeom prst="rect">
            <a:avLst/>
          </a:prstGeom>
          <a:solidFill>
            <a:srgbClr val="162B3F"/>
          </a:solidFill>
          <a:ln w="12700">
            <a:solidFill>
              <a:srgbClr val="1E3A52"/>
            </a:solidFill>
            <a:prstDash val="solid"/>
          </a:ln>
        </p:spPr>
      </p:sp>
      <p:sp>
        <p:nvSpPr>
          <p:cNvPr id="68" name="Text 66"/>
          <p:cNvSpPr/>
          <p:nvPr/>
        </p:nvSpPr>
        <p:spPr>
          <a:xfrm>
            <a:off x="9829800" y="3611880"/>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Compliance / Biz Analyst</a:t>
            </a:r>
            <a:endParaRPr lang="en-US" sz="750" dirty="0"/>
          </a:p>
        </p:txBody>
      </p:sp>
      <p:sp>
        <p:nvSpPr>
          <p:cNvPr id="69" name="Shape 67"/>
          <p:cNvSpPr/>
          <p:nvPr/>
        </p:nvSpPr>
        <p:spPr>
          <a:xfrm>
            <a:off x="182880" y="4133088"/>
            <a:ext cx="2011680" cy="502920"/>
          </a:xfrm>
          <a:prstGeom prst="rect">
            <a:avLst/>
          </a:prstGeom>
          <a:solidFill>
            <a:srgbClr val="112240"/>
          </a:solidFill>
          <a:ln w="12700">
            <a:solidFill>
              <a:srgbClr val="1E3A52"/>
            </a:solidFill>
            <a:prstDash val="solid"/>
          </a:ln>
        </p:spPr>
      </p:sp>
      <p:sp>
        <p:nvSpPr>
          <p:cNvPr id="70" name="Text 68"/>
          <p:cNvSpPr/>
          <p:nvPr/>
        </p:nvSpPr>
        <p:spPr>
          <a:xfrm>
            <a:off x="228600" y="4142232"/>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Multi-Agent Handoff</a:t>
            </a:r>
            <a:endParaRPr lang="en-US" sz="750" dirty="0"/>
          </a:p>
        </p:txBody>
      </p:sp>
      <p:sp>
        <p:nvSpPr>
          <p:cNvPr id="71" name="Shape 69"/>
          <p:cNvSpPr/>
          <p:nvPr/>
        </p:nvSpPr>
        <p:spPr>
          <a:xfrm>
            <a:off x="2194560" y="4133088"/>
            <a:ext cx="2103120" cy="502920"/>
          </a:xfrm>
          <a:prstGeom prst="rect">
            <a:avLst/>
          </a:prstGeom>
          <a:solidFill>
            <a:srgbClr val="112240"/>
          </a:solidFill>
          <a:ln w="12700">
            <a:solidFill>
              <a:srgbClr val="1E3A52"/>
            </a:solidFill>
            <a:prstDash val="solid"/>
          </a:ln>
        </p:spPr>
      </p:sp>
      <p:sp>
        <p:nvSpPr>
          <p:cNvPr id="72" name="Text 70"/>
          <p:cNvSpPr/>
          <p:nvPr/>
        </p:nvSpPr>
        <p:spPr>
          <a:xfrm>
            <a:off x="2240280" y="4142232"/>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Unverified Agent Delegation</a:t>
            </a:r>
            <a:endParaRPr lang="en-US" sz="750" dirty="0"/>
          </a:p>
        </p:txBody>
      </p:sp>
      <p:sp>
        <p:nvSpPr>
          <p:cNvPr id="73" name="Shape 71"/>
          <p:cNvSpPr/>
          <p:nvPr/>
        </p:nvSpPr>
        <p:spPr>
          <a:xfrm>
            <a:off x="4297680" y="4133088"/>
            <a:ext cx="2926080" cy="502920"/>
          </a:xfrm>
          <a:prstGeom prst="rect">
            <a:avLst/>
          </a:prstGeom>
          <a:solidFill>
            <a:srgbClr val="112240"/>
          </a:solidFill>
          <a:ln w="12700">
            <a:solidFill>
              <a:srgbClr val="1E3A52"/>
            </a:solidFill>
            <a:prstDash val="solid"/>
          </a:ln>
        </p:spPr>
      </p:sp>
      <p:sp>
        <p:nvSpPr>
          <p:cNvPr id="74" name="Text 72"/>
          <p:cNvSpPr/>
          <p:nvPr/>
        </p:nvSpPr>
        <p:spPr>
          <a:xfrm>
            <a:off x="4343400" y="4142232"/>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Delegation chain tokens (subject + actor); no token passthrough; scope bound to sub-task</a:t>
            </a:r>
            <a:endParaRPr lang="en-US" sz="750" dirty="0"/>
          </a:p>
        </p:txBody>
      </p:sp>
      <p:sp>
        <p:nvSpPr>
          <p:cNvPr id="75" name="Shape 73"/>
          <p:cNvSpPr/>
          <p:nvPr/>
        </p:nvSpPr>
        <p:spPr>
          <a:xfrm>
            <a:off x="7223760" y="4133088"/>
            <a:ext cx="2560320" cy="502920"/>
          </a:xfrm>
          <a:prstGeom prst="rect">
            <a:avLst/>
          </a:prstGeom>
          <a:solidFill>
            <a:srgbClr val="112240"/>
          </a:solidFill>
          <a:ln w="12700">
            <a:solidFill>
              <a:srgbClr val="1E3A52"/>
            </a:solidFill>
            <a:prstDash val="solid"/>
          </a:ln>
        </p:spPr>
      </p:sp>
      <p:sp>
        <p:nvSpPr>
          <p:cNvPr id="76" name="Text 74"/>
          <p:cNvSpPr/>
          <p:nvPr/>
        </p:nvSpPr>
        <p:spPr>
          <a:xfrm>
            <a:off x="7269480" y="4142232"/>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OAuth token exchange · A2A Agent Cards · OPA authz</a:t>
            </a:r>
            <a:endParaRPr lang="en-US" sz="750" dirty="0"/>
          </a:p>
        </p:txBody>
      </p:sp>
      <p:sp>
        <p:nvSpPr>
          <p:cNvPr id="77" name="Shape 75"/>
          <p:cNvSpPr/>
          <p:nvPr/>
        </p:nvSpPr>
        <p:spPr>
          <a:xfrm>
            <a:off x="9784080" y="4133088"/>
            <a:ext cx="1645920" cy="502920"/>
          </a:xfrm>
          <a:prstGeom prst="rect">
            <a:avLst/>
          </a:prstGeom>
          <a:solidFill>
            <a:srgbClr val="112240"/>
          </a:solidFill>
          <a:ln w="12700">
            <a:solidFill>
              <a:srgbClr val="1E3A52"/>
            </a:solidFill>
            <a:prstDash val="solid"/>
          </a:ln>
        </p:spPr>
      </p:sp>
      <p:sp>
        <p:nvSpPr>
          <p:cNvPr id="78" name="Text 76"/>
          <p:cNvSpPr/>
          <p:nvPr/>
        </p:nvSpPr>
        <p:spPr>
          <a:xfrm>
            <a:off x="9829800" y="4142232"/>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IAM / Platform Eng</a:t>
            </a:r>
            <a:endParaRPr lang="en-US" sz="750" dirty="0"/>
          </a:p>
        </p:txBody>
      </p:sp>
      <p:sp>
        <p:nvSpPr>
          <p:cNvPr id="79" name="Shape 77"/>
          <p:cNvSpPr/>
          <p:nvPr/>
        </p:nvSpPr>
        <p:spPr>
          <a:xfrm>
            <a:off x="182880" y="4663440"/>
            <a:ext cx="2011680" cy="502920"/>
          </a:xfrm>
          <a:prstGeom prst="rect">
            <a:avLst/>
          </a:prstGeom>
          <a:solidFill>
            <a:srgbClr val="162B3F"/>
          </a:solidFill>
          <a:ln w="12700">
            <a:solidFill>
              <a:srgbClr val="1E3A52"/>
            </a:solidFill>
            <a:prstDash val="solid"/>
          </a:ln>
        </p:spPr>
      </p:sp>
      <p:sp>
        <p:nvSpPr>
          <p:cNvPr id="80" name="Text 78"/>
          <p:cNvSpPr/>
          <p:nvPr/>
        </p:nvSpPr>
        <p:spPr>
          <a:xfrm>
            <a:off x="228600" y="4672584"/>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Update / Maintenance</a:t>
            </a:r>
            <a:endParaRPr lang="en-US" sz="750" dirty="0"/>
          </a:p>
        </p:txBody>
      </p:sp>
      <p:sp>
        <p:nvSpPr>
          <p:cNvPr id="81" name="Shape 79"/>
          <p:cNvSpPr/>
          <p:nvPr/>
        </p:nvSpPr>
        <p:spPr>
          <a:xfrm>
            <a:off x="2194560" y="4663440"/>
            <a:ext cx="2103120" cy="502920"/>
          </a:xfrm>
          <a:prstGeom prst="rect">
            <a:avLst/>
          </a:prstGeom>
          <a:solidFill>
            <a:srgbClr val="162B3F"/>
          </a:solidFill>
          <a:ln w="12700">
            <a:solidFill>
              <a:srgbClr val="1E3A52"/>
            </a:solidFill>
            <a:prstDash val="solid"/>
          </a:ln>
        </p:spPr>
      </p:sp>
      <p:sp>
        <p:nvSpPr>
          <p:cNvPr id="82" name="Text 80"/>
          <p:cNvSpPr/>
          <p:nvPr/>
        </p:nvSpPr>
        <p:spPr>
          <a:xfrm>
            <a:off x="2240280" y="4672584"/>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Configuration Drift / Stale Manifest</a:t>
            </a:r>
            <a:endParaRPr lang="en-US" sz="750" dirty="0"/>
          </a:p>
        </p:txBody>
      </p:sp>
      <p:sp>
        <p:nvSpPr>
          <p:cNvPr id="83" name="Shape 81"/>
          <p:cNvSpPr/>
          <p:nvPr/>
        </p:nvSpPr>
        <p:spPr>
          <a:xfrm>
            <a:off x="4297680" y="4663440"/>
            <a:ext cx="2926080" cy="502920"/>
          </a:xfrm>
          <a:prstGeom prst="rect">
            <a:avLst/>
          </a:prstGeom>
          <a:solidFill>
            <a:srgbClr val="162B3F"/>
          </a:solidFill>
          <a:ln w="12700">
            <a:solidFill>
              <a:srgbClr val="1E3A52"/>
            </a:solidFill>
            <a:prstDash val="solid"/>
          </a:ln>
        </p:spPr>
      </p:sp>
      <p:sp>
        <p:nvSpPr>
          <p:cNvPr id="84" name="Text 82"/>
          <p:cNvSpPr/>
          <p:nvPr/>
        </p:nvSpPr>
        <p:spPr>
          <a:xfrm>
            <a:off x="4343400" y="4672584"/>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Immutable BPMN process versions; GitOps deployment; hash-pinned agent images</a:t>
            </a:r>
            <a:endParaRPr lang="en-US" sz="750" dirty="0"/>
          </a:p>
        </p:txBody>
      </p:sp>
      <p:sp>
        <p:nvSpPr>
          <p:cNvPr id="85" name="Shape 83"/>
          <p:cNvSpPr/>
          <p:nvPr/>
        </p:nvSpPr>
        <p:spPr>
          <a:xfrm>
            <a:off x="7223760" y="4663440"/>
            <a:ext cx="2560320" cy="502920"/>
          </a:xfrm>
          <a:prstGeom prst="rect">
            <a:avLst/>
          </a:prstGeom>
          <a:solidFill>
            <a:srgbClr val="162B3F"/>
          </a:solidFill>
          <a:ln w="12700">
            <a:solidFill>
              <a:srgbClr val="1E3A52"/>
            </a:solidFill>
            <a:prstDash val="solid"/>
          </a:ln>
        </p:spPr>
      </p:sp>
      <p:sp>
        <p:nvSpPr>
          <p:cNvPr id="86" name="Text 84"/>
          <p:cNvSpPr/>
          <p:nvPr/>
        </p:nvSpPr>
        <p:spPr>
          <a:xfrm>
            <a:off x="7269480" y="4672584"/>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Camunda deploy API · ArgoCD · Cosign verify</a:t>
            </a:r>
            <a:endParaRPr lang="en-US" sz="750" dirty="0"/>
          </a:p>
        </p:txBody>
      </p:sp>
      <p:sp>
        <p:nvSpPr>
          <p:cNvPr id="87" name="Shape 85"/>
          <p:cNvSpPr/>
          <p:nvPr/>
        </p:nvSpPr>
        <p:spPr>
          <a:xfrm>
            <a:off x="9784080" y="4663440"/>
            <a:ext cx="1645920" cy="502920"/>
          </a:xfrm>
          <a:prstGeom prst="rect">
            <a:avLst/>
          </a:prstGeom>
          <a:solidFill>
            <a:srgbClr val="162B3F"/>
          </a:solidFill>
          <a:ln w="12700">
            <a:solidFill>
              <a:srgbClr val="1E3A52"/>
            </a:solidFill>
            <a:prstDash val="solid"/>
          </a:ln>
        </p:spPr>
      </p:sp>
      <p:sp>
        <p:nvSpPr>
          <p:cNvPr id="88" name="Text 86"/>
          <p:cNvSpPr/>
          <p:nvPr/>
        </p:nvSpPr>
        <p:spPr>
          <a:xfrm>
            <a:off x="9829800" y="4672584"/>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SRE / DevSecOps</a:t>
            </a:r>
            <a:endParaRPr lang="en-US" sz="750" dirty="0"/>
          </a:p>
        </p:txBody>
      </p:sp>
      <p:sp>
        <p:nvSpPr>
          <p:cNvPr id="89" name="Shape 87"/>
          <p:cNvSpPr/>
          <p:nvPr/>
        </p:nvSpPr>
        <p:spPr>
          <a:xfrm>
            <a:off x="182880" y="5193792"/>
            <a:ext cx="2011680" cy="502920"/>
          </a:xfrm>
          <a:prstGeom prst="rect">
            <a:avLst/>
          </a:prstGeom>
          <a:solidFill>
            <a:srgbClr val="112240"/>
          </a:solidFill>
          <a:ln w="12700">
            <a:solidFill>
              <a:srgbClr val="1E3A52"/>
            </a:solidFill>
            <a:prstDash val="solid"/>
          </a:ln>
        </p:spPr>
      </p:sp>
      <p:sp>
        <p:nvSpPr>
          <p:cNvPr id="90" name="Text 88"/>
          <p:cNvSpPr/>
          <p:nvPr/>
        </p:nvSpPr>
        <p:spPr>
          <a:xfrm>
            <a:off x="228600" y="5202936"/>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Shutdown / Deregistration</a:t>
            </a:r>
            <a:endParaRPr lang="en-US" sz="750" dirty="0"/>
          </a:p>
        </p:txBody>
      </p:sp>
      <p:sp>
        <p:nvSpPr>
          <p:cNvPr id="91" name="Shape 89"/>
          <p:cNvSpPr/>
          <p:nvPr/>
        </p:nvSpPr>
        <p:spPr>
          <a:xfrm>
            <a:off x="2194560" y="5193792"/>
            <a:ext cx="2103120" cy="502920"/>
          </a:xfrm>
          <a:prstGeom prst="rect">
            <a:avLst/>
          </a:prstGeom>
          <a:solidFill>
            <a:srgbClr val="112240"/>
          </a:solidFill>
          <a:ln w="12700">
            <a:solidFill>
              <a:srgbClr val="1E3A52"/>
            </a:solidFill>
            <a:prstDash val="solid"/>
          </a:ln>
        </p:spPr>
      </p:sp>
      <p:sp>
        <p:nvSpPr>
          <p:cNvPr id="92" name="Text 90"/>
          <p:cNvSpPr/>
          <p:nvPr/>
        </p:nvSpPr>
        <p:spPr>
          <a:xfrm>
            <a:off x="2240280" y="5202936"/>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Orphaned Sessions &amp; Credentials</a:t>
            </a:r>
            <a:endParaRPr lang="en-US" sz="750" dirty="0"/>
          </a:p>
        </p:txBody>
      </p:sp>
      <p:sp>
        <p:nvSpPr>
          <p:cNvPr id="93" name="Shape 91"/>
          <p:cNvSpPr/>
          <p:nvPr/>
        </p:nvSpPr>
        <p:spPr>
          <a:xfrm>
            <a:off x="4297680" y="5193792"/>
            <a:ext cx="2926080" cy="502920"/>
          </a:xfrm>
          <a:prstGeom prst="rect">
            <a:avLst/>
          </a:prstGeom>
          <a:solidFill>
            <a:srgbClr val="112240"/>
          </a:solidFill>
          <a:ln w="12700">
            <a:solidFill>
              <a:srgbClr val="1E3A52"/>
            </a:solidFill>
            <a:prstDash val="solid"/>
          </a:ln>
        </p:spPr>
      </p:sp>
      <p:sp>
        <p:nvSpPr>
          <p:cNvPr id="94" name="Text 92"/>
          <p:cNvSpPr/>
          <p:nvPr/>
        </p:nvSpPr>
        <p:spPr>
          <a:xfrm>
            <a:off x="4343400" y="5202936"/>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Explicit de-registration on process end; credential TTL enforced; SVID auto-expired</a:t>
            </a:r>
            <a:endParaRPr lang="en-US" sz="750" dirty="0"/>
          </a:p>
        </p:txBody>
      </p:sp>
      <p:sp>
        <p:nvSpPr>
          <p:cNvPr id="95" name="Shape 93"/>
          <p:cNvSpPr/>
          <p:nvPr/>
        </p:nvSpPr>
        <p:spPr>
          <a:xfrm>
            <a:off x="7223760" y="5193792"/>
            <a:ext cx="2560320" cy="502920"/>
          </a:xfrm>
          <a:prstGeom prst="rect">
            <a:avLst/>
          </a:prstGeom>
          <a:solidFill>
            <a:srgbClr val="112240"/>
          </a:solidFill>
          <a:ln w="12700">
            <a:solidFill>
              <a:srgbClr val="1E3A52"/>
            </a:solidFill>
            <a:prstDash val="solid"/>
          </a:ln>
        </p:spPr>
      </p:sp>
      <p:sp>
        <p:nvSpPr>
          <p:cNvPr id="96" name="Text 94"/>
          <p:cNvSpPr/>
          <p:nvPr/>
        </p:nvSpPr>
        <p:spPr>
          <a:xfrm>
            <a:off x="7269480" y="5202936"/>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SPIRE TTL · Vault lease revoke · MCP session close</a:t>
            </a:r>
            <a:endParaRPr lang="en-US" sz="750" dirty="0"/>
          </a:p>
        </p:txBody>
      </p:sp>
      <p:sp>
        <p:nvSpPr>
          <p:cNvPr id="97" name="Shape 95"/>
          <p:cNvSpPr/>
          <p:nvPr/>
        </p:nvSpPr>
        <p:spPr>
          <a:xfrm>
            <a:off x="9784080" y="5193792"/>
            <a:ext cx="1645920" cy="502920"/>
          </a:xfrm>
          <a:prstGeom prst="rect">
            <a:avLst/>
          </a:prstGeom>
          <a:solidFill>
            <a:srgbClr val="112240"/>
          </a:solidFill>
          <a:ln w="12700">
            <a:solidFill>
              <a:srgbClr val="1E3A52"/>
            </a:solidFill>
            <a:prstDash val="solid"/>
          </a:ln>
        </p:spPr>
      </p:sp>
      <p:sp>
        <p:nvSpPr>
          <p:cNvPr id="98" name="Text 96"/>
          <p:cNvSpPr/>
          <p:nvPr/>
        </p:nvSpPr>
        <p:spPr>
          <a:xfrm>
            <a:off x="9829800" y="5202936"/>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IAM / SRE</a:t>
            </a:r>
            <a:endParaRPr lang="en-US" sz="750" dirty="0"/>
          </a:p>
        </p:txBody>
      </p:sp>
      <p:sp>
        <p:nvSpPr>
          <p:cNvPr id="99" name="Shape 97"/>
          <p:cNvSpPr/>
          <p:nvPr/>
        </p:nvSpPr>
        <p:spPr>
          <a:xfrm>
            <a:off x="182880" y="5724144"/>
            <a:ext cx="2011680" cy="502920"/>
          </a:xfrm>
          <a:prstGeom prst="rect">
            <a:avLst/>
          </a:prstGeom>
          <a:solidFill>
            <a:srgbClr val="162B3F"/>
          </a:solidFill>
          <a:ln w="12700">
            <a:solidFill>
              <a:srgbClr val="1E3A52"/>
            </a:solidFill>
            <a:prstDash val="solid"/>
          </a:ln>
        </p:spPr>
      </p:sp>
      <p:sp>
        <p:nvSpPr>
          <p:cNvPr id="100" name="Text 98"/>
          <p:cNvSpPr/>
          <p:nvPr/>
        </p:nvSpPr>
        <p:spPr>
          <a:xfrm>
            <a:off x="228600" y="5733288"/>
            <a:ext cx="1920240" cy="48463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All Phases (Runtime)</a:t>
            </a:r>
            <a:endParaRPr lang="en-US" sz="750" dirty="0"/>
          </a:p>
        </p:txBody>
      </p:sp>
      <p:sp>
        <p:nvSpPr>
          <p:cNvPr id="101" name="Shape 99"/>
          <p:cNvSpPr/>
          <p:nvPr/>
        </p:nvSpPr>
        <p:spPr>
          <a:xfrm>
            <a:off x="2194560" y="5724144"/>
            <a:ext cx="2103120" cy="502920"/>
          </a:xfrm>
          <a:prstGeom prst="rect">
            <a:avLst/>
          </a:prstGeom>
          <a:solidFill>
            <a:srgbClr val="162B3F"/>
          </a:solidFill>
          <a:ln w="12700">
            <a:solidFill>
              <a:srgbClr val="1E3A52"/>
            </a:solidFill>
            <a:prstDash val="solid"/>
          </a:ln>
        </p:spPr>
      </p:sp>
      <p:sp>
        <p:nvSpPr>
          <p:cNvPr id="102" name="Text 100"/>
          <p:cNvSpPr/>
          <p:nvPr/>
        </p:nvSpPr>
        <p:spPr>
          <a:xfrm>
            <a:off x="2240280" y="5733288"/>
            <a:ext cx="20116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Data Exfiltration / PHI Leakage</a:t>
            </a:r>
            <a:endParaRPr lang="en-US" sz="750" dirty="0"/>
          </a:p>
        </p:txBody>
      </p:sp>
      <p:sp>
        <p:nvSpPr>
          <p:cNvPr id="103" name="Shape 101"/>
          <p:cNvSpPr/>
          <p:nvPr/>
        </p:nvSpPr>
        <p:spPr>
          <a:xfrm>
            <a:off x="4297680" y="5724144"/>
            <a:ext cx="2926080" cy="502920"/>
          </a:xfrm>
          <a:prstGeom prst="rect">
            <a:avLst/>
          </a:prstGeom>
          <a:solidFill>
            <a:srgbClr val="162B3F"/>
          </a:solidFill>
          <a:ln w="12700">
            <a:solidFill>
              <a:srgbClr val="1E3A52"/>
            </a:solidFill>
            <a:prstDash val="solid"/>
          </a:ln>
        </p:spPr>
      </p:sp>
      <p:sp>
        <p:nvSpPr>
          <p:cNvPr id="104" name="Text 102"/>
          <p:cNvSpPr/>
          <p:nvPr/>
        </p:nvSpPr>
        <p:spPr>
          <a:xfrm>
            <a:off x="4343400" y="5733288"/>
            <a:ext cx="283464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DLP scan on all agent outputs; OTEL trace per tool call; SIEM alert on entropy shift</a:t>
            </a:r>
            <a:endParaRPr lang="en-US" sz="750" dirty="0"/>
          </a:p>
        </p:txBody>
      </p:sp>
      <p:sp>
        <p:nvSpPr>
          <p:cNvPr id="105" name="Shape 103"/>
          <p:cNvSpPr/>
          <p:nvPr/>
        </p:nvSpPr>
        <p:spPr>
          <a:xfrm>
            <a:off x="7223760" y="5724144"/>
            <a:ext cx="2560320" cy="502920"/>
          </a:xfrm>
          <a:prstGeom prst="rect">
            <a:avLst/>
          </a:prstGeom>
          <a:solidFill>
            <a:srgbClr val="162B3F"/>
          </a:solidFill>
          <a:ln w="12700">
            <a:solidFill>
              <a:srgbClr val="1E3A52"/>
            </a:solidFill>
            <a:prstDash val="solid"/>
          </a:ln>
        </p:spPr>
      </p:sp>
      <p:sp>
        <p:nvSpPr>
          <p:cNvPr id="106" name="Text 104"/>
          <p:cNvSpPr/>
          <p:nvPr/>
        </p:nvSpPr>
        <p:spPr>
          <a:xfrm>
            <a:off x="7269480" y="5733288"/>
            <a:ext cx="2468880" cy="484632"/>
          </a:xfrm>
          <a:prstGeom prst="rect">
            <a:avLst/>
          </a:prstGeom>
          <a:noFill/>
          <a:ln/>
        </p:spPr>
        <p:txBody>
          <a:bodyPr wrap="square" rtlCol="0" anchor="ctr"/>
          <a:lstStyle/>
          <a:p>
            <a:pPr marL="0" indent="0">
              <a:buNone/>
            </a:pPr>
            <a:r>
              <a:rPr lang="en-US" sz="750" dirty="0">
                <a:solidFill>
                  <a:srgbClr val="E8F4F8"/>
                </a:solidFill>
                <a:latin typeface="Calibri" pitchFamily="34" charset="0"/>
                <a:ea typeface="Calibri" pitchFamily="34" charset="-122"/>
                <a:cs typeface="Calibri" pitchFamily="34" charset="-120"/>
              </a:rPr>
              <a:t>OTEL · Splunk SIEM · Palo Alto DLP · Camunda Operate</a:t>
            </a:r>
            <a:endParaRPr lang="en-US" sz="750" dirty="0"/>
          </a:p>
        </p:txBody>
      </p:sp>
      <p:sp>
        <p:nvSpPr>
          <p:cNvPr id="107" name="Shape 105"/>
          <p:cNvSpPr/>
          <p:nvPr/>
        </p:nvSpPr>
        <p:spPr>
          <a:xfrm>
            <a:off x="9784080" y="5724144"/>
            <a:ext cx="1645920" cy="502920"/>
          </a:xfrm>
          <a:prstGeom prst="rect">
            <a:avLst/>
          </a:prstGeom>
          <a:solidFill>
            <a:srgbClr val="162B3F"/>
          </a:solidFill>
          <a:ln w="12700">
            <a:solidFill>
              <a:srgbClr val="1E3A52"/>
            </a:solidFill>
            <a:prstDash val="solid"/>
          </a:ln>
        </p:spPr>
      </p:sp>
      <p:sp>
        <p:nvSpPr>
          <p:cNvPr id="108" name="Text 106"/>
          <p:cNvSpPr/>
          <p:nvPr/>
        </p:nvSpPr>
        <p:spPr>
          <a:xfrm>
            <a:off x="9829800" y="5733288"/>
            <a:ext cx="1554480" cy="484632"/>
          </a:xfrm>
          <a:prstGeom prst="rect">
            <a:avLst/>
          </a:prstGeom>
          <a:noFill/>
          <a:ln/>
        </p:spPr>
        <p:txBody>
          <a:bodyPr wrap="square" rtlCol="0" anchor="ctr"/>
          <a:lstStyle/>
          <a:p>
            <a:pPr marL="0" indent="0">
              <a:buNone/>
            </a:pPr>
            <a:r>
              <a:rPr lang="en-US" sz="750" dirty="0">
                <a:solidFill>
                  <a:srgbClr val="F4A261"/>
                </a:solidFill>
                <a:latin typeface="Calibri" pitchFamily="34" charset="0"/>
                <a:ea typeface="Calibri" pitchFamily="34" charset="-122"/>
                <a:cs typeface="Calibri" pitchFamily="34" charset="-120"/>
              </a:rPr>
              <a:t>CyberSecurity / SRE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sp>
      <p:sp>
        <p:nvSpPr>
          <p:cNvPr id="3" name="Shape 1"/>
          <p:cNvSpPr/>
          <p:nvPr/>
        </p:nvSpPr>
        <p:spPr>
          <a:xfrm>
            <a:off x="0" y="0"/>
            <a:ext cx="12192000" cy="1005840"/>
          </a:xfrm>
          <a:prstGeom prst="rect">
            <a:avLst/>
          </a:prstGeom>
          <a:solidFill>
            <a:srgbClr val="112240"/>
          </a:solidFill>
          <a:ln/>
        </p:spPr>
      </p:sp>
      <p:sp>
        <p:nvSpPr>
          <p:cNvPr id="4" name="Shape 2"/>
          <p:cNvSpPr/>
          <p:nvPr/>
        </p:nvSpPr>
        <p:spPr>
          <a:xfrm>
            <a:off x="0" y="0"/>
            <a:ext cx="64008" cy="1005840"/>
          </a:xfrm>
          <a:prstGeom prst="rect">
            <a:avLst/>
          </a:prstGeom>
          <a:solidFill>
            <a:srgbClr val="00B4D8"/>
          </a:solidFill>
          <a:ln/>
        </p:spPr>
      </p:sp>
      <p:sp>
        <p:nvSpPr>
          <p:cNvPr id="5" name="Text 3"/>
          <p:cNvSpPr/>
          <p:nvPr/>
        </p:nvSpPr>
        <p:spPr>
          <a:xfrm>
            <a:off x="201168" y="73152"/>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Compliance &amp; Governance Framework</a:t>
            </a:r>
            <a:endParaRPr lang="en-US" sz="2200" dirty="0"/>
          </a:p>
        </p:txBody>
      </p:sp>
      <p:sp>
        <p:nvSpPr>
          <p:cNvPr id="6" name="Text 4"/>
          <p:cNvSpPr/>
          <p:nvPr/>
        </p:nvSpPr>
        <p:spPr>
          <a:xfrm>
            <a:off x="201168" y="603504"/>
            <a:ext cx="9144000" cy="329184"/>
          </a:xfrm>
          <a:prstGeom prst="rect">
            <a:avLst/>
          </a:prstGeom>
          <a:noFill/>
          <a:ln/>
        </p:spPr>
        <p:txBody>
          <a:bodyPr wrap="square" rtlCol="0" anchor="ctr"/>
          <a:lstStyle/>
          <a:p>
            <a:pPr marL="0" indent="0">
              <a:buNone/>
            </a:pPr>
            <a:r>
              <a:rPr lang="en-US" sz="1200" i="1" dirty="0">
                <a:solidFill>
                  <a:srgbClr val="00B4D8"/>
                </a:solidFill>
                <a:latin typeface="Calibri" pitchFamily="34" charset="0"/>
                <a:ea typeface="Calibri" pitchFamily="34" charset="-122"/>
                <a:cs typeface="Calibri" pitchFamily="34" charset="-120"/>
              </a:rPr>
              <a:t>HOW to satisfy HIPAA, EU AI Act, and enterprise audit requirements</a:t>
            </a:r>
            <a:endParaRPr lang="en-US" sz="1200" dirty="0"/>
          </a:p>
        </p:txBody>
      </p:sp>
      <p:sp>
        <p:nvSpPr>
          <p:cNvPr id="7" name="Shape 5"/>
          <p:cNvSpPr/>
          <p:nvPr/>
        </p:nvSpPr>
        <p:spPr>
          <a:xfrm>
            <a:off x="0" y="6583680"/>
            <a:ext cx="12192000" cy="54864"/>
          </a:xfrm>
          <a:prstGeom prst="rect">
            <a:avLst/>
          </a:prstGeom>
          <a:solidFill>
            <a:srgbClr val="00B4D8"/>
          </a:solidFill>
          <a:ln/>
        </p:spPr>
      </p:sp>
      <p:sp>
        <p:nvSpPr>
          <p:cNvPr id="8" name="Text 6"/>
          <p:cNvSpPr/>
          <p:nvPr/>
        </p:nvSpPr>
        <p:spPr>
          <a:xfrm>
            <a:off x="182880" y="6638544"/>
            <a:ext cx="11887200" cy="201168"/>
          </a:xfrm>
          <a:prstGeom prst="rect">
            <a:avLst/>
          </a:prstGeom>
          <a:noFill/>
          <a:ln/>
        </p:spPr>
        <p:txBody>
          <a:bodyPr wrap="square" rtlCol="0" anchor="ctr"/>
          <a:lstStyle/>
          <a:p>
            <a:pPr marL="0" indent="0">
              <a:buNone/>
            </a:pPr>
            <a:r>
              <a:rPr lang="en-US" sz="800" dirty="0">
                <a:solidFill>
                  <a:srgbClr val="A8C4D4"/>
                </a:solidFill>
                <a:latin typeface="Calibri" pitchFamily="34" charset="0"/>
                <a:ea typeface="Calibri" pitchFamily="34" charset="-122"/>
                <a:cs typeface="Calibri" pitchFamily="34" charset="-120"/>
              </a:rPr>
              <a:t>CONFIDENTIAL  |  Agentic BPMN Workflow Security  |  Enterprise Architecture</a:t>
            </a:r>
            <a:endParaRPr lang="en-US" sz="800" dirty="0"/>
          </a:p>
        </p:txBody>
      </p:sp>
      <p:sp>
        <p:nvSpPr>
          <p:cNvPr id="9" name="Text 7"/>
          <p:cNvSpPr/>
          <p:nvPr/>
        </p:nvSpPr>
        <p:spPr>
          <a:xfrm>
            <a:off x="274320" y="1097280"/>
            <a:ext cx="5303520" cy="320040"/>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REGULATORY ALIGNMENT</a:t>
            </a:r>
            <a:endParaRPr lang="en-US" sz="1100" dirty="0"/>
          </a:p>
        </p:txBody>
      </p:sp>
      <p:sp>
        <p:nvSpPr>
          <p:cNvPr id="10" name="Shape 8"/>
          <p:cNvSpPr/>
          <p:nvPr/>
        </p:nvSpPr>
        <p:spPr>
          <a:xfrm>
            <a:off x="274320" y="1508760"/>
            <a:ext cx="5486400" cy="1536192"/>
          </a:xfrm>
          <a:prstGeom prst="rect">
            <a:avLst/>
          </a:prstGeom>
          <a:solidFill>
            <a:srgbClr val="162B3F"/>
          </a:solidFill>
          <a:ln w="12700">
            <a:solidFill>
              <a:srgbClr val="00B4D8"/>
            </a:solidFill>
            <a:prstDash val="solid"/>
          </a:ln>
        </p:spPr>
      </p:sp>
      <p:sp>
        <p:nvSpPr>
          <p:cNvPr id="11" name="Text 9"/>
          <p:cNvSpPr/>
          <p:nvPr/>
        </p:nvSpPr>
        <p:spPr>
          <a:xfrm>
            <a:off x="411480" y="1581912"/>
            <a:ext cx="5212080" cy="310896"/>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HIPAA / HITECH</a:t>
            </a:r>
            <a:endParaRPr lang="en-US" sz="1100" dirty="0"/>
          </a:p>
        </p:txBody>
      </p:sp>
      <p:sp>
        <p:nvSpPr>
          <p:cNvPr id="12" name="Shape 10"/>
          <p:cNvSpPr/>
          <p:nvPr/>
        </p:nvSpPr>
        <p:spPr>
          <a:xfrm>
            <a:off x="411480" y="1947672"/>
            <a:ext cx="73152" cy="164592"/>
          </a:xfrm>
          <a:prstGeom prst="rect">
            <a:avLst/>
          </a:prstGeom>
          <a:solidFill>
            <a:srgbClr val="00B4D8"/>
          </a:solidFill>
          <a:ln/>
        </p:spPr>
      </p:sp>
      <p:sp>
        <p:nvSpPr>
          <p:cNvPr id="13" name="Text 11"/>
          <p:cNvSpPr/>
          <p:nvPr/>
        </p:nvSpPr>
        <p:spPr>
          <a:xfrm>
            <a:off x="548640" y="1929384"/>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PHI flows as encrypted BPMN process variables (AES-256 at rest, TLS 1.3 in transit)</a:t>
            </a:r>
            <a:endParaRPr lang="en-US" sz="800" dirty="0"/>
          </a:p>
        </p:txBody>
      </p:sp>
      <p:sp>
        <p:nvSpPr>
          <p:cNvPr id="14" name="Shape 12"/>
          <p:cNvSpPr/>
          <p:nvPr/>
        </p:nvSpPr>
        <p:spPr>
          <a:xfrm>
            <a:off x="411480" y="2221992"/>
            <a:ext cx="73152" cy="164592"/>
          </a:xfrm>
          <a:prstGeom prst="rect">
            <a:avLst/>
          </a:prstGeom>
          <a:solidFill>
            <a:srgbClr val="00B4D8"/>
          </a:solidFill>
          <a:ln/>
        </p:spPr>
      </p:sp>
      <p:sp>
        <p:nvSpPr>
          <p:cNvPr id="15" name="Text 13"/>
          <p:cNvSpPr/>
          <p:nvPr/>
        </p:nvSpPr>
        <p:spPr>
          <a:xfrm>
            <a:off x="548640" y="2203704"/>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BPMN audit trail = compliance documentation — every PHI access logged with agent SVID</a:t>
            </a:r>
            <a:endParaRPr lang="en-US" sz="800" dirty="0"/>
          </a:p>
        </p:txBody>
      </p:sp>
      <p:sp>
        <p:nvSpPr>
          <p:cNvPr id="16" name="Shape 14"/>
          <p:cNvSpPr/>
          <p:nvPr/>
        </p:nvSpPr>
        <p:spPr>
          <a:xfrm>
            <a:off x="411480" y="2496312"/>
            <a:ext cx="73152" cy="164592"/>
          </a:xfrm>
          <a:prstGeom prst="rect">
            <a:avLst/>
          </a:prstGeom>
          <a:solidFill>
            <a:srgbClr val="00B4D8"/>
          </a:solidFill>
          <a:ln/>
        </p:spPr>
      </p:sp>
      <p:sp>
        <p:nvSpPr>
          <p:cNvPr id="17" name="Text 15"/>
          <p:cNvSpPr/>
          <p:nvPr/>
        </p:nvSpPr>
        <p:spPr>
          <a:xfrm>
            <a:off x="548640" y="2478024"/>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HITL Blocking Gate required for any agent action touching PHI in real-time</a:t>
            </a:r>
            <a:endParaRPr lang="en-US" sz="800" dirty="0"/>
          </a:p>
        </p:txBody>
      </p:sp>
      <p:sp>
        <p:nvSpPr>
          <p:cNvPr id="18" name="Shape 16"/>
          <p:cNvSpPr/>
          <p:nvPr/>
        </p:nvSpPr>
        <p:spPr>
          <a:xfrm>
            <a:off x="411480" y="2770632"/>
            <a:ext cx="73152" cy="164592"/>
          </a:xfrm>
          <a:prstGeom prst="rect">
            <a:avLst/>
          </a:prstGeom>
          <a:solidFill>
            <a:srgbClr val="00B4D8"/>
          </a:solidFill>
          <a:ln/>
        </p:spPr>
      </p:sp>
      <p:sp>
        <p:nvSpPr>
          <p:cNvPr id="19" name="Text 17"/>
          <p:cNvSpPr/>
          <p:nvPr/>
        </p:nvSpPr>
        <p:spPr>
          <a:xfrm>
            <a:off x="548640" y="2752344"/>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DMN rules encode HIPAA minimum-necessary standard for data access decisions</a:t>
            </a:r>
            <a:endParaRPr lang="en-US" sz="800" dirty="0"/>
          </a:p>
        </p:txBody>
      </p:sp>
      <p:sp>
        <p:nvSpPr>
          <p:cNvPr id="20" name="Shape 18"/>
          <p:cNvSpPr/>
          <p:nvPr/>
        </p:nvSpPr>
        <p:spPr>
          <a:xfrm>
            <a:off x="274320" y="3172968"/>
            <a:ext cx="5486400" cy="1536192"/>
          </a:xfrm>
          <a:prstGeom prst="rect">
            <a:avLst/>
          </a:prstGeom>
          <a:solidFill>
            <a:srgbClr val="162B3F"/>
          </a:solidFill>
          <a:ln w="12700">
            <a:solidFill>
              <a:srgbClr val="E76F51"/>
            </a:solidFill>
            <a:prstDash val="solid"/>
          </a:ln>
        </p:spPr>
      </p:sp>
      <p:sp>
        <p:nvSpPr>
          <p:cNvPr id="21" name="Text 19"/>
          <p:cNvSpPr/>
          <p:nvPr/>
        </p:nvSpPr>
        <p:spPr>
          <a:xfrm>
            <a:off x="411480" y="3246120"/>
            <a:ext cx="5212080" cy="310896"/>
          </a:xfrm>
          <a:prstGeom prst="rect">
            <a:avLst/>
          </a:prstGeom>
          <a:noFill/>
          <a:ln/>
        </p:spPr>
        <p:txBody>
          <a:bodyPr wrap="square" rtlCol="0" anchor="ctr"/>
          <a:lstStyle/>
          <a:p>
            <a:pPr marL="0" indent="0">
              <a:buNone/>
            </a:pPr>
            <a:r>
              <a:rPr lang="en-US" sz="1100" b="1" dirty="0">
                <a:solidFill>
                  <a:srgbClr val="E76F51"/>
                </a:solidFill>
                <a:latin typeface="Calibri" pitchFamily="34" charset="0"/>
                <a:ea typeface="Calibri" pitchFamily="34" charset="-122"/>
                <a:cs typeface="Calibri" pitchFamily="34" charset="-120"/>
              </a:rPr>
              <a:t>EU AI Act (Aug 2026)</a:t>
            </a:r>
            <a:endParaRPr lang="en-US" sz="1100" dirty="0"/>
          </a:p>
        </p:txBody>
      </p:sp>
      <p:sp>
        <p:nvSpPr>
          <p:cNvPr id="22" name="Shape 20"/>
          <p:cNvSpPr/>
          <p:nvPr/>
        </p:nvSpPr>
        <p:spPr>
          <a:xfrm>
            <a:off x="411480" y="3611880"/>
            <a:ext cx="73152" cy="164592"/>
          </a:xfrm>
          <a:prstGeom prst="rect">
            <a:avLst/>
          </a:prstGeom>
          <a:solidFill>
            <a:srgbClr val="E76F51"/>
          </a:solidFill>
          <a:ln/>
        </p:spPr>
      </p:sp>
      <p:sp>
        <p:nvSpPr>
          <p:cNvPr id="23" name="Text 21"/>
          <p:cNvSpPr/>
          <p:nvPr/>
        </p:nvSpPr>
        <p:spPr>
          <a:xfrm>
            <a:off x="548640" y="3593592"/>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High-risk AI systems must log key lifecycle events — BPMN process IDs satisfy this requirement</a:t>
            </a:r>
            <a:endParaRPr lang="en-US" sz="800" dirty="0"/>
          </a:p>
        </p:txBody>
      </p:sp>
      <p:sp>
        <p:nvSpPr>
          <p:cNvPr id="24" name="Shape 22"/>
          <p:cNvSpPr/>
          <p:nvPr/>
        </p:nvSpPr>
        <p:spPr>
          <a:xfrm>
            <a:off x="411480" y="3886200"/>
            <a:ext cx="73152" cy="164592"/>
          </a:xfrm>
          <a:prstGeom prst="rect">
            <a:avLst/>
          </a:prstGeom>
          <a:solidFill>
            <a:srgbClr val="E76F51"/>
          </a:solidFill>
          <a:ln/>
        </p:spPr>
      </p:sp>
      <p:sp>
        <p:nvSpPr>
          <p:cNvPr id="25" name="Text 23"/>
          <p:cNvSpPr/>
          <p:nvPr/>
        </p:nvSpPr>
        <p:spPr>
          <a:xfrm>
            <a:off x="548640" y="3867912"/>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Human oversight mandatory for consequential decisions — implemented as BPMN User Task gates</a:t>
            </a:r>
            <a:endParaRPr lang="en-US" sz="800" dirty="0"/>
          </a:p>
        </p:txBody>
      </p:sp>
      <p:sp>
        <p:nvSpPr>
          <p:cNvPr id="26" name="Shape 24"/>
          <p:cNvSpPr/>
          <p:nvPr/>
        </p:nvSpPr>
        <p:spPr>
          <a:xfrm>
            <a:off x="411480" y="4160520"/>
            <a:ext cx="73152" cy="164592"/>
          </a:xfrm>
          <a:prstGeom prst="rect">
            <a:avLst/>
          </a:prstGeom>
          <a:solidFill>
            <a:srgbClr val="E76F51"/>
          </a:solidFill>
          <a:ln/>
        </p:spPr>
      </p:sp>
      <p:sp>
        <p:nvSpPr>
          <p:cNvPr id="27" name="Text 25"/>
          <p:cNvSpPr/>
          <p:nvPr/>
        </p:nvSpPr>
        <p:spPr>
          <a:xfrm>
            <a:off x="548640" y="4142232"/>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Explainability: BPMN visual model is the required evidence that compliance officer audits</a:t>
            </a:r>
            <a:endParaRPr lang="en-US" sz="800" dirty="0"/>
          </a:p>
        </p:txBody>
      </p:sp>
      <p:sp>
        <p:nvSpPr>
          <p:cNvPr id="28" name="Shape 26"/>
          <p:cNvSpPr/>
          <p:nvPr/>
        </p:nvSpPr>
        <p:spPr>
          <a:xfrm>
            <a:off x="411480" y="4434840"/>
            <a:ext cx="73152" cy="164592"/>
          </a:xfrm>
          <a:prstGeom prst="rect">
            <a:avLst/>
          </a:prstGeom>
          <a:solidFill>
            <a:srgbClr val="E76F51"/>
          </a:solidFill>
          <a:ln/>
        </p:spPr>
      </p:sp>
      <p:sp>
        <p:nvSpPr>
          <p:cNvPr id="29" name="Text 27"/>
          <p:cNvSpPr/>
          <p:nvPr/>
        </p:nvSpPr>
        <p:spPr>
          <a:xfrm>
            <a:off x="548640" y="4416552"/>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MAESTRO threat model maps AI-specific risks to BPMN control points</a:t>
            </a:r>
            <a:endParaRPr lang="en-US" sz="800" dirty="0"/>
          </a:p>
        </p:txBody>
      </p:sp>
      <p:sp>
        <p:nvSpPr>
          <p:cNvPr id="30" name="Shape 28"/>
          <p:cNvSpPr/>
          <p:nvPr/>
        </p:nvSpPr>
        <p:spPr>
          <a:xfrm>
            <a:off x="274320" y="4837176"/>
            <a:ext cx="5486400" cy="1536192"/>
          </a:xfrm>
          <a:prstGeom prst="rect">
            <a:avLst/>
          </a:prstGeom>
          <a:solidFill>
            <a:srgbClr val="162B3F"/>
          </a:solidFill>
          <a:ln w="12700">
            <a:solidFill>
              <a:srgbClr val="7B2D8B"/>
            </a:solidFill>
            <a:prstDash val="solid"/>
          </a:ln>
        </p:spPr>
      </p:sp>
      <p:sp>
        <p:nvSpPr>
          <p:cNvPr id="31" name="Text 29"/>
          <p:cNvSpPr/>
          <p:nvPr/>
        </p:nvSpPr>
        <p:spPr>
          <a:xfrm>
            <a:off x="411480" y="4910328"/>
            <a:ext cx="5212080" cy="310896"/>
          </a:xfrm>
          <a:prstGeom prst="rect">
            <a:avLst/>
          </a:prstGeom>
          <a:noFill/>
          <a:ln/>
        </p:spPr>
        <p:txBody>
          <a:bodyPr wrap="square" rtlCol="0" anchor="ctr"/>
          <a:lstStyle/>
          <a:p>
            <a:pPr marL="0" indent="0">
              <a:buNone/>
            </a:pPr>
            <a:r>
              <a:rPr lang="en-US" sz="1100" b="1" dirty="0">
                <a:solidFill>
                  <a:srgbClr val="7B2D8B"/>
                </a:solidFill>
                <a:latin typeface="Calibri" pitchFamily="34" charset="0"/>
                <a:ea typeface="Calibri" pitchFamily="34" charset="-122"/>
                <a:cs typeface="Calibri" pitchFamily="34" charset="-120"/>
              </a:rPr>
              <a:t>SOC 2 Type II / ISO 42001</a:t>
            </a:r>
            <a:endParaRPr lang="en-US" sz="1100" dirty="0"/>
          </a:p>
        </p:txBody>
      </p:sp>
      <p:sp>
        <p:nvSpPr>
          <p:cNvPr id="32" name="Shape 30"/>
          <p:cNvSpPr/>
          <p:nvPr/>
        </p:nvSpPr>
        <p:spPr>
          <a:xfrm>
            <a:off x="411480" y="5276088"/>
            <a:ext cx="73152" cy="164592"/>
          </a:xfrm>
          <a:prstGeom prst="rect">
            <a:avLst/>
          </a:prstGeom>
          <a:solidFill>
            <a:srgbClr val="7B2D8B"/>
          </a:solidFill>
          <a:ln/>
        </p:spPr>
      </p:sp>
      <p:sp>
        <p:nvSpPr>
          <p:cNvPr id="33" name="Text 31"/>
          <p:cNvSpPr/>
          <p:nvPr/>
        </p:nvSpPr>
        <p:spPr>
          <a:xfrm>
            <a:off x="548640" y="5257800"/>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Tamper-evident OTEL traces per tool call → SIEM → immutable WORM storage</a:t>
            </a:r>
            <a:endParaRPr lang="en-US" sz="800" dirty="0"/>
          </a:p>
        </p:txBody>
      </p:sp>
      <p:sp>
        <p:nvSpPr>
          <p:cNvPr id="34" name="Shape 32"/>
          <p:cNvSpPr/>
          <p:nvPr/>
        </p:nvSpPr>
        <p:spPr>
          <a:xfrm>
            <a:off x="411480" y="5550408"/>
            <a:ext cx="73152" cy="164592"/>
          </a:xfrm>
          <a:prstGeom prst="rect">
            <a:avLst/>
          </a:prstGeom>
          <a:solidFill>
            <a:srgbClr val="7B2D8B"/>
          </a:solidFill>
          <a:ln/>
        </p:spPr>
      </p:sp>
      <p:sp>
        <p:nvSpPr>
          <p:cNvPr id="35" name="Text 33"/>
          <p:cNvSpPr/>
          <p:nvPr/>
        </p:nvSpPr>
        <p:spPr>
          <a:xfrm>
            <a:off x="548640" y="5532120"/>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Agent identity lifecycle: JML (Joiner-Mover-Leaver) enforced via SPIFFE TTL + Vault</a:t>
            </a:r>
            <a:endParaRPr lang="en-US" sz="800" dirty="0"/>
          </a:p>
        </p:txBody>
      </p:sp>
      <p:sp>
        <p:nvSpPr>
          <p:cNvPr id="36" name="Shape 34"/>
          <p:cNvSpPr/>
          <p:nvPr/>
        </p:nvSpPr>
        <p:spPr>
          <a:xfrm>
            <a:off x="411480" y="5824728"/>
            <a:ext cx="73152" cy="164592"/>
          </a:xfrm>
          <a:prstGeom prst="rect">
            <a:avLst/>
          </a:prstGeom>
          <a:solidFill>
            <a:srgbClr val="7B2D8B"/>
          </a:solidFill>
          <a:ln/>
        </p:spPr>
      </p:sp>
      <p:sp>
        <p:nvSpPr>
          <p:cNvPr id="37" name="Text 35"/>
          <p:cNvSpPr/>
          <p:nvPr/>
        </p:nvSpPr>
        <p:spPr>
          <a:xfrm>
            <a:off x="548640" y="5806440"/>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Change management: BPMN process versions in Git; deploy = audit record</a:t>
            </a:r>
            <a:endParaRPr lang="en-US" sz="800" dirty="0"/>
          </a:p>
        </p:txBody>
      </p:sp>
      <p:sp>
        <p:nvSpPr>
          <p:cNvPr id="38" name="Shape 36"/>
          <p:cNvSpPr/>
          <p:nvPr/>
        </p:nvSpPr>
        <p:spPr>
          <a:xfrm>
            <a:off x="411480" y="6099048"/>
            <a:ext cx="73152" cy="164592"/>
          </a:xfrm>
          <a:prstGeom prst="rect">
            <a:avLst/>
          </a:prstGeom>
          <a:solidFill>
            <a:srgbClr val="7B2D8B"/>
          </a:solidFill>
          <a:ln/>
        </p:spPr>
      </p:sp>
      <p:sp>
        <p:nvSpPr>
          <p:cNvPr id="39" name="Text 37"/>
          <p:cNvSpPr/>
          <p:nvPr/>
        </p:nvSpPr>
        <p:spPr>
          <a:xfrm>
            <a:off x="548640" y="6080760"/>
            <a:ext cx="5120640" cy="256032"/>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Access review: MCP tool allow-lists reviewed quarterly per process ID</a:t>
            </a:r>
            <a:endParaRPr lang="en-US" sz="800" dirty="0"/>
          </a:p>
        </p:txBody>
      </p:sp>
      <p:sp>
        <p:nvSpPr>
          <p:cNvPr id="40" name="Text 38"/>
          <p:cNvSpPr/>
          <p:nvPr/>
        </p:nvSpPr>
        <p:spPr>
          <a:xfrm>
            <a:off x="6035040" y="1097280"/>
            <a:ext cx="5852160" cy="320040"/>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GOVERNANCE OPERATING MODEL</a:t>
            </a:r>
            <a:endParaRPr lang="en-US" sz="1100" dirty="0"/>
          </a:p>
        </p:txBody>
      </p:sp>
      <p:sp>
        <p:nvSpPr>
          <p:cNvPr id="41" name="Shape 39"/>
          <p:cNvSpPr/>
          <p:nvPr/>
        </p:nvSpPr>
        <p:spPr>
          <a:xfrm>
            <a:off x="6035040" y="1508760"/>
            <a:ext cx="5806440" cy="868680"/>
          </a:xfrm>
          <a:prstGeom prst="rect">
            <a:avLst/>
          </a:prstGeom>
          <a:solidFill>
            <a:srgbClr val="162B3F"/>
          </a:solidFill>
          <a:ln w="12700">
            <a:solidFill>
              <a:srgbClr val="1E3A52"/>
            </a:solidFill>
            <a:prstDash val="solid"/>
          </a:ln>
        </p:spPr>
      </p:sp>
      <p:sp>
        <p:nvSpPr>
          <p:cNvPr id="42" name="Text 40"/>
          <p:cNvSpPr/>
          <p:nvPr/>
        </p:nvSpPr>
        <p:spPr>
          <a:xfrm>
            <a:off x="6080760" y="1581912"/>
            <a:ext cx="457200" cy="65836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43" name="Text 41"/>
          <p:cNvSpPr/>
          <p:nvPr/>
        </p:nvSpPr>
        <p:spPr>
          <a:xfrm>
            <a:off x="6583680" y="1600200"/>
            <a:ext cx="5120640" cy="256032"/>
          </a:xfrm>
          <a:prstGeom prst="rect">
            <a:avLst/>
          </a:prstGeom>
          <a:noFill/>
          <a:ln/>
        </p:spPr>
        <p:txBody>
          <a:bodyPr wrap="square"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Design Time</a:t>
            </a:r>
            <a:endParaRPr lang="en-US" sz="1000" dirty="0"/>
          </a:p>
        </p:txBody>
      </p:sp>
      <p:sp>
        <p:nvSpPr>
          <p:cNvPr id="44" name="Text 42"/>
          <p:cNvSpPr/>
          <p:nvPr/>
        </p:nvSpPr>
        <p:spPr>
          <a:xfrm>
            <a:off x="6583680" y="1856232"/>
            <a:ext cx="5120640" cy="457200"/>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BPMN process model reviewed by Compliance + EA before deploy. DMN rules peer-reviewed. Agent Cards registered in approved registry only.</a:t>
            </a:r>
            <a:endParaRPr lang="en-US" sz="800" dirty="0"/>
          </a:p>
        </p:txBody>
      </p:sp>
      <p:sp>
        <p:nvSpPr>
          <p:cNvPr id="45" name="Shape 43"/>
          <p:cNvSpPr/>
          <p:nvPr/>
        </p:nvSpPr>
        <p:spPr>
          <a:xfrm>
            <a:off x="6035040" y="2496312"/>
            <a:ext cx="5806440" cy="868680"/>
          </a:xfrm>
          <a:prstGeom prst="rect">
            <a:avLst/>
          </a:prstGeom>
          <a:solidFill>
            <a:srgbClr val="162B3F"/>
          </a:solidFill>
          <a:ln w="12700">
            <a:solidFill>
              <a:srgbClr val="1E3A52"/>
            </a:solidFill>
            <a:prstDash val="solid"/>
          </a:ln>
        </p:spPr>
      </p:sp>
      <p:sp>
        <p:nvSpPr>
          <p:cNvPr id="46" name="Text 44"/>
          <p:cNvSpPr/>
          <p:nvPr/>
        </p:nvSpPr>
        <p:spPr>
          <a:xfrm>
            <a:off x="6080760" y="2569464"/>
            <a:ext cx="457200" cy="65836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47" name="Text 45"/>
          <p:cNvSpPr/>
          <p:nvPr/>
        </p:nvSpPr>
        <p:spPr>
          <a:xfrm>
            <a:off x="6583680" y="2587752"/>
            <a:ext cx="5120640" cy="256032"/>
          </a:xfrm>
          <a:prstGeom prst="rect">
            <a:avLst/>
          </a:prstGeom>
          <a:noFill/>
          <a:ln/>
        </p:spPr>
        <p:txBody>
          <a:bodyPr wrap="square"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Pre-Production</a:t>
            </a:r>
            <a:endParaRPr lang="en-US" sz="1000" dirty="0"/>
          </a:p>
        </p:txBody>
      </p:sp>
      <p:sp>
        <p:nvSpPr>
          <p:cNvPr id="48" name="Text 46"/>
          <p:cNvSpPr/>
          <p:nvPr/>
        </p:nvSpPr>
        <p:spPr>
          <a:xfrm>
            <a:off x="6583680" y="2843784"/>
            <a:ext cx="5120640" cy="457200"/>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McpScan / MCPSafetyScanner runs in CI gate. SLSA provenance attestation required. Red team adversarial test of agent workflow.</a:t>
            </a:r>
            <a:endParaRPr lang="en-US" sz="800" dirty="0"/>
          </a:p>
        </p:txBody>
      </p:sp>
      <p:sp>
        <p:nvSpPr>
          <p:cNvPr id="49" name="Shape 47"/>
          <p:cNvSpPr/>
          <p:nvPr/>
        </p:nvSpPr>
        <p:spPr>
          <a:xfrm>
            <a:off x="6035040" y="3483864"/>
            <a:ext cx="5806440" cy="868680"/>
          </a:xfrm>
          <a:prstGeom prst="rect">
            <a:avLst/>
          </a:prstGeom>
          <a:solidFill>
            <a:srgbClr val="162B3F"/>
          </a:solidFill>
          <a:ln w="12700">
            <a:solidFill>
              <a:srgbClr val="1E3A52"/>
            </a:solidFill>
            <a:prstDash val="solid"/>
          </a:ln>
        </p:spPr>
      </p:sp>
      <p:sp>
        <p:nvSpPr>
          <p:cNvPr id="50" name="Text 48"/>
          <p:cNvSpPr/>
          <p:nvPr/>
        </p:nvSpPr>
        <p:spPr>
          <a:xfrm>
            <a:off x="6080760" y="3557016"/>
            <a:ext cx="457200" cy="65836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51" name="Text 49"/>
          <p:cNvSpPr/>
          <p:nvPr/>
        </p:nvSpPr>
        <p:spPr>
          <a:xfrm>
            <a:off x="6583680" y="3575304"/>
            <a:ext cx="5120640" cy="256032"/>
          </a:xfrm>
          <a:prstGeom prst="rect">
            <a:avLst/>
          </a:prstGeom>
          <a:noFill/>
          <a:ln/>
        </p:spPr>
        <p:txBody>
          <a:bodyPr wrap="square"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Runtime</a:t>
            </a:r>
            <a:endParaRPr lang="en-US" sz="1000" dirty="0"/>
          </a:p>
        </p:txBody>
      </p:sp>
      <p:sp>
        <p:nvSpPr>
          <p:cNvPr id="52" name="Text 50"/>
          <p:cNvSpPr/>
          <p:nvPr/>
        </p:nvSpPr>
        <p:spPr>
          <a:xfrm>
            <a:off x="6583680" y="3831336"/>
            <a:ext cx="5120640" cy="457200"/>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Agent Gateway enforces tool allow-list. HITL gates block PHI actions. OTEL trace every invocation. SIEM alerts on anomaly patterns.</a:t>
            </a:r>
            <a:endParaRPr lang="en-US" sz="800" dirty="0"/>
          </a:p>
        </p:txBody>
      </p:sp>
      <p:sp>
        <p:nvSpPr>
          <p:cNvPr id="53" name="Shape 51"/>
          <p:cNvSpPr/>
          <p:nvPr/>
        </p:nvSpPr>
        <p:spPr>
          <a:xfrm>
            <a:off x="6035040" y="4471416"/>
            <a:ext cx="5806440" cy="868680"/>
          </a:xfrm>
          <a:prstGeom prst="rect">
            <a:avLst/>
          </a:prstGeom>
          <a:solidFill>
            <a:srgbClr val="162B3F"/>
          </a:solidFill>
          <a:ln w="12700">
            <a:solidFill>
              <a:srgbClr val="1E3A52"/>
            </a:solidFill>
            <a:prstDash val="solid"/>
          </a:ln>
        </p:spPr>
      </p:sp>
      <p:sp>
        <p:nvSpPr>
          <p:cNvPr id="54" name="Text 52"/>
          <p:cNvSpPr/>
          <p:nvPr/>
        </p:nvSpPr>
        <p:spPr>
          <a:xfrm>
            <a:off x="6080760" y="4544568"/>
            <a:ext cx="457200" cy="65836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55" name="Text 53"/>
          <p:cNvSpPr/>
          <p:nvPr/>
        </p:nvSpPr>
        <p:spPr>
          <a:xfrm>
            <a:off x="6583680" y="4562856"/>
            <a:ext cx="5120640" cy="256032"/>
          </a:xfrm>
          <a:prstGeom prst="rect">
            <a:avLst/>
          </a:prstGeom>
          <a:noFill/>
          <a:ln/>
        </p:spPr>
        <p:txBody>
          <a:bodyPr wrap="square"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Audit &amp; Review</a:t>
            </a:r>
            <a:endParaRPr lang="en-US" sz="1000" dirty="0"/>
          </a:p>
        </p:txBody>
      </p:sp>
      <p:sp>
        <p:nvSpPr>
          <p:cNvPr id="56" name="Text 54"/>
          <p:cNvSpPr/>
          <p:nvPr/>
        </p:nvSpPr>
        <p:spPr>
          <a:xfrm>
            <a:off x="6583680" y="4818888"/>
            <a:ext cx="5120640" cy="457200"/>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Monthly: MCP tool allow-list review per process. Quarterly: SPIFFE SVID scope audit. Annual: full BPMN process compliance review.</a:t>
            </a:r>
            <a:endParaRPr lang="en-US" sz="800" dirty="0"/>
          </a:p>
        </p:txBody>
      </p:sp>
      <p:sp>
        <p:nvSpPr>
          <p:cNvPr id="57" name="Shape 55"/>
          <p:cNvSpPr/>
          <p:nvPr/>
        </p:nvSpPr>
        <p:spPr>
          <a:xfrm>
            <a:off x="6035040" y="5458968"/>
            <a:ext cx="5806440" cy="868680"/>
          </a:xfrm>
          <a:prstGeom prst="rect">
            <a:avLst/>
          </a:prstGeom>
          <a:solidFill>
            <a:srgbClr val="162B3F"/>
          </a:solidFill>
          <a:ln w="12700">
            <a:solidFill>
              <a:srgbClr val="1E3A52"/>
            </a:solidFill>
            <a:prstDash val="solid"/>
          </a:ln>
        </p:spPr>
      </p:sp>
      <p:sp>
        <p:nvSpPr>
          <p:cNvPr id="58" name="Text 56"/>
          <p:cNvSpPr/>
          <p:nvPr/>
        </p:nvSpPr>
        <p:spPr>
          <a:xfrm>
            <a:off x="6080760" y="5532120"/>
            <a:ext cx="457200" cy="65836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59" name="Text 57"/>
          <p:cNvSpPr/>
          <p:nvPr/>
        </p:nvSpPr>
        <p:spPr>
          <a:xfrm>
            <a:off x="6583680" y="5550408"/>
            <a:ext cx="5120640" cy="256032"/>
          </a:xfrm>
          <a:prstGeom prst="rect">
            <a:avLst/>
          </a:prstGeom>
          <a:noFill/>
          <a:ln/>
        </p:spPr>
        <p:txBody>
          <a:bodyPr wrap="square"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Incident Response</a:t>
            </a:r>
            <a:endParaRPr lang="en-US" sz="1000" dirty="0"/>
          </a:p>
        </p:txBody>
      </p:sp>
      <p:sp>
        <p:nvSpPr>
          <p:cNvPr id="60" name="Text 58"/>
          <p:cNvSpPr/>
          <p:nvPr/>
        </p:nvSpPr>
        <p:spPr>
          <a:xfrm>
            <a:off x="6583680" y="5806440"/>
            <a:ext cx="5120640" cy="457200"/>
          </a:xfrm>
          <a:prstGeom prst="rect">
            <a:avLst/>
          </a:prstGeom>
          <a:noFill/>
          <a:ln/>
        </p:spPr>
        <p:txBody>
          <a:bodyPr wrap="square" rtlCol="0" anchor="ctr"/>
          <a:lstStyle/>
          <a:p>
            <a:pPr marL="0" indent="0">
              <a:buNone/>
            </a:pPr>
            <a:r>
              <a:rPr lang="en-US" sz="800" dirty="0">
                <a:solidFill>
                  <a:srgbClr val="E8F4F8"/>
                </a:solidFill>
                <a:latin typeface="Calibri" pitchFamily="34" charset="0"/>
                <a:ea typeface="Calibri" pitchFamily="34" charset="-122"/>
                <a:cs typeface="Calibri" pitchFamily="34" charset="-120"/>
              </a:rPr>
              <a:t>BPMN Incident (Camunda Operate) → SIEM alert → SPIRE revoke SVID → MCP session terminate. Full trace replay from audit log.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sp>
      <p:sp>
        <p:nvSpPr>
          <p:cNvPr id="3" name="Shape 1"/>
          <p:cNvSpPr/>
          <p:nvPr/>
        </p:nvSpPr>
        <p:spPr>
          <a:xfrm>
            <a:off x="0" y="0"/>
            <a:ext cx="12192000" cy="1005840"/>
          </a:xfrm>
          <a:prstGeom prst="rect">
            <a:avLst/>
          </a:prstGeom>
          <a:solidFill>
            <a:srgbClr val="112240"/>
          </a:solidFill>
          <a:ln/>
        </p:spPr>
      </p:sp>
      <p:sp>
        <p:nvSpPr>
          <p:cNvPr id="4" name="Shape 2"/>
          <p:cNvSpPr/>
          <p:nvPr/>
        </p:nvSpPr>
        <p:spPr>
          <a:xfrm>
            <a:off x="0" y="0"/>
            <a:ext cx="64008" cy="1005840"/>
          </a:xfrm>
          <a:prstGeom prst="rect">
            <a:avLst/>
          </a:prstGeom>
          <a:solidFill>
            <a:srgbClr val="00B4D8"/>
          </a:solidFill>
          <a:ln/>
        </p:spPr>
      </p:sp>
      <p:sp>
        <p:nvSpPr>
          <p:cNvPr id="5" name="Text 3"/>
          <p:cNvSpPr/>
          <p:nvPr/>
        </p:nvSpPr>
        <p:spPr>
          <a:xfrm>
            <a:off x="201168" y="73152"/>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Implementation Roadmap &amp; Executive Call to Action</a:t>
            </a:r>
            <a:endParaRPr lang="en-US" sz="2200" dirty="0"/>
          </a:p>
        </p:txBody>
      </p:sp>
      <p:sp>
        <p:nvSpPr>
          <p:cNvPr id="6" name="Text 4"/>
          <p:cNvSpPr/>
          <p:nvPr/>
        </p:nvSpPr>
        <p:spPr>
          <a:xfrm>
            <a:off x="201168" y="603504"/>
            <a:ext cx="9144000" cy="329184"/>
          </a:xfrm>
          <a:prstGeom prst="rect">
            <a:avLst/>
          </a:prstGeom>
          <a:noFill/>
          <a:ln/>
        </p:spPr>
        <p:txBody>
          <a:bodyPr wrap="square" rtlCol="0" anchor="ctr"/>
          <a:lstStyle/>
          <a:p>
            <a:pPr marL="0" indent="0">
              <a:buNone/>
            </a:pPr>
            <a:r>
              <a:rPr lang="en-US" sz="1200" i="1" dirty="0">
                <a:solidFill>
                  <a:srgbClr val="00B4D8"/>
                </a:solidFill>
                <a:latin typeface="Calibri" pitchFamily="34" charset="0"/>
                <a:ea typeface="Calibri" pitchFamily="34" charset="-122"/>
                <a:cs typeface="Calibri" pitchFamily="34" charset="-120"/>
              </a:rPr>
              <a:t>90-day sprint to governed agentic BPMN — from pilot to production</a:t>
            </a:r>
            <a:endParaRPr lang="en-US" sz="1200" dirty="0"/>
          </a:p>
        </p:txBody>
      </p:sp>
      <p:sp>
        <p:nvSpPr>
          <p:cNvPr id="7" name="Shape 5"/>
          <p:cNvSpPr/>
          <p:nvPr/>
        </p:nvSpPr>
        <p:spPr>
          <a:xfrm>
            <a:off x="0" y="6583680"/>
            <a:ext cx="12192000" cy="54864"/>
          </a:xfrm>
          <a:prstGeom prst="rect">
            <a:avLst/>
          </a:prstGeom>
          <a:solidFill>
            <a:srgbClr val="00B4D8"/>
          </a:solidFill>
          <a:ln/>
        </p:spPr>
      </p:sp>
      <p:sp>
        <p:nvSpPr>
          <p:cNvPr id="8" name="Text 6"/>
          <p:cNvSpPr/>
          <p:nvPr/>
        </p:nvSpPr>
        <p:spPr>
          <a:xfrm>
            <a:off x="182880" y="6638544"/>
            <a:ext cx="11887200" cy="201168"/>
          </a:xfrm>
          <a:prstGeom prst="rect">
            <a:avLst/>
          </a:prstGeom>
          <a:noFill/>
          <a:ln/>
        </p:spPr>
        <p:txBody>
          <a:bodyPr wrap="square" rtlCol="0" anchor="ctr"/>
          <a:lstStyle/>
          <a:p>
            <a:pPr marL="0" indent="0">
              <a:buNone/>
            </a:pPr>
            <a:r>
              <a:rPr lang="en-US" sz="800" dirty="0">
                <a:solidFill>
                  <a:srgbClr val="A8C4D4"/>
                </a:solidFill>
                <a:latin typeface="Calibri" pitchFamily="34" charset="0"/>
                <a:ea typeface="Calibri" pitchFamily="34" charset="-122"/>
                <a:cs typeface="Calibri" pitchFamily="34" charset="-120"/>
              </a:rPr>
              <a:t>CONFIDENTIAL  |  Agentic BPMN Workflow Security  |  Enterprise Architecture</a:t>
            </a:r>
            <a:endParaRPr lang="en-US" sz="800" dirty="0"/>
          </a:p>
        </p:txBody>
      </p:sp>
      <p:sp>
        <p:nvSpPr>
          <p:cNvPr id="9" name="Shape 7"/>
          <p:cNvSpPr/>
          <p:nvPr/>
        </p:nvSpPr>
        <p:spPr>
          <a:xfrm>
            <a:off x="228600" y="1097280"/>
            <a:ext cx="3794760" cy="4937760"/>
          </a:xfrm>
          <a:prstGeom prst="rect">
            <a:avLst/>
          </a:prstGeom>
          <a:solidFill>
            <a:srgbClr val="162B3F"/>
          </a:solidFill>
          <a:ln w="12700">
            <a:solidFill>
              <a:srgbClr val="00B4D8"/>
            </a:solidFill>
            <a:prstDash val="solid"/>
          </a:ln>
        </p:spPr>
      </p:sp>
      <p:sp>
        <p:nvSpPr>
          <p:cNvPr id="10" name="Shape 8"/>
          <p:cNvSpPr/>
          <p:nvPr/>
        </p:nvSpPr>
        <p:spPr>
          <a:xfrm>
            <a:off x="228600" y="1097280"/>
            <a:ext cx="3794760" cy="566928"/>
          </a:xfrm>
          <a:prstGeom prst="rect">
            <a:avLst/>
          </a:prstGeom>
          <a:solidFill>
            <a:srgbClr val="00B4D8"/>
          </a:solidFill>
          <a:ln/>
        </p:spPr>
      </p:sp>
      <p:sp>
        <p:nvSpPr>
          <p:cNvPr id="11" name="Text 9"/>
          <p:cNvSpPr/>
          <p:nvPr/>
        </p:nvSpPr>
        <p:spPr>
          <a:xfrm>
            <a:off x="320040" y="1115568"/>
            <a:ext cx="182880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1</a:t>
            </a:r>
            <a:endParaRPr lang="en-US" sz="1000" dirty="0"/>
          </a:p>
        </p:txBody>
      </p:sp>
      <p:sp>
        <p:nvSpPr>
          <p:cNvPr id="12" name="Text 10"/>
          <p:cNvSpPr/>
          <p:nvPr/>
        </p:nvSpPr>
        <p:spPr>
          <a:xfrm>
            <a:off x="320040" y="1353312"/>
            <a:ext cx="3657600" cy="256032"/>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Days 1–30</a:t>
            </a:r>
            <a:endParaRPr lang="en-US" sz="900" dirty="0"/>
          </a:p>
        </p:txBody>
      </p:sp>
      <p:sp>
        <p:nvSpPr>
          <p:cNvPr id="13" name="Text 11"/>
          <p:cNvSpPr/>
          <p:nvPr/>
        </p:nvSpPr>
        <p:spPr>
          <a:xfrm>
            <a:off x="320040" y="1737360"/>
            <a:ext cx="3611880" cy="329184"/>
          </a:xfrm>
          <a:prstGeom prst="rect">
            <a:avLst/>
          </a:prstGeom>
          <a:noFill/>
          <a:ln/>
        </p:spPr>
        <p:txBody>
          <a:bodyPr wrap="square"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Foundation &amp; Identity</a:t>
            </a:r>
            <a:endParaRPr lang="en-US" sz="1200" dirty="0"/>
          </a:p>
        </p:txBody>
      </p:sp>
      <p:sp>
        <p:nvSpPr>
          <p:cNvPr id="14" name="Shape 12"/>
          <p:cNvSpPr/>
          <p:nvPr/>
        </p:nvSpPr>
        <p:spPr>
          <a:xfrm>
            <a:off x="365760" y="2194560"/>
            <a:ext cx="73152" cy="548640"/>
          </a:xfrm>
          <a:prstGeom prst="rect">
            <a:avLst/>
          </a:prstGeom>
          <a:solidFill>
            <a:srgbClr val="00B4D8"/>
          </a:solidFill>
          <a:ln/>
        </p:spPr>
      </p:sp>
      <p:sp>
        <p:nvSpPr>
          <p:cNvPr id="15" name="Text 13"/>
          <p:cNvSpPr/>
          <p:nvPr/>
        </p:nvSpPr>
        <p:spPr>
          <a:xfrm>
            <a:off x="502920" y="2176272"/>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Deploy SPIRE trust domain; issue SVIDs to all agent workloads</a:t>
            </a:r>
            <a:endParaRPr lang="en-US" sz="850" dirty="0"/>
          </a:p>
        </p:txBody>
      </p:sp>
      <p:sp>
        <p:nvSpPr>
          <p:cNvPr id="16" name="Shape 14"/>
          <p:cNvSpPr/>
          <p:nvPr/>
        </p:nvSpPr>
        <p:spPr>
          <a:xfrm>
            <a:off x="365760" y="2889504"/>
            <a:ext cx="73152" cy="548640"/>
          </a:xfrm>
          <a:prstGeom prst="rect">
            <a:avLst/>
          </a:prstGeom>
          <a:solidFill>
            <a:srgbClr val="00B4D8"/>
          </a:solidFill>
          <a:ln/>
        </p:spPr>
      </p:sp>
      <p:sp>
        <p:nvSpPr>
          <p:cNvPr id="17" name="Text 15"/>
          <p:cNvSpPr/>
          <p:nvPr/>
        </p:nvSpPr>
        <p:spPr>
          <a:xfrm>
            <a:off x="502920" y="2871216"/>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Stand up Agent Registry; register Agent Cards for existing agents</a:t>
            </a:r>
            <a:endParaRPr lang="en-US" sz="850" dirty="0"/>
          </a:p>
        </p:txBody>
      </p:sp>
      <p:sp>
        <p:nvSpPr>
          <p:cNvPr id="18" name="Shape 16"/>
          <p:cNvSpPr/>
          <p:nvPr/>
        </p:nvSpPr>
        <p:spPr>
          <a:xfrm>
            <a:off x="365760" y="3584448"/>
            <a:ext cx="73152" cy="548640"/>
          </a:xfrm>
          <a:prstGeom prst="rect">
            <a:avLst/>
          </a:prstGeom>
          <a:solidFill>
            <a:srgbClr val="00B4D8"/>
          </a:solidFill>
          <a:ln/>
        </p:spPr>
      </p:sp>
      <p:sp>
        <p:nvSpPr>
          <p:cNvPr id="19" name="Text 17"/>
          <p:cNvSpPr/>
          <p:nvPr/>
        </p:nvSpPr>
        <p:spPr>
          <a:xfrm>
            <a:off x="502920" y="3566160"/>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Enable MCP tool annotations (readOnlyHint / destructiveHint) on all servers</a:t>
            </a:r>
            <a:endParaRPr lang="en-US" sz="850" dirty="0"/>
          </a:p>
        </p:txBody>
      </p:sp>
      <p:sp>
        <p:nvSpPr>
          <p:cNvPr id="20" name="Shape 18"/>
          <p:cNvSpPr/>
          <p:nvPr/>
        </p:nvSpPr>
        <p:spPr>
          <a:xfrm>
            <a:off x="365760" y="4279392"/>
            <a:ext cx="73152" cy="548640"/>
          </a:xfrm>
          <a:prstGeom prst="rect">
            <a:avLst/>
          </a:prstGeom>
          <a:solidFill>
            <a:srgbClr val="00B4D8"/>
          </a:solidFill>
          <a:ln/>
        </p:spPr>
      </p:sp>
      <p:sp>
        <p:nvSpPr>
          <p:cNvPr id="21" name="Text 19"/>
          <p:cNvSpPr/>
          <p:nvPr/>
        </p:nvSpPr>
        <p:spPr>
          <a:xfrm>
            <a:off x="502920" y="4261104"/>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Implement per-request OPA AuthZ at MCP gateway</a:t>
            </a:r>
            <a:endParaRPr lang="en-US" sz="850" dirty="0"/>
          </a:p>
        </p:txBody>
      </p:sp>
      <p:sp>
        <p:nvSpPr>
          <p:cNvPr id="22" name="Shape 20"/>
          <p:cNvSpPr/>
          <p:nvPr/>
        </p:nvSpPr>
        <p:spPr>
          <a:xfrm>
            <a:off x="365760" y="4974336"/>
            <a:ext cx="73152" cy="548640"/>
          </a:xfrm>
          <a:prstGeom prst="rect">
            <a:avLst/>
          </a:prstGeom>
          <a:solidFill>
            <a:srgbClr val="00B4D8"/>
          </a:solidFill>
          <a:ln/>
        </p:spPr>
      </p:sp>
      <p:sp>
        <p:nvSpPr>
          <p:cNvPr id="23" name="Text 21"/>
          <p:cNvSpPr/>
          <p:nvPr/>
        </p:nvSpPr>
        <p:spPr>
          <a:xfrm>
            <a:off x="502920" y="4956048"/>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Baseline OTEL tracing — every tool call → SIEM</a:t>
            </a:r>
            <a:endParaRPr lang="en-US" sz="850" dirty="0"/>
          </a:p>
        </p:txBody>
      </p:sp>
      <p:sp>
        <p:nvSpPr>
          <p:cNvPr id="24" name="Shape 22"/>
          <p:cNvSpPr/>
          <p:nvPr/>
        </p:nvSpPr>
        <p:spPr>
          <a:xfrm>
            <a:off x="4206240" y="1097280"/>
            <a:ext cx="3794760" cy="4937760"/>
          </a:xfrm>
          <a:prstGeom prst="rect">
            <a:avLst/>
          </a:prstGeom>
          <a:solidFill>
            <a:srgbClr val="162B3F"/>
          </a:solidFill>
          <a:ln w="12700">
            <a:solidFill>
              <a:srgbClr val="E76F51"/>
            </a:solidFill>
            <a:prstDash val="solid"/>
          </a:ln>
        </p:spPr>
      </p:sp>
      <p:sp>
        <p:nvSpPr>
          <p:cNvPr id="25" name="Shape 23"/>
          <p:cNvSpPr/>
          <p:nvPr/>
        </p:nvSpPr>
        <p:spPr>
          <a:xfrm>
            <a:off x="4206240" y="1097280"/>
            <a:ext cx="3794760" cy="566928"/>
          </a:xfrm>
          <a:prstGeom prst="rect">
            <a:avLst/>
          </a:prstGeom>
          <a:solidFill>
            <a:srgbClr val="E76F51"/>
          </a:solidFill>
          <a:ln/>
        </p:spPr>
      </p:sp>
      <p:sp>
        <p:nvSpPr>
          <p:cNvPr id="26" name="Text 24"/>
          <p:cNvSpPr/>
          <p:nvPr/>
        </p:nvSpPr>
        <p:spPr>
          <a:xfrm>
            <a:off x="4297680" y="1115568"/>
            <a:ext cx="182880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2</a:t>
            </a:r>
            <a:endParaRPr lang="en-US" sz="1000" dirty="0"/>
          </a:p>
        </p:txBody>
      </p:sp>
      <p:sp>
        <p:nvSpPr>
          <p:cNvPr id="27" name="Text 25"/>
          <p:cNvSpPr/>
          <p:nvPr/>
        </p:nvSpPr>
        <p:spPr>
          <a:xfrm>
            <a:off x="4297680" y="1353312"/>
            <a:ext cx="3657600" cy="256032"/>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Days 31–60</a:t>
            </a:r>
            <a:endParaRPr lang="en-US" sz="900" dirty="0"/>
          </a:p>
        </p:txBody>
      </p:sp>
      <p:sp>
        <p:nvSpPr>
          <p:cNvPr id="28" name="Text 26"/>
          <p:cNvSpPr/>
          <p:nvPr/>
        </p:nvSpPr>
        <p:spPr>
          <a:xfrm>
            <a:off x="4297680" y="1737360"/>
            <a:ext cx="3611880" cy="329184"/>
          </a:xfrm>
          <a:prstGeom prst="rect">
            <a:avLst/>
          </a:prstGeom>
          <a:noFill/>
          <a:ln/>
        </p:spPr>
        <p:txBody>
          <a:bodyPr wrap="square" rtlCol="0" anchor="ctr"/>
          <a:lstStyle/>
          <a:p>
            <a:pPr marL="0" indent="0">
              <a:buNone/>
            </a:pPr>
            <a:r>
              <a:rPr lang="en-US" sz="1200" b="1" dirty="0">
                <a:solidFill>
                  <a:srgbClr val="E76F51"/>
                </a:solidFill>
                <a:latin typeface="Calibri" pitchFamily="34" charset="0"/>
                <a:ea typeface="Calibri" pitchFamily="34" charset="-122"/>
                <a:cs typeface="Calibri" pitchFamily="34" charset="-120"/>
              </a:rPr>
              <a:t>BPMN Guardrail Build-Out</a:t>
            </a:r>
            <a:endParaRPr lang="en-US" sz="1200" dirty="0"/>
          </a:p>
        </p:txBody>
      </p:sp>
      <p:sp>
        <p:nvSpPr>
          <p:cNvPr id="29" name="Shape 27"/>
          <p:cNvSpPr/>
          <p:nvPr/>
        </p:nvSpPr>
        <p:spPr>
          <a:xfrm>
            <a:off x="4343400" y="2194560"/>
            <a:ext cx="73152" cy="548640"/>
          </a:xfrm>
          <a:prstGeom prst="rect">
            <a:avLst/>
          </a:prstGeom>
          <a:solidFill>
            <a:srgbClr val="E76F51"/>
          </a:solidFill>
          <a:ln/>
        </p:spPr>
      </p:sp>
      <p:sp>
        <p:nvSpPr>
          <p:cNvPr id="30" name="Text 28"/>
          <p:cNvSpPr/>
          <p:nvPr/>
        </p:nvSpPr>
        <p:spPr>
          <a:xfrm>
            <a:off x="4480560" y="2176272"/>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Migrate top-3 agentic use cases into Camunda BPMN models</a:t>
            </a:r>
            <a:endParaRPr lang="en-US" sz="850" dirty="0"/>
          </a:p>
        </p:txBody>
      </p:sp>
      <p:sp>
        <p:nvSpPr>
          <p:cNvPr id="31" name="Shape 29"/>
          <p:cNvSpPr/>
          <p:nvPr/>
        </p:nvSpPr>
        <p:spPr>
          <a:xfrm>
            <a:off x="4343400" y="2889504"/>
            <a:ext cx="73152" cy="548640"/>
          </a:xfrm>
          <a:prstGeom prst="rect">
            <a:avLst/>
          </a:prstGeom>
          <a:solidFill>
            <a:srgbClr val="E76F51"/>
          </a:solidFill>
          <a:ln/>
        </p:spPr>
      </p:sp>
      <p:sp>
        <p:nvSpPr>
          <p:cNvPr id="32" name="Text 30"/>
          <p:cNvSpPr/>
          <p:nvPr/>
        </p:nvSpPr>
        <p:spPr>
          <a:xfrm>
            <a:off x="4480560" y="2871216"/>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Replace ad-hoc LLM decisions with DMN decision tables</a:t>
            </a:r>
            <a:endParaRPr lang="en-US" sz="850" dirty="0"/>
          </a:p>
        </p:txBody>
      </p:sp>
      <p:sp>
        <p:nvSpPr>
          <p:cNvPr id="33" name="Shape 31"/>
          <p:cNvSpPr/>
          <p:nvPr/>
        </p:nvSpPr>
        <p:spPr>
          <a:xfrm>
            <a:off x="4343400" y="3584448"/>
            <a:ext cx="73152" cy="548640"/>
          </a:xfrm>
          <a:prstGeom prst="rect">
            <a:avLst/>
          </a:prstGeom>
          <a:solidFill>
            <a:srgbClr val="E76F51"/>
          </a:solidFill>
          <a:ln/>
        </p:spPr>
      </p:sp>
      <p:sp>
        <p:nvSpPr>
          <p:cNvPr id="34" name="Text 32"/>
          <p:cNvSpPr/>
          <p:nvPr/>
        </p:nvSpPr>
        <p:spPr>
          <a:xfrm>
            <a:off x="4480560" y="3566160"/>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Implement HITL gates: Advisory + Blocking + Escalating patterns</a:t>
            </a:r>
            <a:endParaRPr lang="en-US" sz="850" dirty="0"/>
          </a:p>
        </p:txBody>
      </p:sp>
      <p:sp>
        <p:nvSpPr>
          <p:cNvPr id="35" name="Shape 33"/>
          <p:cNvSpPr/>
          <p:nvPr/>
        </p:nvSpPr>
        <p:spPr>
          <a:xfrm>
            <a:off x="4343400" y="4279392"/>
            <a:ext cx="73152" cy="548640"/>
          </a:xfrm>
          <a:prstGeom prst="rect">
            <a:avLst/>
          </a:prstGeom>
          <a:solidFill>
            <a:srgbClr val="E76F51"/>
          </a:solidFill>
          <a:ln/>
        </p:spPr>
      </p:sp>
      <p:sp>
        <p:nvSpPr>
          <p:cNvPr id="36" name="Text 34"/>
          <p:cNvSpPr/>
          <p:nvPr/>
        </p:nvSpPr>
        <p:spPr>
          <a:xfrm>
            <a:off x="4480560" y="4261104"/>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Add Timer Boundary Events + Compensation Handlers to all destructive tasks</a:t>
            </a:r>
            <a:endParaRPr lang="en-US" sz="850" dirty="0"/>
          </a:p>
        </p:txBody>
      </p:sp>
      <p:sp>
        <p:nvSpPr>
          <p:cNvPr id="37" name="Shape 35"/>
          <p:cNvSpPr/>
          <p:nvPr/>
        </p:nvSpPr>
        <p:spPr>
          <a:xfrm>
            <a:off x="4343400" y="4974336"/>
            <a:ext cx="73152" cy="548640"/>
          </a:xfrm>
          <a:prstGeom prst="rect">
            <a:avLst/>
          </a:prstGeom>
          <a:solidFill>
            <a:srgbClr val="E76F51"/>
          </a:solidFill>
          <a:ln/>
        </p:spPr>
      </p:sp>
      <p:sp>
        <p:nvSpPr>
          <p:cNvPr id="38" name="Text 36"/>
          <p:cNvSpPr/>
          <p:nvPr/>
        </p:nvSpPr>
        <p:spPr>
          <a:xfrm>
            <a:off x="4480560" y="4956048"/>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Run McpSafetyScanner in CI/CD pipeline; block on critical findings</a:t>
            </a:r>
            <a:endParaRPr lang="en-US" sz="850" dirty="0"/>
          </a:p>
        </p:txBody>
      </p:sp>
      <p:sp>
        <p:nvSpPr>
          <p:cNvPr id="39" name="Shape 37"/>
          <p:cNvSpPr/>
          <p:nvPr/>
        </p:nvSpPr>
        <p:spPr>
          <a:xfrm>
            <a:off x="8183880" y="1097280"/>
            <a:ext cx="3794760" cy="4937760"/>
          </a:xfrm>
          <a:prstGeom prst="rect">
            <a:avLst/>
          </a:prstGeom>
          <a:solidFill>
            <a:srgbClr val="162B3F"/>
          </a:solidFill>
          <a:ln w="12700">
            <a:solidFill>
              <a:srgbClr val="7B2D8B"/>
            </a:solidFill>
            <a:prstDash val="solid"/>
          </a:ln>
        </p:spPr>
      </p:sp>
      <p:sp>
        <p:nvSpPr>
          <p:cNvPr id="40" name="Shape 38"/>
          <p:cNvSpPr/>
          <p:nvPr/>
        </p:nvSpPr>
        <p:spPr>
          <a:xfrm>
            <a:off x="8183880" y="1097280"/>
            <a:ext cx="3794760" cy="566928"/>
          </a:xfrm>
          <a:prstGeom prst="rect">
            <a:avLst/>
          </a:prstGeom>
          <a:solidFill>
            <a:srgbClr val="7B2D8B"/>
          </a:solidFill>
          <a:ln/>
        </p:spPr>
      </p:sp>
      <p:sp>
        <p:nvSpPr>
          <p:cNvPr id="41" name="Text 39"/>
          <p:cNvSpPr/>
          <p:nvPr/>
        </p:nvSpPr>
        <p:spPr>
          <a:xfrm>
            <a:off x="8275320" y="1115568"/>
            <a:ext cx="182880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3</a:t>
            </a:r>
            <a:endParaRPr lang="en-US" sz="1000" dirty="0"/>
          </a:p>
        </p:txBody>
      </p:sp>
      <p:sp>
        <p:nvSpPr>
          <p:cNvPr id="42" name="Text 40"/>
          <p:cNvSpPr/>
          <p:nvPr/>
        </p:nvSpPr>
        <p:spPr>
          <a:xfrm>
            <a:off x="8275320" y="1353312"/>
            <a:ext cx="3657600" cy="256032"/>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Days 61–90</a:t>
            </a:r>
            <a:endParaRPr lang="en-US" sz="900" dirty="0"/>
          </a:p>
        </p:txBody>
      </p:sp>
      <p:sp>
        <p:nvSpPr>
          <p:cNvPr id="43" name="Text 41"/>
          <p:cNvSpPr/>
          <p:nvPr/>
        </p:nvSpPr>
        <p:spPr>
          <a:xfrm>
            <a:off x="8275320" y="1737360"/>
            <a:ext cx="3611880" cy="329184"/>
          </a:xfrm>
          <a:prstGeom prst="rect">
            <a:avLst/>
          </a:prstGeom>
          <a:noFill/>
          <a:ln/>
        </p:spPr>
        <p:txBody>
          <a:bodyPr wrap="square" rtlCol="0" anchor="ctr"/>
          <a:lstStyle/>
          <a:p>
            <a:pPr marL="0" indent="0">
              <a:buNone/>
            </a:pPr>
            <a:r>
              <a:rPr lang="en-US" sz="1200" b="1" dirty="0">
                <a:solidFill>
                  <a:srgbClr val="7B2D8B"/>
                </a:solidFill>
                <a:latin typeface="Calibri" pitchFamily="34" charset="0"/>
                <a:ea typeface="Calibri" pitchFamily="34" charset="-122"/>
                <a:cs typeface="Calibri" pitchFamily="34" charset="-120"/>
              </a:rPr>
              <a:t>Compliance &amp; Governance</a:t>
            </a:r>
            <a:endParaRPr lang="en-US" sz="1200" dirty="0"/>
          </a:p>
        </p:txBody>
      </p:sp>
      <p:sp>
        <p:nvSpPr>
          <p:cNvPr id="44" name="Shape 42"/>
          <p:cNvSpPr/>
          <p:nvPr/>
        </p:nvSpPr>
        <p:spPr>
          <a:xfrm>
            <a:off x="8321040" y="2194560"/>
            <a:ext cx="73152" cy="548640"/>
          </a:xfrm>
          <a:prstGeom prst="rect">
            <a:avLst/>
          </a:prstGeom>
          <a:solidFill>
            <a:srgbClr val="7B2D8B"/>
          </a:solidFill>
          <a:ln/>
        </p:spPr>
      </p:sp>
      <p:sp>
        <p:nvSpPr>
          <p:cNvPr id="45" name="Text 43"/>
          <p:cNvSpPr/>
          <p:nvPr/>
        </p:nvSpPr>
        <p:spPr>
          <a:xfrm>
            <a:off x="8458200" y="2176272"/>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Map BPMN audit trail to HIPAA / SOC 2 / EU AI Act evidence requirements</a:t>
            </a:r>
            <a:endParaRPr lang="en-US" sz="850" dirty="0"/>
          </a:p>
        </p:txBody>
      </p:sp>
      <p:sp>
        <p:nvSpPr>
          <p:cNvPr id="46" name="Shape 44"/>
          <p:cNvSpPr/>
          <p:nvPr/>
        </p:nvSpPr>
        <p:spPr>
          <a:xfrm>
            <a:off x="8321040" y="2889504"/>
            <a:ext cx="73152" cy="548640"/>
          </a:xfrm>
          <a:prstGeom prst="rect">
            <a:avLst/>
          </a:prstGeom>
          <a:solidFill>
            <a:srgbClr val="7B2D8B"/>
          </a:solidFill>
          <a:ln/>
        </p:spPr>
      </p:sp>
      <p:sp>
        <p:nvSpPr>
          <p:cNvPr id="47" name="Text 45"/>
          <p:cNvSpPr/>
          <p:nvPr/>
        </p:nvSpPr>
        <p:spPr>
          <a:xfrm>
            <a:off x="8458200" y="2871216"/>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Conduct red-team adversarial test of agent workflows (prompt injection + RADE)</a:t>
            </a:r>
            <a:endParaRPr lang="en-US" sz="850" dirty="0"/>
          </a:p>
        </p:txBody>
      </p:sp>
      <p:sp>
        <p:nvSpPr>
          <p:cNvPr id="48" name="Shape 46"/>
          <p:cNvSpPr/>
          <p:nvPr/>
        </p:nvSpPr>
        <p:spPr>
          <a:xfrm>
            <a:off x="8321040" y="3584448"/>
            <a:ext cx="73152" cy="548640"/>
          </a:xfrm>
          <a:prstGeom prst="rect">
            <a:avLst/>
          </a:prstGeom>
          <a:solidFill>
            <a:srgbClr val="7B2D8B"/>
          </a:solidFill>
          <a:ln/>
        </p:spPr>
      </p:sp>
      <p:sp>
        <p:nvSpPr>
          <p:cNvPr id="49" name="Text 47"/>
          <p:cNvSpPr/>
          <p:nvPr/>
        </p:nvSpPr>
        <p:spPr>
          <a:xfrm>
            <a:off x="8458200" y="3566160"/>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Quarterly MCP tool allow-list review process established</a:t>
            </a:r>
            <a:endParaRPr lang="en-US" sz="850" dirty="0"/>
          </a:p>
        </p:txBody>
      </p:sp>
      <p:sp>
        <p:nvSpPr>
          <p:cNvPr id="50" name="Shape 48"/>
          <p:cNvSpPr/>
          <p:nvPr/>
        </p:nvSpPr>
        <p:spPr>
          <a:xfrm>
            <a:off x="8321040" y="4279392"/>
            <a:ext cx="73152" cy="548640"/>
          </a:xfrm>
          <a:prstGeom prst="rect">
            <a:avLst/>
          </a:prstGeom>
          <a:solidFill>
            <a:srgbClr val="7B2D8B"/>
          </a:solidFill>
          <a:ln/>
        </p:spPr>
      </p:sp>
      <p:sp>
        <p:nvSpPr>
          <p:cNvPr id="51" name="Text 49"/>
          <p:cNvSpPr/>
          <p:nvPr/>
        </p:nvSpPr>
        <p:spPr>
          <a:xfrm>
            <a:off x="8458200" y="4261104"/>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Agent Card lifecycle: JML process via SPIFFE TTL + Vault lease revoke</a:t>
            </a:r>
            <a:endParaRPr lang="en-US" sz="850" dirty="0"/>
          </a:p>
        </p:txBody>
      </p:sp>
      <p:sp>
        <p:nvSpPr>
          <p:cNvPr id="52" name="Shape 50"/>
          <p:cNvSpPr/>
          <p:nvPr/>
        </p:nvSpPr>
        <p:spPr>
          <a:xfrm>
            <a:off x="8321040" y="4974336"/>
            <a:ext cx="73152" cy="548640"/>
          </a:xfrm>
          <a:prstGeom prst="rect">
            <a:avLst/>
          </a:prstGeom>
          <a:solidFill>
            <a:srgbClr val="7B2D8B"/>
          </a:solidFill>
          <a:ln/>
        </p:spPr>
      </p:sp>
      <p:sp>
        <p:nvSpPr>
          <p:cNvPr id="53" name="Text 51"/>
          <p:cNvSpPr/>
          <p:nvPr/>
        </p:nvSpPr>
        <p:spPr>
          <a:xfrm>
            <a:off x="8458200" y="4956048"/>
            <a:ext cx="3429000" cy="640080"/>
          </a:xfrm>
          <a:prstGeom prst="rect">
            <a:avLst/>
          </a:prstGeom>
          <a:noFill/>
          <a:ln/>
        </p:spPr>
        <p:txBody>
          <a:bodyPr wrap="square" rtlCol="0" anchor="ctr"/>
          <a:lstStyle/>
          <a:p>
            <a:pPr marL="0" indent="0">
              <a:buNone/>
            </a:pPr>
            <a:r>
              <a:rPr lang="en-US" sz="850" dirty="0">
                <a:solidFill>
                  <a:srgbClr val="E8F4F8"/>
                </a:solidFill>
                <a:latin typeface="Calibri" pitchFamily="34" charset="0"/>
                <a:ea typeface="Calibri" pitchFamily="34" charset="-122"/>
                <a:cs typeface="Calibri" pitchFamily="34" charset="-120"/>
              </a:rPr>
              <a:t>Present BPMN process model to compliance officer as audit artifact</a:t>
            </a:r>
            <a:endParaRPr lang="en-US" sz="850" dirty="0"/>
          </a:p>
        </p:txBody>
      </p:sp>
      <p:sp>
        <p:nvSpPr>
          <p:cNvPr id="54" name="Shape 52"/>
          <p:cNvSpPr/>
          <p:nvPr/>
        </p:nvSpPr>
        <p:spPr>
          <a:xfrm>
            <a:off x="228600" y="6144768"/>
            <a:ext cx="11704320" cy="475488"/>
          </a:xfrm>
          <a:prstGeom prst="rect">
            <a:avLst/>
          </a:prstGeom>
          <a:solidFill>
            <a:srgbClr val="00B4D8"/>
          </a:solidFill>
          <a:ln/>
        </p:spPr>
      </p:sp>
      <p:sp>
        <p:nvSpPr>
          <p:cNvPr id="55" name="Text 53"/>
          <p:cNvSpPr/>
          <p:nvPr/>
        </p:nvSpPr>
        <p:spPr>
          <a:xfrm>
            <a:off x="320040" y="6153912"/>
            <a:ext cx="11521440" cy="457200"/>
          </a:xfrm>
          <a:prstGeom prst="rect">
            <a:avLst/>
          </a:prstGeom>
          <a:noFill/>
          <a:ln/>
        </p:spPr>
        <p:txBody>
          <a:bodyPr wrap="square"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EXECUTIVE DECISION REQUIRED: Approve BPMN-first agentic architecture as enterprise standard  ·  Fund SPIFFE/SPIRE identity deployment  ·  Mandate Agent Card registration for all AI agents in production  ·  Require HITL gates for all regulated workflows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3485</Words>
  <Application>Microsoft Macintosh PowerPoint</Application>
  <PresentationFormat>Widescreen</PresentationFormat>
  <Paragraphs>282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ram baswa</cp:lastModifiedBy>
  <cp:revision>2</cp:revision>
  <dcterms:created xsi:type="dcterms:W3CDTF">2026-07-15T19:15:57Z</dcterms:created>
  <dcterms:modified xsi:type="dcterms:W3CDTF">2026-07-15T20:01:19Z</dcterms:modified>
</cp:coreProperties>
</file>